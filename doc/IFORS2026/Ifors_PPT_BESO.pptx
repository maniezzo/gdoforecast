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309" r:id="rId3"/>
    <p:sldId id="317" r:id="rId4"/>
    <p:sldId id="269" r:id="rId5"/>
    <p:sldId id="316" r:id="rId6"/>
    <p:sldId id="270" r:id="rId7"/>
    <p:sldId id="257" r:id="rId8"/>
    <p:sldId id="319" r:id="rId9"/>
    <p:sldId id="267" r:id="rId10"/>
    <p:sldId id="273" r:id="rId11"/>
    <p:sldId id="274" r:id="rId12"/>
    <p:sldId id="263" r:id="rId13"/>
    <p:sldId id="320" r:id="rId14"/>
    <p:sldId id="321" r:id="rId15"/>
    <p:sldId id="322" r:id="rId16"/>
    <p:sldId id="323" r:id="rId17"/>
    <p:sldId id="271" r:id="rId18"/>
    <p:sldId id="275" r:id="rId19"/>
    <p:sldId id="276" r:id="rId20"/>
    <p:sldId id="277" r:id="rId21"/>
    <p:sldId id="278" r:id="rId22"/>
    <p:sldId id="259" r:id="rId23"/>
    <p:sldId id="265" r:id="rId24"/>
    <p:sldId id="266" r:id="rId25"/>
    <p:sldId id="280" r:id="rId26"/>
    <p:sldId id="279" r:id="rId27"/>
    <p:sldId id="260" r:id="rId28"/>
  </p:sldIdLst>
  <p:sldSz cx="9144000" cy="6858000" type="screen4x3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107"/>
    <p:restoredTop sz="94658"/>
  </p:normalViewPr>
  <p:slideViewPr>
    <p:cSldViewPr snapToGrid="0">
      <p:cViewPr varScale="1">
        <p:scale>
          <a:sx n="88" d="100"/>
          <a:sy n="88" d="100"/>
        </p:scale>
        <p:origin x="112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Book2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Sales used cars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dispRSqr val="0"/>
            <c:dispEq val="0"/>
          </c:trendline>
          <c:trendline>
            <c:spPr>
              <a:ln w="34925" cap="rnd">
                <a:solidFill>
                  <a:srgbClr val="FF0000"/>
                </a:solidFill>
                <a:prstDash val="sysDot"/>
              </a:ln>
              <a:effectLst/>
            </c:spPr>
            <c:trendlineType val="linear"/>
            <c:dispRSqr val="0"/>
            <c:dispEq val="0"/>
          </c:trendline>
          <c:val>
            <c:numRef>
              <c:f>Sheet1!$B$1:$B$84</c:f>
              <c:numCache>
                <c:formatCode>General</c:formatCode>
                <c:ptCount val="84"/>
                <c:pt idx="0">
                  <c:v>6766</c:v>
                </c:pt>
                <c:pt idx="1">
                  <c:v>8397</c:v>
                </c:pt>
                <c:pt idx="2">
                  <c:v>8250</c:v>
                </c:pt>
                <c:pt idx="3">
                  <c:v>7411</c:v>
                </c:pt>
                <c:pt idx="4">
                  <c:v>7190</c:v>
                </c:pt>
                <c:pt idx="5">
                  <c:v>6970</c:v>
                </c:pt>
                <c:pt idx="6">
                  <c:v>6963</c:v>
                </c:pt>
                <c:pt idx="7">
                  <c:v>7269</c:v>
                </c:pt>
                <c:pt idx="8">
                  <c:v>6243</c:v>
                </c:pt>
                <c:pt idx="9">
                  <c:v>6682</c:v>
                </c:pt>
                <c:pt idx="10">
                  <c:v>6183</c:v>
                </c:pt>
                <c:pt idx="11">
                  <c:v>5592</c:v>
                </c:pt>
                <c:pt idx="12">
                  <c:v>6065</c:v>
                </c:pt>
                <c:pt idx="13">
                  <c:v>8022</c:v>
                </c:pt>
                <c:pt idx="14">
                  <c:v>8564</c:v>
                </c:pt>
                <c:pt idx="15">
                  <c:v>7601</c:v>
                </c:pt>
                <c:pt idx="16">
                  <c:v>7695</c:v>
                </c:pt>
                <c:pt idx="17">
                  <c:v>7542</c:v>
                </c:pt>
                <c:pt idx="18">
                  <c:v>7657</c:v>
                </c:pt>
                <c:pt idx="19">
                  <c:v>7936</c:v>
                </c:pt>
                <c:pt idx="20">
                  <c:v>7584</c:v>
                </c:pt>
                <c:pt idx="21">
                  <c:v>7933</c:v>
                </c:pt>
                <c:pt idx="22">
                  <c:v>6822</c:v>
                </c:pt>
                <c:pt idx="23">
                  <c:v>7003</c:v>
                </c:pt>
                <c:pt idx="24">
                  <c:v>7435</c:v>
                </c:pt>
                <c:pt idx="25">
                  <c:v>9092</c:v>
                </c:pt>
                <c:pt idx="26">
                  <c:v>9331</c:v>
                </c:pt>
                <c:pt idx="27">
                  <c:v>8969</c:v>
                </c:pt>
                <c:pt idx="28">
                  <c:v>8544</c:v>
                </c:pt>
                <c:pt idx="29">
                  <c:v>8337</c:v>
                </c:pt>
                <c:pt idx="30">
                  <c:v>8377</c:v>
                </c:pt>
                <c:pt idx="31">
                  <c:v>8353</c:v>
                </c:pt>
                <c:pt idx="32">
                  <c:v>7689</c:v>
                </c:pt>
                <c:pt idx="33">
                  <c:v>7911</c:v>
                </c:pt>
                <c:pt idx="34">
                  <c:v>7193</c:v>
                </c:pt>
                <c:pt idx="35">
                  <c:v>7099</c:v>
                </c:pt>
                <c:pt idx="36">
                  <c:v>7638</c:v>
                </c:pt>
                <c:pt idx="37">
                  <c:v>10269</c:v>
                </c:pt>
                <c:pt idx="38">
                  <c:v>9947</c:v>
                </c:pt>
                <c:pt idx="39">
                  <c:v>9093</c:v>
                </c:pt>
                <c:pt idx="40">
                  <c:v>8490</c:v>
                </c:pt>
                <c:pt idx="41">
                  <c:v>8896</c:v>
                </c:pt>
                <c:pt idx="42">
                  <c:v>8743</c:v>
                </c:pt>
                <c:pt idx="43">
                  <c:v>9287</c:v>
                </c:pt>
                <c:pt idx="44">
                  <c:v>8421</c:v>
                </c:pt>
                <c:pt idx="45">
                  <c:v>8792</c:v>
                </c:pt>
                <c:pt idx="46">
                  <c:v>7864</c:v>
                </c:pt>
                <c:pt idx="47">
                  <c:v>8465</c:v>
                </c:pt>
                <c:pt idx="48">
                  <c:v>8497</c:v>
                </c:pt>
                <c:pt idx="49">
                  <c:v>9598</c:v>
                </c:pt>
                <c:pt idx="50">
                  <c:v>10955</c:v>
                </c:pt>
                <c:pt idx="51">
                  <c:v>9237</c:v>
                </c:pt>
                <c:pt idx="52">
                  <c:v>9726</c:v>
                </c:pt>
                <c:pt idx="53">
                  <c:v>9778</c:v>
                </c:pt>
                <c:pt idx="54">
                  <c:v>9527</c:v>
                </c:pt>
                <c:pt idx="55">
                  <c:v>9632</c:v>
                </c:pt>
                <c:pt idx="56">
                  <c:v>9265</c:v>
                </c:pt>
                <c:pt idx="57">
                  <c:v>9139</c:v>
                </c:pt>
                <c:pt idx="58">
                  <c:v>8594</c:v>
                </c:pt>
                <c:pt idx="59">
                  <c:v>8226</c:v>
                </c:pt>
                <c:pt idx="60">
                  <c:v>8836</c:v>
                </c:pt>
                <c:pt idx="61">
                  <c:v>9923</c:v>
                </c:pt>
                <c:pt idx="62">
                  <c:v>11259</c:v>
                </c:pt>
                <c:pt idx="63">
                  <c:v>9543</c:v>
                </c:pt>
                <c:pt idx="64">
                  <c:v>10096</c:v>
                </c:pt>
                <c:pt idx="65">
                  <c:v>9777</c:v>
                </c:pt>
                <c:pt idx="66">
                  <c:v>9788</c:v>
                </c:pt>
                <c:pt idx="67">
                  <c:v>10081</c:v>
                </c:pt>
                <c:pt idx="68">
                  <c:v>8951</c:v>
                </c:pt>
                <c:pt idx="69">
                  <c:v>9104</c:v>
                </c:pt>
                <c:pt idx="70">
                  <c:v>8656</c:v>
                </c:pt>
                <c:pt idx="71">
                  <c:v>8376</c:v>
                </c:pt>
                <c:pt idx="72">
                  <c:v>8828</c:v>
                </c:pt>
                <c:pt idx="73">
                  <c:v>9675</c:v>
                </c:pt>
                <c:pt idx="74">
                  <c:v>11856</c:v>
                </c:pt>
                <c:pt idx="75">
                  <c:v>10345</c:v>
                </c:pt>
                <c:pt idx="76">
                  <c:v>10549</c:v>
                </c:pt>
                <c:pt idx="77">
                  <c:v>10078</c:v>
                </c:pt>
                <c:pt idx="78">
                  <c:v>10255</c:v>
                </c:pt>
                <c:pt idx="79">
                  <c:v>10357</c:v>
                </c:pt>
                <c:pt idx="80">
                  <c:v>9404</c:v>
                </c:pt>
                <c:pt idx="81">
                  <c:v>9696</c:v>
                </c:pt>
                <c:pt idx="82">
                  <c:v>9355</c:v>
                </c:pt>
                <c:pt idx="83">
                  <c:v>8669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A9-43B2-BECA-98F555A6ABD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32261408"/>
        <c:axId val="1032265152"/>
      </c:lineChart>
      <c:catAx>
        <c:axId val="103226140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32265152"/>
        <c:crosses val="autoZero"/>
        <c:auto val="1"/>
        <c:lblAlgn val="ctr"/>
        <c:lblOffset val="100"/>
        <c:tickLblSkip val="6"/>
        <c:tickMarkSkip val="1"/>
        <c:noMultiLvlLbl val="0"/>
      </c:catAx>
      <c:valAx>
        <c:axId val="103226515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3226140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Detrended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val>
            <c:numRef>
              <c:f>Sheet1!$A$20:$A$103</c:f>
              <c:numCache>
                <c:formatCode>General</c:formatCode>
                <c:ptCount val="84"/>
                <c:pt idx="0">
                  <c:v>-252</c:v>
                </c:pt>
                <c:pt idx="1">
                  <c:v>1340</c:v>
                </c:pt>
                <c:pt idx="2">
                  <c:v>1155</c:v>
                </c:pt>
                <c:pt idx="3">
                  <c:v>277</c:v>
                </c:pt>
                <c:pt idx="4">
                  <c:v>17</c:v>
                </c:pt>
                <c:pt idx="5">
                  <c:v>-241</c:v>
                </c:pt>
                <c:pt idx="6">
                  <c:v>-287</c:v>
                </c:pt>
                <c:pt idx="7">
                  <c:v>180</c:v>
                </c:pt>
                <c:pt idx="8">
                  <c:v>-684</c:v>
                </c:pt>
                <c:pt idx="9">
                  <c:v>-284</c:v>
                </c:pt>
                <c:pt idx="10">
                  <c:v>-821</c:v>
                </c:pt>
                <c:pt idx="11">
                  <c:v>-1251</c:v>
                </c:pt>
                <c:pt idx="12">
                  <c:v>-817</c:v>
                </c:pt>
                <c:pt idx="13">
                  <c:v>502</c:v>
                </c:pt>
                <c:pt idx="14">
                  <c:v>1005</c:v>
                </c:pt>
                <c:pt idx="15">
                  <c:v>3</c:v>
                </c:pt>
                <c:pt idx="16">
                  <c:v>59</c:v>
                </c:pt>
                <c:pt idx="17">
                  <c:v>-133</c:v>
                </c:pt>
                <c:pt idx="18">
                  <c:v>-57</c:v>
                </c:pt>
                <c:pt idx="19">
                  <c:v>184</c:v>
                </c:pt>
                <c:pt idx="20">
                  <c:v>-207</c:v>
                </c:pt>
                <c:pt idx="21">
                  <c:v>104</c:v>
                </c:pt>
                <c:pt idx="22">
                  <c:v>-1046</c:v>
                </c:pt>
                <c:pt idx="23">
                  <c:v>-904</c:v>
                </c:pt>
                <c:pt idx="24">
                  <c:v>-510</c:v>
                </c:pt>
                <c:pt idx="25">
                  <c:v>1108</c:v>
                </c:pt>
                <c:pt idx="26">
                  <c:v>1308</c:v>
                </c:pt>
                <c:pt idx="27">
                  <c:v>908</c:v>
                </c:pt>
                <c:pt idx="28">
                  <c:v>444</c:v>
                </c:pt>
                <c:pt idx="29">
                  <c:v>198</c:v>
                </c:pt>
                <c:pt idx="30">
                  <c:v>200</c:v>
                </c:pt>
                <c:pt idx="31">
                  <c:v>137</c:v>
                </c:pt>
                <c:pt idx="32">
                  <c:v>-565</c:v>
                </c:pt>
                <c:pt idx="33">
                  <c:v>-382</c:v>
                </c:pt>
                <c:pt idx="34">
                  <c:v>-1139</c:v>
                </c:pt>
                <c:pt idx="35">
                  <c:v>-1271</c:v>
                </c:pt>
                <c:pt idx="36">
                  <c:v>-771</c:v>
                </c:pt>
                <c:pt idx="37">
                  <c:v>1821</c:v>
                </c:pt>
                <c:pt idx="38">
                  <c:v>1461</c:v>
                </c:pt>
                <c:pt idx="39">
                  <c:v>568</c:v>
                </c:pt>
                <c:pt idx="40">
                  <c:v>-74</c:v>
                </c:pt>
                <c:pt idx="41">
                  <c:v>294</c:v>
                </c:pt>
                <c:pt idx="42">
                  <c:v>102</c:v>
                </c:pt>
                <c:pt idx="43">
                  <c:v>608</c:v>
                </c:pt>
                <c:pt idx="44">
                  <c:v>-297</c:v>
                </c:pt>
                <c:pt idx="45">
                  <c:v>35</c:v>
                </c:pt>
                <c:pt idx="46">
                  <c:v>-931</c:v>
                </c:pt>
                <c:pt idx="47">
                  <c:v>-369</c:v>
                </c:pt>
                <c:pt idx="48">
                  <c:v>-376</c:v>
                </c:pt>
                <c:pt idx="49">
                  <c:v>687</c:v>
                </c:pt>
                <c:pt idx="50">
                  <c:v>2005</c:v>
                </c:pt>
                <c:pt idx="51">
                  <c:v>248</c:v>
                </c:pt>
                <c:pt idx="52">
                  <c:v>699</c:v>
                </c:pt>
                <c:pt idx="53">
                  <c:v>712</c:v>
                </c:pt>
                <c:pt idx="54">
                  <c:v>423</c:v>
                </c:pt>
                <c:pt idx="55">
                  <c:v>489</c:v>
                </c:pt>
                <c:pt idx="56">
                  <c:v>83</c:v>
                </c:pt>
                <c:pt idx="57">
                  <c:v>-81</c:v>
                </c:pt>
                <c:pt idx="58">
                  <c:v>-665</c:v>
                </c:pt>
                <c:pt idx="59">
                  <c:v>-1072</c:v>
                </c:pt>
                <c:pt idx="60">
                  <c:v>-500</c:v>
                </c:pt>
                <c:pt idx="61">
                  <c:v>548</c:v>
                </c:pt>
                <c:pt idx="62">
                  <c:v>1845</c:v>
                </c:pt>
                <c:pt idx="63">
                  <c:v>91</c:v>
                </c:pt>
                <c:pt idx="64">
                  <c:v>605</c:v>
                </c:pt>
                <c:pt idx="65">
                  <c:v>248</c:v>
                </c:pt>
                <c:pt idx="66">
                  <c:v>220</c:v>
                </c:pt>
                <c:pt idx="67">
                  <c:v>474</c:v>
                </c:pt>
                <c:pt idx="68">
                  <c:v>-694</c:v>
                </c:pt>
                <c:pt idx="69">
                  <c:v>-580</c:v>
                </c:pt>
                <c:pt idx="70">
                  <c:v>-1067</c:v>
                </c:pt>
                <c:pt idx="71">
                  <c:v>-1385</c:v>
                </c:pt>
                <c:pt idx="72">
                  <c:v>-972</c:v>
                </c:pt>
                <c:pt idx="73">
                  <c:v>-164</c:v>
                </c:pt>
                <c:pt idx="74">
                  <c:v>1979</c:v>
                </c:pt>
                <c:pt idx="75">
                  <c:v>429</c:v>
                </c:pt>
                <c:pt idx="76">
                  <c:v>595</c:v>
                </c:pt>
                <c:pt idx="77">
                  <c:v>85</c:v>
                </c:pt>
                <c:pt idx="78">
                  <c:v>223</c:v>
                </c:pt>
                <c:pt idx="79">
                  <c:v>287</c:v>
                </c:pt>
                <c:pt idx="80">
                  <c:v>-705</c:v>
                </c:pt>
                <c:pt idx="81">
                  <c:v>-452</c:v>
                </c:pt>
                <c:pt idx="82">
                  <c:v>-831</c:v>
                </c:pt>
                <c:pt idx="83">
                  <c:v>-1556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8A1-42A6-A815-9476985037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30017088"/>
        <c:axId val="1030013760"/>
      </c:lineChart>
      <c:catAx>
        <c:axId val="1030017088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30013760"/>
        <c:crosses val="autoZero"/>
        <c:auto val="1"/>
        <c:lblAlgn val="ctr"/>
        <c:lblOffset val="100"/>
        <c:tickLblSkip val="6"/>
        <c:noMultiLvlLbl val="0"/>
      </c:catAx>
      <c:valAx>
        <c:axId val="10300137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3001708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Deseasonalized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4">
                  <a:lumMod val="75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Sheet1!$E$23:$E$106</c:f>
              <c:numCache>
                <c:formatCode>General</c:formatCode>
                <c:ptCount val="84"/>
                <c:pt idx="0">
                  <c:v>433</c:v>
                </c:pt>
                <c:pt idx="1">
                  <c:v>506</c:v>
                </c:pt>
                <c:pt idx="2">
                  <c:v>-382</c:v>
                </c:pt>
                <c:pt idx="3">
                  <c:v>-84</c:v>
                </c:pt>
                <c:pt idx="4">
                  <c:v>-318</c:v>
                </c:pt>
                <c:pt idx="5">
                  <c:v>-407</c:v>
                </c:pt>
                <c:pt idx="6">
                  <c:v>-405</c:v>
                </c:pt>
                <c:pt idx="7">
                  <c:v>-128</c:v>
                </c:pt>
                <c:pt idx="8">
                  <c:v>-189</c:v>
                </c:pt>
                <c:pt idx="9">
                  <c:v>8</c:v>
                </c:pt>
                <c:pt idx="10">
                  <c:v>164</c:v>
                </c:pt>
                <c:pt idx="11">
                  <c:v>-50</c:v>
                </c:pt>
                <c:pt idx="12">
                  <c:v>-131</c:v>
                </c:pt>
                <c:pt idx="13">
                  <c:v>-333</c:v>
                </c:pt>
                <c:pt idx="14">
                  <c:v>-532</c:v>
                </c:pt>
                <c:pt idx="15">
                  <c:v>-357</c:v>
                </c:pt>
                <c:pt idx="16">
                  <c:v>-276</c:v>
                </c:pt>
                <c:pt idx="17">
                  <c:v>-299</c:v>
                </c:pt>
                <c:pt idx="18">
                  <c:v>-174</c:v>
                </c:pt>
                <c:pt idx="19">
                  <c:v>-125</c:v>
                </c:pt>
                <c:pt idx="20">
                  <c:v>289</c:v>
                </c:pt>
                <c:pt idx="21">
                  <c:v>395</c:v>
                </c:pt>
                <c:pt idx="22">
                  <c:v>-60</c:v>
                </c:pt>
                <c:pt idx="23">
                  <c:v>297</c:v>
                </c:pt>
                <c:pt idx="24">
                  <c:v>175</c:v>
                </c:pt>
                <c:pt idx="25">
                  <c:v>273</c:v>
                </c:pt>
                <c:pt idx="26">
                  <c:v>-229</c:v>
                </c:pt>
                <c:pt idx="27">
                  <c:v>547</c:v>
                </c:pt>
                <c:pt idx="28">
                  <c:v>109</c:v>
                </c:pt>
                <c:pt idx="29">
                  <c:v>32</c:v>
                </c:pt>
                <c:pt idx="30">
                  <c:v>82</c:v>
                </c:pt>
                <c:pt idx="31">
                  <c:v>-171</c:v>
                </c:pt>
                <c:pt idx="32">
                  <c:v>-70</c:v>
                </c:pt>
                <c:pt idx="33">
                  <c:v>-91</c:v>
                </c:pt>
                <c:pt idx="34">
                  <c:v>-153</c:v>
                </c:pt>
                <c:pt idx="35">
                  <c:v>-70</c:v>
                </c:pt>
                <c:pt idx="36">
                  <c:v>-86</c:v>
                </c:pt>
                <c:pt idx="37">
                  <c:v>987</c:v>
                </c:pt>
                <c:pt idx="38">
                  <c:v>-76</c:v>
                </c:pt>
                <c:pt idx="39">
                  <c:v>207</c:v>
                </c:pt>
                <c:pt idx="40">
                  <c:v>-409</c:v>
                </c:pt>
                <c:pt idx="41">
                  <c:v>128</c:v>
                </c:pt>
                <c:pt idx="42">
                  <c:v>-16</c:v>
                </c:pt>
                <c:pt idx="43">
                  <c:v>299</c:v>
                </c:pt>
                <c:pt idx="44">
                  <c:v>199</c:v>
                </c:pt>
                <c:pt idx="45">
                  <c:v>327</c:v>
                </c:pt>
                <c:pt idx="46">
                  <c:v>54</c:v>
                </c:pt>
                <c:pt idx="47">
                  <c:v>832</c:v>
                </c:pt>
                <c:pt idx="48">
                  <c:v>310</c:v>
                </c:pt>
                <c:pt idx="49">
                  <c:v>-148</c:v>
                </c:pt>
                <c:pt idx="50">
                  <c:v>468</c:v>
                </c:pt>
                <c:pt idx="51">
                  <c:v>-112</c:v>
                </c:pt>
                <c:pt idx="52">
                  <c:v>364</c:v>
                </c:pt>
                <c:pt idx="53">
                  <c:v>546</c:v>
                </c:pt>
                <c:pt idx="54">
                  <c:v>305</c:v>
                </c:pt>
                <c:pt idx="55">
                  <c:v>181</c:v>
                </c:pt>
                <c:pt idx="56">
                  <c:v>579</c:v>
                </c:pt>
                <c:pt idx="57">
                  <c:v>210</c:v>
                </c:pt>
                <c:pt idx="58">
                  <c:v>321</c:v>
                </c:pt>
                <c:pt idx="59">
                  <c:v>130</c:v>
                </c:pt>
                <c:pt idx="60">
                  <c:v>185</c:v>
                </c:pt>
                <c:pt idx="61">
                  <c:v>-287</c:v>
                </c:pt>
                <c:pt idx="62">
                  <c:v>309</c:v>
                </c:pt>
                <c:pt idx="63">
                  <c:v>-270</c:v>
                </c:pt>
                <c:pt idx="64">
                  <c:v>270</c:v>
                </c:pt>
                <c:pt idx="65">
                  <c:v>81</c:v>
                </c:pt>
                <c:pt idx="66">
                  <c:v>102</c:v>
                </c:pt>
                <c:pt idx="67">
                  <c:v>166</c:v>
                </c:pt>
                <c:pt idx="68">
                  <c:v>-199</c:v>
                </c:pt>
                <c:pt idx="69">
                  <c:v>-289</c:v>
                </c:pt>
                <c:pt idx="70">
                  <c:v>-81</c:v>
                </c:pt>
                <c:pt idx="71">
                  <c:v>-184</c:v>
                </c:pt>
                <c:pt idx="72">
                  <c:v>-286</c:v>
                </c:pt>
                <c:pt idx="73">
                  <c:v>-998</c:v>
                </c:pt>
                <c:pt idx="74">
                  <c:v>442</c:v>
                </c:pt>
                <c:pt idx="75">
                  <c:v>69</c:v>
                </c:pt>
                <c:pt idx="76">
                  <c:v>260</c:v>
                </c:pt>
                <c:pt idx="77">
                  <c:v>-81</c:v>
                </c:pt>
                <c:pt idx="78">
                  <c:v>106</c:v>
                </c:pt>
                <c:pt idx="79">
                  <c:v>-22</c:v>
                </c:pt>
                <c:pt idx="80">
                  <c:v>-209</c:v>
                </c:pt>
                <c:pt idx="81">
                  <c:v>-160</c:v>
                </c:pt>
                <c:pt idx="82">
                  <c:v>155</c:v>
                </c:pt>
                <c:pt idx="83">
                  <c:v>-355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66C-4F33-8D44-4AF0BA7AD9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158891040"/>
        <c:axId val="1158892288"/>
      </c:lineChart>
      <c:catAx>
        <c:axId val="1158891040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accent4">
                <a:lumMod val="75000"/>
                <a:alpha val="97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58892288"/>
        <c:crosses val="autoZero"/>
        <c:auto val="1"/>
        <c:lblAlgn val="ctr"/>
        <c:lblOffset val="100"/>
        <c:tickLblSkip val="6"/>
        <c:noMultiLvlLbl val="0"/>
      </c:catAx>
      <c:valAx>
        <c:axId val="115889228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5889104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1FDBF04-F802-DE85-4C47-5EB8CE60C3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CEEB636-0F24-F495-ECCC-D898857742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928955E-152C-6531-8B3D-BBD6EED96E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260147A-1C45-14FB-D605-0A8B441B3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B5D244F-5D5A-2A4A-8E50-FAD9E58F2EA1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338920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AE57093-D38A-6D72-5FF6-95E3915B6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137DF3D-89E9-2702-262D-08468A7FFC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2309B64-7EBF-DA73-7CB9-6F04428F68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4B85912-3B29-D7B2-CBA3-564016B14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5D244F-5D5A-2A4A-8E50-FAD9E58F2EA1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492703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BCCDFB-66F2-09F6-0003-750CD520D8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43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56EF54D-F96D-3F93-AB21-82674926CA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8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892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2C9175A-C6A4-041C-244B-88A7DF1BE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C87F354-CC90-1F71-817C-29AC7DB722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5D244F-5D5A-2A4A-8E50-FAD9E58F2EA1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208658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28CD18-9A1C-FDBC-E4D5-737725BA2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AEC40A8-6F1E-1B0D-2E67-6E6BFA59C1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7C28527-27FC-9F2A-8210-82BD7EA2D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5D244F-5D5A-2A4A-8E50-FAD9E58F2EA1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08300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E60C926F-9DB5-7435-9A4F-0748EF140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87AD2EC-0F60-3709-EC03-AD75D2A35F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5D244F-5D5A-2A4A-8E50-FAD9E58F2EA1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69814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Tx/>
              <a:defRPr/>
            </a:lvl1pPr>
            <a:lvl2pPr>
              <a:buClrTx/>
              <a:defRPr/>
            </a:lvl2pPr>
            <a:lvl3pPr>
              <a:buClrTx/>
              <a:defRPr/>
            </a:lvl3pPr>
            <a:lvl4pPr>
              <a:buClrTx/>
              <a:defRPr/>
            </a:lvl4pPr>
            <a:lvl5pPr>
              <a:buClrTx/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262890" y="62413"/>
            <a:ext cx="7886700" cy="1004387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grpSp>
        <p:nvGrpSpPr>
          <p:cNvPr id="4" name="linea"/>
          <p:cNvGrpSpPr/>
          <p:nvPr/>
        </p:nvGrpSpPr>
        <p:grpSpPr bwMode="invGray">
          <a:xfrm>
            <a:off x="315162" y="840518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5" name="Figura a mano libera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" name="Figura a mano libera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" name="Figura a mano libera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9" name="Figura a mano libera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0" name="Figura a mano libera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1" name="Figura a mano libera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2" name="Figura a mano libera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3" name="Figura a mano libera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4" name="Figura a mano libera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5" name="Figura a mano libera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6" name="Figura a mano libera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7" name="Figura a mano libera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8" name="Figura a mano libera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9" name="Figura a mano libera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0" name="Figura a mano libera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1" name="Figura a mano libera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2" name="Figura a mano libera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3" name="Figura a mano libera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4" name="Figura a mano libera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5" name="Figura a mano libera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6" name="Figura a mano libera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7" name="Figura a mano libera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8" name="Figura a mano libera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9" name="Figura a mano libera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0" name="Figura a mano libera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1" name="Figura a mano libera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2" name="Figura a mano libera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3" name="Figura a mano libera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4" name="Figura a mano libera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5" name="Figura a mano libera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6" name="Figura a mano libera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7" name="Figura a mano libera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8" name="Figura a mano libera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9" name="Figura a mano libera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0" name="Figura a mano libera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1" name="Figura a mano libera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2" name="Figura a mano libera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3" name="Figura a mano libera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4" name="Figura a mano libera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5" name="Figura a mano libera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6" name="Figura a mano libera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7" name="Figura a mano libera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8" name="Figura a mano libera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9" name="Figura a mano libera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0" name="Figura a mano libera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1" name="Figura a mano libera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2" name="Figura a mano libera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3" name="Figura a mano libera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4" name="Figura a mano libera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5" name="Figura a mano libera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6" name="Figura a mano libera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7" name="Figura a mano libera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8" name="Figura a mano libera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9" name="Figura a mano libera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0" name="Figura a mano libera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1" name="Figura a mano libera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2" name="Figura a mano libera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3" name="Figura a mano libera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4" name="Figura a mano libera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5" name="Figura a mano libera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6" name="Figura a mano libera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7" name="Figura a mano libera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8" name="Figura a mano libera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9" name="Figura a mano libera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0" name="Figura a mano libera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1" name="Figura a mano libera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2" name="Figura a mano libera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3" name="Figura a mano libera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4" name="Figura a mano libera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5" name="Figura a mano libera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6" name="Figura a mano libera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7" name="Figura a mano libera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8" name="Figura a mano libera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9" name="Figura a mano libera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</p:grpSp>
      <p:sp>
        <p:nvSpPr>
          <p:cNvPr id="80" name="Footer Placeholder 4">
            <a:extLst>
              <a:ext uri="{FF2B5EF4-FFF2-40B4-BE49-F238E27FC236}">
                <a16:creationId xmlns:a16="http://schemas.microsoft.com/office/drawing/2014/main" id="{E4BE8164-996A-474C-978A-F0A76F8C91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81" name="Slide Number Placeholder 5">
            <a:extLst>
              <a:ext uri="{FF2B5EF4-FFF2-40B4-BE49-F238E27FC236}">
                <a16:creationId xmlns:a16="http://schemas.microsoft.com/office/drawing/2014/main" id="{39CA8FFC-AF78-45E6-98A9-C8B0B8648A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56706" y="6588890"/>
            <a:ext cx="533400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002263564"/>
      </p:ext>
    </p:extLst>
  </p:cSld>
  <p:clrMapOvr>
    <a:masterClrMapping/>
  </p:clrMapOvr>
  <p:hf hd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9F90525F-A14B-B260-E997-7FA5E090B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370" y="62413"/>
            <a:ext cx="7886700" cy="10043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D0F6CA8-30CC-5072-219F-3D0A1DA5CE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93370" y="1270000"/>
            <a:ext cx="8221980" cy="50771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9A5F7D4-A3DC-16A2-08B4-0A5ADFFD51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3370" y="6470841"/>
            <a:ext cx="5821680" cy="365125"/>
          </a:xfrm>
          <a:prstGeom prst="rect">
            <a:avLst/>
          </a:prstGeom>
          <a:noFill/>
        </p:spPr>
        <p:txBody>
          <a:bodyPr vert="horz" lIns="91440" tIns="45720" rIns="91440" bIns="45720" rtlCol="0" anchor="ctr"/>
          <a:lstStyle>
            <a:lvl1pPr algn="l">
              <a:defRPr sz="900">
                <a:ln>
                  <a:noFill/>
                </a:ln>
                <a:solidFill>
                  <a:schemeClr val="bg1"/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B111AC3-B0EE-D2B1-AA04-098736116F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12665" y="6471102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bg1"/>
                </a:solidFill>
              </a:defRPr>
            </a:lvl1pPr>
          </a:lstStyle>
          <a:p>
            <a:endParaRPr lang="de-DE" dirty="0">
              <a:solidFill>
                <a:schemeClr val="bg1"/>
              </a:solidFill>
            </a:endParaRPr>
          </a:p>
        </p:txBody>
      </p:sp>
      <p:pic>
        <p:nvPicPr>
          <p:cNvPr id="7" name="Grafik 9">
            <a:extLst>
              <a:ext uri="{FF2B5EF4-FFF2-40B4-BE49-F238E27FC236}">
                <a16:creationId xmlns:a16="http://schemas.microsoft.com/office/drawing/2014/main" id="{AF15EA35-9978-43E0-B669-2056940B93E1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7128013" y="61697"/>
            <a:ext cx="1842052" cy="921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09471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4"/>
    <p:sldLayoutId id="2147483655" r:id="rId5"/>
    <p:sldLayoutId id="2147483656" r:id="rId6"/>
  </p:sldLayoutIdLst>
  <p:txStyles>
    <p:titleStyle>
      <a:lvl1pPr algn="l" defTabSz="685783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685783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37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28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20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12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03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6.xml"/><Relationship Id="rId4" Type="http://schemas.openxmlformats.org/officeDocument/2006/relationships/chart" Target="../charts/char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9AEA886-3053-455E-B7C5-401215037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Bootstrap Enhanced Scenario Optimization for Two-Echelon Logistics, a Case Study in Large-Scale Retail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9208EEF-E298-419A-8616-E30120599F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Vittorio Maniezzo, University of Bologna</a:t>
            </a:r>
          </a:p>
          <a:p>
            <a:r>
              <a:rPr lang="en-US" dirty="0" err="1"/>
              <a:t>Livio</a:t>
            </a:r>
            <a:r>
              <a:rPr lang="en-US" dirty="0"/>
              <a:t> </a:t>
            </a:r>
            <a:r>
              <a:rPr lang="en-US" dirty="0" err="1"/>
              <a:t>Fenga</a:t>
            </a:r>
            <a:r>
              <a:rPr lang="en-US" dirty="0"/>
              <a:t>, University of Exeter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32939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0126CD0-0F1B-478E-7F9B-06F1979AEE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09542" y="1214842"/>
            <a:ext cx="3483495" cy="3563636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B0E51CE-27A2-6633-74B6-9143988D0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First </a:t>
            </a:r>
            <a:r>
              <a:rPr lang="it-IT" dirty="0" err="1"/>
              <a:t>problem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B161671-13D8-D261-8D60-A66FF1E1A7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0EB88C-D1C2-6213-1C9A-73456ED458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</a:t>
            </a:fld>
            <a:endParaRPr lang="it-IT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A3D0567-66EC-E53F-7623-9294D6E711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2086" y="931635"/>
            <a:ext cx="3761320" cy="382543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E446776-D964-1763-59BC-1DD94DBCC7F7}"/>
              </a:ext>
            </a:extLst>
          </p:cNvPr>
          <p:cNvSpPr txBox="1"/>
          <p:nvPr/>
        </p:nvSpPr>
        <p:spPr>
          <a:xfrm>
            <a:off x="506940" y="5011965"/>
            <a:ext cx="8563022" cy="1547210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400" dirty="0"/>
              <a:t>52 retailer stores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400" dirty="0"/>
              <a:t>4 </a:t>
            </a:r>
            <a:r>
              <a:rPr lang="it-IT" sz="2400" dirty="0" err="1"/>
              <a:t>DCs</a:t>
            </a:r>
            <a:r>
              <a:rPr lang="it-IT" sz="2400" dirty="0"/>
              <a:t>: one big, one </a:t>
            </a:r>
            <a:r>
              <a:rPr lang="it-IT" sz="2400" dirty="0" err="1"/>
              <a:t>smaller</a:t>
            </a:r>
            <a:r>
              <a:rPr lang="it-IT" sz="2400" dirty="0"/>
              <a:t>, 2 </a:t>
            </a:r>
            <a:r>
              <a:rPr lang="it-IT" sz="2400" dirty="0" err="1"/>
              <a:t>satellites</a:t>
            </a:r>
            <a:r>
              <a:rPr lang="it-IT" sz="2400" dirty="0"/>
              <a:t> close to city center</a:t>
            </a:r>
          </a:p>
          <a:p>
            <a:pPr>
              <a:spcBef>
                <a:spcPts val="1800"/>
              </a:spcBef>
            </a:pPr>
            <a:r>
              <a:rPr lang="it-IT" sz="2400" dirty="0" err="1"/>
              <a:t>Allocation</a:t>
            </a:r>
            <a:r>
              <a:rPr lang="it-IT" sz="2400" dirty="0"/>
              <a:t> for Christmas season! Preliminary </a:t>
            </a:r>
            <a:r>
              <a:rPr lang="it-IT" sz="2400" dirty="0" err="1"/>
              <a:t>analysis</a:t>
            </a:r>
            <a:r>
              <a:rPr lang="it-IT" sz="2400" dirty="0"/>
              <a:t> </a:t>
            </a:r>
            <a:r>
              <a:rPr lang="it-IT" sz="2400" dirty="0" err="1"/>
              <a:t>during</a:t>
            </a:r>
            <a:r>
              <a:rPr lang="it-IT" sz="2400" dirty="0"/>
              <a:t> </a:t>
            </a:r>
            <a:r>
              <a:rPr lang="it-IT" sz="2400" dirty="0" err="1"/>
              <a:t>summer</a:t>
            </a:r>
            <a:r>
              <a:rPr lang="it-IT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576998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D0FB3CD-0DD2-B5E8-18EE-F7E534B2EC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Words …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8883520-E100-A5F5-03B7-8628C00208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88C53B-C5FF-4B6F-7397-25657FFACF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</a:t>
            </a:fld>
            <a:endParaRPr lang="it-IT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D9BB930-B3E7-AB6C-E2BC-C8AEE82F2447}"/>
              </a:ext>
            </a:extLst>
          </p:cNvPr>
          <p:cNvSpPr txBox="1"/>
          <p:nvPr/>
        </p:nvSpPr>
        <p:spPr>
          <a:xfrm rot="20734357">
            <a:off x="481780" y="1476315"/>
            <a:ext cx="3411794" cy="492443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sz="2600" dirty="0">
                <a:solidFill>
                  <a:srgbClr val="C00000"/>
                </a:solidFill>
              </a:rPr>
              <a:t>Stochastic programming </a:t>
            </a:r>
            <a:endParaRPr lang="en-US" sz="2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FFCA9C-8E7E-7009-4E6C-E34ECC5890EA}"/>
              </a:ext>
            </a:extLst>
          </p:cNvPr>
          <p:cNvSpPr txBox="1"/>
          <p:nvPr/>
        </p:nvSpPr>
        <p:spPr>
          <a:xfrm rot="17437744">
            <a:off x="-67445" y="3182778"/>
            <a:ext cx="2900516" cy="492443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sz="2600" dirty="0">
                <a:solidFill>
                  <a:srgbClr val="C00000"/>
                </a:solidFill>
              </a:rPr>
              <a:t>Robust optimization </a:t>
            </a:r>
            <a:endParaRPr lang="en-US" sz="2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8F752B6-A619-E96D-5730-C63C2CDA6FCA}"/>
              </a:ext>
            </a:extLst>
          </p:cNvPr>
          <p:cNvSpPr txBox="1"/>
          <p:nvPr/>
        </p:nvSpPr>
        <p:spPr>
          <a:xfrm rot="631453">
            <a:off x="4188767" y="1391180"/>
            <a:ext cx="3645622" cy="89255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lang="en-US" sz="2600" dirty="0">
                <a:solidFill>
                  <a:srgbClr val="C00000"/>
                </a:solidFill>
              </a:rPr>
              <a:t>Chance-Constrained Programming </a:t>
            </a:r>
            <a:endParaRPr lang="en-US" sz="2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A504009-1766-406E-1206-264EFF2B2EC2}"/>
              </a:ext>
            </a:extLst>
          </p:cNvPr>
          <p:cNvSpPr txBox="1"/>
          <p:nvPr/>
        </p:nvSpPr>
        <p:spPr>
          <a:xfrm rot="20963262">
            <a:off x="309987" y="5203093"/>
            <a:ext cx="4581832" cy="89255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lang="en-US" sz="2600" dirty="0">
                <a:solidFill>
                  <a:srgbClr val="C00000"/>
                </a:solidFill>
              </a:rPr>
              <a:t>Distributionally Robust Chance Programming</a:t>
            </a:r>
            <a:r>
              <a:rPr lang="en-US" sz="2600" dirty="0"/>
              <a:t>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F3D2C65-D8CA-5AA9-274E-7B863B68C730}"/>
              </a:ext>
            </a:extLst>
          </p:cNvPr>
          <p:cNvSpPr txBox="1"/>
          <p:nvPr/>
        </p:nvSpPr>
        <p:spPr>
          <a:xfrm rot="20893992">
            <a:off x="1655315" y="2071020"/>
            <a:ext cx="4581832" cy="89255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en-US" sz="2600" dirty="0">
                <a:solidFill>
                  <a:srgbClr val="C00000"/>
                </a:solidFill>
              </a:rPr>
              <a:t>Hard-constrained stochastic programming</a:t>
            </a:r>
            <a:r>
              <a:rPr lang="en-US" sz="2600" dirty="0"/>
              <a:t>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876B2B3-172C-0DF7-6DF3-147D945A0BB0}"/>
              </a:ext>
            </a:extLst>
          </p:cNvPr>
          <p:cNvSpPr txBox="1"/>
          <p:nvPr/>
        </p:nvSpPr>
        <p:spPr>
          <a:xfrm rot="3641877">
            <a:off x="5155629" y="4064803"/>
            <a:ext cx="4296697" cy="89255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sz="2600" dirty="0">
                <a:solidFill>
                  <a:srgbClr val="C00000"/>
                </a:solidFill>
              </a:rPr>
              <a:t>Sample Average Approximation </a:t>
            </a:r>
            <a:endParaRPr lang="en-US" sz="26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32CE625-8A3E-3A97-39D5-2D8FBC1EDCCA}"/>
              </a:ext>
            </a:extLst>
          </p:cNvPr>
          <p:cNvSpPr txBox="1"/>
          <p:nvPr/>
        </p:nvSpPr>
        <p:spPr>
          <a:xfrm rot="2024186">
            <a:off x="4303556" y="5020370"/>
            <a:ext cx="4070555" cy="492443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sz="2600" dirty="0">
                <a:solidFill>
                  <a:srgbClr val="C00000"/>
                </a:solidFill>
              </a:rPr>
              <a:t>Scenario-Based Optimization </a:t>
            </a:r>
            <a:endParaRPr lang="en-US" sz="26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A265553-BC23-4E42-62A0-BC1D99B98084}"/>
              </a:ext>
            </a:extLst>
          </p:cNvPr>
          <p:cNvSpPr txBox="1"/>
          <p:nvPr/>
        </p:nvSpPr>
        <p:spPr>
          <a:xfrm rot="20974109">
            <a:off x="2036669" y="3346869"/>
            <a:ext cx="3728909" cy="89255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sz="2600" dirty="0">
                <a:solidFill>
                  <a:srgbClr val="C00000"/>
                </a:solidFill>
              </a:rPr>
              <a:t>deterministic equivalent problem</a:t>
            </a:r>
            <a:r>
              <a:rPr lang="en-US" sz="2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902277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5885353-A361-46AB-8404-B36DBD5A77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639" y="1232909"/>
            <a:ext cx="7278625" cy="4754936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2400" dirty="0">
                <a:solidFill>
                  <a:srgbClr val="C00000"/>
                </a:solidFill>
              </a:rPr>
              <a:t>Stochastic programming </a:t>
            </a:r>
            <a:r>
              <a:rPr lang="en-US" sz="2400" dirty="0"/>
              <a:t>optimizes decisions by explicitly modeling randomness through probability distributions, optimizing expected performance under uncertain conditions.</a:t>
            </a:r>
          </a:p>
          <a:p>
            <a:pPr>
              <a:lnSpc>
                <a:spcPct val="110000"/>
              </a:lnSpc>
            </a:pPr>
            <a:endParaRPr lang="en-US" dirty="0">
              <a:solidFill>
                <a:srgbClr val="C00000"/>
              </a:solidFill>
            </a:endParaRPr>
          </a:p>
          <a:p>
            <a:pPr>
              <a:lnSpc>
                <a:spcPct val="110000"/>
              </a:lnSpc>
            </a:pPr>
            <a:r>
              <a:rPr lang="en-US" dirty="0">
                <a:solidFill>
                  <a:srgbClr val="C00000"/>
                </a:solidFill>
              </a:rPr>
              <a:t>Robust optimization </a:t>
            </a:r>
            <a:r>
              <a:rPr lang="en-US" dirty="0"/>
              <a:t>finds decisions that are feasible no matter what the constraints turn out to be, and optimal for the worst-case objective function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C361CA4-6871-4743-9DA9-538D1DEB6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Stochastic Optimization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FEC2F1-8310-4359-A54C-0DA958FB38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B45AF6-D0AD-4031-9004-1C687EB4E1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5147285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AAFA804-6B83-C1A0-976A-8039CB2A3A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The literature proposes different hybrids, as c</a:t>
            </a:r>
            <a:r>
              <a:rPr lang="en-US" dirty="0"/>
              <a:t>onstraint "hardness" is nuanced. </a:t>
            </a:r>
          </a:p>
          <a:p>
            <a:pPr>
              <a:spcBef>
                <a:spcPts val="2400"/>
              </a:spcBef>
            </a:pPr>
            <a:r>
              <a:rPr lang="en-US" dirty="0">
                <a:solidFill>
                  <a:srgbClr val="C00000"/>
                </a:solidFill>
              </a:rPr>
              <a:t>Chance-Constrained Programming </a:t>
            </a:r>
            <a:r>
              <a:rPr lang="en-US" dirty="0"/>
              <a:t>: uncertain constraints must be satisfied with at least a prescribed probability level.</a:t>
            </a:r>
          </a:p>
          <a:p>
            <a:pPr>
              <a:spcBef>
                <a:spcPts val="2400"/>
              </a:spcBef>
            </a:pPr>
            <a:r>
              <a:rPr lang="en-US" dirty="0">
                <a:solidFill>
                  <a:srgbClr val="C00000"/>
                </a:solidFill>
              </a:rPr>
              <a:t>Distributionally Robust Chance Programming</a:t>
            </a:r>
            <a:r>
              <a:rPr lang="en-US" dirty="0"/>
              <a:t> : the distribution of probabilities is itself uncertain.</a:t>
            </a:r>
            <a:endParaRPr lang="en-US" sz="2400" dirty="0"/>
          </a:p>
          <a:p>
            <a:pPr>
              <a:spcBef>
                <a:spcPts val="2400"/>
              </a:spcBef>
            </a:pPr>
            <a:r>
              <a:rPr lang="en-US" dirty="0">
                <a:solidFill>
                  <a:srgbClr val="C00000"/>
                </a:solidFill>
              </a:rPr>
              <a:t>Hard-constrained stochastic programming</a:t>
            </a:r>
            <a:r>
              <a:rPr lang="en-US" dirty="0"/>
              <a:t> (HCSP) : a stochastic function must be optimized and uncertain constraints must be satisfied in all cases, regardless of the realization of the uncertain parameters.</a:t>
            </a:r>
            <a:endParaRPr lang="en-US" sz="2400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E16623A-BD36-E103-B426-C5FB8EB82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Hybrids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695DD9-A3D0-B88F-562D-E621311EA8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1A2BE3-C7BA-8456-5881-CE48590ED0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4571749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EC226D9-7D30-4960-8B19-5AB4CEE110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The identification of stochastic variable distributions is a critical challenge. </a:t>
            </a:r>
          </a:p>
          <a:p>
            <a:r>
              <a:rPr lang="en-US" dirty="0">
                <a:solidFill>
                  <a:srgbClr val="C00000"/>
                </a:solidFill>
              </a:rPr>
              <a:t>Sample Average Approximation </a:t>
            </a:r>
            <a:r>
              <a:rPr lang="en-US" dirty="0"/>
              <a:t>(SAA) approximates the true underlying distribution with an empirical distribution derived from a sample of independent and identically distributed realizations, aka </a:t>
            </a:r>
            <a:r>
              <a:rPr lang="en-US" dirty="0">
                <a:solidFill>
                  <a:srgbClr val="C00000"/>
                </a:solidFill>
              </a:rPr>
              <a:t>scenarios</a:t>
            </a:r>
            <a:r>
              <a:rPr lang="en-US" dirty="0"/>
              <a:t>. </a:t>
            </a:r>
          </a:p>
          <a:p>
            <a:r>
              <a:rPr lang="en-US" sz="2400" dirty="0">
                <a:solidFill>
                  <a:srgbClr val="C00000"/>
                </a:solidFill>
              </a:rPr>
              <a:t>Scenario-Based Optimization </a:t>
            </a:r>
            <a:r>
              <a:rPr lang="en-US" sz="2400" dirty="0"/>
              <a:t>associates a probability to each </a:t>
            </a:r>
            <a:r>
              <a:rPr lang="en-US" sz="2400" i="1" dirty="0"/>
              <a:t>scenario</a:t>
            </a:r>
            <a:r>
              <a:rPr lang="en-US" sz="2400" dirty="0"/>
              <a:t>. </a:t>
            </a:r>
            <a:r>
              <a:rPr lang="en-US" dirty="0"/>
              <a:t>An optimization problem is formulated to find decisions that perform well across this set of scenarios.</a:t>
            </a:r>
          </a:p>
          <a:p>
            <a:r>
              <a:rPr lang="en-US" dirty="0"/>
              <a:t>By replacing the expectation with a sample mean, the original stochastic problem can be transformed into a </a:t>
            </a:r>
            <a:r>
              <a:rPr lang="en-US" dirty="0">
                <a:solidFill>
                  <a:srgbClr val="C00000"/>
                </a:solidFill>
              </a:rPr>
              <a:t>deterministic equivalent problem</a:t>
            </a:r>
            <a:r>
              <a:rPr lang="en-US" dirty="0"/>
              <a:t> that can then be solved using standard techniques.</a:t>
            </a:r>
            <a:endParaRPr lang="en-US" sz="24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96B71D4-CEF5-4596-A30D-D7ABD7B571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Scenario-based optimization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B4FCC0-C236-4C9F-A9F4-D0A729FEB49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31A41E-34DF-407A-B739-D1C8F009F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6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9643604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4D8FC25-1931-1E5E-990D-CA89422BD3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12" y="1072434"/>
            <a:ext cx="8546175" cy="5259392"/>
          </a:xfrm>
        </p:spPr>
        <p:txBody>
          <a:bodyPr>
            <a:noAutofit/>
          </a:bodyPr>
          <a:lstStyle/>
          <a:p>
            <a:r>
              <a:rPr lang="en-US" sz="2200" dirty="0">
                <a:solidFill>
                  <a:schemeClr val="accent2"/>
                </a:solidFill>
              </a:rPr>
              <a:t>Large-scale organized distribution </a:t>
            </a:r>
            <a:r>
              <a:rPr lang="en-US" sz="2200" dirty="0"/>
              <a:t>is often structured according to a </a:t>
            </a:r>
            <a:r>
              <a:rPr lang="en-US" sz="2200" dirty="0">
                <a:solidFill>
                  <a:schemeClr val="accent2"/>
                </a:solidFill>
              </a:rPr>
              <a:t>two-echelon </a:t>
            </a:r>
            <a:r>
              <a:rPr lang="en-US" sz="2200" dirty="0"/>
              <a:t>model, in which </a:t>
            </a:r>
            <a:r>
              <a:rPr lang="en-US" sz="2200" dirty="0">
                <a:solidFill>
                  <a:schemeClr val="accent2"/>
                </a:solidFill>
              </a:rPr>
              <a:t>distribution centers </a:t>
            </a:r>
            <a:r>
              <a:rPr lang="en-US" sz="2200" dirty="0"/>
              <a:t>(DCs) are used to store and forward goods to replenish the inventories of the </a:t>
            </a:r>
            <a:r>
              <a:rPr lang="en-US" sz="2200" dirty="0">
                <a:solidFill>
                  <a:schemeClr val="accent2"/>
                </a:solidFill>
              </a:rPr>
              <a:t>final retailer's stores</a:t>
            </a:r>
            <a:r>
              <a:rPr lang="en-US" sz="2200" dirty="0"/>
              <a:t>.</a:t>
            </a:r>
          </a:p>
          <a:p>
            <a:pPr>
              <a:spcBef>
                <a:spcPts val="1200"/>
              </a:spcBef>
            </a:pPr>
            <a:r>
              <a:rPr lang="en-US" sz="2200" dirty="0"/>
              <a:t>Stores are typically </a:t>
            </a:r>
            <a:r>
              <a:rPr lang="en-US" sz="2200" dirty="0">
                <a:solidFill>
                  <a:schemeClr val="accent2"/>
                </a:solidFill>
              </a:rPr>
              <a:t>uniquely allocated </a:t>
            </a:r>
            <a:r>
              <a:rPr lang="en-US" sz="2200" dirty="0"/>
              <a:t>to DCs for products of the same line, and predictive </a:t>
            </a:r>
            <a:r>
              <a:rPr lang="en-US" sz="2200" dirty="0">
                <a:solidFill>
                  <a:schemeClr val="accent2"/>
                </a:solidFill>
              </a:rPr>
              <a:t>knowledge of future demand </a:t>
            </a:r>
            <a:r>
              <a:rPr lang="en-US" sz="2200" dirty="0"/>
              <a:t>is essential to optimize the distribution process. </a:t>
            </a:r>
          </a:p>
          <a:p>
            <a:pPr>
              <a:spcBef>
                <a:spcPts val="1200"/>
              </a:spcBef>
            </a:pPr>
            <a:r>
              <a:rPr lang="en-US" sz="2200" dirty="0"/>
              <a:t>In the </a:t>
            </a:r>
            <a:r>
              <a:rPr lang="en-US" sz="2200" dirty="0">
                <a:solidFill>
                  <a:schemeClr val="accent2"/>
                </a:solidFill>
              </a:rPr>
              <a:t>real-world case </a:t>
            </a:r>
            <a:r>
              <a:rPr lang="en-US" sz="2200" dirty="0"/>
              <a:t>study:</a:t>
            </a:r>
          </a:p>
          <a:p>
            <a:pPr marL="457200" indent="-4572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city retailer store </a:t>
            </a:r>
            <a:r>
              <a:rPr lang="en-US" sz="2200" dirty="0">
                <a:solidFill>
                  <a:schemeClr val="accent2"/>
                </a:solidFill>
              </a:rPr>
              <a:t>demands were predicted </a:t>
            </a:r>
            <a:r>
              <a:rPr lang="en-US" sz="2200" dirty="0"/>
              <a:t>based on individual sales time series and</a:t>
            </a:r>
          </a:p>
          <a:p>
            <a:pPr marL="457200" indent="-4572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used to </a:t>
            </a:r>
            <a:r>
              <a:rPr lang="en-US" sz="2200" dirty="0">
                <a:solidFill>
                  <a:schemeClr val="accent2"/>
                </a:solidFill>
              </a:rPr>
              <a:t>optimize the allocation of stores </a:t>
            </a:r>
            <a:r>
              <a:rPr lang="en-US" sz="2200" dirty="0"/>
              <a:t>to DCs in a tactical planning context.</a:t>
            </a:r>
          </a:p>
          <a:p>
            <a:pPr>
              <a:spcBef>
                <a:spcPts val="600"/>
              </a:spcBef>
            </a:pPr>
            <a:r>
              <a:rPr lang="en-US" sz="2200" dirty="0"/>
              <a:t>Our problem required </a:t>
            </a:r>
            <a:r>
              <a:rPr lang="en-US" sz="2200" b="1" i="1" dirty="0">
                <a:solidFill>
                  <a:schemeClr val="accent2"/>
                </a:solidFill>
              </a:rPr>
              <a:t>dimensioning</a:t>
            </a:r>
            <a:r>
              <a:rPr lang="en-US" sz="2200" dirty="0">
                <a:solidFill>
                  <a:schemeClr val="accent2"/>
                </a:solidFill>
              </a:rPr>
              <a:t> multiple DCs </a:t>
            </a:r>
            <a:r>
              <a:rPr lang="en-US" sz="2200" dirty="0"/>
              <a:t>and </a:t>
            </a:r>
            <a:r>
              <a:rPr lang="en-US" sz="2200" dirty="0">
                <a:solidFill>
                  <a:schemeClr val="accent2"/>
                </a:solidFill>
              </a:rPr>
              <a:t>assigning stores</a:t>
            </a:r>
            <a:r>
              <a:rPr lang="en-US" sz="2200" dirty="0"/>
              <a:t> to them to meet </a:t>
            </a:r>
            <a:r>
              <a:rPr lang="en-US" sz="2200" dirty="0">
                <a:solidFill>
                  <a:schemeClr val="accent2"/>
                </a:solidFill>
              </a:rPr>
              <a:t>expected demand </a:t>
            </a:r>
            <a:r>
              <a:rPr lang="en-US" sz="2200" dirty="0"/>
              <a:t>during a critical period.</a:t>
            </a:r>
            <a:endParaRPr lang="it-IT" sz="220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C5398A1-5698-7E29-73AD-823E6AC5D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first case study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AED9A1-62D9-AEA4-A356-4502CB5D9E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06B575-A6BA-D800-E032-B14334E804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7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6748530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083F86-A46A-4536-ABCE-853D29FAD7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8</a:t>
            </a:fld>
            <a:endParaRPr lang="it-IT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B9036EB-2DC9-4B74-9A20-A90796869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Toward a formulation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B89389-3428-4908-9BE0-23F58A7DE9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b="1" i="0" kern="120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2B98C8A-3BF6-47A2-B3B9-7FA15F39B6BC}"/>
              </a:ext>
            </a:extLst>
          </p:cNvPr>
          <p:cNvSpPr/>
          <p:nvPr/>
        </p:nvSpPr>
        <p:spPr>
          <a:xfrm>
            <a:off x="2011680" y="2542032"/>
            <a:ext cx="429768" cy="44805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i="1" dirty="0" err="1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endParaRPr lang="en-US" i="1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3A1B69A-A49D-4A92-8AD9-6A13E8235E81}"/>
              </a:ext>
            </a:extLst>
          </p:cNvPr>
          <p:cNvSpPr/>
          <p:nvPr/>
        </p:nvSpPr>
        <p:spPr>
          <a:xfrm>
            <a:off x="5421124" y="4312920"/>
            <a:ext cx="429768" cy="44805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i="1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6F8C743-2E2B-4EE3-91DE-D049A2418395}"/>
              </a:ext>
            </a:extLst>
          </p:cNvPr>
          <p:cNvCxnSpPr>
            <a:stCxn id="7" idx="2"/>
            <a:endCxn id="6" idx="6"/>
          </p:cNvCxnSpPr>
          <p:nvPr/>
        </p:nvCxnSpPr>
        <p:spPr>
          <a:xfrm flipH="1" flipV="1">
            <a:off x="2441448" y="2766060"/>
            <a:ext cx="2979676" cy="177088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2A84C6D-D5FD-478B-8DB2-B8676B97D4E0}"/>
              </a:ext>
            </a:extLst>
          </p:cNvPr>
          <p:cNvSpPr txBox="1"/>
          <p:nvPr/>
        </p:nvSpPr>
        <p:spPr>
          <a:xfrm>
            <a:off x="3670048" y="3107886"/>
            <a:ext cx="3502152" cy="448056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pPr algn="l"/>
            <a:r>
              <a:rPr lang="en-US" sz="2000" dirty="0"/>
              <a:t>if </a:t>
            </a:r>
            <a:r>
              <a:rPr lang="en-US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en-US" sz="2000" dirty="0"/>
              <a:t> is serviced from </a:t>
            </a:r>
            <a:r>
              <a:rPr lang="en-US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r>
              <a:rPr lang="en-US" sz="2000" dirty="0"/>
              <a:t>, then </a:t>
            </a:r>
            <a:r>
              <a:rPr lang="en-US" sz="2000" i="1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x</a:t>
            </a:r>
            <a:r>
              <a:rPr lang="en-US" sz="2000" i="1" baseline="-25000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ij</a:t>
            </a:r>
            <a:r>
              <a:rPr lang="en-US" sz="2000" i="1" dirty="0">
                <a:latin typeface="Cambria" panose="02040503050406030204" pitchFamily="18" charset="0"/>
                <a:ea typeface="Cambria" panose="02040503050406030204" pitchFamily="18" charset="0"/>
              </a:rPr>
              <a:t> = 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A90013-B7E8-44DB-A78A-BC9E92598082}"/>
              </a:ext>
            </a:extLst>
          </p:cNvPr>
          <p:cNvSpPr txBox="1"/>
          <p:nvPr/>
        </p:nvSpPr>
        <p:spPr>
          <a:xfrm>
            <a:off x="845820" y="1270635"/>
            <a:ext cx="2674620" cy="1047369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pPr algn="ctr"/>
            <a:r>
              <a:rPr lang="en-US" sz="2000" dirty="0">
                <a:latin typeface="Aptos Light" panose="020B0004020202020204" pitchFamily="34" charset="0"/>
              </a:rPr>
              <a:t>Server </a:t>
            </a:r>
            <a:r>
              <a:rPr lang="en-US" sz="2000" i="1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endParaRPr lang="en-US" sz="2000" dirty="0">
              <a:solidFill>
                <a:srgbClr val="C00000"/>
              </a:solidFill>
              <a:latin typeface="Aptos Light" panose="020B0004020202020204" pitchFamily="34" charset="0"/>
            </a:endParaRPr>
          </a:p>
          <a:p>
            <a:pPr algn="ctr"/>
            <a:r>
              <a:rPr lang="en-US" sz="2000" dirty="0">
                <a:latin typeface="Aptos Light" panose="020B0004020202020204" pitchFamily="34" charset="0"/>
              </a:rPr>
              <a:t>Capacity </a:t>
            </a:r>
            <a:r>
              <a:rPr lang="en-US" sz="2000" i="1" dirty="0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</a:t>
            </a:r>
            <a:r>
              <a:rPr lang="en-US" sz="2000" i="1" baseline="-25000" dirty="0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</a:p>
          <a:p>
            <a:pPr algn="ctr"/>
            <a:r>
              <a:rPr lang="en-US" sz="2000" dirty="0">
                <a:latin typeface="Aptos Light" panose="020B0004020202020204" pitchFamily="34" charset="0"/>
              </a:rPr>
              <a:t>Unitary storage cost </a:t>
            </a:r>
            <a:r>
              <a:rPr lang="en-US" sz="2000" i="1" dirty="0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</a:t>
            </a:r>
            <a:r>
              <a:rPr lang="en-US" sz="2000" i="1" baseline="-25000" dirty="0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44C906C-0A05-4451-A1E0-7A09F8AF712B}"/>
              </a:ext>
            </a:extLst>
          </p:cNvPr>
          <p:cNvSpPr txBox="1"/>
          <p:nvPr/>
        </p:nvSpPr>
        <p:spPr>
          <a:xfrm>
            <a:off x="4950208" y="4536948"/>
            <a:ext cx="3306824" cy="1424940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pPr algn="ctr"/>
            <a:r>
              <a:rPr lang="en-US" sz="2000" dirty="0">
                <a:latin typeface="Aptos Light" panose="020B0004020202020204" pitchFamily="34" charset="0"/>
              </a:rPr>
              <a:t>Client </a:t>
            </a:r>
            <a:r>
              <a:rPr lang="en-US" sz="2000" i="1" dirty="0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endParaRPr lang="en-US" sz="2000" dirty="0">
              <a:solidFill>
                <a:srgbClr val="C00000"/>
              </a:solidFill>
              <a:latin typeface="Aptos Light" panose="020B0004020202020204" pitchFamily="34" charset="0"/>
            </a:endParaRPr>
          </a:p>
          <a:p>
            <a:pPr algn="ctr"/>
            <a:r>
              <a:rPr lang="en-US" sz="2000" dirty="0">
                <a:latin typeface="Aptos Light" panose="020B0004020202020204" pitchFamily="34" charset="0"/>
              </a:rPr>
              <a:t>Total request </a:t>
            </a:r>
            <a:r>
              <a:rPr lang="en-US" sz="2000" i="1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req</a:t>
            </a:r>
            <a:r>
              <a:rPr lang="en-US" sz="2000" i="1" baseline="-25000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endParaRPr lang="en-US" sz="2000" i="1" baseline="-25000" dirty="0">
              <a:solidFill>
                <a:srgbClr val="C0000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en-US" sz="2000" dirty="0">
                <a:latin typeface="Aptos Light" panose="020B0004020202020204" pitchFamily="34" charset="0"/>
              </a:rPr>
              <a:t>Allocation cost to </a:t>
            </a:r>
            <a:r>
              <a:rPr lang="en-US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r>
              <a:rPr lang="en-US" sz="2000" dirty="0">
                <a:latin typeface="Aptos Light" panose="020B0004020202020204" pitchFamily="34" charset="0"/>
              </a:rPr>
              <a:t> </a:t>
            </a:r>
            <a:r>
              <a:rPr lang="en-US" sz="2000" i="1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</a:t>
            </a:r>
            <a:r>
              <a:rPr lang="en-US" sz="2000" i="1" baseline="-25000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ij</a:t>
            </a:r>
            <a:endParaRPr lang="en-US" sz="2000" i="1" baseline="-25000" dirty="0">
              <a:solidFill>
                <a:srgbClr val="C0000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en-US" sz="2000" dirty="0">
                <a:latin typeface="Aptos Light" panose="020B0004020202020204" pitchFamily="34" charset="0"/>
              </a:rPr>
              <a:t>Amount serviced by </a:t>
            </a:r>
            <a:r>
              <a:rPr lang="en-US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r>
              <a:rPr lang="en-US" sz="2000" dirty="0">
                <a:latin typeface="Aptos Light" panose="020B0004020202020204" pitchFamily="34" charset="0"/>
              </a:rPr>
              <a:t> </a:t>
            </a:r>
            <a:r>
              <a:rPr lang="en-US" sz="2000" i="1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</a:t>
            </a:r>
            <a:r>
              <a:rPr lang="en-US" sz="2000" i="1" baseline="-25000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ij</a:t>
            </a:r>
            <a:endParaRPr lang="en-US" sz="2000" i="1" baseline="-25000" dirty="0">
              <a:solidFill>
                <a:srgbClr val="C0000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36889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12" y="1173916"/>
                <a:ext cx="8546175" cy="5259392"/>
              </a:xfrm>
            </p:spPr>
            <p:txBody>
              <a:bodyPr>
                <a:normAutofit/>
              </a:bodyPr>
              <a:lstStyle/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z(D) = </a:t>
                </a:r>
                <a:r>
                  <a:rPr lang="en-US" sz="2400" b="1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lang="en-US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9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it-IT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sz="2400" b="0" i="1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0" u="none" strike="noStrike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ij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400" b="0" i="1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ij</m:t>
                                </m:r>
                              </m:sub>
                            </m:sSub>
                          </m:e>
                        </m:nary>
                      </m:e>
                    </m:nary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1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𝑟𝑒𝑞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r>
                  <a:rPr lang="en-US" dirty="0"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en-US" sz="2400" b="0" i="0" u="none" strike="noStrike" kern="120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 err="1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(3)</a:t>
                </a: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en-US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(4)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𝑟𝑒𝑞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(5)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(6)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 err="1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7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12" y="1173916"/>
                <a:ext cx="8546175" cy="5259392"/>
              </a:xfrm>
              <a:blipFill>
                <a:blip r:embed="rId2"/>
                <a:stretch>
                  <a:fillRect l="-1070" t="-7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Deterministic</a:t>
            </a:r>
            <a:r>
              <a:rPr lang="it-IT" dirty="0"/>
              <a:t> </a:t>
            </a:r>
            <a:r>
              <a:rPr lang="it-IT" dirty="0" err="1"/>
              <a:t>allocation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9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5572730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12" y="1173916"/>
                <a:ext cx="8546175" cy="5338202"/>
              </a:xfrm>
            </p:spPr>
            <p:txBody>
              <a:bodyPr>
                <a:normAutofit/>
              </a:bodyPr>
              <a:lstStyle/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z(H) = </a:t>
                </a:r>
                <a:r>
                  <a:rPr lang="en-US" sz="2400" b="1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lang="en-US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9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it-IT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sz="2400" b="0" i="1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0" u="none" strike="noStrike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ij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400" b="0" i="1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ij</m:t>
                                </m:r>
                              </m:sub>
                            </m:sSub>
                          </m:e>
                        </m:nary>
                      </m:e>
                    </m:nary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1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FF0000"/>
                    </a:solidFill>
                    <a:latin typeface="Arial" panose="020B0604020202020204" pitchFamily="34" charset="0"/>
                  </a:rPr>
                  <a:t> </a:t>
                </a:r>
                <a:r>
                  <a:rPr lang="en-US" dirty="0">
                    <a:latin typeface="Arial" panose="020B0604020202020204" pitchFamily="34" charset="0"/>
                  </a:rPr>
                  <a:t>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en-US" sz="2400" b="0" i="0" u="none" strike="noStrike" kern="120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 err="1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(3)</a:t>
                </a: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en-US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(4)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(5)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(6)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 err="1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7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12" y="1173916"/>
                <a:ext cx="8546175" cy="5338202"/>
              </a:xfrm>
              <a:blipFill>
                <a:blip r:embed="rId2"/>
                <a:stretch>
                  <a:fillRect l="-1070" t="-742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Stochastic</a:t>
            </a:r>
            <a:r>
              <a:rPr lang="it-IT" dirty="0"/>
              <a:t> </a:t>
            </a:r>
            <a:r>
              <a:rPr lang="it-IT" dirty="0" err="1"/>
              <a:t>allocation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52429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12482" y="1137040"/>
                <a:ext cx="8600926" cy="5184953"/>
              </a:xfrm>
            </p:spPr>
            <p:txBody>
              <a:bodyPr>
                <a:normAutofit/>
              </a:bodyPr>
              <a:lstStyle/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z(SB) = </a:t>
                </a:r>
                <a:r>
                  <a:rPr lang="en-US" sz="2400" b="1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sub>
                      <m:sup/>
                      <m:e>
                        <m:d>
                          <m:dPr>
                            <m:ctrlP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it-IT" sz="2400" b="0" i="1" u="none" strike="noStrike" kern="1200" smtClean="0">
                                    <a:solidFill>
                                      <a:srgbClr val="FF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u="none" strike="noStrike" kern="1200" smtClean="0">
                                    <a:solidFill>
                                      <a:srgbClr val="FF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it-IT" sz="2400" b="0" i="1" u="none" strike="noStrike" kern="1200" smtClean="0">
                                    <a:solidFill>
                                      <a:srgbClr val="FF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  <m:nary>
                              <m:naryPr>
                                <m:chr m:val="∑"/>
                                <m:supHide m:val="on"/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7"/>
                                  </m:rPr>
                                  <a:rPr lang="en-US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∈</m:t>
                                </m:r>
                                <m:r>
                                  <a:rPr lang="it-IT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𝐼</m:t>
                                </m:r>
                              </m:sub>
                              <m:sup/>
                              <m:e>
                                <m:d>
                                  <m:dPr>
                                    <m:ctrlPr>
                                      <a:rPr lang="it-IT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nary>
                                      <m:naryPr>
                                        <m:chr m:val="∑"/>
                                        <m:limLoc m:val="subSup"/>
                                        <m:supHide m:val="on"/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naryPr>
                                      <m:sub>
                                        <m:r>
                                          <m:rPr>
                                            <m:brk m:alnAt="9"/>
                                          </m:rPr>
                                          <a:rPr lang="en-US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  <m:r>
                                          <a:rPr lang="en-US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∈</m:t>
                                        </m:r>
                                        <m:r>
                                          <a:rPr lang="it-IT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𝐽</m:t>
                                        </m:r>
                                      </m:sub>
                                      <m:sup/>
                                      <m:e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it-IT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(</m:t>
                                            </m:r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c</m:t>
                                            </m:r>
                                          </m:e>
                                          <m:sub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ij</m:t>
                                            </m:r>
                                          </m:sub>
                                        </m:sSub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ij</m:t>
                                            </m:r>
                                          </m:sub>
                                        </m:sSub>
                                      </m:e>
                                    </m:nary>
                                    <m:r>
                                      <a:rPr lang="it-IT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it-IT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it-IT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</m:e>
                                      <m:sub>
                                        <m:r>
                                          <a:rPr lang="it-IT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sSubSup>
                                      <m:sSubSupPr>
                                        <m:ctrlPr>
                                          <a:rPr lang="it-IT" b="0" i="1" smtClean="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it-IT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it-IT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𝑖𝑗</m:t>
                                        </m:r>
                                      </m:sub>
                                      <m:sup>
                                        <m:r>
                                          <a:rPr lang="it-IT" b="0" i="1" smtClean="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sup>
                                    </m:sSubSup>
                                    <m:r>
                                      <a:rPr lang="it-IT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)</m:t>
                                    </m:r>
                                    <m:r>
                                      <a:rPr lang="it-IT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it-IT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𝑀</m:t>
                                    </m:r>
                                    <m:sSub>
                                      <m:sSubPr>
                                        <m:ctrlPr>
                                          <a:rPr lang="it-IT" b="0" i="1" smtClean="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it-IT" b="0" i="1" smtClean="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𝜖</m:t>
                                        </m:r>
                                      </m:e>
                                      <m:sub>
                                        <m:r>
                                          <a:rPr lang="it-IT" b="0" i="1" smtClean="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𝑗𝑠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nary>
                          </m:e>
                        </m:d>
                      </m:e>
                    </m:nary>
                  </m:oMath>
                </a14:m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(1)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b="1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it-IT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it-IT" b="0" i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</m:t>
                            </m:r>
                          </m:sup>
                        </m:sSubSup>
                      </m:e>
                    </m:nary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𝑗𝑠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  <m:sup>
                        <m: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p>
                    </m:sSubSup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J, s 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S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4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it-IT" sz="2400" b="0" i="1" u="none" strike="noStrike" kern="1200" smtClean="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b="0" i="0" u="none" strike="noStrike" kern="120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0" u="none" strike="noStrike" kern="120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it-IT" sz="2400" b="0" i="0" u="none" strike="noStrike" kern="1200" smtClean="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</m:t>
                            </m:r>
                          </m:sup>
                        </m:sSubSup>
                      </m:e>
                    </m:nary>
                    <m:r>
                      <a:rPr lang="en-US" sz="2400" b="0" i="0" u="none" strike="noStrike" kern="120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 err="1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, s 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(3)</a:t>
                </a: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en-US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(4)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  <m:sup>
                        <m:r>
                          <a:rPr lang="it-IT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p>
                    </m:sSubSup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Sup>
                      <m:sSubSupPr>
                        <m:ctrlPr>
                          <a:rPr lang="it-IT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  <m:sup>
                        <m:r>
                          <a:rPr lang="it-IT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p>
                    </m:sSubSup>
                    <m:sSub>
                      <m:sSubPr>
                        <m:ctrlP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, s 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sz="24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(5)</a:t>
                </a:r>
                <a:endParaRPr lang="en-US" sz="24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(6)</a:t>
                </a:r>
                <a:endParaRPr lang="en-US" sz="24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b="0" i="1" u="none" strike="noStrike" kern="1200" smtClean="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u="none" strike="noStrike" kern="1200" smtClean="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u="none" strike="noStrike" kern="120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  <m:sup>
                        <m:r>
                          <a:rPr lang="it-IT" sz="2400" b="0" i="1" u="none" strike="noStrike" kern="1200" smtClean="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p>
                    </m:sSubSup>
                    <m:r>
                      <a:rPr lang="en-US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 err="1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, s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7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𝑗𝑠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 	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j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J, s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(8)</a:t>
                </a:r>
                <a:endParaRPr lang="it-IT" dirty="0">
                  <a:latin typeface="Arial" panose="020B0604020202020204" pitchFamily="34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2482" y="1137040"/>
                <a:ext cx="8600926" cy="5184953"/>
              </a:xfrm>
              <a:blipFill>
                <a:blip r:embed="rId2"/>
                <a:stretch>
                  <a:fillRect l="-106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en-US" dirty="0"/>
              <a:t>Scenario-based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11</a:t>
            </a:fld>
            <a:endParaRPr lang="it-IT" dirty="0"/>
          </a:p>
        </p:txBody>
      </p:sp>
      <p:sp>
        <p:nvSpPr>
          <p:cNvPr id="7" name="Callout: Line 6">
            <a:extLst>
              <a:ext uri="{FF2B5EF4-FFF2-40B4-BE49-F238E27FC236}">
                <a16:creationId xmlns:a16="http://schemas.microsoft.com/office/drawing/2014/main" id="{31B7D93F-1DD9-BD0D-45A6-05C4651151FC}"/>
              </a:ext>
            </a:extLst>
          </p:cNvPr>
          <p:cNvSpPr/>
          <p:nvPr/>
        </p:nvSpPr>
        <p:spPr>
          <a:xfrm>
            <a:off x="430305" y="2944906"/>
            <a:ext cx="1260182" cy="1150684"/>
          </a:xfrm>
          <a:prstGeom prst="borderCallout1">
            <a:avLst>
              <a:gd name="adj1" fmla="val -6567"/>
              <a:gd name="adj2" fmla="val 69485"/>
              <a:gd name="adj3" fmla="val -47479"/>
              <a:gd name="adj4" fmla="val 295764"/>
            </a:avLst>
          </a:prstGeom>
          <a:noFill/>
          <a:ln>
            <a:solidFill>
              <a:srgbClr val="0070C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it-IT" sz="2400" dirty="0" err="1">
                <a:solidFill>
                  <a:srgbClr val="0070C0"/>
                </a:solidFill>
              </a:rPr>
              <a:t>We</a:t>
            </a:r>
            <a:r>
              <a:rPr lang="it-IT" sz="2400" dirty="0">
                <a:solidFill>
                  <a:srgbClr val="0070C0"/>
                </a:solidFill>
              </a:rPr>
              <a:t> forecast </a:t>
            </a:r>
            <a:r>
              <a:rPr lang="it-IT" sz="2400" dirty="0" err="1">
                <a:solidFill>
                  <a:srgbClr val="0070C0"/>
                </a:solidFill>
              </a:rPr>
              <a:t>these</a:t>
            </a:r>
            <a:endParaRPr lang="it-IT" sz="24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06527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6AEC4150-3F5B-09C5-8007-15AE1675B7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0915" y="1377904"/>
            <a:ext cx="4510383" cy="2941554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42179CFE-00D5-E7E6-2B47-AC0441B6BA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dirty="0" err="1"/>
              <a:t>Preprocessing</a:t>
            </a:r>
            <a:r>
              <a:rPr lang="it-IT" dirty="0"/>
              <a:t>, COVID </a:t>
            </a:r>
            <a:r>
              <a:rPr lang="it-IT" dirty="0" err="1"/>
              <a:t>adjustment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01613B-998E-701E-164C-B3F43D7828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1D829-028F-FAE2-683C-671A2AEF30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12</a:t>
            </a:fld>
            <a:endParaRPr lang="it-IT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9EAC161-7412-5A61-4D63-FD4DBFBE17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3823" y="1404958"/>
            <a:ext cx="4510383" cy="294155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817439B-B85F-263C-F4DF-FFAC276A26D3}"/>
              </a:ext>
            </a:extLst>
          </p:cNvPr>
          <p:cNvSpPr txBox="1"/>
          <p:nvPr/>
        </p:nvSpPr>
        <p:spPr>
          <a:xfrm>
            <a:off x="403122" y="4503172"/>
            <a:ext cx="8377084" cy="1970363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anchorCtr="0">
            <a:noAutofit/>
          </a:bodyPr>
          <a:lstStyle/>
          <a:p>
            <a:r>
              <a:rPr lang="en-US" sz="2400" dirty="0"/>
              <a:t>A </a:t>
            </a:r>
            <a:r>
              <a:rPr lang="en-US" sz="2400" dirty="0">
                <a:solidFill>
                  <a:schemeClr val="accent2"/>
                </a:solidFill>
              </a:rPr>
              <a:t>major occasional impact </a:t>
            </a:r>
            <a:r>
              <a:rPr lang="en-US" sz="2400" dirty="0"/>
              <a:t>due to the first lockdown, </a:t>
            </a:r>
            <a:r>
              <a:rPr lang="en-US" sz="2400" dirty="0" err="1"/>
              <a:t>feb-apr</a:t>
            </a:r>
            <a:r>
              <a:rPr lang="en-US" sz="2400" dirty="0"/>
              <a:t> 2020</a:t>
            </a:r>
          </a:p>
          <a:p>
            <a:r>
              <a:rPr lang="en-US" sz="2400" dirty="0"/>
              <a:t>A minor one in the fall of the same year</a:t>
            </a:r>
          </a:p>
          <a:p>
            <a:pPr>
              <a:spcBef>
                <a:spcPts val="1200"/>
              </a:spcBef>
            </a:pPr>
            <a:r>
              <a:rPr lang="en-US" sz="2400" dirty="0"/>
              <a:t>Data reconstructed by simple </a:t>
            </a:r>
            <a:r>
              <a:rPr lang="en-US" sz="2400" dirty="0">
                <a:solidFill>
                  <a:schemeClr val="accent2"/>
                </a:solidFill>
              </a:rPr>
              <a:t>STL decomposition</a:t>
            </a:r>
            <a:r>
              <a:rPr lang="en-US" sz="2400" dirty="0"/>
              <a:t>. </a:t>
            </a:r>
          </a:p>
          <a:p>
            <a:pPr>
              <a:spcBef>
                <a:spcPts val="1200"/>
              </a:spcBef>
            </a:pPr>
            <a:r>
              <a:rPr lang="en-US" sz="2400" dirty="0"/>
              <a:t>The resulting series were input to forecasting.</a:t>
            </a:r>
          </a:p>
        </p:txBody>
      </p:sp>
    </p:spTree>
    <p:extLst>
      <p:ext uri="{BB962C8B-B14F-4D97-AF65-F5344CB8AC3E}">
        <p14:creationId xmlns:p14="http://schemas.microsoft.com/office/powerpoint/2010/main" val="40506200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F281A3F-3C97-4C1D-8713-5E9CB1516D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000180"/>
            <a:ext cx="8546175" cy="5259392"/>
          </a:xfrm>
        </p:spPr>
        <p:txBody>
          <a:bodyPr>
            <a:no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sz="1800" dirty="0"/>
              <a:t>At the most abstract level, the </a:t>
            </a:r>
            <a:r>
              <a:rPr lang="en-US" sz="1800" dirty="0">
                <a:solidFill>
                  <a:srgbClr val="C00000"/>
                </a:solidFill>
              </a:rPr>
              <a:t>main approaches to data series forecasting </a:t>
            </a:r>
            <a:r>
              <a:rPr lang="en-US" sz="1800" dirty="0"/>
              <a:t>can be grouped as:</a:t>
            </a:r>
          </a:p>
          <a:p>
            <a:pPr>
              <a:lnSpc>
                <a:spcPct val="120000"/>
              </a:lnSpc>
              <a:spcBef>
                <a:spcPts val="1200"/>
              </a:spcBef>
              <a:buFont typeface="+mj-lt"/>
              <a:buAutoNum type="arabicPeriod"/>
            </a:pPr>
            <a:r>
              <a:rPr lang="en-US" sz="1800" dirty="0">
                <a:solidFill>
                  <a:srgbClr val="C00000"/>
                </a:solidFill>
              </a:rPr>
              <a:t>Statistical models</a:t>
            </a:r>
            <a:r>
              <a:rPr lang="en-US" sz="1800" dirty="0"/>
              <a:t>: based on </a:t>
            </a:r>
            <a:r>
              <a:rPr lang="en-US" sz="1800" b="1" i="1" dirty="0"/>
              <a:t>explicit probabilistic or parametric formulations </a:t>
            </a:r>
            <a:r>
              <a:rPr lang="en-US" sz="1800" dirty="0"/>
              <a:t>of the data-generating process.</a:t>
            </a:r>
          </a:p>
          <a:p>
            <a:pPr marL="742950" lvl="1" indent="-285750">
              <a:lnSpc>
                <a:spcPct val="120000"/>
              </a:lnSpc>
              <a:spcBef>
                <a:spcPts val="0"/>
              </a:spcBef>
            </a:pPr>
            <a:r>
              <a:rPr lang="en-US" sz="1800" u="sng" dirty="0"/>
              <a:t>Examples</a:t>
            </a:r>
            <a:r>
              <a:rPr lang="en-US" sz="1800" dirty="0"/>
              <a:t>: </a:t>
            </a:r>
            <a:r>
              <a:rPr lang="en-US" sz="1800" i="1" dirty="0"/>
              <a:t>ARIMA, ETS, SARIMA, State-space models, VAR</a:t>
            </a:r>
            <a:r>
              <a:rPr lang="en-US" sz="1800" dirty="0"/>
              <a:t>, etc.</a:t>
            </a:r>
          </a:p>
          <a:p>
            <a:pPr marL="742950" lvl="1" indent="-285750">
              <a:lnSpc>
                <a:spcPct val="120000"/>
              </a:lnSpc>
              <a:spcBef>
                <a:spcPts val="0"/>
              </a:spcBef>
            </a:pPr>
            <a:r>
              <a:rPr lang="en-US" sz="1800" dirty="0"/>
              <a:t>They rely on </a:t>
            </a:r>
            <a:r>
              <a:rPr lang="en-US" sz="1800" b="1" i="1" dirty="0"/>
              <a:t>assumptions</a:t>
            </a:r>
            <a:r>
              <a:rPr lang="en-US" sz="1800" dirty="0"/>
              <a:t> about linearity, stationarity, and residual distributions.</a:t>
            </a:r>
          </a:p>
          <a:p>
            <a:pPr>
              <a:lnSpc>
                <a:spcPct val="120000"/>
              </a:lnSpc>
              <a:spcBef>
                <a:spcPts val="1200"/>
              </a:spcBef>
              <a:buFont typeface="+mj-lt"/>
              <a:buAutoNum type="arabicPeriod"/>
            </a:pPr>
            <a:r>
              <a:rPr lang="en-US" sz="1800" dirty="0">
                <a:solidFill>
                  <a:srgbClr val="C00000"/>
                </a:solidFill>
              </a:rPr>
              <a:t>Neural</a:t>
            </a:r>
            <a:r>
              <a:rPr lang="en-US" sz="1800" dirty="0"/>
              <a:t> (deep learning) models: learning-based, they can capture </a:t>
            </a:r>
            <a:r>
              <a:rPr lang="en-US" sz="1800" b="1" i="1" dirty="0"/>
              <a:t>nonlinear patterns</a:t>
            </a:r>
            <a:r>
              <a:rPr lang="en-US" sz="1800" dirty="0"/>
              <a:t>.</a:t>
            </a:r>
          </a:p>
          <a:p>
            <a:pPr marL="742950" lvl="1" indent="-285750">
              <a:lnSpc>
                <a:spcPct val="120000"/>
              </a:lnSpc>
              <a:spcBef>
                <a:spcPts val="0"/>
              </a:spcBef>
            </a:pPr>
            <a:r>
              <a:rPr lang="en-US" sz="1800" u="sng" dirty="0"/>
              <a:t>Examples</a:t>
            </a:r>
            <a:r>
              <a:rPr lang="en-US" sz="1800" dirty="0"/>
              <a:t>: </a:t>
            </a:r>
            <a:r>
              <a:rPr lang="en-US" sz="1800" i="1" dirty="0"/>
              <a:t>MLP, RNN, LSTM, GRU, Temporal CNN, Transformers</a:t>
            </a:r>
            <a:r>
              <a:rPr lang="en-US" sz="1800" dirty="0"/>
              <a:t>, etc.</a:t>
            </a:r>
          </a:p>
          <a:p>
            <a:pPr marL="742950" lvl="1" indent="-285750">
              <a:lnSpc>
                <a:spcPct val="120000"/>
              </a:lnSpc>
              <a:spcBef>
                <a:spcPts val="0"/>
              </a:spcBef>
            </a:pPr>
            <a:r>
              <a:rPr lang="en-US" sz="1800" dirty="0"/>
              <a:t>They don’t require model structure assumptions and </a:t>
            </a:r>
            <a:r>
              <a:rPr lang="en-US" sz="1800" b="1" i="1" dirty="0"/>
              <a:t>learn from data</a:t>
            </a:r>
            <a:r>
              <a:rPr lang="en-US" sz="1800" dirty="0"/>
              <a:t>.</a:t>
            </a:r>
          </a:p>
          <a:p>
            <a:pPr>
              <a:lnSpc>
                <a:spcPct val="120000"/>
              </a:lnSpc>
              <a:spcBef>
                <a:spcPts val="1200"/>
              </a:spcBef>
              <a:buFont typeface="+mj-lt"/>
              <a:buAutoNum type="arabicPeriod"/>
            </a:pPr>
            <a:r>
              <a:rPr lang="en-US" sz="1800" dirty="0">
                <a:solidFill>
                  <a:srgbClr val="C00000"/>
                </a:solidFill>
              </a:rPr>
              <a:t>Tree-based ensemble methods </a:t>
            </a:r>
            <a:r>
              <a:rPr lang="en-US" sz="1800" dirty="0"/>
              <a:t>— </a:t>
            </a:r>
            <a:r>
              <a:rPr lang="en-US" sz="1800" b="1" i="1" dirty="0"/>
              <a:t>nonparametric</a:t>
            </a:r>
            <a:r>
              <a:rPr lang="en-US" sz="1800" dirty="0"/>
              <a:t>, machine-learning approaches based on recursive partitioning and aggregation.</a:t>
            </a:r>
          </a:p>
          <a:p>
            <a:pPr marL="742950" lvl="1" indent="-285750">
              <a:lnSpc>
                <a:spcPct val="120000"/>
              </a:lnSpc>
              <a:spcBef>
                <a:spcPts val="0"/>
              </a:spcBef>
            </a:pPr>
            <a:r>
              <a:rPr lang="en-US" sz="1800" u="sng" dirty="0"/>
              <a:t>Examples</a:t>
            </a:r>
            <a:r>
              <a:rPr lang="en-US" sz="1800" dirty="0"/>
              <a:t>: </a:t>
            </a:r>
            <a:r>
              <a:rPr lang="en-US" sz="1800" i="1" dirty="0"/>
              <a:t>Random Forests, Gradient Boosting, </a:t>
            </a:r>
            <a:r>
              <a:rPr lang="en-US" sz="1800" i="1" dirty="0" err="1"/>
              <a:t>XGBoost</a:t>
            </a:r>
            <a:r>
              <a:rPr lang="en-US" sz="1800" i="1" dirty="0"/>
              <a:t>, </a:t>
            </a:r>
            <a:r>
              <a:rPr lang="en-US" sz="1800" i="1" dirty="0" err="1"/>
              <a:t>LightGBM</a:t>
            </a:r>
            <a:r>
              <a:rPr lang="en-US" sz="1800" dirty="0"/>
              <a:t>, etc.</a:t>
            </a:r>
          </a:p>
          <a:p>
            <a:pPr indent="-91440">
              <a:lnSpc>
                <a:spcPct val="120000"/>
              </a:lnSpc>
              <a:spcBef>
                <a:spcPts val="1200"/>
              </a:spcBef>
            </a:pPr>
            <a:r>
              <a:rPr lang="en-US" sz="1800" i="1" dirty="0">
                <a:solidFill>
                  <a:srgbClr val="C00000"/>
                </a:solidFill>
              </a:rPr>
              <a:t>No approach is consistently dominated by the others</a:t>
            </a:r>
            <a:r>
              <a:rPr lang="en-US" sz="1800" dirty="0"/>
              <a:t>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EA5DEEE-7D13-48F3-B371-6C1D0C3668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Forecasting, approaches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2BE902-6A4A-4E6D-9690-05584D54AF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7AFADAE-947F-49E8-ACB4-97DD91B308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0456179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9B4D811-61AF-4135-903F-A0E44F5737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173916"/>
            <a:ext cx="8546175" cy="2867732"/>
          </a:xfrm>
        </p:spPr>
        <p:txBody>
          <a:bodyPr>
            <a:normAutofit/>
          </a:bodyPr>
          <a:lstStyle/>
          <a:p>
            <a:r>
              <a:rPr lang="en-US" b="0" dirty="0">
                <a:effectLst/>
              </a:rPr>
              <a:t>An </a:t>
            </a:r>
            <a:r>
              <a:rPr lang="en-US" b="0" dirty="0">
                <a:solidFill>
                  <a:srgbClr val="111827"/>
                </a:solidFill>
                <a:effectLst/>
              </a:rPr>
              <a:t>Autoregressive model of order 2</a:t>
            </a:r>
            <a:r>
              <a:rPr lang="en-US" b="0" dirty="0">
                <a:effectLst/>
              </a:rPr>
              <a:t>, or </a:t>
            </a:r>
            <a:r>
              <a:rPr lang="en-US" b="0" dirty="0">
                <a:solidFill>
                  <a:srgbClr val="111827"/>
                </a:solidFill>
                <a:effectLst/>
              </a:rPr>
              <a:t>AR(2)</a:t>
            </a:r>
            <a:r>
              <a:rPr lang="en-US" b="0" dirty="0">
                <a:effectLst/>
              </a:rPr>
              <a:t>, predicts a value using a </a:t>
            </a:r>
            <a:r>
              <a:rPr lang="en-US" b="0" dirty="0">
                <a:solidFill>
                  <a:srgbClr val="111827"/>
                </a:solidFill>
                <a:effectLst/>
              </a:rPr>
              <a:t>linear combination of the two most recent past values</a:t>
            </a:r>
            <a:r>
              <a:rPr lang="en-US" b="0" dirty="0">
                <a:effectLst/>
              </a:rPr>
              <a:t>, plus a random error term: </a:t>
            </a:r>
            <a:r>
              <a:rPr lang="en-US" b="0" i="1" dirty="0" err="1">
                <a:latin typeface="Cambria" panose="02040503050406030204" pitchFamily="18" charset="0"/>
                <a:ea typeface="Cambria" panose="02040503050406030204" pitchFamily="18" charset="0"/>
              </a:rPr>
              <a:t>x</a:t>
            </a:r>
            <a:r>
              <a:rPr lang="en-US" i="1" baseline="-25000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</a:t>
            </a:r>
            <a:r>
              <a:rPr lang="en-US" i="1" baseline="-2500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​= </a:t>
            </a:r>
            <a:r>
              <a:rPr lang="en-US" i="1" dirty="0">
                <a:solidFill>
                  <a:srgbClr val="00B05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ϕ</a:t>
            </a:r>
            <a:r>
              <a:rPr lang="en-US" baseline="-25000" dirty="0">
                <a:solidFill>
                  <a:srgbClr val="00B05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1</a:t>
            </a:r>
            <a:r>
              <a:rPr lang="en-US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​</a:t>
            </a:r>
            <a:r>
              <a:rPr lang="en-US" i="1" dirty="0">
                <a:latin typeface="Cambria" panose="02040503050406030204" pitchFamily="18" charset="0"/>
                <a:ea typeface="Cambria" panose="02040503050406030204" pitchFamily="18" charset="0"/>
              </a:rPr>
              <a:t>x</a:t>
            </a:r>
            <a:r>
              <a:rPr lang="en-US" i="1" baseline="-2500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</a:t>
            </a:r>
            <a:r>
              <a:rPr lang="en-US" baseline="-2500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−1</a:t>
            </a:r>
            <a:r>
              <a:rPr lang="en-US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​ + </a:t>
            </a:r>
            <a:r>
              <a:rPr lang="en-US" i="1" dirty="0">
                <a:solidFill>
                  <a:srgbClr val="C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ϕ</a:t>
            </a:r>
            <a:r>
              <a:rPr lang="en-US" baseline="-25000" dirty="0">
                <a:solidFill>
                  <a:srgbClr val="C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2</a:t>
            </a:r>
            <a:r>
              <a:rPr lang="en-US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​</a:t>
            </a:r>
            <a:r>
              <a:rPr lang="en-US" i="1" dirty="0">
                <a:latin typeface="Cambria" panose="02040503050406030204" pitchFamily="18" charset="0"/>
                <a:ea typeface="Cambria" panose="02040503050406030204" pitchFamily="18" charset="0"/>
              </a:rPr>
              <a:t>x</a:t>
            </a:r>
            <a:r>
              <a:rPr lang="en-US" i="1" baseline="-2500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</a:t>
            </a:r>
            <a:r>
              <a:rPr lang="en-US" baseline="-2500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−2</a:t>
            </a:r>
            <a:r>
              <a:rPr lang="en-US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​ + </a:t>
            </a:r>
            <a:r>
              <a:rPr lang="en-US" i="1" dirty="0" err="1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ε</a:t>
            </a:r>
            <a:r>
              <a:rPr lang="en-US" b="0" i="1" baseline="-25000" dirty="0" err="1">
                <a:solidFill>
                  <a:srgbClr val="2C2C36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</a:t>
            </a:r>
            <a:r>
              <a:rPr lang="en-US" b="0" i="0" dirty="0">
                <a:solidFill>
                  <a:srgbClr val="2C2C36"/>
                </a:solidFill>
                <a:effectLst/>
                <a:latin typeface="KaTeX_Main"/>
              </a:rPr>
              <a:t>​</a:t>
            </a:r>
            <a:endParaRPr lang="en-US" b="0" i="0" dirty="0">
              <a:solidFill>
                <a:srgbClr val="2C2C36"/>
              </a:solidFill>
              <a:effectLst/>
            </a:endParaRPr>
          </a:p>
          <a:p>
            <a:r>
              <a:rPr lang="en-US" b="0" i="0" dirty="0">
                <a:solidFill>
                  <a:srgbClr val="2C2C36"/>
                </a:solidFill>
                <a:effectLst/>
              </a:rPr>
              <a:t>Example (</a:t>
            </a:r>
            <a:r>
              <a:rPr lang="en-US" i="1" dirty="0">
                <a:solidFill>
                  <a:srgbClr val="00B05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ϕ</a:t>
            </a:r>
            <a:r>
              <a:rPr lang="en-US" baseline="-25000" dirty="0">
                <a:solidFill>
                  <a:srgbClr val="00B05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1</a:t>
            </a:r>
            <a:r>
              <a:rPr lang="en-US" b="0" i="0" dirty="0">
                <a:solidFill>
                  <a:srgbClr val="2C2C36"/>
                </a:solidFill>
                <a:effectLst/>
              </a:rPr>
              <a:t> </a:t>
            </a:r>
            <a:r>
              <a:rPr lang="en-US" b="0" i="0" dirty="0">
                <a:solidFill>
                  <a:srgbClr val="00B050"/>
                </a:solidFill>
                <a:effectLst/>
              </a:rPr>
              <a:t>= 1.3</a:t>
            </a:r>
            <a:r>
              <a:rPr lang="en-US" b="0" i="0" dirty="0">
                <a:solidFill>
                  <a:srgbClr val="2C2C36"/>
                </a:solidFill>
                <a:effectLst/>
              </a:rPr>
              <a:t>,</a:t>
            </a:r>
            <a:r>
              <a:rPr lang="en-US" i="1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i="1" dirty="0">
                <a:solidFill>
                  <a:srgbClr val="C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ϕ</a:t>
            </a:r>
            <a:r>
              <a:rPr lang="en-US" baseline="-25000" dirty="0">
                <a:solidFill>
                  <a:srgbClr val="C00000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2</a:t>
            </a:r>
            <a:r>
              <a:rPr lang="en-US" b="0" i="0" dirty="0">
                <a:solidFill>
                  <a:srgbClr val="2C2C36"/>
                </a:solidFill>
                <a:effectLst/>
              </a:rPr>
              <a:t> </a:t>
            </a:r>
            <a:r>
              <a:rPr lang="en-US" b="0" i="0" dirty="0">
                <a:solidFill>
                  <a:srgbClr val="C00000"/>
                </a:solidFill>
                <a:effectLst/>
              </a:rPr>
              <a:t>= -0.4</a:t>
            </a:r>
            <a:r>
              <a:rPr lang="en-US" b="0" i="0" dirty="0">
                <a:solidFill>
                  <a:srgbClr val="2C2C36"/>
                </a:solidFill>
                <a:effectLst/>
              </a:rPr>
              <a:t>):</a:t>
            </a:r>
          </a:p>
          <a:p>
            <a:r>
              <a:rPr lang="en-US" dirty="0">
                <a:solidFill>
                  <a:srgbClr val="2C2C36"/>
                </a:solidFill>
              </a:rPr>
              <a:t>Serie:		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4	10	12	10	9	8	7</a:t>
            </a:r>
            <a:r>
              <a:rPr lang="en-US" dirty="0"/>
              <a:t> </a:t>
            </a:r>
            <a:endParaRPr lang="en-US" b="0" i="0" dirty="0">
              <a:solidFill>
                <a:srgbClr val="2C2C36"/>
              </a:solidFill>
              <a:effectLst/>
            </a:endParaRP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FC0A1E3-8D16-4FAC-BDA0-47F313130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basic autoregressive model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5AA8CC-852B-4359-A58E-4F19676237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84EF9C-9891-4B94-B0EF-D6E0C3DAE9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14</a:t>
            </a:fld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24A2B6D-B4F9-4848-9B56-8EE3D9A7EA56}"/>
                  </a:ext>
                </a:extLst>
              </p:cNvPr>
              <p:cNvSpPr txBox="1"/>
              <p:nvPr/>
            </p:nvSpPr>
            <p:spPr>
              <a:xfrm>
                <a:off x="1929384" y="3776472"/>
                <a:ext cx="2670048" cy="60350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 anchor="t" anchorCtr="0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16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it-IT" sz="16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it-IT" sz="16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it-IT" sz="16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it-IT" sz="16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𝟏𝟎</m:t>
                      </m:r>
                      <m:r>
                        <a:rPr lang="it-IT" sz="16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it-IT" sz="16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</m:t>
                      </m:r>
                      <m:r>
                        <a:rPr lang="it-IT" sz="16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it-IT" sz="16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𝟒</m:t>
                      </m:r>
                      <m:r>
                        <a:rPr lang="it-IT" sz="16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it-IT" sz="16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𝟒</m:t>
                      </m:r>
                      <m:r>
                        <a:rPr lang="it-IT" sz="16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it-IT" sz="16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𝟏𝟏</m:t>
                      </m:r>
                      <m:r>
                        <a:rPr lang="it-IT" sz="16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it-IT" sz="16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𝟒</m:t>
                      </m:r>
                    </m:oMath>
                  </m:oMathPara>
                </a14:m>
                <a:endParaRPr lang="en-US" sz="1600" b="1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16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𝜺</m:t>
                          </m:r>
                        </m:e>
                        <m:sub>
                          <m:r>
                            <a:rPr lang="it-IT" sz="16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it-IT" sz="16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r>
                        <a:rPr lang="it-IT" sz="16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</m:t>
                      </m:r>
                      <m:r>
                        <a:rPr lang="it-IT" sz="16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it-IT" sz="16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𝟔</m:t>
                      </m:r>
                    </m:oMath>
                  </m:oMathPara>
                </a14:m>
                <a:endParaRPr lang="it-IT" sz="1600" b="1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24A2B6D-B4F9-4848-9B56-8EE3D9A7EA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9384" y="3776472"/>
                <a:ext cx="2670048" cy="60350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9AA4488-8658-4C56-B28A-CC4F0498E440}"/>
              </a:ext>
            </a:extLst>
          </p:cNvPr>
          <p:cNvCxnSpPr/>
          <p:nvPr/>
        </p:nvCxnSpPr>
        <p:spPr>
          <a:xfrm flipH="1">
            <a:off x="2807208" y="3493008"/>
            <a:ext cx="365760" cy="33832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68A6962-CBAB-4902-95DC-B043BC74756C}"/>
              </a:ext>
            </a:extLst>
          </p:cNvPr>
          <p:cNvCxnSpPr>
            <a:cxnSpLocks/>
          </p:cNvCxnSpPr>
          <p:nvPr/>
        </p:nvCxnSpPr>
        <p:spPr>
          <a:xfrm>
            <a:off x="2494909" y="3461004"/>
            <a:ext cx="1025531" cy="3703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80AE0B5-EF1D-495D-A857-000D2A612617}"/>
              </a:ext>
            </a:extLst>
          </p:cNvPr>
          <p:cNvCxnSpPr>
            <a:cxnSpLocks/>
          </p:cNvCxnSpPr>
          <p:nvPr/>
        </p:nvCxnSpPr>
        <p:spPr>
          <a:xfrm flipH="1">
            <a:off x="4149973" y="3511296"/>
            <a:ext cx="1" cy="27432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EDFF0E5-5B19-43CB-A406-B03C47FC2432}"/>
                  </a:ext>
                </a:extLst>
              </p:cNvPr>
              <p:cNvSpPr txBox="1"/>
              <p:nvPr/>
            </p:nvSpPr>
            <p:spPr>
              <a:xfrm>
                <a:off x="2918716" y="4451580"/>
                <a:ext cx="2670048" cy="60350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 anchor="t" anchorCtr="0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16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1.3</m:t>
                      </m:r>
                      <m:r>
                        <a:rPr lang="it-IT" sz="16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∙12−</m:t>
                      </m:r>
                      <m:r>
                        <a:rPr lang="it-IT" sz="16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0.4</m:t>
                      </m:r>
                      <m:r>
                        <a:rPr lang="it-IT" sz="16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∙10=10.82</m:t>
                      </m:r>
                    </m:oMath>
                  </m:oMathPara>
                </a14:m>
                <a:endParaRPr lang="en-US" sz="1600" dirty="0">
                  <a:solidFill>
                    <a:srgbClr val="0070C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16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it-IT" sz="16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it-IT" sz="16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=0.82</m:t>
                      </m:r>
                    </m:oMath>
                  </m:oMathPara>
                </a14:m>
                <a:endParaRPr lang="it-IT" sz="1600" b="0" dirty="0">
                  <a:solidFill>
                    <a:srgbClr val="0070C0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EDFF0E5-5B19-43CB-A406-B03C47FC24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8716" y="4451580"/>
                <a:ext cx="2670048" cy="60350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1E5141F-9BFD-4256-ABBA-A376DC9B5E96}"/>
              </a:ext>
            </a:extLst>
          </p:cNvPr>
          <p:cNvCxnSpPr/>
          <p:nvPr/>
        </p:nvCxnSpPr>
        <p:spPr>
          <a:xfrm>
            <a:off x="5074920" y="3575304"/>
            <a:ext cx="0" cy="876276"/>
          </a:xfrm>
          <a:prstGeom prst="straightConnector1">
            <a:avLst/>
          </a:prstGeom>
          <a:ln>
            <a:solidFill>
              <a:srgbClr val="0070C0"/>
            </a:solidFill>
            <a:prstDash val="lgDash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440F63F-E117-4023-9AF7-ED357A84CA3C}"/>
              </a:ext>
            </a:extLst>
          </p:cNvPr>
          <p:cNvCxnSpPr>
            <a:cxnSpLocks/>
          </p:cNvCxnSpPr>
          <p:nvPr/>
        </p:nvCxnSpPr>
        <p:spPr>
          <a:xfrm flipH="1">
            <a:off x="3700515" y="3511296"/>
            <a:ext cx="449458" cy="940284"/>
          </a:xfrm>
          <a:prstGeom prst="straightConnector1">
            <a:avLst/>
          </a:prstGeom>
          <a:ln>
            <a:solidFill>
              <a:srgbClr val="0070C0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094410E-E4D1-4CD1-BEE9-C65172D0F553}"/>
              </a:ext>
            </a:extLst>
          </p:cNvPr>
          <p:cNvCxnSpPr>
            <a:cxnSpLocks/>
          </p:cNvCxnSpPr>
          <p:nvPr/>
        </p:nvCxnSpPr>
        <p:spPr>
          <a:xfrm>
            <a:off x="3353043" y="3493008"/>
            <a:ext cx="1170189" cy="1022580"/>
          </a:xfrm>
          <a:prstGeom prst="straightConnector1">
            <a:avLst/>
          </a:prstGeom>
          <a:ln>
            <a:solidFill>
              <a:srgbClr val="0070C0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031F7BD0-AD5A-4355-BC87-3997C32FDDE2}"/>
              </a:ext>
            </a:extLst>
          </p:cNvPr>
          <p:cNvSpPr txBox="1"/>
          <p:nvPr/>
        </p:nvSpPr>
        <p:spPr>
          <a:xfrm>
            <a:off x="338328" y="5468112"/>
            <a:ext cx="7680960" cy="603504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r>
              <a:rPr lang="en-US" sz="2400" dirty="0" err="1">
                <a:solidFill>
                  <a:srgbClr val="2C2C36"/>
                </a:solidFill>
                <a:latin typeface="Aptos Light" panose="020B0004020202020204" pitchFamily="34" charset="0"/>
                <a:cs typeface="Calibri Light" panose="020F0302020204030204" pitchFamily="34" charset="0"/>
              </a:rPr>
              <a:t>Modello</a:t>
            </a:r>
            <a:r>
              <a:rPr lang="en-US" sz="2400" dirty="0">
                <a:solidFill>
                  <a:srgbClr val="2C2C36"/>
                </a:solidFill>
                <a:latin typeface="Aptos Light" panose="020B0004020202020204" pitchFamily="34" charset="0"/>
                <a:cs typeface="Calibri Light" panose="020F0302020204030204" pitchFamily="34" charset="0"/>
              </a:rPr>
              <a:t>: 	</a:t>
            </a:r>
            <a:r>
              <a:rPr lang="en-US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4	10	11.4	10.82	9.50	8.03	6.64</a:t>
            </a:r>
          </a:p>
          <a:p>
            <a:endParaRPr lang="en-US" b="0" i="0" dirty="0">
              <a:solidFill>
                <a:srgbClr val="2C2C36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474977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6" grpId="1"/>
      <p:bldP spid="15" grpId="0"/>
      <p:bldP spid="2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41C6C74-2F5A-4BD2-A2E7-1E2A91EE86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954460"/>
            <a:ext cx="7857541" cy="865196"/>
          </a:xfrm>
        </p:spPr>
        <p:txBody>
          <a:bodyPr/>
          <a:lstStyle/>
          <a:p>
            <a:r>
              <a:rPr lang="en-US" dirty="0"/>
              <a:t>Economics-related time series can often be effectively decomposed using STL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A638FB1-ED62-4625-865F-D06016D5F9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Prewhitening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5F0937-F769-4F6E-8580-CBBCA4D251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1836D5-1DDA-427B-8458-42079267F7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15</a:t>
            </a:fld>
            <a:endParaRPr lang="it-IT" dirty="0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914F6936-617F-4265-A226-E04C2919F950}"/>
              </a:ext>
            </a:extLst>
          </p:cNvPr>
          <p:cNvGraphicFramePr>
            <a:graphicFrameLocks/>
          </p:cNvGraphicFramePr>
          <p:nvPr/>
        </p:nvGraphicFramePr>
        <p:xfrm>
          <a:off x="710565" y="1747564"/>
          <a:ext cx="3632835" cy="26654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0" name="Chart 9">
            <a:extLst>
              <a:ext uri="{FF2B5EF4-FFF2-40B4-BE49-F238E27FC236}">
                <a16:creationId xmlns:a16="http://schemas.microsoft.com/office/drawing/2014/main" id="{59D514D4-2DBB-41FB-9AD7-62DE94011550}"/>
              </a:ext>
            </a:extLst>
          </p:cNvPr>
          <p:cNvGraphicFramePr>
            <a:graphicFrameLocks/>
          </p:cNvGraphicFramePr>
          <p:nvPr/>
        </p:nvGraphicFramePr>
        <p:xfrm>
          <a:off x="4765803" y="1747564"/>
          <a:ext cx="3759071" cy="25409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1" name="Chart 10">
            <a:extLst>
              <a:ext uri="{FF2B5EF4-FFF2-40B4-BE49-F238E27FC236}">
                <a16:creationId xmlns:a16="http://schemas.microsoft.com/office/drawing/2014/main" id="{F4E2309E-D802-4D6E-8335-D3CFBCC3F768}"/>
              </a:ext>
            </a:extLst>
          </p:cNvPr>
          <p:cNvGraphicFramePr>
            <a:graphicFrameLocks/>
          </p:cNvGraphicFramePr>
          <p:nvPr/>
        </p:nvGraphicFramePr>
        <p:xfrm>
          <a:off x="4773168" y="4389342"/>
          <a:ext cx="3783538" cy="22707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AA42D1C7-B668-42A5-82F9-3F90EC885BFC}"/>
              </a:ext>
            </a:extLst>
          </p:cNvPr>
          <p:cNvSpPr txBox="1"/>
          <p:nvPr/>
        </p:nvSpPr>
        <p:spPr>
          <a:xfrm>
            <a:off x="2022604" y="5449824"/>
            <a:ext cx="2651760" cy="539496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pPr algn="l"/>
            <a:r>
              <a:rPr lang="en-US" sz="2400" dirty="0"/>
              <a:t>(almost) white noise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CF9D577B-C269-4CD9-95DF-EE1814141D1C}"/>
              </a:ext>
            </a:extLst>
          </p:cNvPr>
          <p:cNvSpPr/>
          <p:nvPr/>
        </p:nvSpPr>
        <p:spPr>
          <a:xfrm>
            <a:off x="4343400" y="3018050"/>
            <a:ext cx="411658" cy="410950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F98DDE43-5D64-48BC-A221-6CB6A0A6D20B}"/>
              </a:ext>
            </a:extLst>
          </p:cNvPr>
          <p:cNvSpPr/>
          <p:nvPr/>
        </p:nvSpPr>
        <p:spPr>
          <a:xfrm rot="5400000">
            <a:off x="6471424" y="4030516"/>
            <a:ext cx="411658" cy="410950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404492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A8FF44D-8BCC-46EB-B005-E0626A2CEA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283644"/>
            <a:ext cx="8546175" cy="4275908"/>
          </a:xfrm>
        </p:spPr>
        <p:txBody>
          <a:bodyPr/>
          <a:lstStyle/>
          <a:p>
            <a:pPr>
              <a:spcBef>
                <a:spcPts val="2400"/>
              </a:spcBef>
            </a:pPr>
            <a:r>
              <a:rPr lang="en-US" dirty="0"/>
              <a:t>The </a:t>
            </a:r>
            <a:r>
              <a:rPr lang="en-US" dirty="0" err="1"/>
              <a:t>prewhitened</a:t>
            </a:r>
            <a:r>
              <a:rPr lang="en-US" dirty="0"/>
              <a:t> series only retains </a:t>
            </a:r>
            <a:r>
              <a:rPr lang="en-US" dirty="0">
                <a:solidFill>
                  <a:srgbClr val="C00000"/>
                </a:solidFill>
              </a:rPr>
              <a:t>residuals unexplained </a:t>
            </a:r>
            <a:r>
              <a:rPr lang="en-US" dirty="0"/>
              <a:t>by the model (i.e. </a:t>
            </a:r>
            <a:r>
              <a:rPr lang="en-US" i="1" dirty="0"/>
              <a:t>random shock</a:t>
            </a:r>
            <a:r>
              <a:rPr lang="en-US" dirty="0"/>
              <a:t>).</a:t>
            </a:r>
          </a:p>
          <a:p>
            <a:pPr>
              <a:spcBef>
                <a:spcPts val="2400"/>
              </a:spcBef>
            </a:pPr>
            <a:r>
              <a:rPr lang="en-US" dirty="0"/>
              <a:t>Residuals are (hopefully) </a:t>
            </a:r>
            <a:r>
              <a:rPr lang="en-US" dirty="0">
                <a:solidFill>
                  <a:srgbClr val="C00000"/>
                </a:solidFill>
              </a:rPr>
              <a:t>normally distributed</a:t>
            </a:r>
            <a:r>
              <a:rPr lang="en-US" dirty="0"/>
              <a:t>.</a:t>
            </a:r>
          </a:p>
          <a:p>
            <a:pPr>
              <a:spcBef>
                <a:spcPts val="2400"/>
              </a:spcBef>
            </a:pPr>
            <a:r>
              <a:rPr lang="en-US" dirty="0"/>
              <a:t>The observed residuals are </a:t>
            </a:r>
            <a:r>
              <a:rPr lang="en-US" dirty="0">
                <a:solidFill>
                  <a:srgbClr val="C00000"/>
                </a:solidFill>
              </a:rPr>
              <a:t>realizations of a random variable </a:t>
            </a:r>
            <a:r>
              <a:rPr lang="en-US" dirty="0"/>
              <a:t>whose distribution can be identified.</a:t>
            </a:r>
          </a:p>
          <a:p>
            <a:pPr>
              <a:spcBef>
                <a:spcPts val="2400"/>
              </a:spcBef>
            </a:pPr>
            <a:r>
              <a:rPr lang="en-US" dirty="0"/>
              <a:t>Using the average and standard deviation of the residual series, I can </a:t>
            </a:r>
            <a:r>
              <a:rPr lang="en-US" dirty="0">
                <a:solidFill>
                  <a:srgbClr val="C00000"/>
                </a:solidFill>
              </a:rPr>
              <a:t>generate alternative samples </a:t>
            </a:r>
            <a:r>
              <a:rPr lang="en-US" dirty="0"/>
              <a:t>that are compatible with the overall model, i.e. samples that could have occurred.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7DFAADB-A2D1-4F6E-B2CA-0AE368DA8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Recoloring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B5A2F7-FEB4-4ED8-B65B-2310458C36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27D396-F414-401F-BB0F-255D0A94B9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16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5390238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11F4680-9B87-44BC-8183-0B814E7452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Bootstrapping</a:t>
            </a:r>
            <a:r>
              <a:rPr lang="en-US" dirty="0"/>
              <a:t> is non-parametric </a:t>
            </a:r>
            <a:r>
              <a:rPr lang="en-US" dirty="0">
                <a:solidFill>
                  <a:srgbClr val="C00000"/>
                </a:solidFill>
              </a:rPr>
              <a:t>resampling technique </a:t>
            </a:r>
            <a:r>
              <a:rPr lang="en-US" dirty="0"/>
              <a:t>used in stochastic programming when historical data is available. It makes no assumptions about the underlying probability distribution of the stochastic variables.</a:t>
            </a:r>
          </a:p>
          <a:p>
            <a:r>
              <a:rPr lang="en-US" dirty="0"/>
              <a:t>The </a:t>
            </a:r>
            <a:r>
              <a:rPr lang="en-US" dirty="0">
                <a:solidFill>
                  <a:srgbClr val="C00000"/>
                </a:solidFill>
              </a:rPr>
              <a:t>assumption</a:t>
            </a:r>
            <a:r>
              <a:rPr lang="en-US" dirty="0"/>
              <a:t> of bootstrapping is that the observed historical data sample mimics the characteristics of the true, unknown population distribution. </a:t>
            </a:r>
          </a:p>
          <a:p>
            <a:r>
              <a:rPr lang="en-US" dirty="0"/>
              <a:t>Bootstrapping </a:t>
            </a:r>
            <a:r>
              <a:rPr lang="en-US" dirty="0">
                <a:solidFill>
                  <a:srgbClr val="C00000"/>
                </a:solidFill>
              </a:rPr>
              <a:t>repeatedly draws </a:t>
            </a:r>
            <a:r>
              <a:rPr lang="en-US" dirty="0"/>
              <a:t>samples with replacement from the observed data to generate "</a:t>
            </a:r>
            <a:r>
              <a:rPr lang="en-US" i="1" dirty="0"/>
              <a:t>bootstrap samples</a:t>
            </a:r>
            <a:r>
              <a:rPr lang="en-US" dirty="0"/>
              <a:t>". Each sample can be considered as </a:t>
            </a:r>
            <a:r>
              <a:rPr lang="en-US" dirty="0">
                <a:solidFill>
                  <a:srgbClr val="C00000"/>
                </a:solidFill>
              </a:rPr>
              <a:t>a plausible realization </a:t>
            </a:r>
            <a:r>
              <a:rPr lang="en-US" dirty="0"/>
              <a:t>of what a new data sample from the true population *might* look like.</a:t>
            </a:r>
          </a:p>
          <a:p>
            <a:r>
              <a:rPr lang="en-US" dirty="0">
                <a:solidFill>
                  <a:srgbClr val="C00000"/>
                </a:solidFill>
              </a:rPr>
              <a:t>Autoregressive models </a:t>
            </a:r>
            <a:r>
              <a:rPr lang="en-US" dirty="0"/>
              <a:t>are particularly suitable for data series bootstrap set generation.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7280876-7C87-4557-8129-C333424C4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Bootstrapping time series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1F047D-92D6-4330-A193-EF5DFAA8ED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391D393-DC25-4D25-B9CC-EDAE1E0D64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17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483572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85879DB-4DE7-4174-8C19-2CB9A0440F5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07" y="1173916"/>
                <a:ext cx="8546175" cy="3251780"/>
              </a:xfrm>
            </p:spPr>
            <p:txBody>
              <a:bodyPr/>
              <a:lstStyle/>
              <a:p>
                <a:r>
                  <a:rPr lang="en-US" dirty="0"/>
                  <a:t>We fit an AR(p) model on each series </a:t>
                </a:r>
              </a:p>
              <a:p>
                <a:r>
                  <a:rPr lang="en-US" dirty="0"/>
                  <a:t>We extracted </a:t>
                </a:r>
                <a:r>
                  <a:rPr lang="en-US" dirty="0">
                    <a:solidFill>
                      <a:srgbClr val="C00000"/>
                    </a:solidFill>
                  </a:rPr>
                  <a:t>residuals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, which were </a:t>
                </a:r>
                <a:r>
                  <a:rPr lang="en-US" i="1" dirty="0"/>
                  <a:t>sufficiently (?)</a:t>
                </a:r>
                <a:r>
                  <a:rPr lang="en-US" dirty="0"/>
                  <a:t> stationary</a:t>
                </a:r>
              </a:p>
              <a:p>
                <a:r>
                  <a:rPr lang="en-US" dirty="0"/>
                  <a:t>We resampled the residuals in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dirty="0"/>
                  <a:t> and simulated new series as: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  <m:sup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+ …+</m:t>
                      </m:r>
                      <m:sSub>
                        <m:sSub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sSubSup>
                        <m:sSubSup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We bootstrapped the residual series and reconstructed request series.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85879DB-4DE7-4174-8C19-2CB9A0440F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07" y="1173916"/>
                <a:ext cx="8546175" cy="3251780"/>
              </a:xfrm>
              <a:blipFill>
                <a:blip r:embed="rId2"/>
                <a:stretch>
                  <a:fillRect l="-1070" t="-150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9A06050C-9BA7-4D38-BC68-FED697FEC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Bootstrapping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41C44BB-771E-4337-84BA-119A3BF880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5E24EB-6EDE-4EDA-86C8-1F7EC53C72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18</a:t>
            </a:fld>
            <a:endParaRPr lang="it-IT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E9D8429-2C95-4DB5-BF22-7A0B314FEC31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725329" y="3770837"/>
            <a:ext cx="3900494" cy="3032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52691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2333D55-D19D-4E81-B3AB-1AF9E41BF6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were working on </a:t>
            </a:r>
            <a:r>
              <a:rPr lang="en-US" dirty="0">
                <a:solidFill>
                  <a:srgbClr val="C00000"/>
                </a:solidFill>
              </a:rPr>
              <a:t>short data series</a:t>
            </a:r>
            <a:r>
              <a:rPr lang="en-US" dirty="0"/>
              <a:t>, that often produce biased estimates.</a:t>
            </a:r>
          </a:p>
          <a:p>
            <a:r>
              <a:rPr lang="en-US" dirty="0"/>
              <a:t>The resampling process was guided according to </a:t>
            </a:r>
            <a:r>
              <a:rPr lang="en-US" dirty="0">
                <a:solidFill>
                  <a:srgbClr val="C00000"/>
                </a:solidFill>
              </a:rPr>
              <a:t>Maximum Entropy Bootstrap</a:t>
            </a:r>
            <a:r>
              <a:rPr lang="en-US" dirty="0"/>
              <a:t> (MEB, Vinod 1993), associating a probability with each outcome and </a:t>
            </a:r>
            <a:r>
              <a:rPr lang="en-US" dirty="0">
                <a:solidFill>
                  <a:srgbClr val="C00000"/>
                </a:solidFill>
              </a:rPr>
              <a:t>maximizing an information entropy </a:t>
            </a:r>
            <a:r>
              <a:rPr lang="en-US" dirty="0"/>
              <a:t>function defined over the resampled data, </a:t>
            </a:r>
            <a:r>
              <a:rPr lang="en-US" dirty="0">
                <a:solidFill>
                  <a:srgbClr val="C00000"/>
                </a:solidFill>
              </a:rPr>
              <a:t>subject to constraints </a:t>
            </a:r>
            <a:r>
              <a:rPr lang="en-US" dirty="0"/>
              <a:t>reflecting statistics computed on the original data. </a:t>
            </a:r>
          </a:p>
          <a:p>
            <a:r>
              <a:rPr lang="en-US" dirty="0"/>
              <a:t>This guarantees that the generated bootstraps are the </a:t>
            </a:r>
            <a:r>
              <a:rPr lang="en-US" b="1" dirty="0"/>
              <a:t>least biased, </a:t>
            </a:r>
            <a:r>
              <a:rPr lang="en-US" dirty="0"/>
              <a:t>i.e., the </a:t>
            </a:r>
            <a:r>
              <a:rPr lang="en-US" dirty="0">
                <a:solidFill>
                  <a:srgbClr val="C00000"/>
                </a:solidFill>
              </a:rPr>
              <a:t>most non-committal estimates </a:t>
            </a:r>
            <a:r>
              <a:rPr lang="en-US" dirty="0"/>
              <a:t>consistent with the known constraints, i.e., with the observed data.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D0DD118-A109-4FE0-AD46-B81ED76F66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Maximum entropy bootstrap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973CCE-2470-4337-9E79-942349CEB4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FA2E18-5A1F-420B-9D00-C26676F569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19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2744334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A4EE236-424A-4239-BA22-9D2048E755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MEB bootstrap sets were aggregated (bagged) to obtain forecasts.</a:t>
            </a:r>
          </a:p>
          <a:p>
            <a:r>
              <a:rPr lang="en-US" dirty="0"/>
              <a:t>Besides MEB bagging we also considered alternative forecasts modules based on: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AR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Holt-Winters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SARIMA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Multilayer </a:t>
            </a:r>
            <a:r>
              <a:rPr lang="en-US" dirty="0" err="1"/>
              <a:t>perceptrons</a:t>
            </a:r>
            <a:endParaRPr lang="en-US" dirty="0"/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LSTM networks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Random forests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 err="1"/>
              <a:t>XGboost</a:t>
            </a: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B15D2CC-336C-4085-9492-B0D3CF53C8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Forecasts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0DECC6-8D2D-4C53-80A7-CCD15FE36E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96CDC2-49FB-474A-90CA-F9B00D8011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1421494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5287C68-E67C-4F60-996C-60722B34E7F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Fit an AR(p) model on each MEB series, independently.</a:t>
                </a:r>
              </a:p>
              <a:p>
                <a:r>
                  <a:rPr lang="en-US" dirty="0">
                    <a:solidFill>
                      <a:srgbClr val="C00000"/>
                    </a:solidFill>
                  </a:rPr>
                  <a:t>Each model is used to generate a scenario </a:t>
                </a:r>
                <a14:m>
                  <m:oMath xmlns:m="http://schemas.openxmlformats.org/officeDocument/2006/math">
                    <m:r>
                      <a:rPr lang="it-IT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/>
                  <a:t>, specifically, a realization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bSup>
                  </m:oMath>
                </a14:m>
                <a:r>
                  <a:rPr lang="en-US" dirty="0"/>
                  <a:t> of the </a:t>
                </a:r>
                <a:r>
                  <a:rPr lang="en-US" dirty="0">
                    <a:solidFill>
                      <a:srgbClr val="C00000"/>
                    </a:solidFill>
                  </a:rPr>
                  <a:t>forecasted requests </a:t>
                </a:r>
                <a:r>
                  <a:rPr lang="en-US" dirty="0"/>
                  <a:t>of customer </a:t>
                </a:r>
                <a14:m>
                  <m:oMath xmlns:m="http://schemas.openxmlformats.org/officeDocument/2006/math">
                    <m:r>
                      <a:rPr lang="it-IT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US" dirty="0"/>
                  <a:t> according to scenario </a:t>
                </a:r>
                <a:r>
                  <a:rPr lang="en-US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S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All scenarios were deemed </a:t>
                </a:r>
                <a:r>
                  <a:rPr lang="en-US" dirty="0">
                    <a:solidFill>
                      <a:srgbClr val="C00000"/>
                    </a:solidFill>
                  </a:rPr>
                  <a:t>equiprobable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The resulting </a:t>
                </a:r>
                <a:r>
                  <a:rPr lang="en-US" dirty="0">
                    <a:solidFill>
                      <a:srgbClr val="C00000"/>
                    </a:solidFill>
                  </a:rPr>
                  <a:t>deterministic equivalent </a:t>
                </a:r>
                <a:r>
                  <a:rPr lang="en-US" dirty="0"/>
                  <a:t>SB formulation is passed on to a MIP solver.</a:t>
                </a:r>
              </a:p>
              <a:p>
                <a:r>
                  <a:rPr lang="en-US" dirty="0"/>
                  <a:t>The solution details the server </a:t>
                </a:r>
                <a:r>
                  <a:rPr lang="en-US" i="1" dirty="0" err="1">
                    <a:latin typeface="+mn-lt"/>
                  </a:rPr>
                  <a:t>i</a:t>
                </a:r>
                <a:r>
                  <a:rPr lang="en-US" dirty="0"/>
                  <a:t> that each client </a:t>
                </a:r>
                <a:r>
                  <a:rPr lang="en-US" i="1" dirty="0">
                    <a:latin typeface="+mn-lt"/>
                  </a:rPr>
                  <a:t>j</a:t>
                </a:r>
                <a:r>
                  <a:rPr lang="en-US" dirty="0"/>
                  <a:t> will be associated with, as well as the amount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dirty="0"/>
                  <a:t>it will request from the server.</a:t>
                </a:r>
              </a:p>
              <a:p>
                <a:r>
                  <a:rPr lang="en-US" dirty="0"/>
                  <a:t>It is therefore possible to estimate the actual capacity requested from each server.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5287C68-E67C-4F60-996C-60722B34E7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2" t="-1561" r="-10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6D87712D-703F-4615-B30A-AE3B2313D7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84884"/>
            <a:ext cx="8791195" cy="766769"/>
          </a:xfrm>
        </p:spPr>
        <p:txBody>
          <a:bodyPr>
            <a:normAutofit fontScale="90000"/>
          </a:bodyPr>
          <a:lstStyle/>
          <a:p>
            <a:pPr marL="1089025" indent="-1089025">
              <a:lnSpc>
                <a:spcPts val="3400"/>
              </a:lnSpc>
            </a:pPr>
            <a:r>
              <a:rPr lang="en-US" dirty="0"/>
              <a:t>BESO: bootstrapped enhanced scenario optimization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3F7CBB-54A3-4FAB-AFE5-219EAB3171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7E620-B83C-44AF-B958-12960902B1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95228553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09F596C-3993-309B-C16F-9C0BA57833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018468"/>
            <a:ext cx="8546175" cy="490292"/>
          </a:xfrm>
        </p:spPr>
        <p:txBody>
          <a:bodyPr>
            <a:normAutofit fontScale="92500"/>
          </a:bodyPr>
          <a:lstStyle/>
          <a:p>
            <a:r>
              <a:rPr lang="en-US" dirty="0"/>
              <a:t>MEB based forecasting. Average rankings for different </a:t>
            </a:r>
            <a:r>
              <a:rPr lang="en-US" dirty="0" err="1"/>
              <a:t>boostset</a:t>
            </a:r>
            <a:r>
              <a:rPr lang="en-US" dirty="0"/>
              <a:t> sizes.</a:t>
            </a:r>
          </a:p>
          <a:p>
            <a:endParaRPr lang="en-US" dirty="0"/>
          </a:p>
          <a:p>
            <a:endParaRPr lang="it-IT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FE71628-30DF-2175-CCB1-FFF5F40E3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Results, forecasts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56DC0A-2CB0-A862-E697-E630A40485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D239EC-68A7-7A7A-B5C0-DC3C98E604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22</a:t>
            </a:fld>
            <a:endParaRPr lang="it-IT" dirty="0"/>
          </a:p>
        </p:txBody>
      </p:sp>
      <p:sp>
        <p:nvSpPr>
          <p:cNvPr id="6" name="AutoShape 2">
            <a:extLst>
              <a:ext uri="{FF2B5EF4-FFF2-40B4-BE49-F238E27FC236}">
                <a16:creationId xmlns:a16="http://schemas.microsoft.com/office/drawing/2014/main" id="{7AB47DEF-C84E-4092-B595-D18B9173F03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E35AD79-FEA4-4F84-939C-4E05117C32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264" y="4391968"/>
            <a:ext cx="2972330" cy="222924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15F2B21-64B1-4651-9558-04869FCDA4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5323" y="4391968"/>
            <a:ext cx="2972330" cy="222924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2170D8E-3334-7B03-618F-16D0275CB09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9FDFD"/>
              </a:clrFrom>
              <a:clrTo>
                <a:srgbClr val="F9FDFD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07669" y="1387059"/>
            <a:ext cx="7203880" cy="3167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97005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4CF30E9-3DC7-3EA0-32CA-F2ADAED3C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Results, forecasts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913267-F1C1-E815-B1AC-6F042FCBB7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3360F6-BABC-ABDE-FB0F-7D110E9789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23</a:t>
            </a:fld>
            <a:endParaRPr lang="it-IT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AF7F87-2B3A-5157-5F27-3D4E450930F3}"/>
              </a:ext>
            </a:extLst>
          </p:cNvPr>
          <p:cNvSpPr txBox="1"/>
          <p:nvPr/>
        </p:nvSpPr>
        <p:spPr>
          <a:xfrm>
            <a:off x="1202359" y="972001"/>
            <a:ext cx="6238568" cy="914400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r>
              <a:rPr lang="it-IT" sz="2400" dirty="0"/>
              <a:t>Critical </a:t>
            </a:r>
            <a:r>
              <a:rPr lang="it-IT" sz="2400" dirty="0" err="1"/>
              <a:t>difference</a:t>
            </a:r>
            <a:r>
              <a:rPr lang="it-IT" sz="2400" dirty="0"/>
              <a:t> </a:t>
            </a:r>
            <a:r>
              <a:rPr lang="it-IT" sz="2400" dirty="0" err="1"/>
              <a:t>diagrams</a:t>
            </a:r>
            <a:r>
              <a:rPr lang="it-IT" sz="2400" dirty="0"/>
              <a:t> (</a:t>
            </a:r>
            <a:r>
              <a:rPr lang="it-IT" sz="2400" dirty="0" err="1"/>
              <a:t>Fawaz</a:t>
            </a:r>
            <a:r>
              <a:rPr lang="it-IT" sz="2400" dirty="0"/>
              <a:t> et al., 2019)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E272D35D-92BC-B3F0-55B3-F6F8689EBE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83748" y="1494483"/>
            <a:ext cx="8304762" cy="2438095"/>
          </a:xfr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FC619C5-3B1D-B69D-5EA6-92C467876432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87771" y="4006938"/>
            <a:ext cx="8457143" cy="2438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70939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BE9AD77-5EE7-F954-33B4-3A8F8A48D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Results</a:t>
            </a:r>
            <a:r>
              <a:rPr lang="it-IT" dirty="0"/>
              <a:t>, </a:t>
            </a:r>
            <a:r>
              <a:rPr lang="it-IT" dirty="0" err="1"/>
              <a:t>optimization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2EAB2B-6A02-ECDF-B23E-EABF394512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9B41E-08EB-587F-56AE-21B50991AD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24</a:t>
            </a:fld>
            <a:endParaRPr lang="it-IT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05BEAE-9A63-435D-1BDA-9F8BBEF88057}"/>
              </a:ext>
            </a:extLst>
          </p:cNvPr>
          <p:cNvSpPr txBox="1"/>
          <p:nvPr/>
        </p:nvSpPr>
        <p:spPr>
          <a:xfrm>
            <a:off x="278767" y="4352235"/>
            <a:ext cx="8389889" cy="2092881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anchorCtr="0">
            <a:spAutoFit/>
          </a:bodyPr>
          <a:lstStyle/>
          <a:p>
            <a:pPr algn="l">
              <a:spcBef>
                <a:spcPts val="1200"/>
              </a:spcBef>
            </a:pPr>
            <a:r>
              <a:rPr lang="en-US" sz="2200" dirty="0"/>
              <a:t>The cost is essentially stable in the cases of the 75 and 125 series sets but increases significantly in the case of the 175 </a:t>
            </a:r>
            <a:r>
              <a:rPr lang="en-US" sz="2200" dirty="0" err="1"/>
              <a:t>boostset</a:t>
            </a:r>
            <a:r>
              <a:rPr lang="en-US" sz="2200" dirty="0"/>
              <a:t>.</a:t>
            </a:r>
          </a:p>
          <a:p>
            <a:pPr algn="l">
              <a:spcBef>
                <a:spcPts val="1200"/>
              </a:spcBef>
            </a:pPr>
            <a:r>
              <a:rPr lang="en-US" sz="2200" dirty="0"/>
              <a:t>This is due to some extreme scenarios appearing in the forecasts. </a:t>
            </a:r>
          </a:p>
          <a:p>
            <a:pPr algn="l">
              <a:spcBef>
                <a:spcPts val="1200"/>
              </a:spcBef>
            </a:pPr>
            <a:r>
              <a:rPr lang="en-US" sz="2200" dirty="0">
                <a:solidFill>
                  <a:srgbClr val="C00000"/>
                </a:solidFill>
              </a:rPr>
              <a:t>All instances were feasible</a:t>
            </a:r>
            <a:r>
              <a:rPr lang="en-US" sz="2200" dirty="0"/>
              <a:t>, but 7 out of 35 tests still had a gap between lower and upper bound after 600 seconds of CPU time.</a:t>
            </a:r>
            <a:endParaRPr lang="it-IT" sz="2200" dirty="0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9557FCC9-B63E-4CB4-B116-79F9E763FC7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80509" y="1032044"/>
            <a:ext cx="5380952" cy="3219048"/>
          </a:xfrm>
        </p:spPr>
      </p:pic>
    </p:spTree>
    <p:extLst>
      <p:ext uri="{BB962C8B-B14F-4D97-AF65-F5344CB8AC3E}">
        <p14:creationId xmlns:p14="http://schemas.microsoft.com/office/powerpoint/2010/main" val="310903301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77D1E3A-B58A-4312-90C6-7F77FBE77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Results, comparison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059E4C-63C1-40C7-8F5C-681822FABE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388ED5-F11D-4879-8EE8-AFB5718731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25</a:t>
            </a:fld>
            <a:endParaRPr lang="it-IT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A967147-593B-47EB-8FAF-D5DF1EB28E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173916"/>
            <a:ext cx="8546175" cy="947492"/>
          </a:xfrm>
        </p:spPr>
        <p:txBody>
          <a:bodyPr/>
          <a:lstStyle/>
          <a:p>
            <a:r>
              <a:rPr lang="en-US" dirty="0"/>
              <a:t>BESO vs. distribution-based, gaussian derived from confidence intervals of Holt-Winters ETS forecasts.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F9C6B21-3200-4B8B-AE33-BFC4E4E10E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978" y="2304613"/>
            <a:ext cx="8110728" cy="3379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657796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B591610-0BBB-D224-221E-E0F3426240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062602"/>
            <a:ext cx="8546175" cy="5406668"/>
          </a:xfrm>
        </p:spPr>
        <p:txBody>
          <a:bodyPr>
            <a:noAutofit/>
          </a:bodyPr>
          <a:lstStyle/>
          <a:p>
            <a:r>
              <a:rPr lang="it-IT" dirty="0" err="1"/>
              <a:t>Comparing</a:t>
            </a:r>
            <a:r>
              <a:rPr lang="it-IT" dirty="0"/>
              <a:t> </a:t>
            </a:r>
            <a:r>
              <a:rPr lang="it-IT" dirty="0" err="1"/>
              <a:t>against</a:t>
            </a:r>
            <a:r>
              <a:rPr lang="it-IT" dirty="0"/>
              <a:t> a </a:t>
            </a:r>
            <a:r>
              <a:rPr lang="it-IT" dirty="0" err="1"/>
              <a:t>distribution-based</a:t>
            </a:r>
            <a:r>
              <a:rPr lang="it-IT" dirty="0"/>
              <a:t> </a:t>
            </a:r>
            <a:r>
              <a:rPr lang="it-IT" dirty="0" err="1"/>
              <a:t>optimization</a:t>
            </a:r>
            <a:r>
              <a:rPr lang="it-IT" dirty="0"/>
              <a:t> (Holt-Winters, confidence </a:t>
            </a:r>
            <a:r>
              <a:rPr lang="it-IT" dirty="0" err="1"/>
              <a:t>intervals</a:t>
            </a:r>
            <a:r>
              <a:rPr lang="it-IT" dirty="0"/>
              <a:t>)</a:t>
            </a:r>
          </a:p>
          <a:p>
            <a:pPr>
              <a:tabLst>
                <a:tab pos="2230438" algn="l"/>
                <a:tab pos="5715000" algn="l"/>
              </a:tabLst>
            </a:pPr>
            <a:r>
              <a:rPr lang="en-US" sz="2000" dirty="0"/>
              <a:t> 	</a:t>
            </a:r>
            <a:r>
              <a:rPr lang="en-US" sz="2000" i="1" dirty="0"/>
              <a:t>No rental cost	With rental cost</a:t>
            </a:r>
          </a:p>
          <a:p>
            <a:pPr>
              <a:spcBef>
                <a:spcPts val="1200"/>
              </a:spcBef>
              <a:tabLst>
                <a:tab pos="2514600" algn="r"/>
                <a:tab pos="4005263" algn="r"/>
                <a:tab pos="5999163" algn="r"/>
                <a:tab pos="7488238" algn="r"/>
              </a:tabLst>
            </a:pPr>
            <a:r>
              <a:rPr lang="en-US" sz="2000" dirty="0"/>
              <a:t> 	</a:t>
            </a:r>
            <a:r>
              <a:rPr lang="en-US" sz="2000" b="1" dirty="0"/>
              <a:t>BESO	ETS	BESO	ETS</a:t>
            </a:r>
          </a:p>
          <a:p>
            <a:pPr>
              <a:spcBef>
                <a:spcPts val="1200"/>
              </a:spcBef>
              <a:tabLst>
                <a:tab pos="2514600" algn="r"/>
                <a:tab pos="4005263" algn="r"/>
                <a:tab pos="5999163" algn="r"/>
                <a:tab pos="7488238" algn="r"/>
              </a:tabLst>
            </a:pPr>
            <a:r>
              <a:rPr lang="en-US" sz="2000" dirty="0"/>
              <a:t>Assign. Cost	17781	15423	5446720	4378380</a:t>
            </a:r>
          </a:p>
          <a:p>
            <a:pPr>
              <a:spcBef>
                <a:spcPts val="600"/>
              </a:spcBef>
              <a:tabLst>
                <a:tab pos="2514600" algn="r"/>
                <a:tab pos="4005263" algn="r"/>
                <a:tab pos="5999163" algn="r"/>
                <a:tab pos="7488238" algn="r"/>
              </a:tabLst>
            </a:pPr>
            <a:r>
              <a:rPr lang="en-US" sz="2000" dirty="0"/>
              <a:t>Optimality gap %	0	0	16.07	0.69</a:t>
            </a:r>
          </a:p>
          <a:p>
            <a:pPr>
              <a:spcBef>
                <a:spcPts val="600"/>
              </a:spcBef>
              <a:tabLst>
                <a:tab pos="2514600" algn="r"/>
                <a:tab pos="4005263" algn="r"/>
                <a:tab pos="5999163" algn="r"/>
                <a:tab pos="7488238" algn="r"/>
              </a:tabLst>
            </a:pPr>
            <a:r>
              <a:rPr lang="en-US" sz="2000" dirty="0"/>
              <a:t>Infeasibilities	0	</a:t>
            </a:r>
            <a:r>
              <a:rPr lang="en-US" sz="2000" b="1" dirty="0">
                <a:solidFill>
                  <a:srgbClr val="FF0000"/>
                </a:solidFill>
              </a:rPr>
              <a:t>1</a:t>
            </a:r>
            <a:r>
              <a:rPr lang="en-US" sz="2000" dirty="0"/>
              <a:t>	0	</a:t>
            </a:r>
            <a:r>
              <a:rPr lang="en-US" sz="2000" b="1" dirty="0">
                <a:solidFill>
                  <a:srgbClr val="FF0000"/>
                </a:solidFill>
              </a:rPr>
              <a:t>1</a:t>
            </a:r>
          </a:p>
          <a:p>
            <a:pPr>
              <a:spcBef>
                <a:spcPts val="600"/>
              </a:spcBef>
              <a:tabLst>
                <a:tab pos="2514600" algn="r"/>
                <a:tab pos="4005263" algn="r"/>
                <a:tab pos="5999163" algn="r"/>
                <a:tab pos="7488238" algn="r"/>
              </a:tabLst>
            </a:pPr>
            <a:r>
              <a:rPr lang="en-US" sz="2000" dirty="0" err="1"/>
              <a:t>t.Cpu</a:t>
            </a:r>
            <a:r>
              <a:rPr lang="en-US" sz="2000" dirty="0"/>
              <a:t>	33	29	7200	7200</a:t>
            </a:r>
          </a:p>
          <a:p>
            <a:pPr>
              <a:tabLst>
                <a:tab pos="2514600" algn="r"/>
                <a:tab pos="4005263" algn="r"/>
                <a:tab pos="5999163" algn="r"/>
                <a:tab pos="7488238" algn="r"/>
              </a:tabLst>
            </a:pPr>
            <a:r>
              <a:rPr lang="en-US" sz="2000" dirty="0"/>
              <a:t>Allocated capacities:</a:t>
            </a:r>
          </a:p>
          <a:p>
            <a:pPr>
              <a:spcBef>
                <a:spcPts val="600"/>
              </a:spcBef>
              <a:tabLst>
                <a:tab pos="2514600" algn="r"/>
                <a:tab pos="4005263" algn="r"/>
                <a:tab pos="5999163" algn="r"/>
                <a:tab pos="7488238" algn="r"/>
              </a:tabLst>
            </a:pPr>
            <a:r>
              <a:rPr lang="en-US" sz="2000" dirty="0"/>
              <a:t>Server 0	67 / 120	119 / 120	82 / 120	116 / 120</a:t>
            </a:r>
          </a:p>
          <a:p>
            <a:pPr>
              <a:spcBef>
                <a:spcPts val="600"/>
              </a:spcBef>
              <a:tabLst>
                <a:tab pos="2514600" algn="r"/>
                <a:tab pos="4005263" algn="r"/>
                <a:tab pos="5999163" algn="r"/>
                <a:tab pos="7488238" algn="r"/>
              </a:tabLst>
            </a:pPr>
            <a:r>
              <a:rPr lang="en-US" sz="2000" dirty="0"/>
              <a:t>Server 1	571 / 1000	430 / 1000	532 / 1000	428 / 1000</a:t>
            </a:r>
          </a:p>
          <a:p>
            <a:pPr>
              <a:spcBef>
                <a:spcPts val="600"/>
              </a:spcBef>
              <a:tabLst>
                <a:tab pos="2514600" algn="r"/>
                <a:tab pos="4005263" algn="r"/>
                <a:tab pos="5999163" algn="r"/>
                <a:tab pos="7488238" algn="r"/>
              </a:tabLst>
            </a:pPr>
            <a:r>
              <a:rPr lang="en-US" sz="2000" dirty="0"/>
              <a:t>Server 2	257 / 300	</a:t>
            </a:r>
            <a:r>
              <a:rPr lang="en-US" sz="2000" b="1" dirty="0">
                <a:solidFill>
                  <a:srgbClr val="FF0000"/>
                </a:solidFill>
              </a:rPr>
              <a:t>301 / 300</a:t>
            </a:r>
            <a:r>
              <a:rPr lang="en-US" sz="2000" dirty="0"/>
              <a:t>	257 / 300	</a:t>
            </a:r>
            <a:r>
              <a:rPr lang="en-US" sz="2000" b="1" dirty="0">
                <a:solidFill>
                  <a:srgbClr val="FF0000"/>
                </a:solidFill>
              </a:rPr>
              <a:t>303 / 300</a:t>
            </a:r>
          </a:p>
          <a:p>
            <a:pPr>
              <a:spcBef>
                <a:spcPts val="600"/>
              </a:spcBef>
              <a:tabLst>
                <a:tab pos="2514600" algn="r"/>
                <a:tab pos="4005263" algn="r"/>
                <a:tab pos="5999163" algn="r"/>
                <a:tab pos="7488238" algn="r"/>
              </a:tabLst>
            </a:pPr>
            <a:r>
              <a:rPr lang="en-US" sz="2000" dirty="0"/>
              <a:t>Server 3	128 / 180	173 / 180	152 / 180	176 / 180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41179C6-8DE9-937F-61D2-AA2D78DBA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Results</a:t>
            </a:r>
            <a:r>
              <a:rPr lang="it-IT" dirty="0"/>
              <a:t>, </a:t>
            </a:r>
            <a:r>
              <a:rPr lang="it-IT" dirty="0" err="1"/>
              <a:t>comparison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665839-C3EC-B1E7-64EA-1D329B3E02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0736A9-2FA8-4BDE-37C7-680BE7EAD6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26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83896234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54B4448-CAFD-B4E2-E62A-767CDB4D6C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12" y="1173916"/>
            <a:ext cx="8546175" cy="5259392"/>
          </a:xfrm>
        </p:spPr>
        <p:txBody>
          <a:bodyPr>
            <a:normAutofit/>
          </a:bodyPr>
          <a:lstStyle/>
          <a:p>
            <a:pPr>
              <a:spcBef>
                <a:spcPts val="1200"/>
              </a:spcBef>
            </a:pPr>
            <a:r>
              <a:rPr lang="en-US" sz="2400" dirty="0">
                <a:solidFill>
                  <a:srgbClr val="C00000"/>
                </a:solidFill>
              </a:rPr>
              <a:t>Different forecasting algorithms </a:t>
            </a:r>
            <a:r>
              <a:rPr lang="en-US" sz="2400" dirty="0"/>
              <a:t>were tested and compared, in our case statistical forecasting was significantly more reliable than alternative AI-based methods. 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rgbClr val="C00000"/>
                </a:solidFill>
              </a:rPr>
              <a:t>Bootstrapped forecasting </a:t>
            </a:r>
            <a:r>
              <a:rPr lang="en-US" sz="2400" dirty="0"/>
              <a:t>identifies a probability distribution of future retailer requests, supporting data-driven scenario generation while considering both costs and forecast uncertainty.</a:t>
            </a:r>
          </a:p>
          <a:p>
            <a:pPr>
              <a:spcBef>
                <a:spcPts val="1200"/>
              </a:spcBef>
            </a:pPr>
            <a:r>
              <a:rPr lang="en-US" sz="2400" dirty="0"/>
              <a:t>The validity of the BESO approach, composed by MEB as a forecasting methodology and deterministic equivalent based on the bootstrapped series, </a:t>
            </a:r>
            <a:r>
              <a:rPr lang="en-US" dirty="0">
                <a:solidFill>
                  <a:srgbClr val="C00000"/>
                </a:solidFill>
              </a:rPr>
              <a:t>extends beyond the case study.</a:t>
            </a:r>
            <a:endParaRPr lang="en-US" sz="2400" dirty="0">
              <a:solidFill>
                <a:srgbClr val="C00000"/>
              </a:solidFill>
            </a:endParaRPr>
          </a:p>
          <a:p>
            <a:pPr>
              <a:spcBef>
                <a:spcPts val="1200"/>
              </a:spcBef>
            </a:pPr>
            <a:r>
              <a:rPr lang="en-US" sz="2400" dirty="0"/>
              <a:t>It can be of interest from an application perspective because of the </a:t>
            </a:r>
            <a:r>
              <a:rPr lang="en-US" sz="2400" dirty="0">
                <a:solidFill>
                  <a:srgbClr val="C00000"/>
                </a:solidFill>
              </a:rPr>
              <a:t>justified insights </a:t>
            </a:r>
            <a:r>
              <a:rPr lang="en-US" sz="2400" dirty="0"/>
              <a:t>it provides.</a:t>
            </a:r>
            <a:endParaRPr lang="it-IT" sz="24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4DAED7-D714-269C-7743-94197EFF4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Comments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D412EF-17C0-FCFB-E885-D4434F5F98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BD00F7-5AC9-C4A4-D1C3-39483C0597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27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56017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2170</Words>
  <Application>Microsoft Office PowerPoint</Application>
  <PresentationFormat>On-screen Show (4:3)</PresentationFormat>
  <Paragraphs>222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7" baseType="lpstr">
      <vt:lpstr>Aptos</vt:lpstr>
      <vt:lpstr>Aptos Display</vt:lpstr>
      <vt:lpstr>Aptos Light</vt:lpstr>
      <vt:lpstr>Arial</vt:lpstr>
      <vt:lpstr>Calibri</vt:lpstr>
      <vt:lpstr>Cambria</vt:lpstr>
      <vt:lpstr>Cambria Math</vt:lpstr>
      <vt:lpstr>KaTeX_Main</vt:lpstr>
      <vt:lpstr>ManiezzoSlides</vt:lpstr>
      <vt:lpstr>Office</vt:lpstr>
      <vt:lpstr>Bootstrap Enhanced Scenario Optimization for Two-Echelon Logistics, a Case Study in Large-Scale Retail</vt:lpstr>
      <vt:lpstr>First problem</vt:lpstr>
      <vt:lpstr>Words …</vt:lpstr>
      <vt:lpstr>Stochastic Optimization</vt:lpstr>
      <vt:lpstr>Hybrids</vt:lpstr>
      <vt:lpstr>Scenario-based optimization</vt:lpstr>
      <vt:lpstr>The first case study</vt:lpstr>
      <vt:lpstr>Toward a formulation</vt:lpstr>
      <vt:lpstr>Deterministic allocation</vt:lpstr>
      <vt:lpstr>Stochastic allocation</vt:lpstr>
      <vt:lpstr>Scenario-based</vt:lpstr>
      <vt:lpstr>Preprocessing, COVID adjustment</vt:lpstr>
      <vt:lpstr>Forecasting, approaches</vt:lpstr>
      <vt:lpstr>A basic autoregressive model</vt:lpstr>
      <vt:lpstr>Prewhitening</vt:lpstr>
      <vt:lpstr>Recoloring</vt:lpstr>
      <vt:lpstr>Bootstrapping time series</vt:lpstr>
      <vt:lpstr>Bootstrapping</vt:lpstr>
      <vt:lpstr>Maximum entropy bootstrap</vt:lpstr>
      <vt:lpstr>Forecasts</vt:lpstr>
      <vt:lpstr>BESO: bootstrapped enhanced scenario optimization</vt:lpstr>
      <vt:lpstr>Results, forecasts</vt:lpstr>
      <vt:lpstr>Results, forecasts</vt:lpstr>
      <vt:lpstr>Results, optimization</vt:lpstr>
      <vt:lpstr>Results, comparison</vt:lpstr>
      <vt:lpstr>Results, comparison</vt:lpstr>
      <vt:lpstr>Comments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Caroline Tomanik</dc:creator>
  <cp:lastModifiedBy>Vittorio Maniezzo</cp:lastModifiedBy>
  <cp:revision>11</cp:revision>
  <dcterms:created xsi:type="dcterms:W3CDTF">2026-06-03T06:14:07Z</dcterms:created>
  <dcterms:modified xsi:type="dcterms:W3CDTF">2026-07-07T13:31:19Z</dcterms:modified>
</cp:coreProperties>
</file>
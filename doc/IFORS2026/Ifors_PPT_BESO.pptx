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309" r:id="rId3"/>
    <p:sldId id="257" r:id="rId4"/>
    <p:sldId id="316" r:id="rId5"/>
    <p:sldId id="270" r:id="rId6"/>
    <p:sldId id="319" r:id="rId7"/>
    <p:sldId id="267" r:id="rId8"/>
    <p:sldId id="273" r:id="rId9"/>
    <p:sldId id="274" r:id="rId10"/>
    <p:sldId id="322" r:id="rId11"/>
    <p:sldId id="323" r:id="rId12"/>
    <p:sldId id="271" r:id="rId13"/>
    <p:sldId id="275" r:id="rId14"/>
    <p:sldId id="276" r:id="rId15"/>
    <p:sldId id="324" r:id="rId16"/>
    <p:sldId id="278" r:id="rId17"/>
    <p:sldId id="277" r:id="rId18"/>
    <p:sldId id="259" r:id="rId19"/>
    <p:sldId id="265" r:id="rId20"/>
    <p:sldId id="266" r:id="rId21"/>
    <p:sldId id="280" r:id="rId22"/>
    <p:sldId id="279" r:id="rId23"/>
    <p:sldId id="260" r:id="rId24"/>
  </p:sldIdLst>
  <p:sldSz cx="9144000" cy="6858000" type="screen4x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07"/>
    <p:restoredTop sz="90629" autoAdjust="0"/>
  </p:normalViewPr>
  <p:slideViewPr>
    <p:cSldViewPr snapToGrid="0">
      <p:cViewPr varScale="1">
        <p:scale>
          <a:sx n="79" d="100"/>
          <a:sy n="79" d="100"/>
        </p:scale>
        <p:origin x="1147"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Sales used cars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spPr>
            <a:ln w="28575" cap="rnd">
              <a:solidFill>
                <a:schemeClr val="accent1"/>
              </a:solidFill>
              <a:round/>
            </a:ln>
            <a:effectLst/>
          </c:spPr>
          <c:marker>
            <c:symbol val="none"/>
          </c:marker>
          <c:trendline>
            <c:spPr>
              <a:ln w="19050" cap="rnd">
                <a:solidFill>
                  <a:schemeClr val="accent1"/>
                </a:solidFill>
                <a:prstDash val="sysDot"/>
              </a:ln>
              <a:effectLst/>
            </c:spPr>
            <c:trendlineType val="linear"/>
            <c:dispRSqr val="0"/>
            <c:dispEq val="0"/>
          </c:trendline>
          <c:trendline>
            <c:spPr>
              <a:ln w="34925" cap="rnd">
                <a:solidFill>
                  <a:srgbClr val="FF0000"/>
                </a:solidFill>
                <a:prstDash val="sysDot"/>
              </a:ln>
              <a:effectLst/>
            </c:spPr>
            <c:trendlineType val="linear"/>
            <c:dispRSqr val="0"/>
            <c:dispEq val="0"/>
          </c:trendline>
          <c:val>
            <c:numRef>
              <c:f>Sheet1!$B$1:$B$84</c:f>
              <c:numCache>
                <c:formatCode>General</c:formatCode>
                <c:ptCount val="84"/>
                <c:pt idx="0">
                  <c:v>6766</c:v>
                </c:pt>
                <c:pt idx="1">
                  <c:v>8397</c:v>
                </c:pt>
                <c:pt idx="2">
                  <c:v>8250</c:v>
                </c:pt>
                <c:pt idx="3">
                  <c:v>7411</c:v>
                </c:pt>
                <c:pt idx="4">
                  <c:v>7190</c:v>
                </c:pt>
                <c:pt idx="5">
                  <c:v>6970</c:v>
                </c:pt>
                <c:pt idx="6">
                  <c:v>6963</c:v>
                </c:pt>
                <c:pt idx="7">
                  <c:v>7269</c:v>
                </c:pt>
                <c:pt idx="8">
                  <c:v>6243</c:v>
                </c:pt>
                <c:pt idx="9">
                  <c:v>6682</c:v>
                </c:pt>
                <c:pt idx="10">
                  <c:v>6183</c:v>
                </c:pt>
                <c:pt idx="11">
                  <c:v>5592</c:v>
                </c:pt>
                <c:pt idx="12">
                  <c:v>6065</c:v>
                </c:pt>
                <c:pt idx="13">
                  <c:v>8022</c:v>
                </c:pt>
                <c:pt idx="14">
                  <c:v>8564</c:v>
                </c:pt>
                <c:pt idx="15">
                  <c:v>7601</c:v>
                </c:pt>
                <c:pt idx="16">
                  <c:v>7695</c:v>
                </c:pt>
                <c:pt idx="17">
                  <c:v>7542</c:v>
                </c:pt>
                <c:pt idx="18">
                  <c:v>7657</c:v>
                </c:pt>
                <c:pt idx="19">
                  <c:v>7936</c:v>
                </c:pt>
                <c:pt idx="20">
                  <c:v>7584</c:v>
                </c:pt>
                <c:pt idx="21">
                  <c:v>7933</c:v>
                </c:pt>
                <c:pt idx="22">
                  <c:v>6822</c:v>
                </c:pt>
                <c:pt idx="23">
                  <c:v>7003</c:v>
                </c:pt>
                <c:pt idx="24">
                  <c:v>7435</c:v>
                </c:pt>
                <c:pt idx="25">
                  <c:v>9092</c:v>
                </c:pt>
                <c:pt idx="26">
                  <c:v>9331</c:v>
                </c:pt>
                <c:pt idx="27">
                  <c:v>8969</c:v>
                </c:pt>
                <c:pt idx="28">
                  <c:v>8544</c:v>
                </c:pt>
                <c:pt idx="29">
                  <c:v>8337</c:v>
                </c:pt>
                <c:pt idx="30">
                  <c:v>8377</c:v>
                </c:pt>
                <c:pt idx="31">
                  <c:v>8353</c:v>
                </c:pt>
                <c:pt idx="32">
                  <c:v>7689</c:v>
                </c:pt>
                <c:pt idx="33">
                  <c:v>7911</c:v>
                </c:pt>
                <c:pt idx="34">
                  <c:v>7193</c:v>
                </c:pt>
                <c:pt idx="35">
                  <c:v>7099</c:v>
                </c:pt>
                <c:pt idx="36">
                  <c:v>7638</c:v>
                </c:pt>
                <c:pt idx="37">
                  <c:v>10269</c:v>
                </c:pt>
                <c:pt idx="38">
                  <c:v>9947</c:v>
                </c:pt>
                <c:pt idx="39">
                  <c:v>9093</c:v>
                </c:pt>
                <c:pt idx="40">
                  <c:v>8490</c:v>
                </c:pt>
                <c:pt idx="41">
                  <c:v>8896</c:v>
                </c:pt>
                <c:pt idx="42">
                  <c:v>8743</c:v>
                </c:pt>
                <c:pt idx="43">
                  <c:v>9287</c:v>
                </c:pt>
                <c:pt idx="44">
                  <c:v>8421</c:v>
                </c:pt>
                <c:pt idx="45">
                  <c:v>8792</c:v>
                </c:pt>
                <c:pt idx="46">
                  <c:v>7864</c:v>
                </c:pt>
                <c:pt idx="47">
                  <c:v>8465</c:v>
                </c:pt>
                <c:pt idx="48">
                  <c:v>8497</c:v>
                </c:pt>
                <c:pt idx="49">
                  <c:v>9598</c:v>
                </c:pt>
                <c:pt idx="50">
                  <c:v>10955</c:v>
                </c:pt>
                <c:pt idx="51">
                  <c:v>9237</c:v>
                </c:pt>
                <c:pt idx="52">
                  <c:v>9726</c:v>
                </c:pt>
                <c:pt idx="53">
                  <c:v>9778</c:v>
                </c:pt>
                <c:pt idx="54">
                  <c:v>9527</c:v>
                </c:pt>
                <c:pt idx="55">
                  <c:v>9632</c:v>
                </c:pt>
                <c:pt idx="56">
                  <c:v>9265</c:v>
                </c:pt>
                <c:pt idx="57">
                  <c:v>9139</c:v>
                </c:pt>
                <c:pt idx="58">
                  <c:v>8594</c:v>
                </c:pt>
                <c:pt idx="59">
                  <c:v>8226</c:v>
                </c:pt>
                <c:pt idx="60">
                  <c:v>8836</c:v>
                </c:pt>
                <c:pt idx="61">
                  <c:v>9923</c:v>
                </c:pt>
                <c:pt idx="62">
                  <c:v>11259</c:v>
                </c:pt>
                <c:pt idx="63">
                  <c:v>9543</c:v>
                </c:pt>
                <c:pt idx="64">
                  <c:v>10096</c:v>
                </c:pt>
                <c:pt idx="65">
                  <c:v>9777</c:v>
                </c:pt>
                <c:pt idx="66">
                  <c:v>9788</c:v>
                </c:pt>
                <c:pt idx="67">
                  <c:v>10081</c:v>
                </c:pt>
                <c:pt idx="68">
                  <c:v>8951</c:v>
                </c:pt>
                <c:pt idx="69">
                  <c:v>9104</c:v>
                </c:pt>
                <c:pt idx="70">
                  <c:v>8656</c:v>
                </c:pt>
                <c:pt idx="71">
                  <c:v>8376</c:v>
                </c:pt>
                <c:pt idx="72">
                  <c:v>8828</c:v>
                </c:pt>
                <c:pt idx="73">
                  <c:v>9675</c:v>
                </c:pt>
                <c:pt idx="74">
                  <c:v>11856</c:v>
                </c:pt>
                <c:pt idx="75">
                  <c:v>10345</c:v>
                </c:pt>
                <c:pt idx="76">
                  <c:v>10549</c:v>
                </c:pt>
                <c:pt idx="77">
                  <c:v>10078</c:v>
                </c:pt>
                <c:pt idx="78">
                  <c:v>10255</c:v>
                </c:pt>
                <c:pt idx="79">
                  <c:v>10357</c:v>
                </c:pt>
                <c:pt idx="80">
                  <c:v>9404</c:v>
                </c:pt>
                <c:pt idx="81">
                  <c:v>9696</c:v>
                </c:pt>
                <c:pt idx="82">
                  <c:v>9355</c:v>
                </c:pt>
                <c:pt idx="83">
                  <c:v>8669</c:v>
                </c:pt>
              </c:numCache>
            </c:numRef>
          </c:val>
          <c:smooth val="0"/>
          <c:extLst>
            <c:ext xmlns:c16="http://schemas.microsoft.com/office/drawing/2014/chart" uri="{C3380CC4-5D6E-409C-BE32-E72D297353CC}">
              <c16:uniqueId val="{00000002-82A9-43B2-BECA-98F555A6ABD6}"/>
            </c:ext>
          </c:extLst>
        </c:ser>
        <c:dLbls>
          <c:showLegendKey val="0"/>
          <c:showVal val="0"/>
          <c:showCatName val="0"/>
          <c:showSerName val="0"/>
          <c:showPercent val="0"/>
          <c:showBubbleSize val="0"/>
        </c:dLbls>
        <c:smooth val="0"/>
        <c:axId val="1032261408"/>
        <c:axId val="1032265152"/>
      </c:lineChart>
      <c:catAx>
        <c:axId val="1032261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32265152"/>
        <c:crosses val="autoZero"/>
        <c:auto val="1"/>
        <c:lblAlgn val="ctr"/>
        <c:lblOffset val="100"/>
        <c:tickLblSkip val="6"/>
        <c:tickMarkSkip val="1"/>
        <c:noMultiLvlLbl val="0"/>
      </c:catAx>
      <c:valAx>
        <c:axId val="10322651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322614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Detrended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spPr>
            <a:ln w="28575" cap="rnd">
              <a:solidFill>
                <a:schemeClr val="accent2"/>
              </a:solidFill>
              <a:round/>
            </a:ln>
            <a:effectLst/>
          </c:spPr>
          <c:marker>
            <c:symbol val="none"/>
          </c:marker>
          <c:val>
            <c:numRef>
              <c:f>Sheet1!$A$20:$A$103</c:f>
              <c:numCache>
                <c:formatCode>General</c:formatCode>
                <c:ptCount val="84"/>
                <c:pt idx="0">
                  <c:v>-252</c:v>
                </c:pt>
                <c:pt idx="1">
                  <c:v>1340</c:v>
                </c:pt>
                <c:pt idx="2">
                  <c:v>1155</c:v>
                </c:pt>
                <c:pt idx="3">
                  <c:v>277</c:v>
                </c:pt>
                <c:pt idx="4">
                  <c:v>17</c:v>
                </c:pt>
                <c:pt idx="5">
                  <c:v>-241</c:v>
                </c:pt>
                <c:pt idx="6">
                  <c:v>-287</c:v>
                </c:pt>
                <c:pt idx="7">
                  <c:v>180</c:v>
                </c:pt>
                <c:pt idx="8">
                  <c:v>-684</c:v>
                </c:pt>
                <c:pt idx="9">
                  <c:v>-284</c:v>
                </c:pt>
                <c:pt idx="10">
                  <c:v>-821</c:v>
                </c:pt>
                <c:pt idx="11">
                  <c:v>-1251</c:v>
                </c:pt>
                <c:pt idx="12">
                  <c:v>-817</c:v>
                </c:pt>
                <c:pt idx="13">
                  <c:v>502</c:v>
                </c:pt>
                <c:pt idx="14">
                  <c:v>1005</c:v>
                </c:pt>
                <c:pt idx="15">
                  <c:v>3</c:v>
                </c:pt>
                <c:pt idx="16">
                  <c:v>59</c:v>
                </c:pt>
                <c:pt idx="17">
                  <c:v>-133</c:v>
                </c:pt>
                <c:pt idx="18">
                  <c:v>-57</c:v>
                </c:pt>
                <c:pt idx="19">
                  <c:v>184</c:v>
                </c:pt>
                <c:pt idx="20">
                  <c:v>-207</c:v>
                </c:pt>
                <c:pt idx="21">
                  <c:v>104</c:v>
                </c:pt>
                <c:pt idx="22">
                  <c:v>-1046</c:v>
                </c:pt>
                <c:pt idx="23">
                  <c:v>-904</c:v>
                </c:pt>
                <c:pt idx="24">
                  <c:v>-510</c:v>
                </c:pt>
                <c:pt idx="25">
                  <c:v>1108</c:v>
                </c:pt>
                <c:pt idx="26">
                  <c:v>1308</c:v>
                </c:pt>
                <c:pt idx="27">
                  <c:v>908</c:v>
                </c:pt>
                <c:pt idx="28">
                  <c:v>444</c:v>
                </c:pt>
                <c:pt idx="29">
                  <c:v>198</c:v>
                </c:pt>
                <c:pt idx="30">
                  <c:v>200</c:v>
                </c:pt>
                <c:pt idx="31">
                  <c:v>137</c:v>
                </c:pt>
                <c:pt idx="32">
                  <c:v>-565</c:v>
                </c:pt>
                <c:pt idx="33">
                  <c:v>-382</c:v>
                </c:pt>
                <c:pt idx="34">
                  <c:v>-1139</c:v>
                </c:pt>
                <c:pt idx="35">
                  <c:v>-1271</c:v>
                </c:pt>
                <c:pt idx="36">
                  <c:v>-771</c:v>
                </c:pt>
                <c:pt idx="37">
                  <c:v>1821</c:v>
                </c:pt>
                <c:pt idx="38">
                  <c:v>1461</c:v>
                </c:pt>
                <c:pt idx="39">
                  <c:v>568</c:v>
                </c:pt>
                <c:pt idx="40">
                  <c:v>-74</c:v>
                </c:pt>
                <c:pt idx="41">
                  <c:v>294</c:v>
                </c:pt>
                <c:pt idx="42">
                  <c:v>102</c:v>
                </c:pt>
                <c:pt idx="43">
                  <c:v>608</c:v>
                </c:pt>
                <c:pt idx="44">
                  <c:v>-297</c:v>
                </c:pt>
                <c:pt idx="45">
                  <c:v>35</c:v>
                </c:pt>
                <c:pt idx="46">
                  <c:v>-931</c:v>
                </c:pt>
                <c:pt idx="47">
                  <c:v>-369</c:v>
                </c:pt>
                <c:pt idx="48">
                  <c:v>-376</c:v>
                </c:pt>
                <c:pt idx="49">
                  <c:v>687</c:v>
                </c:pt>
                <c:pt idx="50">
                  <c:v>2005</c:v>
                </c:pt>
                <c:pt idx="51">
                  <c:v>248</c:v>
                </c:pt>
                <c:pt idx="52">
                  <c:v>699</c:v>
                </c:pt>
                <c:pt idx="53">
                  <c:v>712</c:v>
                </c:pt>
                <c:pt idx="54">
                  <c:v>423</c:v>
                </c:pt>
                <c:pt idx="55">
                  <c:v>489</c:v>
                </c:pt>
                <c:pt idx="56">
                  <c:v>83</c:v>
                </c:pt>
                <c:pt idx="57">
                  <c:v>-81</c:v>
                </c:pt>
                <c:pt idx="58">
                  <c:v>-665</c:v>
                </c:pt>
                <c:pt idx="59">
                  <c:v>-1072</c:v>
                </c:pt>
                <c:pt idx="60">
                  <c:v>-500</c:v>
                </c:pt>
                <c:pt idx="61">
                  <c:v>548</c:v>
                </c:pt>
                <c:pt idx="62">
                  <c:v>1845</c:v>
                </c:pt>
                <c:pt idx="63">
                  <c:v>91</c:v>
                </c:pt>
                <c:pt idx="64">
                  <c:v>605</c:v>
                </c:pt>
                <c:pt idx="65">
                  <c:v>248</c:v>
                </c:pt>
                <c:pt idx="66">
                  <c:v>220</c:v>
                </c:pt>
                <c:pt idx="67">
                  <c:v>474</c:v>
                </c:pt>
                <c:pt idx="68">
                  <c:v>-694</c:v>
                </c:pt>
                <c:pt idx="69">
                  <c:v>-580</c:v>
                </c:pt>
                <c:pt idx="70">
                  <c:v>-1067</c:v>
                </c:pt>
                <c:pt idx="71">
                  <c:v>-1385</c:v>
                </c:pt>
                <c:pt idx="72">
                  <c:v>-972</c:v>
                </c:pt>
                <c:pt idx="73">
                  <c:v>-164</c:v>
                </c:pt>
                <c:pt idx="74">
                  <c:v>1979</c:v>
                </c:pt>
                <c:pt idx="75">
                  <c:v>429</c:v>
                </c:pt>
                <c:pt idx="76">
                  <c:v>595</c:v>
                </c:pt>
                <c:pt idx="77">
                  <c:v>85</c:v>
                </c:pt>
                <c:pt idx="78">
                  <c:v>223</c:v>
                </c:pt>
                <c:pt idx="79">
                  <c:v>287</c:v>
                </c:pt>
                <c:pt idx="80">
                  <c:v>-705</c:v>
                </c:pt>
                <c:pt idx="81">
                  <c:v>-452</c:v>
                </c:pt>
                <c:pt idx="82">
                  <c:v>-831</c:v>
                </c:pt>
                <c:pt idx="83">
                  <c:v>-1556</c:v>
                </c:pt>
              </c:numCache>
            </c:numRef>
          </c:val>
          <c:smooth val="0"/>
          <c:extLst>
            <c:ext xmlns:c16="http://schemas.microsoft.com/office/drawing/2014/chart" uri="{C3380CC4-5D6E-409C-BE32-E72D297353CC}">
              <c16:uniqueId val="{00000000-68A1-42A6-A815-9476985037F5}"/>
            </c:ext>
          </c:extLst>
        </c:ser>
        <c:dLbls>
          <c:showLegendKey val="0"/>
          <c:showVal val="0"/>
          <c:showCatName val="0"/>
          <c:showSerName val="0"/>
          <c:showPercent val="0"/>
          <c:showBubbleSize val="0"/>
        </c:dLbls>
        <c:smooth val="0"/>
        <c:axId val="1030017088"/>
        <c:axId val="1030013760"/>
      </c:lineChart>
      <c:catAx>
        <c:axId val="1030017088"/>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30013760"/>
        <c:crosses val="autoZero"/>
        <c:auto val="1"/>
        <c:lblAlgn val="ctr"/>
        <c:lblOffset val="100"/>
        <c:tickLblSkip val="6"/>
        <c:noMultiLvlLbl val="0"/>
      </c:catAx>
      <c:valAx>
        <c:axId val="10300137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3001708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Deseasonalized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spPr>
            <a:ln w="28575" cap="rnd">
              <a:solidFill>
                <a:schemeClr val="accent4">
                  <a:lumMod val="75000"/>
                </a:schemeClr>
              </a:solidFill>
              <a:round/>
            </a:ln>
            <a:effectLst/>
          </c:spPr>
          <c:marker>
            <c:symbol val="none"/>
          </c:marker>
          <c:val>
            <c:numRef>
              <c:f>Sheet1!$E$23:$E$106</c:f>
              <c:numCache>
                <c:formatCode>General</c:formatCode>
                <c:ptCount val="84"/>
                <c:pt idx="0">
                  <c:v>433</c:v>
                </c:pt>
                <c:pt idx="1">
                  <c:v>506</c:v>
                </c:pt>
                <c:pt idx="2">
                  <c:v>-382</c:v>
                </c:pt>
                <c:pt idx="3">
                  <c:v>-84</c:v>
                </c:pt>
                <c:pt idx="4">
                  <c:v>-318</c:v>
                </c:pt>
                <c:pt idx="5">
                  <c:v>-407</c:v>
                </c:pt>
                <c:pt idx="6">
                  <c:v>-405</c:v>
                </c:pt>
                <c:pt idx="7">
                  <c:v>-128</c:v>
                </c:pt>
                <c:pt idx="8">
                  <c:v>-189</c:v>
                </c:pt>
                <c:pt idx="9">
                  <c:v>8</c:v>
                </c:pt>
                <c:pt idx="10">
                  <c:v>164</c:v>
                </c:pt>
                <c:pt idx="11">
                  <c:v>-50</c:v>
                </c:pt>
                <c:pt idx="12">
                  <c:v>-131</c:v>
                </c:pt>
                <c:pt idx="13">
                  <c:v>-333</c:v>
                </c:pt>
                <c:pt idx="14">
                  <c:v>-532</c:v>
                </c:pt>
                <c:pt idx="15">
                  <c:v>-357</c:v>
                </c:pt>
                <c:pt idx="16">
                  <c:v>-276</c:v>
                </c:pt>
                <c:pt idx="17">
                  <c:v>-299</c:v>
                </c:pt>
                <c:pt idx="18">
                  <c:v>-174</c:v>
                </c:pt>
                <c:pt idx="19">
                  <c:v>-125</c:v>
                </c:pt>
                <c:pt idx="20">
                  <c:v>289</c:v>
                </c:pt>
                <c:pt idx="21">
                  <c:v>395</c:v>
                </c:pt>
                <c:pt idx="22">
                  <c:v>-60</c:v>
                </c:pt>
                <c:pt idx="23">
                  <c:v>297</c:v>
                </c:pt>
                <c:pt idx="24">
                  <c:v>175</c:v>
                </c:pt>
                <c:pt idx="25">
                  <c:v>273</c:v>
                </c:pt>
                <c:pt idx="26">
                  <c:v>-229</c:v>
                </c:pt>
                <c:pt idx="27">
                  <c:v>547</c:v>
                </c:pt>
                <c:pt idx="28">
                  <c:v>109</c:v>
                </c:pt>
                <c:pt idx="29">
                  <c:v>32</c:v>
                </c:pt>
                <c:pt idx="30">
                  <c:v>82</c:v>
                </c:pt>
                <c:pt idx="31">
                  <c:v>-171</c:v>
                </c:pt>
                <c:pt idx="32">
                  <c:v>-70</c:v>
                </c:pt>
                <c:pt idx="33">
                  <c:v>-91</c:v>
                </c:pt>
                <c:pt idx="34">
                  <c:v>-153</c:v>
                </c:pt>
                <c:pt idx="35">
                  <c:v>-70</c:v>
                </c:pt>
                <c:pt idx="36">
                  <c:v>-86</c:v>
                </c:pt>
                <c:pt idx="37">
                  <c:v>987</c:v>
                </c:pt>
                <c:pt idx="38">
                  <c:v>-76</c:v>
                </c:pt>
                <c:pt idx="39">
                  <c:v>207</c:v>
                </c:pt>
                <c:pt idx="40">
                  <c:v>-409</c:v>
                </c:pt>
                <c:pt idx="41">
                  <c:v>128</c:v>
                </c:pt>
                <c:pt idx="42">
                  <c:v>-16</c:v>
                </c:pt>
                <c:pt idx="43">
                  <c:v>299</c:v>
                </c:pt>
                <c:pt idx="44">
                  <c:v>199</c:v>
                </c:pt>
                <c:pt idx="45">
                  <c:v>327</c:v>
                </c:pt>
                <c:pt idx="46">
                  <c:v>54</c:v>
                </c:pt>
                <c:pt idx="47">
                  <c:v>832</c:v>
                </c:pt>
                <c:pt idx="48">
                  <c:v>310</c:v>
                </c:pt>
                <c:pt idx="49">
                  <c:v>-148</c:v>
                </c:pt>
                <c:pt idx="50">
                  <c:v>468</c:v>
                </c:pt>
                <c:pt idx="51">
                  <c:v>-112</c:v>
                </c:pt>
                <c:pt idx="52">
                  <c:v>364</c:v>
                </c:pt>
                <c:pt idx="53">
                  <c:v>546</c:v>
                </c:pt>
                <c:pt idx="54">
                  <c:v>305</c:v>
                </c:pt>
                <c:pt idx="55">
                  <c:v>181</c:v>
                </c:pt>
                <c:pt idx="56">
                  <c:v>579</c:v>
                </c:pt>
                <c:pt idx="57">
                  <c:v>210</c:v>
                </c:pt>
                <c:pt idx="58">
                  <c:v>321</c:v>
                </c:pt>
                <c:pt idx="59">
                  <c:v>130</c:v>
                </c:pt>
                <c:pt idx="60">
                  <c:v>185</c:v>
                </c:pt>
                <c:pt idx="61">
                  <c:v>-287</c:v>
                </c:pt>
                <c:pt idx="62">
                  <c:v>309</c:v>
                </c:pt>
                <c:pt idx="63">
                  <c:v>-270</c:v>
                </c:pt>
                <c:pt idx="64">
                  <c:v>270</c:v>
                </c:pt>
                <c:pt idx="65">
                  <c:v>81</c:v>
                </c:pt>
                <c:pt idx="66">
                  <c:v>102</c:v>
                </c:pt>
                <c:pt idx="67">
                  <c:v>166</c:v>
                </c:pt>
                <c:pt idx="68">
                  <c:v>-199</c:v>
                </c:pt>
                <c:pt idx="69">
                  <c:v>-289</c:v>
                </c:pt>
                <c:pt idx="70">
                  <c:v>-81</c:v>
                </c:pt>
                <c:pt idx="71">
                  <c:v>-184</c:v>
                </c:pt>
                <c:pt idx="72">
                  <c:v>-286</c:v>
                </c:pt>
                <c:pt idx="73">
                  <c:v>-998</c:v>
                </c:pt>
                <c:pt idx="74">
                  <c:v>442</c:v>
                </c:pt>
                <c:pt idx="75">
                  <c:v>69</c:v>
                </c:pt>
                <c:pt idx="76">
                  <c:v>260</c:v>
                </c:pt>
                <c:pt idx="77">
                  <c:v>-81</c:v>
                </c:pt>
                <c:pt idx="78">
                  <c:v>106</c:v>
                </c:pt>
                <c:pt idx="79">
                  <c:v>-22</c:v>
                </c:pt>
                <c:pt idx="80">
                  <c:v>-209</c:v>
                </c:pt>
                <c:pt idx="81">
                  <c:v>-160</c:v>
                </c:pt>
                <c:pt idx="82">
                  <c:v>155</c:v>
                </c:pt>
                <c:pt idx="83">
                  <c:v>-355</c:v>
                </c:pt>
              </c:numCache>
            </c:numRef>
          </c:val>
          <c:smooth val="0"/>
          <c:extLst>
            <c:ext xmlns:c16="http://schemas.microsoft.com/office/drawing/2014/chart" uri="{C3380CC4-5D6E-409C-BE32-E72D297353CC}">
              <c16:uniqueId val="{00000000-866C-4F33-8D44-4AF0BA7AD9F7}"/>
            </c:ext>
          </c:extLst>
        </c:ser>
        <c:dLbls>
          <c:showLegendKey val="0"/>
          <c:showVal val="0"/>
          <c:showCatName val="0"/>
          <c:showSerName val="0"/>
          <c:showPercent val="0"/>
          <c:showBubbleSize val="0"/>
        </c:dLbls>
        <c:smooth val="0"/>
        <c:axId val="1158891040"/>
        <c:axId val="1158892288"/>
      </c:lineChart>
      <c:catAx>
        <c:axId val="1158891040"/>
        <c:scaling>
          <c:orientation val="minMax"/>
        </c:scaling>
        <c:delete val="0"/>
        <c:axPos val="b"/>
        <c:majorTickMark val="none"/>
        <c:minorTickMark val="none"/>
        <c:tickLblPos val="nextTo"/>
        <c:spPr>
          <a:noFill/>
          <a:ln w="9525" cap="flat" cmpd="sng" algn="ctr">
            <a:solidFill>
              <a:schemeClr val="accent4">
                <a:lumMod val="75000"/>
                <a:alpha val="97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58892288"/>
        <c:crosses val="autoZero"/>
        <c:auto val="1"/>
        <c:lblAlgn val="ctr"/>
        <c:lblOffset val="100"/>
        <c:tickLblSkip val="6"/>
        <c:noMultiLvlLbl val="0"/>
      </c:catAx>
      <c:valAx>
        <c:axId val="11588922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588910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DD9C5C-F734-49FB-9555-DBE4167895A5}" type="datetimeFigureOut">
              <a:rPr lang="en-US" smtClean="0"/>
              <a:t>7/14/2026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461D91-AE8F-4064-8D61-C2DD71587563}" type="slidenum">
              <a:rPr lang="en-US" smtClean="0"/>
              <a:t>‹#›</a:t>
            </a:fld>
            <a:endParaRPr lang="en-US"/>
          </a:p>
        </p:txBody>
      </p:sp>
    </p:spTree>
    <p:extLst>
      <p:ext uri="{BB962C8B-B14F-4D97-AF65-F5344CB8AC3E}">
        <p14:creationId xmlns:p14="http://schemas.microsoft.com/office/powerpoint/2010/main" val="2583123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b="0" i="0" u="none" strike="noStrike" baseline="0" dirty="0"/>
              <a:t>Robust optimization proposes a deterministic reformulation considering worst-case outcomes within a defined uncertainty set. </a:t>
            </a:r>
          </a:p>
          <a:p>
            <a:pPr algn="l"/>
            <a:r>
              <a:rPr lang="en-US" sz="1200" b="0" i="0" u="none" strike="noStrike" baseline="0" dirty="0"/>
              <a:t>Distributionally Robust Optimization (DRO) seeks a solution most resilient against the worst-case probability distribution for uncertain parameters, typically within an ambiguity set.</a:t>
            </a:r>
          </a:p>
          <a:p>
            <a:pPr algn="l"/>
            <a:r>
              <a:rPr lang="en-US" sz="1200" b="0" i="0" u="none" strike="noStrike" baseline="0" dirty="0"/>
              <a:t>The ambiguity set (U) in DRO is a set of probability distributions that the true, unknown distribution of the uncertain parameters is assumed to belong to. </a:t>
            </a:r>
          </a:p>
          <a:p>
            <a:pPr algn="l"/>
            <a:r>
              <a:rPr lang="en-US" sz="1200" b="0" i="0" u="none" strike="noStrike" baseline="0" dirty="0"/>
              <a:t>The core of DRO is to optimize the worst-case performance over all distributions within this set.</a:t>
            </a:r>
          </a:p>
          <a:p>
            <a:pPr algn="l"/>
            <a:r>
              <a:rPr lang="en-US" sz="1200" b="0" i="0" u="none" strike="noStrike" baseline="0" dirty="0"/>
              <a:t>Mainstream DRO approaches define this ambiguity set in different ways. </a:t>
            </a:r>
          </a:p>
          <a:p>
            <a:r>
              <a:rPr lang="en-US" sz="1200" dirty="0"/>
              <a:t>Delage and Ye (2010) define the set based on known moment constraints (e.g., bounds on the mean and covariance) of the uncertain parameters. This methodology provides strong theoretical guarantees but requires the designer to make choices on the ambiguity set’s structure and size.</a:t>
            </a:r>
            <a:endParaRPr lang="en-US" dirty="0"/>
          </a:p>
          <a:p>
            <a:r>
              <a:rPr lang="en-US" sz="1200" dirty="0"/>
              <a:t>Ben-Tal et al. (2013) </a:t>
            </a:r>
            <a:r>
              <a:rPr lang="en-US" sz="1200" b="0" i="0" u="none" strike="noStrike" baseline="0" dirty="0"/>
              <a:t>utilize specific discrepancy measures to construct an ambiguity set centered around the empirical distribution, such as those based on the ϕ-divergence (or f-divergence).</a:t>
            </a:r>
          </a:p>
          <a:p>
            <a:pPr algn="l"/>
            <a:r>
              <a:rPr lang="en-US" sz="1200" b="0" i="0" u="none" strike="noStrike" baseline="0" dirty="0" err="1"/>
              <a:t>Esfahani</a:t>
            </a:r>
            <a:r>
              <a:rPr lang="en-US" sz="1200" b="0" i="0" u="none" strike="noStrike" baseline="0" dirty="0"/>
              <a:t> and Kuhn (2018) define the ambiguity set as a Wasserstein ball around the empirical distribution, yielding tractable convex (often linear) reformulations</a:t>
            </a:r>
          </a:p>
          <a:p>
            <a:endParaRPr lang="en-US" dirty="0"/>
          </a:p>
        </p:txBody>
      </p:sp>
      <p:sp>
        <p:nvSpPr>
          <p:cNvPr id="4" name="Slide Number Placeholder 3"/>
          <p:cNvSpPr>
            <a:spLocks noGrp="1"/>
          </p:cNvSpPr>
          <p:nvPr>
            <p:ph type="sldNum" sz="quarter" idx="5"/>
          </p:nvPr>
        </p:nvSpPr>
        <p:spPr/>
        <p:txBody>
          <a:bodyPr/>
          <a:lstStyle/>
          <a:p>
            <a:fld id="{25461D91-AE8F-4064-8D61-C2DD71587563}" type="slidenum">
              <a:rPr lang="en-US" smtClean="0"/>
              <a:t>4</a:t>
            </a:fld>
            <a:endParaRPr lang="en-US"/>
          </a:p>
        </p:txBody>
      </p:sp>
    </p:spTree>
    <p:extLst>
      <p:ext uri="{BB962C8B-B14F-4D97-AF65-F5344CB8AC3E}">
        <p14:creationId xmlns:p14="http://schemas.microsoft.com/office/powerpoint/2010/main" val="672561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identification of stochastic variable distributions is a critical challenge.</a:t>
            </a:r>
          </a:p>
          <a:p>
            <a:r>
              <a:rPr lang="en-US" sz="1200" dirty="0"/>
              <a:t>Scenario-Based Optimization associates a probability to each scenario, formulating an optimization problem to find decisions that perform well across this set of scenarios. Sample Average Approximation (SAA) is the special case where scenarios are independent and identically distributed realizations, each assigned equal weight 1/N. By replacing the true expectation with this sample mean, the original stochastic problem is transformed into a deterministic equivalent, solvable using standard techniques.</a:t>
            </a:r>
          </a:p>
          <a:p>
            <a:r>
              <a:rPr lang="en-US" sz="1200" dirty="0"/>
              <a:t>Bertsimas and Kallus (2020) generalize SAA by replacing uniform scenario weights with covariate-dependent weights (e.g., via k-nearest neighbors or kernel regression), yielding a conditional approximation of the distribution given observed side information, rather than an unconditional one.</a:t>
            </a:r>
          </a:p>
          <a:p>
            <a:r>
              <a:rPr lang="en-US" sz="1200" dirty="0"/>
              <a:t>A distinct line of work addresses the same underlying challenge — uncertain parameters estimated from data — from the learning side rather than the distributional side. </a:t>
            </a:r>
          </a:p>
          <a:p>
            <a:r>
              <a:rPr lang="en-US" sz="1200" dirty="0" err="1"/>
              <a:t>Elmachtoub</a:t>
            </a:r>
            <a:r>
              <a:rPr lang="en-US" sz="1200" dirty="0"/>
              <a:t> and </a:t>
            </a:r>
            <a:r>
              <a:rPr lang="en-US" sz="1200" dirty="0" err="1"/>
              <a:t>Grigas</a:t>
            </a:r>
            <a:r>
              <a:rPr lang="en-US" sz="1200" dirty="0"/>
              <a:t> (2022) propose Smart Predict-then-Optimize (SPO), training the prediction model with a loss function that measures the resulting decision error, rather than conventional prediction error, so that the model is trained to be useful for the downstream optimization problem rather than merely accurate.</a:t>
            </a:r>
          </a:p>
          <a:p>
            <a:endParaRPr lang="en-US" dirty="0"/>
          </a:p>
        </p:txBody>
      </p:sp>
      <p:sp>
        <p:nvSpPr>
          <p:cNvPr id="4" name="Slide Number Placeholder 3"/>
          <p:cNvSpPr>
            <a:spLocks noGrp="1"/>
          </p:cNvSpPr>
          <p:nvPr>
            <p:ph type="sldNum" sz="quarter" idx="5"/>
          </p:nvPr>
        </p:nvSpPr>
        <p:spPr/>
        <p:txBody>
          <a:bodyPr/>
          <a:lstStyle/>
          <a:p>
            <a:fld id="{25461D91-AE8F-4064-8D61-C2DD71587563}" type="slidenum">
              <a:rPr lang="en-US" smtClean="0"/>
              <a:t>5</a:t>
            </a:fld>
            <a:endParaRPr lang="en-US"/>
          </a:p>
        </p:txBody>
      </p:sp>
    </p:spTree>
    <p:extLst>
      <p:ext uri="{BB962C8B-B14F-4D97-AF65-F5344CB8AC3E}">
        <p14:creationId xmlns:p14="http://schemas.microsoft.com/office/powerpoint/2010/main" val="2836673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FDBF04-F802-DE85-4C47-5EB8CE60C3DB}"/>
              </a:ext>
            </a:extLst>
          </p:cNvPr>
          <p:cNvSpPr>
            <a:spLocks noGrp="1"/>
          </p:cNvSpPr>
          <p:nvPr>
            <p:ph type="ctrTitle"/>
          </p:nvPr>
        </p:nvSpPr>
        <p:spPr>
          <a:xfrm>
            <a:off x="1143000" y="1122363"/>
            <a:ext cx="6858000" cy="2387600"/>
          </a:xfrm>
        </p:spPr>
        <p:txBody>
          <a:bodyPr anchor="b"/>
          <a:lstStyle>
            <a:lvl1pPr algn="ctr">
              <a:defRPr sz="4500"/>
            </a:lvl1pPr>
          </a:lstStyle>
          <a:p>
            <a:r>
              <a:rPr lang="de-DE"/>
              <a:t>Mastertitelformat bearbeiten</a:t>
            </a:r>
          </a:p>
        </p:txBody>
      </p:sp>
      <p:sp>
        <p:nvSpPr>
          <p:cNvPr id="3" name="Untertitel 2">
            <a:extLst>
              <a:ext uri="{FF2B5EF4-FFF2-40B4-BE49-F238E27FC236}">
                <a16:creationId xmlns:a16="http://schemas.microsoft.com/office/drawing/2014/main" id="{4CEEB636-0F24-F495-ECCC-D89885774297}"/>
              </a:ext>
            </a:extLst>
          </p:cNvPr>
          <p:cNvSpPr>
            <a:spLocks noGrp="1"/>
          </p:cNvSpPr>
          <p:nvPr>
            <p:ph type="subTitle" idx="1"/>
          </p:nvPr>
        </p:nvSpPr>
        <p:spPr>
          <a:xfrm>
            <a:off x="1143000" y="3602038"/>
            <a:ext cx="6858000" cy="1655762"/>
          </a:xfrm>
        </p:spPr>
        <p:txBody>
          <a:bodyPr/>
          <a:lstStyle>
            <a:lvl1pPr marL="0" indent="0" algn="ctr">
              <a:buNone/>
              <a:defRPr sz="1800"/>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de-DE"/>
              <a:t>Master-Untertitelformat bearbeiten</a:t>
            </a:r>
          </a:p>
        </p:txBody>
      </p:sp>
      <p:sp>
        <p:nvSpPr>
          <p:cNvPr id="5" name="Fußzeilenplatzhalter 4">
            <a:extLst>
              <a:ext uri="{FF2B5EF4-FFF2-40B4-BE49-F238E27FC236}">
                <a16:creationId xmlns:a16="http://schemas.microsoft.com/office/drawing/2014/main" id="{3928955E-152C-6531-8B3D-BBD6EED96EFD}"/>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4260147A-1C45-14FB-D605-0A8B441B34A3}"/>
              </a:ext>
            </a:extLst>
          </p:cNvPr>
          <p:cNvSpPr>
            <a:spLocks noGrp="1"/>
          </p:cNvSpPr>
          <p:nvPr>
            <p:ph type="sldNum" sz="quarter" idx="12"/>
          </p:nvPr>
        </p:nvSpPr>
        <p:spPr/>
        <p:txBody>
          <a:bodyPr/>
          <a:lstStyle>
            <a:lvl1pPr>
              <a:defRPr>
                <a:solidFill>
                  <a:schemeClr val="bg1"/>
                </a:solidFill>
              </a:defRPr>
            </a:lvl1pPr>
          </a:lstStyle>
          <a:p>
            <a:fld id="{2B5D244F-5D5A-2A4A-8E50-FAD9E58F2EA1}" type="slidenum">
              <a:rPr lang="de-DE" smtClean="0"/>
              <a:pPr/>
              <a:t>‹#›</a:t>
            </a:fld>
            <a:endParaRPr lang="de-DE" dirty="0"/>
          </a:p>
        </p:txBody>
      </p:sp>
    </p:spTree>
    <p:extLst>
      <p:ext uri="{BB962C8B-B14F-4D97-AF65-F5344CB8AC3E}">
        <p14:creationId xmlns:p14="http://schemas.microsoft.com/office/powerpoint/2010/main" val="733892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E57093-D38A-6D72-5FF6-95E3915B6003}"/>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A137DF3D-89E9-2702-262D-08468A7FFC62}"/>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C2309B64-7EBF-DA73-7CB9-6F04428F684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F4B85912-3B29-D7B2-CBA3-564016B143CB}"/>
              </a:ext>
            </a:extLst>
          </p:cNvPr>
          <p:cNvSpPr>
            <a:spLocks noGrp="1"/>
          </p:cNvSpPr>
          <p:nvPr>
            <p:ph type="sldNum" sz="quarter" idx="12"/>
          </p:nvPr>
        </p:nvSpPr>
        <p:spPr/>
        <p:txBody>
          <a:bodyPr/>
          <a:lstStyle/>
          <a:p>
            <a:fld id="{2B5D244F-5D5A-2A4A-8E50-FAD9E58F2EA1}" type="slidenum">
              <a:rPr lang="de-DE" smtClean="0"/>
              <a:t>‹#›</a:t>
            </a:fld>
            <a:endParaRPr lang="de-DE"/>
          </a:p>
        </p:txBody>
      </p:sp>
    </p:spTree>
    <p:extLst>
      <p:ext uri="{BB962C8B-B14F-4D97-AF65-F5344CB8AC3E}">
        <p14:creationId xmlns:p14="http://schemas.microsoft.com/office/powerpoint/2010/main" val="2949270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BCCDFB-66F2-09F6-0003-750CD520D881}"/>
              </a:ext>
            </a:extLst>
          </p:cNvPr>
          <p:cNvSpPr>
            <a:spLocks noGrp="1"/>
          </p:cNvSpPr>
          <p:nvPr>
            <p:ph type="title"/>
          </p:nvPr>
        </p:nvSpPr>
        <p:spPr>
          <a:xfrm>
            <a:off x="623888" y="1709743"/>
            <a:ext cx="7886700" cy="2852737"/>
          </a:xfrm>
        </p:spPr>
        <p:txBody>
          <a:bodyPr anchor="b"/>
          <a:lstStyle>
            <a:lvl1pPr>
              <a:defRPr sz="4500"/>
            </a:lvl1pPr>
          </a:lstStyle>
          <a:p>
            <a:r>
              <a:rPr lang="de-DE"/>
              <a:t>Mastertitelformat bearbeiten</a:t>
            </a:r>
          </a:p>
        </p:txBody>
      </p:sp>
      <p:sp>
        <p:nvSpPr>
          <p:cNvPr id="3" name="Textplatzhalter 2">
            <a:extLst>
              <a:ext uri="{FF2B5EF4-FFF2-40B4-BE49-F238E27FC236}">
                <a16:creationId xmlns:a16="http://schemas.microsoft.com/office/drawing/2014/main" id="{B56EF54D-F96D-3F93-AB21-82674926CAA7}"/>
              </a:ext>
            </a:extLst>
          </p:cNvPr>
          <p:cNvSpPr>
            <a:spLocks noGrp="1"/>
          </p:cNvSpPr>
          <p:nvPr>
            <p:ph type="body" idx="1"/>
          </p:nvPr>
        </p:nvSpPr>
        <p:spPr>
          <a:xfrm>
            <a:off x="623888" y="4589468"/>
            <a:ext cx="7886700" cy="1500187"/>
          </a:xfrm>
        </p:spPr>
        <p:txBody>
          <a:bodyPr/>
          <a:lstStyle>
            <a:lvl1pPr marL="0" indent="0">
              <a:buNone/>
              <a:defRPr sz="1800">
                <a:solidFill>
                  <a:schemeClr val="tx1">
                    <a:tint val="82000"/>
                  </a:schemeClr>
                </a:solidFill>
              </a:defRPr>
            </a:lvl1pPr>
            <a:lvl2pPr marL="342892" indent="0">
              <a:buNone/>
              <a:defRPr sz="1500">
                <a:solidFill>
                  <a:schemeClr val="tx1">
                    <a:tint val="82000"/>
                  </a:schemeClr>
                </a:solidFill>
              </a:defRPr>
            </a:lvl2pPr>
            <a:lvl3pPr marL="685783" indent="0">
              <a:buNone/>
              <a:defRPr sz="1350">
                <a:solidFill>
                  <a:schemeClr val="tx1">
                    <a:tint val="82000"/>
                  </a:schemeClr>
                </a:solidFill>
              </a:defRPr>
            </a:lvl3pPr>
            <a:lvl4pPr marL="1028675" indent="0">
              <a:buNone/>
              <a:defRPr sz="1200">
                <a:solidFill>
                  <a:schemeClr val="tx1">
                    <a:tint val="82000"/>
                  </a:schemeClr>
                </a:solidFill>
              </a:defRPr>
            </a:lvl4pPr>
            <a:lvl5pPr marL="1371566" indent="0">
              <a:buNone/>
              <a:defRPr sz="1200">
                <a:solidFill>
                  <a:schemeClr val="tx1">
                    <a:tint val="82000"/>
                  </a:schemeClr>
                </a:solidFill>
              </a:defRPr>
            </a:lvl5pPr>
            <a:lvl6pPr marL="1714457" indent="0">
              <a:buNone/>
              <a:defRPr sz="1200">
                <a:solidFill>
                  <a:schemeClr val="tx1">
                    <a:tint val="82000"/>
                  </a:schemeClr>
                </a:solidFill>
              </a:defRPr>
            </a:lvl6pPr>
            <a:lvl7pPr marL="2057348" indent="0">
              <a:buNone/>
              <a:defRPr sz="1200">
                <a:solidFill>
                  <a:schemeClr val="tx1">
                    <a:tint val="82000"/>
                  </a:schemeClr>
                </a:solidFill>
              </a:defRPr>
            </a:lvl7pPr>
            <a:lvl8pPr marL="2400240" indent="0">
              <a:buNone/>
              <a:defRPr sz="1200">
                <a:solidFill>
                  <a:schemeClr val="tx1">
                    <a:tint val="82000"/>
                  </a:schemeClr>
                </a:solidFill>
              </a:defRPr>
            </a:lvl8pPr>
            <a:lvl9pPr marL="2743132" indent="0">
              <a:buNone/>
              <a:defRPr sz="1200">
                <a:solidFill>
                  <a:schemeClr val="tx1">
                    <a:tint val="82000"/>
                  </a:schemeClr>
                </a:solidFill>
              </a:defRPr>
            </a:lvl9pPr>
          </a:lstStyle>
          <a:p>
            <a:pPr lvl="0"/>
            <a:r>
              <a:rPr lang="de-DE"/>
              <a:t>Mastertextformat bearbeiten</a:t>
            </a:r>
          </a:p>
        </p:txBody>
      </p:sp>
      <p:sp>
        <p:nvSpPr>
          <p:cNvPr id="5" name="Fußzeilenplatzhalter 4">
            <a:extLst>
              <a:ext uri="{FF2B5EF4-FFF2-40B4-BE49-F238E27FC236}">
                <a16:creationId xmlns:a16="http://schemas.microsoft.com/office/drawing/2014/main" id="{E2C9175A-C6A4-041C-244B-88A7DF1BE9BC}"/>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9C87F354-CC90-1F71-817C-29AC7DB722DA}"/>
              </a:ext>
            </a:extLst>
          </p:cNvPr>
          <p:cNvSpPr>
            <a:spLocks noGrp="1"/>
          </p:cNvSpPr>
          <p:nvPr>
            <p:ph type="sldNum" sz="quarter" idx="12"/>
          </p:nvPr>
        </p:nvSpPr>
        <p:spPr/>
        <p:txBody>
          <a:bodyPr/>
          <a:lstStyle/>
          <a:p>
            <a:fld id="{2B5D244F-5D5A-2A4A-8E50-FAD9E58F2EA1}" type="slidenum">
              <a:rPr lang="de-DE" smtClean="0"/>
              <a:t>‹#›</a:t>
            </a:fld>
            <a:endParaRPr lang="de-DE"/>
          </a:p>
        </p:txBody>
      </p:sp>
    </p:spTree>
    <p:extLst>
      <p:ext uri="{BB962C8B-B14F-4D97-AF65-F5344CB8AC3E}">
        <p14:creationId xmlns:p14="http://schemas.microsoft.com/office/powerpoint/2010/main" val="3220865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28CD18-9A1C-FDBC-E4D5-737725BA2A53}"/>
              </a:ext>
            </a:extLst>
          </p:cNvPr>
          <p:cNvSpPr>
            <a:spLocks noGrp="1"/>
          </p:cNvSpPr>
          <p:nvPr>
            <p:ph type="title"/>
          </p:nvPr>
        </p:nvSpPr>
        <p:spPr/>
        <p:txBody>
          <a:bodyPr/>
          <a:lstStyle/>
          <a:p>
            <a:r>
              <a:rPr lang="de-DE"/>
              <a:t>Mastertitelformat bearbeiten</a:t>
            </a:r>
          </a:p>
        </p:txBody>
      </p:sp>
      <p:sp>
        <p:nvSpPr>
          <p:cNvPr id="4" name="Fußzeilenplatzhalter 3">
            <a:extLst>
              <a:ext uri="{FF2B5EF4-FFF2-40B4-BE49-F238E27FC236}">
                <a16:creationId xmlns:a16="http://schemas.microsoft.com/office/drawing/2014/main" id="{9AEC40A8-6F1E-1B0D-2E67-6E6BFA59C120}"/>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27C28527-27FC-9F2A-8210-82BD7EA2D4E2}"/>
              </a:ext>
            </a:extLst>
          </p:cNvPr>
          <p:cNvSpPr>
            <a:spLocks noGrp="1"/>
          </p:cNvSpPr>
          <p:nvPr>
            <p:ph type="sldNum" sz="quarter" idx="12"/>
          </p:nvPr>
        </p:nvSpPr>
        <p:spPr/>
        <p:txBody>
          <a:bodyPr/>
          <a:lstStyle/>
          <a:p>
            <a:fld id="{2B5D244F-5D5A-2A4A-8E50-FAD9E58F2EA1}" type="slidenum">
              <a:rPr lang="de-DE" smtClean="0"/>
              <a:t>‹#›</a:t>
            </a:fld>
            <a:endParaRPr lang="de-DE"/>
          </a:p>
        </p:txBody>
      </p:sp>
    </p:spTree>
    <p:extLst>
      <p:ext uri="{BB962C8B-B14F-4D97-AF65-F5344CB8AC3E}">
        <p14:creationId xmlns:p14="http://schemas.microsoft.com/office/powerpoint/2010/main" val="1220830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E60C926F-9DB5-7435-9A4F-0748EF14057B}"/>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187AD2EC-0F60-3709-EC03-AD75D2A35F3E}"/>
              </a:ext>
            </a:extLst>
          </p:cNvPr>
          <p:cNvSpPr>
            <a:spLocks noGrp="1"/>
          </p:cNvSpPr>
          <p:nvPr>
            <p:ph type="sldNum" sz="quarter" idx="12"/>
          </p:nvPr>
        </p:nvSpPr>
        <p:spPr/>
        <p:txBody>
          <a:bodyPr/>
          <a:lstStyle/>
          <a:p>
            <a:fld id="{2B5D244F-5D5A-2A4A-8E50-FAD9E58F2EA1}" type="slidenum">
              <a:rPr lang="de-DE" smtClean="0"/>
              <a:t>‹#›</a:t>
            </a:fld>
            <a:endParaRPr lang="de-DE"/>
          </a:p>
        </p:txBody>
      </p:sp>
    </p:spTree>
    <p:extLst>
      <p:ext uri="{BB962C8B-B14F-4D97-AF65-F5344CB8AC3E}">
        <p14:creationId xmlns:p14="http://schemas.microsoft.com/office/powerpoint/2010/main" val="46981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buClrTx/>
              <a:defRPr/>
            </a:lvl1pPr>
            <a:lvl2pPr>
              <a:buClrTx/>
              <a:defRPr/>
            </a:lvl2pPr>
            <a:lvl3pPr>
              <a:buClrTx/>
              <a:defRPr/>
            </a:lvl3pPr>
            <a:lvl4pPr>
              <a:buClrTx/>
              <a:defRPr/>
            </a:lvl4pPr>
            <a:lvl5pPr>
              <a:buClrTx/>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Title 6"/>
          <p:cNvSpPr>
            <a:spLocks noGrp="1"/>
          </p:cNvSpPr>
          <p:nvPr>
            <p:ph type="title"/>
          </p:nvPr>
        </p:nvSpPr>
        <p:spPr>
          <a:xfrm>
            <a:off x="262890" y="62413"/>
            <a:ext cx="7886700" cy="1004387"/>
          </a:xfrm>
        </p:spPr>
        <p:txBody>
          <a:bodyPr>
            <a:normAutofit/>
          </a:bodyPr>
          <a:lstStyle>
            <a:lvl1pPr>
              <a:defRPr sz="3600"/>
            </a:lvl1pPr>
          </a:lstStyle>
          <a:p>
            <a:r>
              <a:rPr lang="en-US" dirty="0"/>
              <a:t>Click to edit Master title style</a:t>
            </a:r>
          </a:p>
        </p:txBody>
      </p:sp>
      <p:grpSp>
        <p:nvGrpSpPr>
          <p:cNvPr id="4" name="linea"/>
          <p:cNvGrpSpPr/>
          <p:nvPr/>
        </p:nvGrpSpPr>
        <p:grpSpPr bwMode="invGray">
          <a:xfrm>
            <a:off x="315162" y="840518"/>
            <a:ext cx="7929246" cy="64008"/>
            <a:chOff x="1522413" y="1514475"/>
            <a:chExt cx="10569575" cy="64008"/>
          </a:xfrm>
          <a:solidFill>
            <a:schemeClr val="accent2">
              <a:lumMod val="75000"/>
            </a:schemeClr>
          </a:solidFill>
        </p:grpSpPr>
        <p:sp>
          <p:nvSpPr>
            <p:cNvPr id="5" name="Figura a mano libera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6" name="Figura a mano libera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8" name="Figura a mano libera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9" name="Figura a mano libera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10" name="Figura a mano libera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11" name="Figura a mano libera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12" name="Figura a mano libera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13" name="Figura a mano libera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14" name="Figura a mano libera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15" name="Figura a mano libera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16" name="Figura a mano libera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17" name="Figura a mano libera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18" name="Figura a mano libera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19" name="Figura a mano libera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20" name="Figura a mano libera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21" name="Figura a mano libera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22" name="Figura a mano libera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23" name="Figura a mano libera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24" name="Figura a mano libera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25" name="Figura a mano libera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26" name="Figura a mano libera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27" name="Figura a mano libera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28" name="Figura a mano libera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29" name="Figura a mano libera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30" name="Figura a mano libera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31" name="Figura a mano libera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32" name="Figura a mano libera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33" name="Figura a mano libera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34" name="Figura a mano libera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35" name="Figura a mano libera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36" name="Figura a mano libera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37" name="Figura a mano libera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38" name="Figura a mano libera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39" name="Figura a mano libera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40" name="Figura a mano libera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41" name="Figura a mano libera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42" name="Figura a mano libera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43" name="Figura a mano libera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44" name="Figura a mano libera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45" name="Figura a mano libera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46" name="Figura a mano libera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47" name="Figura a mano libera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48" name="Figura a mano libera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49" name="Figura a mano libera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50" name="Figura a mano libera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51" name="Figura a mano libera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52" name="Figura a mano libera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53" name="Figura a mano libera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54" name="Figura a mano libera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55" name="Figura a mano libera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56" name="Figura a mano libera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57" name="Figura a mano libera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58" name="Figura a mano libera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59" name="Figura a mano libera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60" name="Figura a mano libera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61" name="Figura a mano libera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62" name="Figura a mano libera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63" name="Figura a mano libera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64" name="Figura a mano libera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65" name="Figura a mano libera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66" name="Figura a mano libera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67" name="Figura a mano libera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68" name="Figura a mano libera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69" name="Figura a mano libera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70" name="Figura a mano libera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71" name="Figura a mano libera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72" name="Figura a mano libera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73" name="Figura a mano libera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74" name="Figura a mano libera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75" name="Figura a mano libera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76" name="Figura a mano libera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77" name="Figura a mano libera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78" name="Figura a mano libera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sp>
          <p:nvSpPr>
            <p:cNvPr id="79" name="Figura a mano libera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t-IT" sz="1800">
                <a:ln>
                  <a:noFill/>
                </a:ln>
              </a:endParaRPr>
            </a:p>
          </p:txBody>
        </p:sp>
      </p:grpSp>
      <p:sp>
        <p:nvSpPr>
          <p:cNvPr id="80" name="Footer Placeholder 4">
            <a:extLst>
              <a:ext uri="{FF2B5EF4-FFF2-40B4-BE49-F238E27FC236}">
                <a16:creationId xmlns:a16="http://schemas.microsoft.com/office/drawing/2014/main" id="{E4BE8164-996A-474C-978A-F0A76F8C91BF}"/>
              </a:ext>
            </a:extLst>
          </p:cNvPr>
          <p:cNvSpPr>
            <a:spLocks noGrp="1"/>
          </p:cNvSpPr>
          <p:nvPr>
            <p:ph type="ftr" sz="quarter" idx="3"/>
          </p:nvPr>
        </p:nvSpPr>
        <p:spPr>
          <a:xfrm>
            <a:off x="29185" y="6580584"/>
            <a:ext cx="3102649" cy="304800"/>
          </a:xfrm>
          <a:prstGeom prst="rect">
            <a:avLst/>
          </a:prstGeom>
        </p:spPr>
        <p:txBody>
          <a:bodyPr vert="horz" lIns="91440" tIns="45720" rIns="91440" bIns="45720" rtlCol="0" anchor="ctr"/>
          <a:lstStyle>
            <a:lvl1pPr algn="l">
              <a:defRPr sz="1200" b="1" i="0">
                <a:solidFill>
                  <a:schemeClr val="tx1"/>
                </a:solidFill>
                <a:latin typeface="ManiezzoSlides" pitchFamily="2" charset="0"/>
                <a:ea typeface="Microsoft YaHei" panose="020B0503020204020204" pitchFamily="34" charset="-122"/>
              </a:defRPr>
            </a:lvl1pPr>
          </a:lstStyle>
          <a:p>
            <a:pPr>
              <a:defRPr/>
            </a:pPr>
            <a:r>
              <a:rPr lang="it-IT"/>
              <a:t>Vittorio Maniezzo - University of Bologna</a:t>
            </a:r>
            <a:endParaRPr lang="it-IT" dirty="0"/>
          </a:p>
        </p:txBody>
      </p:sp>
      <p:sp>
        <p:nvSpPr>
          <p:cNvPr id="81" name="Slide Number Placeholder 5">
            <a:extLst>
              <a:ext uri="{FF2B5EF4-FFF2-40B4-BE49-F238E27FC236}">
                <a16:creationId xmlns:a16="http://schemas.microsoft.com/office/drawing/2014/main" id="{39CA8FFC-AF78-45E6-98A9-C8B0B8648A64}"/>
              </a:ext>
            </a:extLst>
          </p:cNvPr>
          <p:cNvSpPr>
            <a:spLocks noGrp="1"/>
          </p:cNvSpPr>
          <p:nvPr>
            <p:ph type="sldNum" sz="quarter" idx="4"/>
          </p:nvPr>
        </p:nvSpPr>
        <p:spPr>
          <a:xfrm>
            <a:off x="8556706" y="6588890"/>
            <a:ext cx="533400" cy="304800"/>
          </a:xfrm>
          <a:prstGeom prst="rect">
            <a:avLst/>
          </a:prstGeom>
        </p:spPr>
        <p:txBody>
          <a:bodyPr vert="horz" lIns="91440" tIns="45720" rIns="91440" bIns="45720" rtlCol="0" anchor="ctr"/>
          <a:lstStyle>
            <a:lvl1pPr algn="r">
              <a:defRPr sz="1100">
                <a:solidFill>
                  <a:schemeClr val="tx1"/>
                </a:solidFill>
              </a:defRPr>
            </a:lvl1pPr>
          </a:lstStyle>
          <a:p>
            <a:pPr>
              <a:defRPr/>
            </a:pPr>
            <a:fld id="{476DEB1C-3253-4C07-8F02-456B7B2AD41D}" type="slidenum">
              <a:rPr lang="it-IT" smtClean="0"/>
              <a:pPr>
                <a:defRPr/>
              </a:pPr>
              <a:t>‹#›</a:t>
            </a:fld>
            <a:endParaRPr lang="it-IT" dirty="0"/>
          </a:p>
        </p:txBody>
      </p:sp>
    </p:spTree>
    <p:extLst>
      <p:ext uri="{BB962C8B-B14F-4D97-AF65-F5344CB8AC3E}">
        <p14:creationId xmlns:p14="http://schemas.microsoft.com/office/powerpoint/2010/main" val="2002263564"/>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9F90525F-A14B-B260-E997-7FA5E090BC44}"/>
              </a:ext>
            </a:extLst>
          </p:cNvPr>
          <p:cNvSpPr>
            <a:spLocks noGrp="1"/>
          </p:cNvSpPr>
          <p:nvPr>
            <p:ph type="title"/>
          </p:nvPr>
        </p:nvSpPr>
        <p:spPr>
          <a:xfrm>
            <a:off x="293370" y="62413"/>
            <a:ext cx="7886700" cy="1004387"/>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DD0F6CA8-30CC-5072-219F-3D0A1DA5CE14}"/>
              </a:ext>
            </a:extLst>
          </p:cNvPr>
          <p:cNvSpPr>
            <a:spLocks noGrp="1"/>
          </p:cNvSpPr>
          <p:nvPr>
            <p:ph type="body" idx="1"/>
          </p:nvPr>
        </p:nvSpPr>
        <p:spPr>
          <a:xfrm>
            <a:off x="293370" y="1270000"/>
            <a:ext cx="8221980" cy="5077165"/>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Fußzeilenplatzhalter 4">
            <a:extLst>
              <a:ext uri="{FF2B5EF4-FFF2-40B4-BE49-F238E27FC236}">
                <a16:creationId xmlns:a16="http://schemas.microsoft.com/office/drawing/2014/main" id="{19A5F7D4-A3DC-16A2-08B4-0A5ADFFD51C7}"/>
              </a:ext>
            </a:extLst>
          </p:cNvPr>
          <p:cNvSpPr>
            <a:spLocks noGrp="1"/>
          </p:cNvSpPr>
          <p:nvPr>
            <p:ph type="ftr" sz="quarter" idx="3"/>
          </p:nvPr>
        </p:nvSpPr>
        <p:spPr>
          <a:xfrm>
            <a:off x="293370" y="6470841"/>
            <a:ext cx="5821680" cy="365125"/>
          </a:xfrm>
          <a:prstGeom prst="rect">
            <a:avLst/>
          </a:prstGeom>
          <a:noFill/>
        </p:spPr>
        <p:txBody>
          <a:bodyPr vert="horz" lIns="91440" tIns="45720" rIns="91440" bIns="45720" rtlCol="0" anchor="ctr"/>
          <a:lstStyle>
            <a:lvl1pPr algn="l">
              <a:defRPr sz="900">
                <a:ln>
                  <a:noFill/>
                </a:ln>
                <a:solidFill>
                  <a:schemeClr val="bg1"/>
                </a:solidFill>
              </a:defRPr>
            </a:lvl1pPr>
          </a:lstStyle>
          <a:p>
            <a:endParaRPr lang="de-DE" dirty="0"/>
          </a:p>
        </p:txBody>
      </p:sp>
      <p:sp>
        <p:nvSpPr>
          <p:cNvPr id="6" name="Foliennummernplatzhalter 5">
            <a:extLst>
              <a:ext uri="{FF2B5EF4-FFF2-40B4-BE49-F238E27FC236}">
                <a16:creationId xmlns:a16="http://schemas.microsoft.com/office/drawing/2014/main" id="{7B111AC3-B0EE-D2B1-AA04-098736116F7C}"/>
              </a:ext>
            </a:extLst>
          </p:cNvPr>
          <p:cNvSpPr>
            <a:spLocks noGrp="1"/>
          </p:cNvSpPr>
          <p:nvPr>
            <p:ph type="sldNum" sz="quarter" idx="4"/>
          </p:nvPr>
        </p:nvSpPr>
        <p:spPr>
          <a:xfrm>
            <a:off x="6912665" y="6471102"/>
            <a:ext cx="2057400" cy="365125"/>
          </a:xfrm>
          <a:prstGeom prst="rect">
            <a:avLst/>
          </a:prstGeom>
        </p:spPr>
        <p:txBody>
          <a:bodyPr vert="horz" lIns="91440" tIns="45720" rIns="91440" bIns="45720" rtlCol="0" anchor="ctr"/>
          <a:lstStyle>
            <a:lvl1pPr algn="r">
              <a:defRPr sz="900">
                <a:solidFill>
                  <a:schemeClr val="bg1"/>
                </a:solidFill>
              </a:defRPr>
            </a:lvl1pPr>
          </a:lstStyle>
          <a:p>
            <a:endParaRPr lang="de-DE" dirty="0">
              <a:solidFill>
                <a:schemeClr val="bg1"/>
              </a:solidFill>
            </a:endParaRPr>
          </a:p>
        </p:txBody>
      </p:sp>
      <p:pic>
        <p:nvPicPr>
          <p:cNvPr id="7" name="Grafik 9">
            <a:extLst>
              <a:ext uri="{FF2B5EF4-FFF2-40B4-BE49-F238E27FC236}">
                <a16:creationId xmlns:a16="http://schemas.microsoft.com/office/drawing/2014/main" id="{AF15EA35-9978-43E0-B669-2056940B93E1}"/>
              </a:ext>
            </a:extLst>
          </p:cNvPr>
          <p:cNvPicPr>
            <a:picLocks noChangeAspect="1"/>
          </p:cNvPicPr>
          <p:nvPr userDrawn="1"/>
        </p:nvPicPr>
        <p:blipFill>
          <a:blip r:embed="rId8"/>
          <a:stretch>
            <a:fillRect/>
          </a:stretch>
        </p:blipFill>
        <p:spPr>
          <a:xfrm>
            <a:off x="7128013" y="61697"/>
            <a:ext cx="1842052" cy="921806"/>
          </a:xfrm>
          <a:prstGeom prst="rect">
            <a:avLst/>
          </a:prstGeom>
        </p:spPr>
      </p:pic>
    </p:spTree>
    <p:extLst>
      <p:ext uri="{BB962C8B-B14F-4D97-AF65-F5344CB8AC3E}">
        <p14:creationId xmlns:p14="http://schemas.microsoft.com/office/powerpoint/2010/main" val="34709471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 id="2147483655" r:id="rId5"/>
    <p:sldLayoutId id="2147483656" r:id="rId6"/>
  </p:sldLayoutIdLst>
  <p:txStyles>
    <p:titleStyle>
      <a:lvl1pPr algn="l" defTabSz="685783"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0" indent="0" algn="l" defTabSz="685783" rtl="0" eaLnBrk="1" latinLnBrk="0" hangingPunct="1">
        <a:lnSpc>
          <a:spcPct val="90000"/>
        </a:lnSpc>
        <a:spcBef>
          <a:spcPts val="750"/>
        </a:spcBef>
        <a:buFont typeface="Arial" panose="020B0604020202020204" pitchFamily="34" charset="0"/>
        <a:buNone/>
        <a:defRPr sz="2400" kern="1200">
          <a:solidFill>
            <a:schemeClr val="tx1"/>
          </a:solidFill>
          <a:latin typeface="+mn-lt"/>
          <a:ea typeface="+mn-ea"/>
          <a:cs typeface="+mn-cs"/>
        </a:defRPr>
      </a:lvl1pPr>
      <a:lvl2pPr marL="514337" indent="-171446" algn="l" defTabSz="685783" rtl="0" eaLnBrk="1" latinLnBrk="0" hangingPunct="1">
        <a:lnSpc>
          <a:spcPct val="90000"/>
        </a:lnSpc>
        <a:spcBef>
          <a:spcPts val="375"/>
        </a:spcBef>
        <a:buFont typeface="Arial" panose="020B0604020202020204" pitchFamily="34" charset="0"/>
        <a:buChar char="•"/>
        <a:defRPr sz="2200" kern="1200">
          <a:solidFill>
            <a:schemeClr val="tx1"/>
          </a:solidFill>
          <a:latin typeface="+mn-lt"/>
          <a:ea typeface="+mn-ea"/>
          <a:cs typeface="+mn-cs"/>
        </a:defRPr>
      </a:lvl2pPr>
      <a:lvl3pPr marL="857228"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0"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6.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AEA886-3053-455E-B7C5-401215037356}"/>
              </a:ext>
            </a:extLst>
          </p:cNvPr>
          <p:cNvSpPr>
            <a:spLocks noGrp="1"/>
          </p:cNvSpPr>
          <p:nvPr>
            <p:ph type="title"/>
          </p:nvPr>
        </p:nvSpPr>
        <p:spPr/>
        <p:txBody>
          <a:bodyPr/>
          <a:lstStyle/>
          <a:p>
            <a:r>
              <a:rPr lang="en-US" dirty="0"/>
              <a:t>Bootstrap Enhanced Scenario Optimization for Two-Echelon Logistics, a Case Study in Large-Scale Retail</a:t>
            </a:r>
          </a:p>
        </p:txBody>
      </p:sp>
      <p:sp>
        <p:nvSpPr>
          <p:cNvPr id="5" name="Text Placeholder 4">
            <a:extLst>
              <a:ext uri="{FF2B5EF4-FFF2-40B4-BE49-F238E27FC236}">
                <a16:creationId xmlns:a16="http://schemas.microsoft.com/office/drawing/2014/main" id="{29208EEF-E298-419A-8616-E30120599FDE}"/>
              </a:ext>
            </a:extLst>
          </p:cNvPr>
          <p:cNvSpPr>
            <a:spLocks noGrp="1"/>
          </p:cNvSpPr>
          <p:nvPr>
            <p:ph type="body" idx="1"/>
          </p:nvPr>
        </p:nvSpPr>
        <p:spPr>
          <a:xfrm>
            <a:off x="623888" y="5282192"/>
            <a:ext cx="7886700" cy="1500187"/>
          </a:xfrm>
        </p:spPr>
        <p:txBody>
          <a:bodyPr>
            <a:normAutofit/>
          </a:bodyPr>
          <a:lstStyle/>
          <a:p>
            <a:r>
              <a:rPr lang="en-US" sz="2400" dirty="0"/>
              <a:t>Vittorio Maniezzo, </a:t>
            </a:r>
            <a:r>
              <a:rPr lang="en-US" sz="2400" i="1" dirty="0"/>
              <a:t>University of Bologna</a:t>
            </a:r>
          </a:p>
          <a:p>
            <a:r>
              <a:rPr lang="en-US" sz="2400" dirty="0" err="1"/>
              <a:t>Livio</a:t>
            </a:r>
            <a:r>
              <a:rPr lang="en-US" sz="2400" dirty="0"/>
              <a:t> </a:t>
            </a:r>
            <a:r>
              <a:rPr lang="en-US" sz="2400" dirty="0" err="1"/>
              <a:t>Fenga</a:t>
            </a:r>
            <a:r>
              <a:rPr lang="en-US" sz="2400" dirty="0"/>
              <a:t>, </a:t>
            </a:r>
            <a:r>
              <a:rPr lang="en-US" sz="2400" i="1" dirty="0"/>
              <a:t>University of Exeter </a:t>
            </a:r>
          </a:p>
          <a:p>
            <a:endParaRPr lang="en-US" dirty="0"/>
          </a:p>
        </p:txBody>
      </p:sp>
    </p:spTree>
    <p:extLst>
      <p:ext uri="{BB962C8B-B14F-4D97-AF65-F5344CB8AC3E}">
        <p14:creationId xmlns:p14="http://schemas.microsoft.com/office/powerpoint/2010/main" val="673293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0126CD0-0F1B-478E-7F9B-06F1979AEE5A}"/>
              </a:ext>
            </a:extLst>
          </p:cNvPr>
          <p:cNvPicPr>
            <a:picLocks noGrp="1" noChangeAspect="1"/>
          </p:cNvPicPr>
          <p:nvPr>
            <p:ph idx="1"/>
          </p:nvPr>
        </p:nvPicPr>
        <p:blipFill>
          <a:blip r:embed="rId2"/>
          <a:stretch>
            <a:fillRect/>
          </a:stretch>
        </p:blipFill>
        <p:spPr>
          <a:xfrm>
            <a:off x="809542" y="1214842"/>
            <a:ext cx="3483495" cy="3563636"/>
          </a:xfrm>
        </p:spPr>
      </p:pic>
      <p:sp>
        <p:nvSpPr>
          <p:cNvPr id="3" name="Title 2">
            <a:extLst>
              <a:ext uri="{FF2B5EF4-FFF2-40B4-BE49-F238E27FC236}">
                <a16:creationId xmlns:a16="http://schemas.microsoft.com/office/drawing/2014/main" id="{BB0E51CE-27A2-6633-74B6-9143988D0256}"/>
              </a:ext>
            </a:extLst>
          </p:cNvPr>
          <p:cNvSpPr>
            <a:spLocks noGrp="1"/>
          </p:cNvSpPr>
          <p:nvPr>
            <p:ph type="title"/>
          </p:nvPr>
        </p:nvSpPr>
        <p:spPr/>
        <p:txBody>
          <a:bodyPr/>
          <a:lstStyle/>
          <a:p>
            <a:r>
              <a:rPr lang="it-IT" dirty="0"/>
              <a:t>The case study</a:t>
            </a:r>
          </a:p>
        </p:txBody>
      </p:sp>
      <p:sp>
        <p:nvSpPr>
          <p:cNvPr id="4" name="Footer Placeholder 3">
            <a:extLst>
              <a:ext uri="{FF2B5EF4-FFF2-40B4-BE49-F238E27FC236}">
                <a16:creationId xmlns:a16="http://schemas.microsoft.com/office/drawing/2014/main" id="{9B161671-13D8-D261-8D60-A66FF1E1A76C}"/>
              </a:ext>
            </a:extLst>
          </p:cNvPr>
          <p:cNvSpPr>
            <a:spLocks noGrp="1"/>
          </p:cNvSpPr>
          <p:nvPr>
            <p:ph type="ftr" sz="quarter" idx="3"/>
          </p:nvPr>
        </p:nvSpPr>
        <p:spPr/>
        <p:txBody>
          <a:bodyPr/>
          <a:lstStyle/>
          <a:p>
            <a:pPr>
              <a:defRPr/>
            </a:pPr>
            <a:r>
              <a:rPr lang="it-IT"/>
              <a:t>Vittorio Maniezzo - University of Bologna</a:t>
            </a:r>
            <a:endParaRPr lang="it-IT" dirty="0"/>
          </a:p>
        </p:txBody>
      </p:sp>
      <p:sp>
        <p:nvSpPr>
          <p:cNvPr id="5" name="Slide Number Placeholder 4">
            <a:extLst>
              <a:ext uri="{FF2B5EF4-FFF2-40B4-BE49-F238E27FC236}">
                <a16:creationId xmlns:a16="http://schemas.microsoft.com/office/drawing/2014/main" id="{BF0EB88C-D1C2-6213-1C9A-73456ED45802}"/>
              </a:ext>
            </a:extLst>
          </p:cNvPr>
          <p:cNvSpPr>
            <a:spLocks noGrp="1"/>
          </p:cNvSpPr>
          <p:nvPr>
            <p:ph type="sldNum" sz="quarter" idx="4"/>
          </p:nvPr>
        </p:nvSpPr>
        <p:spPr/>
        <p:txBody>
          <a:bodyPr/>
          <a:lstStyle/>
          <a:p>
            <a:pPr>
              <a:defRPr/>
            </a:pPr>
            <a:fld id="{476DEB1C-3253-4C07-8F02-456B7B2AD41D}" type="slidenum">
              <a:rPr lang="it-IT" smtClean="0"/>
              <a:pPr>
                <a:defRPr/>
              </a:pPr>
              <a:t>2</a:t>
            </a:fld>
            <a:endParaRPr lang="it-IT" dirty="0"/>
          </a:p>
        </p:txBody>
      </p:sp>
      <p:pic>
        <p:nvPicPr>
          <p:cNvPr id="9" name="Picture 8">
            <a:extLst>
              <a:ext uri="{FF2B5EF4-FFF2-40B4-BE49-F238E27FC236}">
                <a16:creationId xmlns:a16="http://schemas.microsoft.com/office/drawing/2014/main" id="{AA3D0567-66EC-E53F-7623-9294D6E71152}"/>
              </a:ext>
            </a:extLst>
          </p:cNvPr>
          <p:cNvPicPr>
            <a:picLocks noChangeAspect="1"/>
          </p:cNvPicPr>
          <p:nvPr/>
        </p:nvPicPr>
        <p:blipFill>
          <a:blip r:embed="rId3"/>
          <a:stretch>
            <a:fillRect/>
          </a:stretch>
        </p:blipFill>
        <p:spPr>
          <a:xfrm>
            <a:off x="5062086" y="931635"/>
            <a:ext cx="3761320" cy="3825433"/>
          </a:xfrm>
          <a:prstGeom prst="rect">
            <a:avLst/>
          </a:prstGeom>
        </p:spPr>
      </p:pic>
      <p:sp>
        <p:nvSpPr>
          <p:cNvPr id="10" name="TextBox 9">
            <a:extLst>
              <a:ext uri="{FF2B5EF4-FFF2-40B4-BE49-F238E27FC236}">
                <a16:creationId xmlns:a16="http://schemas.microsoft.com/office/drawing/2014/main" id="{EE446776-D964-1763-59BC-1DD94DBCC7F7}"/>
              </a:ext>
            </a:extLst>
          </p:cNvPr>
          <p:cNvSpPr txBox="1"/>
          <p:nvPr/>
        </p:nvSpPr>
        <p:spPr>
          <a:xfrm>
            <a:off x="506940" y="4947313"/>
            <a:ext cx="8461569" cy="1723549"/>
          </a:xfrm>
          <a:prstGeom prst="rect">
            <a:avLst/>
          </a:prstGeom>
          <a:noFill/>
          <a:ln>
            <a:noFill/>
          </a:ln>
        </p:spPr>
        <p:txBody>
          <a:bodyPr wrap="square" rtlCol="0" anchor="t" anchorCtr="0">
            <a:spAutoFit/>
          </a:bodyPr>
          <a:lstStyle/>
          <a:p>
            <a:pPr marL="342900" indent="-342900">
              <a:buFont typeface="Arial" panose="020B0604020202020204" pitchFamily="34" charset="0"/>
              <a:buChar char="•"/>
            </a:pPr>
            <a:r>
              <a:rPr lang="it-IT" sz="2400" dirty="0"/>
              <a:t>52 retailer stores</a:t>
            </a:r>
          </a:p>
          <a:p>
            <a:pPr marL="342900" indent="-342900">
              <a:buFont typeface="Arial" panose="020B0604020202020204" pitchFamily="34" charset="0"/>
              <a:buChar char="•"/>
            </a:pPr>
            <a:r>
              <a:rPr lang="it-IT" sz="2400" dirty="0"/>
              <a:t>4 </a:t>
            </a:r>
            <a:r>
              <a:rPr lang="it-IT" sz="2400" dirty="0" err="1"/>
              <a:t>DCs</a:t>
            </a:r>
            <a:r>
              <a:rPr lang="it-IT" sz="2400" dirty="0"/>
              <a:t>: one big, one </a:t>
            </a:r>
            <a:r>
              <a:rPr lang="it-IT" sz="2400" dirty="0" err="1"/>
              <a:t>smaller</a:t>
            </a:r>
            <a:r>
              <a:rPr lang="it-IT" sz="2400" dirty="0"/>
              <a:t>, 2 </a:t>
            </a:r>
            <a:r>
              <a:rPr lang="it-IT" sz="2400" dirty="0" err="1"/>
              <a:t>satellites</a:t>
            </a:r>
            <a:r>
              <a:rPr lang="it-IT" sz="2400" dirty="0"/>
              <a:t> close to city center</a:t>
            </a:r>
          </a:p>
          <a:p>
            <a:pPr>
              <a:spcBef>
                <a:spcPts val="1200"/>
              </a:spcBef>
            </a:pPr>
            <a:r>
              <a:rPr lang="it-IT" sz="2400" dirty="0" err="1"/>
              <a:t>Allocation</a:t>
            </a:r>
            <a:r>
              <a:rPr lang="it-IT" sz="2400" dirty="0"/>
              <a:t> for Christmas season! Preliminary </a:t>
            </a:r>
            <a:r>
              <a:rPr lang="it-IT" sz="2400" dirty="0" err="1"/>
              <a:t>analysis</a:t>
            </a:r>
            <a:r>
              <a:rPr lang="it-IT" sz="2400" dirty="0"/>
              <a:t> </a:t>
            </a:r>
            <a:r>
              <a:rPr lang="it-IT" sz="2400" dirty="0" err="1"/>
              <a:t>during</a:t>
            </a:r>
            <a:r>
              <a:rPr lang="it-IT" sz="2400" dirty="0"/>
              <a:t> </a:t>
            </a:r>
            <a:r>
              <a:rPr lang="it-IT" sz="2400" dirty="0" err="1"/>
              <a:t>summer</a:t>
            </a:r>
            <a:r>
              <a:rPr lang="it-IT" sz="2400" dirty="0"/>
              <a:t>.</a:t>
            </a:r>
          </a:p>
        </p:txBody>
      </p:sp>
    </p:spTree>
    <p:extLst>
      <p:ext uri="{BB962C8B-B14F-4D97-AF65-F5344CB8AC3E}">
        <p14:creationId xmlns:p14="http://schemas.microsoft.com/office/powerpoint/2010/main" val="2457699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4D8FC25-1931-1E5E-990D-CA89422BD342}"/>
              </a:ext>
            </a:extLst>
          </p:cNvPr>
          <p:cNvSpPr>
            <a:spLocks noGrp="1"/>
          </p:cNvSpPr>
          <p:nvPr>
            <p:ph idx="1"/>
          </p:nvPr>
        </p:nvSpPr>
        <p:spPr>
          <a:xfrm>
            <a:off x="298912" y="1072434"/>
            <a:ext cx="8546175" cy="5259392"/>
          </a:xfrm>
        </p:spPr>
        <p:txBody>
          <a:bodyPr>
            <a:noAutofit/>
          </a:bodyPr>
          <a:lstStyle/>
          <a:p>
            <a:r>
              <a:rPr lang="en-US" sz="2200" dirty="0">
                <a:solidFill>
                  <a:srgbClr val="C00000"/>
                </a:solidFill>
              </a:rPr>
              <a:t>Large-scale organized distribution </a:t>
            </a:r>
            <a:r>
              <a:rPr lang="en-US" sz="2200" dirty="0"/>
              <a:t>is often structured according to a </a:t>
            </a:r>
            <a:r>
              <a:rPr lang="en-US" sz="2200" dirty="0">
                <a:solidFill>
                  <a:srgbClr val="C00000"/>
                </a:solidFill>
              </a:rPr>
              <a:t>two-echelon</a:t>
            </a:r>
            <a:r>
              <a:rPr lang="en-US" sz="2200" dirty="0">
                <a:solidFill>
                  <a:schemeClr val="accent2"/>
                </a:solidFill>
              </a:rPr>
              <a:t> </a:t>
            </a:r>
            <a:r>
              <a:rPr lang="en-US" sz="2200" dirty="0"/>
              <a:t>model, in which </a:t>
            </a:r>
            <a:r>
              <a:rPr lang="en-US" sz="2200" dirty="0">
                <a:solidFill>
                  <a:srgbClr val="C00000"/>
                </a:solidFill>
              </a:rPr>
              <a:t>distribution centers </a:t>
            </a:r>
            <a:r>
              <a:rPr lang="en-US" sz="2200" dirty="0"/>
              <a:t>(DCs) are used to store and forward goods to replenish the inventories of the </a:t>
            </a:r>
            <a:r>
              <a:rPr lang="en-US" sz="2200" dirty="0">
                <a:solidFill>
                  <a:schemeClr val="accent2"/>
                </a:solidFill>
              </a:rPr>
              <a:t>final </a:t>
            </a:r>
            <a:r>
              <a:rPr lang="en-US" sz="2200" dirty="0">
                <a:solidFill>
                  <a:srgbClr val="C00000"/>
                </a:solidFill>
              </a:rPr>
              <a:t>retailer's stores</a:t>
            </a:r>
            <a:r>
              <a:rPr lang="en-US" sz="2200" dirty="0"/>
              <a:t>.</a:t>
            </a:r>
          </a:p>
          <a:p>
            <a:pPr>
              <a:spcBef>
                <a:spcPts val="1200"/>
              </a:spcBef>
            </a:pPr>
            <a:r>
              <a:rPr lang="en-US" sz="2200" dirty="0"/>
              <a:t>Stores are typically </a:t>
            </a:r>
            <a:r>
              <a:rPr lang="en-US" sz="2200" dirty="0">
                <a:solidFill>
                  <a:srgbClr val="C00000"/>
                </a:solidFill>
              </a:rPr>
              <a:t>uniquely allocated </a:t>
            </a:r>
            <a:r>
              <a:rPr lang="en-US" sz="2200" dirty="0"/>
              <a:t>to DCs for products of the same line, and predictive </a:t>
            </a:r>
            <a:r>
              <a:rPr lang="en-US" sz="2200" dirty="0">
                <a:solidFill>
                  <a:srgbClr val="C00000"/>
                </a:solidFill>
              </a:rPr>
              <a:t>knowledge of future demand </a:t>
            </a:r>
            <a:r>
              <a:rPr lang="en-US" sz="2200" dirty="0"/>
              <a:t>is essential to optimize the distribution process. </a:t>
            </a:r>
          </a:p>
          <a:p>
            <a:pPr>
              <a:spcBef>
                <a:spcPts val="1200"/>
              </a:spcBef>
            </a:pPr>
            <a:r>
              <a:rPr lang="en-US" sz="2200" dirty="0"/>
              <a:t>In the </a:t>
            </a:r>
            <a:r>
              <a:rPr lang="en-US" sz="2200" dirty="0">
                <a:solidFill>
                  <a:srgbClr val="C00000"/>
                </a:solidFill>
              </a:rPr>
              <a:t>real-world case study</a:t>
            </a:r>
            <a:r>
              <a:rPr lang="en-US" sz="2200" dirty="0"/>
              <a:t>:</a:t>
            </a:r>
          </a:p>
          <a:p>
            <a:pPr marL="457200" indent="-457200">
              <a:spcBef>
                <a:spcPts val="600"/>
              </a:spcBef>
              <a:buFont typeface="Arial" panose="020B0604020202020204" pitchFamily="34" charset="0"/>
              <a:buChar char="•"/>
            </a:pPr>
            <a:r>
              <a:rPr lang="en-US" sz="2200" dirty="0"/>
              <a:t>city retailer store </a:t>
            </a:r>
            <a:r>
              <a:rPr lang="en-US" sz="2200" dirty="0">
                <a:solidFill>
                  <a:srgbClr val="C00000"/>
                </a:solidFill>
              </a:rPr>
              <a:t>demands were predicted </a:t>
            </a:r>
            <a:r>
              <a:rPr lang="en-US" sz="2200" dirty="0"/>
              <a:t>based on individual sales time series and</a:t>
            </a:r>
          </a:p>
          <a:p>
            <a:pPr marL="457200" indent="-457200">
              <a:spcBef>
                <a:spcPts val="600"/>
              </a:spcBef>
              <a:buFont typeface="Arial" panose="020B0604020202020204" pitchFamily="34" charset="0"/>
              <a:buChar char="•"/>
            </a:pPr>
            <a:r>
              <a:rPr lang="en-US" sz="2200" dirty="0"/>
              <a:t>used to </a:t>
            </a:r>
            <a:r>
              <a:rPr lang="en-US" sz="2200" dirty="0">
                <a:solidFill>
                  <a:srgbClr val="C00000"/>
                </a:solidFill>
              </a:rPr>
              <a:t>optimize the allocation of stores </a:t>
            </a:r>
            <a:r>
              <a:rPr lang="en-US" sz="2200" dirty="0"/>
              <a:t>to DCs in a tactical planning context.</a:t>
            </a:r>
          </a:p>
          <a:p>
            <a:pPr>
              <a:spcBef>
                <a:spcPts val="600"/>
              </a:spcBef>
            </a:pPr>
            <a:r>
              <a:rPr lang="en-US" sz="2200" dirty="0"/>
              <a:t>Our problem required </a:t>
            </a:r>
            <a:r>
              <a:rPr lang="en-US" sz="2200" b="1" i="1" dirty="0">
                <a:solidFill>
                  <a:srgbClr val="C00000"/>
                </a:solidFill>
              </a:rPr>
              <a:t>dimensioning</a:t>
            </a:r>
            <a:r>
              <a:rPr lang="en-US" sz="2200" dirty="0">
                <a:solidFill>
                  <a:srgbClr val="C00000"/>
                </a:solidFill>
              </a:rPr>
              <a:t> multiple DCs </a:t>
            </a:r>
            <a:r>
              <a:rPr lang="en-US" sz="2200" dirty="0"/>
              <a:t>and </a:t>
            </a:r>
            <a:r>
              <a:rPr lang="en-US" sz="2200" dirty="0">
                <a:solidFill>
                  <a:srgbClr val="C00000"/>
                </a:solidFill>
              </a:rPr>
              <a:t>assigning stores </a:t>
            </a:r>
            <a:r>
              <a:rPr lang="en-US" sz="2200" dirty="0"/>
              <a:t>to them to meet </a:t>
            </a:r>
            <a:r>
              <a:rPr lang="en-US" sz="2200" dirty="0">
                <a:solidFill>
                  <a:srgbClr val="C00000"/>
                </a:solidFill>
              </a:rPr>
              <a:t>expected demand </a:t>
            </a:r>
            <a:r>
              <a:rPr lang="en-US" sz="2200" dirty="0"/>
              <a:t>during a critical period.</a:t>
            </a:r>
            <a:endParaRPr lang="it-IT" sz="2200" dirty="0"/>
          </a:p>
        </p:txBody>
      </p:sp>
      <p:sp>
        <p:nvSpPr>
          <p:cNvPr id="6" name="Title 5">
            <a:extLst>
              <a:ext uri="{FF2B5EF4-FFF2-40B4-BE49-F238E27FC236}">
                <a16:creationId xmlns:a16="http://schemas.microsoft.com/office/drawing/2014/main" id="{4C5398A1-5698-7E29-73AD-823E6AC5D0C8}"/>
              </a:ext>
            </a:extLst>
          </p:cNvPr>
          <p:cNvSpPr>
            <a:spLocks noGrp="1"/>
          </p:cNvSpPr>
          <p:nvPr>
            <p:ph type="title"/>
          </p:nvPr>
        </p:nvSpPr>
        <p:spPr/>
        <p:txBody>
          <a:bodyPr/>
          <a:lstStyle/>
          <a:p>
            <a:r>
              <a:rPr lang="en-US" dirty="0"/>
              <a:t>The first case study</a:t>
            </a:r>
            <a:endParaRPr lang="it-IT" dirty="0"/>
          </a:p>
        </p:txBody>
      </p:sp>
      <p:sp>
        <p:nvSpPr>
          <p:cNvPr id="4" name="Footer Placeholder 3">
            <a:extLst>
              <a:ext uri="{FF2B5EF4-FFF2-40B4-BE49-F238E27FC236}">
                <a16:creationId xmlns:a16="http://schemas.microsoft.com/office/drawing/2014/main" id="{06AED9A1-62D9-AEA4-A356-4502CB5D9EE8}"/>
              </a:ext>
            </a:extLst>
          </p:cNvPr>
          <p:cNvSpPr>
            <a:spLocks noGrp="1"/>
          </p:cNvSpPr>
          <p:nvPr>
            <p:ph type="ftr" sz="quarter" idx="3"/>
          </p:nvPr>
        </p:nvSpPr>
        <p:spPr/>
        <p:txBody>
          <a:bodyPr/>
          <a:lstStyle/>
          <a:p>
            <a:pPr>
              <a:defRPr/>
            </a:pPr>
            <a:r>
              <a:rPr lang="it-IT"/>
              <a:t>Vittorio Maniezzo - University of Bologna</a:t>
            </a:r>
            <a:endParaRPr lang="it-IT" dirty="0"/>
          </a:p>
        </p:txBody>
      </p:sp>
      <p:sp>
        <p:nvSpPr>
          <p:cNvPr id="5" name="Slide Number Placeholder 4">
            <a:extLst>
              <a:ext uri="{FF2B5EF4-FFF2-40B4-BE49-F238E27FC236}">
                <a16:creationId xmlns:a16="http://schemas.microsoft.com/office/drawing/2014/main" id="{D306B575-A6BA-D800-E032-B14334E80464}"/>
              </a:ext>
            </a:extLst>
          </p:cNvPr>
          <p:cNvSpPr>
            <a:spLocks noGrp="1"/>
          </p:cNvSpPr>
          <p:nvPr>
            <p:ph type="sldNum" sz="quarter" idx="4"/>
          </p:nvPr>
        </p:nvSpPr>
        <p:spPr/>
        <p:txBody>
          <a:bodyPr/>
          <a:lstStyle/>
          <a:p>
            <a:pPr>
              <a:defRPr/>
            </a:pPr>
            <a:fld id="{476DEB1C-3253-4C07-8F02-456B7B2AD41D}" type="slidenum">
              <a:rPr lang="it-IT" smtClean="0"/>
              <a:pPr>
                <a:defRPr/>
              </a:pPr>
              <a:t>3</a:t>
            </a:fld>
            <a:endParaRPr lang="it-IT" dirty="0"/>
          </a:p>
        </p:txBody>
      </p:sp>
    </p:spTree>
    <p:extLst>
      <p:ext uri="{BB962C8B-B14F-4D97-AF65-F5344CB8AC3E}">
        <p14:creationId xmlns:p14="http://schemas.microsoft.com/office/powerpoint/2010/main" val="674853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AFA804-6B83-C1A0-976A-8039CB2A3AEE}"/>
              </a:ext>
            </a:extLst>
          </p:cNvPr>
          <p:cNvSpPr>
            <a:spLocks noGrp="1"/>
          </p:cNvSpPr>
          <p:nvPr>
            <p:ph idx="1"/>
          </p:nvPr>
        </p:nvSpPr>
        <p:spPr>
          <a:xfrm>
            <a:off x="293369" y="1066800"/>
            <a:ext cx="8527357" cy="5280365"/>
          </a:xfrm>
        </p:spPr>
        <p:txBody>
          <a:bodyPr>
            <a:normAutofit/>
          </a:bodyPr>
          <a:lstStyle/>
          <a:p>
            <a:pPr algn="l">
              <a:lnSpc>
                <a:spcPct val="100000"/>
              </a:lnSpc>
            </a:pPr>
            <a:r>
              <a:rPr lang="en-US" sz="2000" b="0" i="0" u="none" strike="noStrike" baseline="0" dirty="0">
                <a:solidFill>
                  <a:srgbClr val="C00000"/>
                </a:solidFill>
              </a:rPr>
              <a:t>Robust optimization </a:t>
            </a:r>
            <a:r>
              <a:rPr lang="en-US" sz="2000" b="0" i="0" u="none" strike="noStrike" baseline="0" dirty="0"/>
              <a:t>proposes a deterministic reformulation considering worst-case outcomes within a defined uncertainty set. </a:t>
            </a:r>
          </a:p>
          <a:p>
            <a:pPr>
              <a:lnSpc>
                <a:spcPct val="100000"/>
              </a:lnSpc>
            </a:pPr>
            <a:r>
              <a:rPr lang="en-US" sz="2000" b="0" i="0" u="none" strike="noStrike" baseline="0" dirty="0">
                <a:solidFill>
                  <a:srgbClr val="C00000"/>
                </a:solidFill>
              </a:rPr>
              <a:t>Distributionally Robust Optimization </a:t>
            </a:r>
            <a:r>
              <a:rPr lang="en-US" sz="2000" b="0" i="0" u="none" strike="noStrike" baseline="0" dirty="0"/>
              <a:t>(DRO) seeks a solution most resilient against the worst-case probability distribution for uncertain parameters, typically within an </a:t>
            </a:r>
            <a:r>
              <a:rPr lang="en-US" sz="2000" b="0" i="0" u="none" strike="noStrike" baseline="0" dirty="0">
                <a:solidFill>
                  <a:srgbClr val="C00000"/>
                </a:solidFill>
              </a:rPr>
              <a:t>ambiguity set</a:t>
            </a:r>
            <a:r>
              <a:rPr lang="en-US" sz="2000" dirty="0"/>
              <a:t> (U):</a:t>
            </a:r>
            <a:r>
              <a:rPr lang="en-US" sz="2000" b="0" i="0" u="none" strike="noStrike" baseline="0" dirty="0"/>
              <a:t> </a:t>
            </a:r>
            <a:r>
              <a:rPr lang="en-US" sz="2000" b="0" i="1" u="none" strike="noStrike" baseline="0" dirty="0"/>
              <a:t>a set of probability distributions </a:t>
            </a:r>
            <a:r>
              <a:rPr lang="en-US" sz="2000" b="0" i="0" u="none" strike="noStrike" baseline="0" dirty="0"/>
              <a:t>that the true, unknown distribution of the parameters is assumed to belong to. </a:t>
            </a:r>
          </a:p>
          <a:p>
            <a:pPr>
              <a:lnSpc>
                <a:spcPct val="100000"/>
              </a:lnSpc>
            </a:pPr>
            <a:r>
              <a:rPr lang="en-US" sz="2000" b="0" i="0" u="none" strike="noStrike" baseline="0" dirty="0"/>
              <a:t>DRO </a:t>
            </a:r>
            <a:r>
              <a:rPr lang="en-US" sz="2000" b="0" i="0" u="none" strike="noStrike" baseline="0" dirty="0">
                <a:solidFill>
                  <a:srgbClr val="C00000"/>
                </a:solidFill>
              </a:rPr>
              <a:t>optimizes the worst-case performance </a:t>
            </a:r>
            <a:r>
              <a:rPr lang="en-US" sz="2000" b="0" i="0" u="none" strike="noStrike" baseline="0" dirty="0"/>
              <a:t>over all distributions within this set.</a:t>
            </a:r>
            <a:r>
              <a:rPr lang="en-US" sz="2000" dirty="0"/>
              <a:t> Mainstream DRO approaches define this ambiguity set in different ways. </a:t>
            </a:r>
          </a:p>
          <a:p>
            <a:pPr marL="176213" indent="-176213">
              <a:lnSpc>
                <a:spcPct val="100000"/>
              </a:lnSpc>
              <a:buFont typeface="Arial" panose="020B0604020202020204" pitchFamily="34" charset="0"/>
              <a:buChar char="•"/>
            </a:pPr>
            <a:r>
              <a:rPr lang="en-US" sz="2000" i="1" dirty="0"/>
              <a:t>Delage and Ye </a:t>
            </a:r>
            <a:r>
              <a:rPr lang="en-US" sz="2000" dirty="0"/>
              <a:t>(2010) define the set based on </a:t>
            </a:r>
            <a:r>
              <a:rPr lang="en-US" sz="2000" dirty="0">
                <a:solidFill>
                  <a:srgbClr val="C00000"/>
                </a:solidFill>
              </a:rPr>
              <a:t>known moment constraints </a:t>
            </a:r>
            <a:r>
              <a:rPr lang="en-US" sz="2000" dirty="0"/>
              <a:t>(e.g., bounds on the mean and covariance) of the uncertain parameters. </a:t>
            </a:r>
          </a:p>
          <a:p>
            <a:pPr marL="176213" indent="-176213">
              <a:lnSpc>
                <a:spcPct val="100000"/>
              </a:lnSpc>
              <a:buFont typeface="Arial" panose="020B0604020202020204" pitchFamily="34" charset="0"/>
              <a:buChar char="•"/>
            </a:pPr>
            <a:r>
              <a:rPr lang="en-US" sz="2000" i="1" dirty="0"/>
              <a:t>Ben-Tal et al. </a:t>
            </a:r>
            <a:r>
              <a:rPr lang="en-US" sz="2000" dirty="0"/>
              <a:t>(2013) </a:t>
            </a:r>
            <a:r>
              <a:rPr lang="en-US" sz="2000" b="0" i="0" u="none" strike="noStrike" baseline="0" dirty="0"/>
              <a:t>construct ambiguity sets centered at the empirical distribution using </a:t>
            </a:r>
            <a:r>
              <a:rPr lang="en-US" sz="2000" b="0" i="0" u="none" strike="noStrike" baseline="0" dirty="0">
                <a:solidFill>
                  <a:srgbClr val="C00000"/>
                </a:solidFill>
              </a:rPr>
              <a:t>discrepancy measures based on ϕ-divergences</a:t>
            </a:r>
            <a:r>
              <a:rPr lang="en-US" sz="2000" b="0" i="0" u="none" strike="noStrike" baseline="0" dirty="0"/>
              <a:t>.</a:t>
            </a:r>
          </a:p>
          <a:p>
            <a:pPr marL="176213" indent="-176213" algn="l">
              <a:lnSpc>
                <a:spcPct val="100000"/>
              </a:lnSpc>
              <a:buFont typeface="Arial" panose="020B0604020202020204" pitchFamily="34" charset="0"/>
              <a:buChar char="•"/>
            </a:pPr>
            <a:r>
              <a:rPr lang="en-US" sz="2000" b="0" i="1" u="none" strike="noStrike" baseline="0" dirty="0" err="1"/>
              <a:t>Esfahani</a:t>
            </a:r>
            <a:r>
              <a:rPr lang="en-US" sz="2000" b="0" i="1" u="none" strike="noStrike" baseline="0" dirty="0"/>
              <a:t> and Kuhn </a:t>
            </a:r>
            <a:r>
              <a:rPr lang="en-US" sz="2000" b="0" i="0" u="none" strike="noStrike" baseline="0" dirty="0"/>
              <a:t>(2018) define the ambiguity set as a </a:t>
            </a:r>
            <a:r>
              <a:rPr lang="en-US" sz="2000" b="0" i="0" u="none" strike="noStrike" baseline="0" dirty="0">
                <a:solidFill>
                  <a:srgbClr val="C00000"/>
                </a:solidFill>
              </a:rPr>
              <a:t>Wasserstein ball around the empirical distribution</a:t>
            </a:r>
            <a:r>
              <a:rPr lang="en-US" sz="2000" b="0" i="0" u="none" strike="noStrike" baseline="0" dirty="0"/>
              <a:t>, yielding tractable convex (often linear) reformulations</a:t>
            </a:r>
          </a:p>
          <a:p>
            <a:pPr>
              <a:lnSpc>
                <a:spcPct val="100000"/>
              </a:lnSpc>
            </a:pPr>
            <a:endParaRPr lang="en-US" sz="2000" dirty="0"/>
          </a:p>
        </p:txBody>
      </p:sp>
      <p:sp>
        <p:nvSpPr>
          <p:cNvPr id="3" name="Title 2">
            <a:extLst>
              <a:ext uri="{FF2B5EF4-FFF2-40B4-BE49-F238E27FC236}">
                <a16:creationId xmlns:a16="http://schemas.microsoft.com/office/drawing/2014/main" id="{BE16623A-BD36-E103-B426-C5FB8EB8271B}"/>
              </a:ext>
            </a:extLst>
          </p:cNvPr>
          <p:cNvSpPr>
            <a:spLocks noGrp="1"/>
          </p:cNvSpPr>
          <p:nvPr>
            <p:ph type="title"/>
          </p:nvPr>
        </p:nvSpPr>
        <p:spPr/>
        <p:txBody>
          <a:bodyPr/>
          <a:lstStyle/>
          <a:p>
            <a:r>
              <a:rPr lang="it-IT" dirty="0"/>
              <a:t>DRO</a:t>
            </a:r>
            <a:endParaRPr lang="en-US" dirty="0"/>
          </a:p>
        </p:txBody>
      </p:sp>
      <p:sp>
        <p:nvSpPr>
          <p:cNvPr id="4" name="Footer Placeholder 3">
            <a:extLst>
              <a:ext uri="{FF2B5EF4-FFF2-40B4-BE49-F238E27FC236}">
                <a16:creationId xmlns:a16="http://schemas.microsoft.com/office/drawing/2014/main" id="{96695DD9-A3D0-B88F-562D-E621311EA8B7}"/>
              </a:ext>
            </a:extLst>
          </p:cNvPr>
          <p:cNvSpPr>
            <a:spLocks noGrp="1"/>
          </p:cNvSpPr>
          <p:nvPr>
            <p:ph type="ftr" sz="quarter" idx="3"/>
          </p:nvPr>
        </p:nvSpPr>
        <p:spPr/>
        <p:txBody>
          <a:bodyPr/>
          <a:lstStyle/>
          <a:p>
            <a:pPr>
              <a:defRPr/>
            </a:pPr>
            <a:r>
              <a:rPr lang="it-IT"/>
              <a:t>Vittorio Maniezzo - University of Bologna</a:t>
            </a:r>
            <a:endParaRPr lang="it-IT" dirty="0"/>
          </a:p>
        </p:txBody>
      </p:sp>
      <p:sp>
        <p:nvSpPr>
          <p:cNvPr id="5" name="Slide Number Placeholder 4">
            <a:extLst>
              <a:ext uri="{FF2B5EF4-FFF2-40B4-BE49-F238E27FC236}">
                <a16:creationId xmlns:a16="http://schemas.microsoft.com/office/drawing/2014/main" id="{B21A2BE3-C7BA-8456-5881-CE48590ED09B}"/>
              </a:ext>
            </a:extLst>
          </p:cNvPr>
          <p:cNvSpPr>
            <a:spLocks noGrp="1"/>
          </p:cNvSpPr>
          <p:nvPr>
            <p:ph type="sldNum" sz="quarter" idx="4"/>
          </p:nvPr>
        </p:nvSpPr>
        <p:spPr/>
        <p:txBody>
          <a:bodyPr/>
          <a:lstStyle/>
          <a:p>
            <a:pPr>
              <a:defRPr/>
            </a:pPr>
            <a:fld id="{476DEB1C-3253-4C07-8F02-456B7B2AD41D}" type="slidenum">
              <a:rPr lang="it-IT" smtClean="0"/>
              <a:pPr>
                <a:defRPr/>
              </a:pPr>
              <a:t>4</a:t>
            </a:fld>
            <a:endParaRPr lang="it-IT" dirty="0"/>
          </a:p>
        </p:txBody>
      </p:sp>
    </p:spTree>
    <p:extLst>
      <p:ext uri="{BB962C8B-B14F-4D97-AF65-F5344CB8AC3E}">
        <p14:creationId xmlns:p14="http://schemas.microsoft.com/office/powerpoint/2010/main" val="3457174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C226D9-7D30-4960-8B19-5AB4CEE110A7}"/>
              </a:ext>
            </a:extLst>
          </p:cNvPr>
          <p:cNvSpPr>
            <a:spLocks noGrp="1"/>
          </p:cNvSpPr>
          <p:nvPr>
            <p:ph idx="1"/>
          </p:nvPr>
        </p:nvSpPr>
        <p:spPr>
          <a:xfrm>
            <a:off x="293369" y="1270000"/>
            <a:ext cx="8436973" cy="5310584"/>
          </a:xfrm>
        </p:spPr>
        <p:txBody>
          <a:bodyPr>
            <a:normAutofit fontScale="85000" lnSpcReduction="20000"/>
          </a:bodyPr>
          <a:lstStyle/>
          <a:p>
            <a:pPr>
              <a:lnSpc>
                <a:spcPct val="110000"/>
              </a:lnSpc>
            </a:pPr>
            <a:r>
              <a:rPr lang="en-US" sz="2400" dirty="0">
                <a:solidFill>
                  <a:srgbClr val="C00000"/>
                </a:solidFill>
              </a:rPr>
              <a:t>Scenario-Based Optimization </a:t>
            </a:r>
            <a:r>
              <a:rPr lang="en-US" sz="2400" dirty="0"/>
              <a:t>associates a probability to different parameter realizations (scenarios), and optimizes decisions across all scenarios. </a:t>
            </a:r>
          </a:p>
          <a:p>
            <a:pPr>
              <a:lnSpc>
                <a:spcPct val="110000"/>
              </a:lnSpc>
            </a:pPr>
            <a:r>
              <a:rPr lang="en-US" sz="2400" dirty="0">
                <a:solidFill>
                  <a:srgbClr val="C00000"/>
                </a:solidFill>
              </a:rPr>
              <a:t>Sample Average Approximation </a:t>
            </a:r>
            <a:r>
              <a:rPr lang="en-US" sz="2400" dirty="0"/>
              <a:t>(SAA) is the special case where scenarios are independent and identically distributed realizations, each assigned equal weight 1/N. Expectation can be replaced by mean, and the stochastic problem is transformed into a deterministic equivalent.</a:t>
            </a:r>
          </a:p>
          <a:p>
            <a:pPr>
              <a:lnSpc>
                <a:spcPct val="110000"/>
              </a:lnSpc>
            </a:pPr>
            <a:r>
              <a:rPr lang="en-US" sz="2400" i="1" dirty="0"/>
              <a:t>Bertsimas and Kallus </a:t>
            </a:r>
            <a:r>
              <a:rPr lang="en-US" sz="2400" dirty="0"/>
              <a:t>(2020) generalize SAA by replacing uniform scenario weights with </a:t>
            </a:r>
            <a:r>
              <a:rPr lang="en-US" sz="2400" dirty="0">
                <a:solidFill>
                  <a:srgbClr val="C00000"/>
                </a:solidFill>
              </a:rPr>
              <a:t>covariate-dependent weights </a:t>
            </a:r>
            <a:r>
              <a:rPr lang="en-US" sz="2400" dirty="0"/>
              <a:t>(e.g., via k-nearest), yielding a conditional approximation of the distribution given observed side information.</a:t>
            </a:r>
          </a:p>
          <a:p>
            <a:pPr>
              <a:lnSpc>
                <a:spcPct val="110000"/>
              </a:lnSpc>
            </a:pPr>
            <a:r>
              <a:rPr lang="en-US" sz="2400" dirty="0"/>
              <a:t>A </a:t>
            </a:r>
            <a:r>
              <a:rPr lang="en-US" sz="2400" dirty="0">
                <a:solidFill>
                  <a:srgbClr val="C00000"/>
                </a:solidFill>
              </a:rPr>
              <a:t>distinct line of work </a:t>
            </a:r>
            <a:r>
              <a:rPr lang="en-US" sz="2400" dirty="0"/>
              <a:t>addresses the same challenge — uncertain parameters estimated from data — from the learning side rather than the distributional side. </a:t>
            </a:r>
          </a:p>
          <a:p>
            <a:pPr>
              <a:lnSpc>
                <a:spcPct val="110000"/>
              </a:lnSpc>
            </a:pPr>
            <a:r>
              <a:rPr lang="en-US" sz="2400" i="1" dirty="0" err="1"/>
              <a:t>Elmachtoub</a:t>
            </a:r>
            <a:r>
              <a:rPr lang="en-US" sz="2400" i="1" dirty="0"/>
              <a:t> and </a:t>
            </a:r>
            <a:r>
              <a:rPr lang="en-US" sz="2400" i="1" dirty="0" err="1"/>
              <a:t>Grigas</a:t>
            </a:r>
            <a:r>
              <a:rPr lang="en-US" sz="2400" i="1" dirty="0"/>
              <a:t> </a:t>
            </a:r>
            <a:r>
              <a:rPr lang="en-US" sz="2400" dirty="0"/>
              <a:t>(2022) propose </a:t>
            </a:r>
            <a:r>
              <a:rPr lang="en-US" sz="2400" dirty="0">
                <a:solidFill>
                  <a:srgbClr val="C00000"/>
                </a:solidFill>
              </a:rPr>
              <a:t>Smart Predict-then-Optimize </a:t>
            </a:r>
            <a:r>
              <a:rPr lang="en-US" sz="2400" dirty="0"/>
              <a:t>(SPO), training a prediction model with a loss function that measures the resulting decision error, rather than prediction error.</a:t>
            </a:r>
          </a:p>
        </p:txBody>
      </p:sp>
      <p:sp>
        <p:nvSpPr>
          <p:cNvPr id="3" name="Title 2">
            <a:extLst>
              <a:ext uri="{FF2B5EF4-FFF2-40B4-BE49-F238E27FC236}">
                <a16:creationId xmlns:a16="http://schemas.microsoft.com/office/drawing/2014/main" id="{396B71D4-CEF5-4596-A30D-D7ABD7B5717E}"/>
              </a:ext>
            </a:extLst>
          </p:cNvPr>
          <p:cNvSpPr>
            <a:spLocks noGrp="1"/>
          </p:cNvSpPr>
          <p:nvPr>
            <p:ph type="title"/>
          </p:nvPr>
        </p:nvSpPr>
        <p:spPr/>
        <p:txBody>
          <a:bodyPr/>
          <a:lstStyle/>
          <a:p>
            <a:r>
              <a:rPr lang="en-US" dirty="0"/>
              <a:t>SAA and SPO</a:t>
            </a:r>
          </a:p>
        </p:txBody>
      </p:sp>
      <p:sp>
        <p:nvSpPr>
          <p:cNvPr id="4" name="Footer Placeholder 3">
            <a:extLst>
              <a:ext uri="{FF2B5EF4-FFF2-40B4-BE49-F238E27FC236}">
                <a16:creationId xmlns:a16="http://schemas.microsoft.com/office/drawing/2014/main" id="{66B4FCC0-C236-4C9F-A9F4-D0A729FEB49C}"/>
              </a:ext>
            </a:extLst>
          </p:cNvPr>
          <p:cNvSpPr>
            <a:spLocks noGrp="1"/>
          </p:cNvSpPr>
          <p:nvPr>
            <p:ph type="ftr" sz="quarter" idx="3"/>
          </p:nvPr>
        </p:nvSpPr>
        <p:spPr/>
        <p:txBody>
          <a:bodyPr/>
          <a:lstStyle/>
          <a:p>
            <a:pPr>
              <a:defRPr/>
            </a:pPr>
            <a:r>
              <a:rPr lang="it-IT"/>
              <a:t>Vittorio Maniezzo - University of Bologna</a:t>
            </a:r>
            <a:endParaRPr lang="it-IT" dirty="0"/>
          </a:p>
        </p:txBody>
      </p:sp>
      <p:sp>
        <p:nvSpPr>
          <p:cNvPr id="5" name="Slide Number Placeholder 4">
            <a:extLst>
              <a:ext uri="{FF2B5EF4-FFF2-40B4-BE49-F238E27FC236}">
                <a16:creationId xmlns:a16="http://schemas.microsoft.com/office/drawing/2014/main" id="{CA31A41E-34DF-407A-B739-D1C8F009FFCA}"/>
              </a:ext>
            </a:extLst>
          </p:cNvPr>
          <p:cNvSpPr>
            <a:spLocks noGrp="1"/>
          </p:cNvSpPr>
          <p:nvPr>
            <p:ph type="sldNum" sz="quarter" idx="4"/>
          </p:nvPr>
        </p:nvSpPr>
        <p:spPr/>
        <p:txBody>
          <a:bodyPr/>
          <a:lstStyle/>
          <a:p>
            <a:pPr>
              <a:defRPr/>
            </a:pPr>
            <a:fld id="{476DEB1C-3253-4C07-8F02-456B7B2AD41D}" type="slidenum">
              <a:rPr lang="it-IT" smtClean="0"/>
              <a:pPr>
                <a:defRPr/>
              </a:pPr>
              <a:t>5</a:t>
            </a:fld>
            <a:endParaRPr lang="it-IT" dirty="0"/>
          </a:p>
        </p:txBody>
      </p:sp>
    </p:spTree>
    <p:extLst>
      <p:ext uri="{BB962C8B-B14F-4D97-AF65-F5344CB8AC3E}">
        <p14:creationId xmlns:p14="http://schemas.microsoft.com/office/powerpoint/2010/main" val="2964360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9083F86-A46A-4536-ABCE-853D29FAD760}"/>
              </a:ext>
            </a:extLst>
          </p:cNvPr>
          <p:cNvSpPr>
            <a:spLocks noGrp="1"/>
          </p:cNvSpPr>
          <p:nvPr>
            <p:ph type="sldNum" sz="quarter" idx="12"/>
          </p:nvPr>
        </p:nvSpPr>
        <p:spPr/>
        <p:txBody>
          <a:bodyPr/>
          <a:lstStyle/>
          <a:p>
            <a:pPr>
              <a:defRPr/>
            </a:pPr>
            <a:fld id="{476DEB1C-3253-4C07-8F02-456B7B2AD41D}" type="slidenum">
              <a:rPr lang="it-IT" smtClean="0"/>
              <a:pPr>
                <a:defRPr/>
              </a:pPr>
              <a:t>6</a:t>
            </a:fld>
            <a:endParaRPr lang="it-IT" dirty="0"/>
          </a:p>
        </p:txBody>
      </p:sp>
      <p:sp>
        <p:nvSpPr>
          <p:cNvPr id="3" name="Title 2">
            <a:extLst>
              <a:ext uri="{FF2B5EF4-FFF2-40B4-BE49-F238E27FC236}">
                <a16:creationId xmlns:a16="http://schemas.microsoft.com/office/drawing/2014/main" id="{4B9036EB-2DC9-4B74-9A20-A9079686960F}"/>
              </a:ext>
            </a:extLst>
          </p:cNvPr>
          <p:cNvSpPr>
            <a:spLocks noGrp="1"/>
          </p:cNvSpPr>
          <p:nvPr>
            <p:ph type="title"/>
          </p:nvPr>
        </p:nvSpPr>
        <p:spPr/>
        <p:txBody>
          <a:bodyPr/>
          <a:lstStyle/>
          <a:p>
            <a:r>
              <a:rPr lang="en-US" dirty="0"/>
              <a:t>Toward a formulation</a:t>
            </a:r>
          </a:p>
        </p:txBody>
      </p:sp>
      <p:sp>
        <p:nvSpPr>
          <p:cNvPr id="4" name="Footer Placeholder 3">
            <a:extLst>
              <a:ext uri="{FF2B5EF4-FFF2-40B4-BE49-F238E27FC236}">
                <a16:creationId xmlns:a16="http://schemas.microsoft.com/office/drawing/2014/main" id="{0AB89389-3428-4908-9BE0-23F58A7DE996}"/>
              </a:ext>
            </a:extLst>
          </p:cNvPr>
          <p:cNvSpPr>
            <a:spLocks noGrp="1"/>
          </p:cNvSpPr>
          <p:nvPr>
            <p:ph type="ftr" sz="quarter" idx="3"/>
          </p:nvPr>
        </p:nvSpPr>
        <p:spPr>
          <a:xfrm>
            <a:off x="29185" y="6580584"/>
            <a:ext cx="3102649" cy="304800"/>
          </a:xfrm>
          <a:prstGeom prst="rect">
            <a:avLst/>
          </a:prstGeom>
        </p:spPr>
        <p:txBody>
          <a:bodyPr vert="horz" lIns="91440" tIns="45720" rIns="91440" bIns="45720" rtlCol="0" anchor="ctr"/>
          <a:lstStyle>
            <a:defPPr>
              <a:defRPr lang="en-US"/>
            </a:defPPr>
            <a:lvl1pPr marL="0" algn="l" defTabSz="914400" rtl="0" eaLnBrk="1" latinLnBrk="0" hangingPunct="1">
              <a:defRPr sz="1200" b="1" i="0" kern="1200">
                <a:solidFill>
                  <a:schemeClr val="tx1"/>
                </a:solidFill>
                <a:latin typeface="ManiezzoSlides" pitchFamily="2" charset="0"/>
                <a:ea typeface="Microsoft YaHei"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it-IT"/>
              <a:t>Vittorio Maniezzo - University of Bologna</a:t>
            </a:r>
            <a:endParaRPr lang="it-IT" dirty="0"/>
          </a:p>
        </p:txBody>
      </p:sp>
      <p:sp>
        <p:nvSpPr>
          <p:cNvPr id="6" name="Oval 5">
            <a:extLst>
              <a:ext uri="{FF2B5EF4-FFF2-40B4-BE49-F238E27FC236}">
                <a16:creationId xmlns:a16="http://schemas.microsoft.com/office/drawing/2014/main" id="{32B98C8A-3BF6-47A2-B3B9-7FA15F39B6BC}"/>
              </a:ext>
            </a:extLst>
          </p:cNvPr>
          <p:cNvSpPr/>
          <p:nvPr/>
        </p:nvSpPr>
        <p:spPr>
          <a:xfrm>
            <a:off x="2011680" y="2542032"/>
            <a:ext cx="429768" cy="448056"/>
          </a:xfrm>
          <a:prstGeom prst="ellipse">
            <a:avLst/>
          </a:prstGeom>
          <a:noFill/>
          <a:ln>
            <a:solidFill>
              <a:schemeClr val="tx1"/>
            </a:solidFill>
          </a:ln>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i="1" dirty="0" err="1">
                <a:solidFill>
                  <a:schemeClr val="tx1"/>
                </a:solidFill>
                <a:latin typeface="Cambria" panose="02040503050406030204" pitchFamily="18" charset="0"/>
                <a:ea typeface="Cambria" panose="02040503050406030204" pitchFamily="18" charset="0"/>
              </a:rPr>
              <a:t>i</a:t>
            </a:r>
            <a:endParaRPr lang="en-US" i="1" dirty="0">
              <a:solidFill>
                <a:schemeClr val="tx1"/>
              </a:solidFill>
              <a:latin typeface="Cambria" panose="02040503050406030204" pitchFamily="18" charset="0"/>
              <a:ea typeface="Cambria" panose="02040503050406030204" pitchFamily="18" charset="0"/>
            </a:endParaRPr>
          </a:p>
        </p:txBody>
      </p:sp>
      <p:sp>
        <p:nvSpPr>
          <p:cNvPr id="7" name="Oval 6">
            <a:extLst>
              <a:ext uri="{FF2B5EF4-FFF2-40B4-BE49-F238E27FC236}">
                <a16:creationId xmlns:a16="http://schemas.microsoft.com/office/drawing/2014/main" id="{63A1B69A-A49D-4A92-8AD9-6A13E8235E81}"/>
              </a:ext>
            </a:extLst>
          </p:cNvPr>
          <p:cNvSpPr/>
          <p:nvPr/>
        </p:nvSpPr>
        <p:spPr>
          <a:xfrm>
            <a:off x="5421124" y="4312920"/>
            <a:ext cx="429768" cy="448056"/>
          </a:xfrm>
          <a:prstGeom prst="ellipse">
            <a:avLst/>
          </a:prstGeom>
          <a:noFill/>
          <a:ln>
            <a:solidFill>
              <a:schemeClr val="tx1"/>
            </a:solidFill>
          </a:ln>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i="1" dirty="0">
                <a:solidFill>
                  <a:schemeClr val="tx1"/>
                </a:solidFill>
                <a:latin typeface="Cambria" panose="02040503050406030204" pitchFamily="18" charset="0"/>
                <a:ea typeface="Cambria" panose="02040503050406030204" pitchFamily="18" charset="0"/>
              </a:rPr>
              <a:t>j</a:t>
            </a:r>
          </a:p>
        </p:txBody>
      </p:sp>
      <p:cxnSp>
        <p:nvCxnSpPr>
          <p:cNvPr id="9" name="Straight Arrow Connector 8">
            <a:extLst>
              <a:ext uri="{FF2B5EF4-FFF2-40B4-BE49-F238E27FC236}">
                <a16:creationId xmlns:a16="http://schemas.microsoft.com/office/drawing/2014/main" id="{B6F8C743-2E2B-4EE3-91DE-D049A2418395}"/>
              </a:ext>
            </a:extLst>
          </p:cNvPr>
          <p:cNvCxnSpPr>
            <a:stCxn id="7" idx="2"/>
            <a:endCxn id="6" idx="6"/>
          </p:cNvCxnSpPr>
          <p:nvPr/>
        </p:nvCxnSpPr>
        <p:spPr>
          <a:xfrm flipH="1" flipV="1">
            <a:off x="2441448" y="2766060"/>
            <a:ext cx="2979676" cy="17708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2A84C6D-D5FD-478B-8DB2-B8676B97D4E0}"/>
              </a:ext>
            </a:extLst>
          </p:cNvPr>
          <p:cNvSpPr txBox="1"/>
          <p:nvPr/>
        </p:nvSpPr>
        <p:spPr>
          <a:xfrm>
            <a:off x="3670048" y="3107886"/>
            <a:ext cx="3502152" cy="448056"/>
          </a:xfrm>
          <a:prstGeom prst="rect">
            <a:avLst/>
          </a:prstGeom>
          <a:noFill/>
          <a:ln>
            <a:noFill/>
          </a:ln>
        </p:spPr>
        <p:txBody>
          <a:bodyPr wrap="none" rtlCol="0" anchor="t" anchorCtr="0">
            <a:noAutofit/>
          </a:bodyPr>
          <a:lstStyle/>
          <a:p>
            <a:pPr algn="l"/>
            <a:r>
              <a:rPr lang="en-US" sz="2000" dirty="0"/>
              <a:t>if </a:t>
            </a:r>
            <a:r>
              <a:rPr lang="en-US" sz="2000" i="1" dirty="0">
                <a:latin typeface="Cambria" panose="02040503050406030204" pitchFamily="18" charset="0"/>
                <a:ea typeface="Cambria" panose="02040503050406030204" pitchFamily="18" charset="0"/>
              </a:rPr>
              <a:t>j</a:t>
            </a:r>
            <a:r>
              <a:rPr lang="en-US" sz="2000" dirty="0"/>
              <a:t> is serviced from </a:t>
            </a:r>
            <a:r>
              <a:rPr lang="en-US" sz="2000" i="1" dirty="0" err="1">
                <a:latin typeface="Cambria" panose="02040503050406030204" pitchFamily="18" charset="0"/>
                <a:ea typeface="Cambria" panose="02040503050406030204" pitchFamily="18" charset="0"/>
              </a:rPr>
              <a:t>i</a:t>
            </a:r>
            <a:r>
              <a:rPr lang="en-US" sz="2000" dirty="0"/>
              <a:t>, then </a:t>
            </a:r>
            <a:r>
              <a:rPr lang="en-US" sz="2000" i="1" dirty="0" err="1">
                <a:solidFill>
                  <a:srgbClr val="C00000"/>
                </a:solidFill>
                <a:latin typeface="Cambria" panose="02040503050406030204" pitchFamily="18" charset="0"/>
                <a:ea typeface="Cambria" panose="02040503050406030204" pitchFamily="18" charset="0"/>
              </a:rPr>
              <a:t>x</a:t>
            </a:r>
            <a:r>
              <a:rPr lang="en-US" sz="2000" i="1" baseline="-25000" dirty="0" err="1">
                <a:solidFill>
                  <a:srgbClr val="C00000"/>
                </a:solidFill>
                <a:latin typeface="Cambria" panose="02040503050406030204" pitchFamily="18" charset="0"/>
                <a:ea typeface="Cambria" panose="02040503050406030204" pitchFamily="18" charset="0"/>
              </a:rPr>
              <a:t>ij</a:t>
            </a:r>
            <a:r>
              <a:rPr lang="en-US" sz="2000" i="1" dirty="0">
                <a:latin typeface="Cambria" panose="02040503050406030204" pitchFamily="18" charset="0"/>
                <a:ea typeface="Cambria" panose="02040503050406030204" pitchFamily="18" charset="0"/>
              </a:rPr>
              <a:t> = 1</a:t>
            </a:r>
          </a:p>
        </p:txBody>
      </p:sp>
      <p:sp>
        <p:nvSpPr>
          <p:cNvPr id="11" name="TextBox 10">
            <a:extLst>
              <a:ext uri="{FF2B5EF4-FFF2-40B4-BE49-F238E27FC236}">
                <a16:creationId xmlns:a16="http://schemas.microsoft.com/office/drawing/2014/main" id="{97A90013-B7E8-44DB-A78A-BC9E92598082}"/>
              </a:ext>
            </a:extLst>
          </p:cNvPr>
          <p:cNvSpPr txBox="1"/>
          <p:nvPr/>
        </p:nvSpPr>
        <p:spPr>
          <a:xfrm>
            <a:off x="845820" y="1270635"/>
            <a:ext cx="2674620" cy="1047369"/>
          </a:xfrm>
          <a:prstGeom prst="rect">
            <a:avLst/>
          </a:prstGeom>
          <a:noFill/>
          <a:ln>
            <a:noFill/>
          </a:ln>
        </p:spPr>
        <p:txBody>
          <a:bodyPr wrap="none" rtlCol="0" anchor="t" anchorCtr="0">
            <a:noAutofit/>
          </a:bodyPr>
          <a:lstStyle/>
          <a:p>
            <a:pPr algn="ctr"/>
            <a:r>
              <a:rPr lang="en-US" sz="2000" dirty="0">
                <a:latin typeface="Aptos Light" panose="020B0004020202020204" pitchFamily="34" charset="0"/>
              </a:rPr>
              <a:t>Server </a:t>
            </a:r>
            <a:r>
              <a:rPr lang="en-US" sz="2000" i="1" dirty="0" err="1">
                <a:solidFill>
                  <a:srgbClr val="C00000"/>
                </a:solidFill>
                <a:latin typeface="Cambria" panose="02040503050406030204" pitchFamily="18" charset="0"/>
                <a:ea typeface="Cambria" panose="02040503050406030204" pitchFamily="18" charset="0"/>
              </a:rPr>
              <a:t>i</a:t>
            </a:r>
            <a:endParaRPr lang="en-US" sz="2000" dirty="0">
              <a:solidFill>
                <a:srgbClr val="C00000"/>
              </a:solidFill>
              <a:latin typeface="Aptos Light" panose="020B0004020202020204" pitchFamily="34" charset="0"/>
            </a:endParaRPr>
          </a:p>
          <a:p>
            <a:pPr algn="ctr"/>
            <a:r>
              <a:rPr lang="en-US" sz="2000" dirty="0">
                <a:latin typeface="Aptos Light" panose="020B0004020202020204" pitchFamily="34" charset="0"/>
              </a:rPr>
              <a:t>Capacity </a:t>
            </a:r>
            <a:r>
              <a:rPr lang="en-US" sz="2000" i="1" dirty="0">
                <a:solidFill>
                  <a:srgbClr val="C00000"/>
                </a:solidFill>
                <a:latin typeface="Cambria" panose="02040503050406030204" pitchFamily="18" charset="0"/>
                <a:ea typeface="Cambria" panose="02040503050406030204" pitchFamily="18" charset="0"/>
              </a:rPr>
              <a:t>Q</a:t>
            </a:r>
            <a:r>
              <a:rPr lang="en-US" sz="2000" i="1" baseline="-25000" dirty="0">
                <a:solidFill>
                  <a:srgbClr val="C00000"/>
                </a:solidFill>
                <a:latin typeface="Cambria" panose="02040503050406030204" pitchFamily="18" charset="0"/>
                <a:ea typeface="Cambria" panose="02040503050406030204" pitchFamily="18" charset="0"/>
              </a:rPr>
              <a:t>i</a:t>
            </a:r>
          </a:p>
          <a:p>
            <a:pPr algn="ctr"/>
            <a:r>
              <a:rPr lang="en-US" sz="2000" dirty="0">
                <a:latin typeface="Aptos Light" panose="020B0004020202020204" pitchFamily="34" charset="0"/>
              </a:rPr>
              <a:t>Unitary storage cost </a:t>
            </a:r>
            <a:r>
              <a:rPr lang="en-US" sz="2000" i="1" dirty="0">
                <a:solidFill>
                  <a:srgbClr val="C00000"/>
                </a:solidFill>
                <a:latin typeface="Cambria" panose="02040503050406030204" pitchFamily="18" charset="0"/>
                <a:ea typeface="Cambria" panose="02040503050406030204" pitchFamily="18" charset="0"/>
              </a:rPr>
              <a:t>d</a:t>
            </a:r>
            <a:r>
              <a:rPr lang="en-US" sz="2000" i="1" baseline="-25000" dirty="0">
                <a:solidFill>
                  <a:srgbClr val="C00000"/>
                </a:solidFill>
                <a:latin typeface="Cambria" panose="02040503050406030204" pitchFamily="18" charset="0"/>
                <a:ea typeface="Cambria" panose="02040503050406030204" pitchFamily="18" charset="0"/>
              </a:rPr>
              <a:t>i</a:t>
            </a:r>
          </a:p>
        </p:txBody>
      </p:sp>
      <p:sp>
        <p:nvSpPr>
          <p:cNvPr id="12" name="TextBox 11">
            <a:extLst>
              <a:ext uri="{FF2B5EF4-FFF2-40B4-BE49-F238E27FC236}">
                <a16:creationId xmlns:a16="http://schemas.microsoft.com/office/drawing/2014/main" id="{744C906C-0A05-4451-A1E0-7A09F8AF712B}"/>
              </a:ext>
            </a:extLst>
          </p:cNvPr>
          <p:cNvSpPr txBox="1"/>
          <p:nvPr/>
        </p:nvSpPr>
        <p:spPr>
          <a:xfrm>
            <a:off x="4950208" y="4536948"/>
            <a:ext cx="3306824" cy="1424940"/>
          </a:xfrm>
          <a:prstGeom prst="rect">
            <a:avLst/>
          </a:prstGeom>
          <a:noFill/>
          <a:ln>
            <a:noFill/>
          </a:ln>
        </p:spPr>
        <p:txBody>
          <a:bodyPr wrap="none" rtlCol="0" anchor="t" anchorCtr="0">
            <a:noAutofit/>
          </a:bodyPr>
          <a:lstStyle/>
          <a:p>
            <a:pPr algn="ctr"/>
            <a:r>
              <a:rPr lang="en-US" sz="2000" dirty="0">
                <a:latin typeface="Aptos Light" panose="020B0004020202020204" pitchFamily="34" charset="0"/>
              </a:rPr>
              <a:t>Client </a:t>
            </a:r>
            <a:r>
              <a:rPr lang="en-US" sz="2000" i="1" dirty="0">
                <a:solidFill>
                  <a:srgbClr val="C00000"/>
                </a:solidFill>
                <a:latin typeface="Cambria" panose="02040503050406030204" pitchFamily="18" charset="0"/>
                <a:ea typeface="Cambria" panose="02040503050406030204" pitchFamily="18" charset="0"/>
              </a:rPr>
              <a:t>j</a:t>
            </a:r>
            <a:endParaRPr lang="en-US" sz="2000" dirty="0">
              <a:solidFill>
                <a:srgbClr val="C00000"/>
              </a:solidFill>
              <a:latin typeface="Aptos Light" panose="020B0004020202020204" pitchFamily="34" charset="0"/>
            </a:endParaRPr>
          </a:p>
          <a:p>
            <a:pPr algn="ctr"/>
            <a:r>
              <a:rPr lang="en-US" sz="2000" dirty="0">
                <a:latin typeface="Aptos Light" panose="020B0004020202020204" pitchFamily="34" charset="0"/>
              </a:rPr>
              <a:t>Total request </a:t>
            </a:r>
            <a:r>
              <a:rPr lang="en-US" sz="2000" i="1" dirty="0" err="1">
                <a:solidFill>
                  <a:srgbClr val="C00000"/>
                </a:solidFill>
                <a:latin typeface="Cambria" panose="02040503050406030204" pitchFamily="18" charset="0"/>
                <a:ea typeface="Cambria" panose="02040503050406030204" pitchFamily="18" charset="0"/>
              </a:rPr>
              <a:t>req</a:t>
            </a:r>
            <a:r>
              <a:rPr lang="en-US" sz="2000" i="1" baseline="-25000" dirty="0" err="1">
                <a:solidFill>
                  <a:srgbClr val="C00000"/>
                </a:solidFill>
                <a:latin typeface="Cambria" panose="02040503050406030204" pitchFamily="18" charset="0"/>
                <a:ea typeface="Cambria" panose="02040503050406030204" pitchFamily="18" charset="0"/>
              </a:rPr>
              <a:t>j</a:t>
            </a:r>
            <a:endParaRPr lang="en-US" sz="2000" i="1" baseline="-25000" dirty="0">
              <a:solidFill>
                <a:srgbClr val="C00000"/>
              </a:solidFill>
              <a:latin typeface="Cambria" panose="02040503050406030204" pitchFamily="18" charset="0"/>
              <a:ea typeface="Cambria" panose="02040503050406030204" pitchFamily="18" charset="0"/>
            </a:endParaRPr>
          </a:p>
          <a:p>
            <a:pPr algn="ctr"/>
            <a:r>
              <a:rPr lang="en-US" sz="2000" dirty="0">
                <a:latin typeface="Aptos Light" panose="020B0004020202020204" pitchFamily="34" charset="0"/>
              </a:rPr>
              <a:t>Allocation cost to </a:t>
            </a:r>
            <a:r>
              <a:rPr lang="en-US" sz="2000" i="1" dirty="0" err="1">
                <a:latin typeface="Cambria" panose="02040503050406030204" pitchFamily="18" charset="0"/>
                <a:ea typeface="Cambria" panose="02040503050406030204" pitchFamily="18" charset="0"/>
              </a:rPr>
              <a:t>i</a:t>
            </a:r>
            <a:r>
              <a:rPr lang="en-US" sz="2000" dirty="0">
                <a:latin typeface="Aptos Light" panose="020B0004020202020204" pitchFamily="34" charset="0"/>
              </a:rPr>
              <a:t> </a:t>
            </a:r>
            <a:r>
              <a:rPr lang="en-US" sz="2000" i="1" dirty="0" err="1">
                <a:solidFill>
                  <a:srgbClr val="C00000"/>
                </a:solidFill>
                <a:latin typeface="Cambria" panose="02040503050406030204" pitchFamily="18" charset="0"/>
                <a:ea typeface="Cambria" panose="02040503050406030204" pitchFamily="18" charset="0"/>
              </a:rPr>
              <a:t>c</a:t>
            </a:r>
            <a:r>
              <a:rPr lang="en-US" sz="2000" i="1" baseline="-25000" dirty="0" err="1">
                <a:solidFill>
                  <a:srgbClr val="C00000"/>
                </a:solidFill>
                <a:latin typeface="Cambria" panose="02040503050406030204" pitchFamily="18" charset="0"/>
                <a:ea typeface="Cambria" panose="02040503050406030204" pitchFamily="18" charset="0"/>
              </a:rPr>
              <a:t>ij</a:t>
            </a:r>
            <a:endParaRPr lang="en-US" sz="2000" i="1" baseline="-25000" dirty="0">
              <a:solidFill>
                <a:srgbClr val="C00000"/>
              </a:solidFill>
              <a:latin typeface="Cambria" panose="02040503050406030204" pitchFamily="18" charset="0"/>
              <a:ea typeface="Cambria" panose="02040503050406030204" pitchFamily="18" charset="0"/>
            </a:endParaRPr>
          </a:p>
          <a:p>
            <a:pPr algn="ctr"/>
            <a:r>
              <a:rPr lang="en-US" sz="2000" dirty="0">
                <a:latin typeface="Aptos Light" panose="020B0004020202020204" pitchFamily="34" charset="0"/>
              </a:rPr>
              <a:t>Amount serviced by </a:t>
            </a:r>
            <a:r>
              <a:rPr lang="en-US" sz="2000" i="1" dirty="0" err="1">
                <a:latin typeface="Cambria" panose="02040503050406030204" pitchFamily="18" charset="0"/>
                <a:ea typeface="Cambria" panose="02040503050406030204" pitchFamily="18" charset="0"/>
              </a:rPr>
              <a:t>i</a:t>
            </a:r>
            <a:r>
              <a:rPr lang="en-US" sz="2000" dirty="0">
                <a:latin typeface="Aptos Light" panose="020B0004020202020204" pitchFamily="34" charset="0"/>
              </a:rPr>
              <a:t> </a:t>
            </a:r>
            <a:r>
              <a:rPr lang="en-US" sz="2000" i="1" dirty="0" err="1">
                <a:solidFill>
                  <a:srgbClr val="C00000"/>
                </a:solidFill>
                <a:latin typeface="Cambria" panose="02040503050406030204" pitchFamily="18" charset="0"/>
                <a:ea typeface="Cambria" panose="02040503050406030204" pitchFamily="18" charset="0"/>
              </a:rPr>
              <a:t>q</a:t>
            </a:r>
            <a:r>
              <a:rPr lang="en-US" sz="2000" i="1" baseline="-25000" dirty="0" err="1">
                <a:solidFill>
                  <a:srgbClr val="C00000"/>
                </a:solidFill>
                <a:latin typeface="Cambria" panose="02040503050406030204" pitchFamily="18" charset="0"/>
                <a:ea typeface="Cambria" panose="02040503050406030204" pitchFamily="18" charset="0"/>
              </a:rPr>
              <a:t>ij</a:t>
            </a:r>
            <a:endParaRPr lang="en-US" sz="2000" i="1" baseline="-25000" dirty="0">
              <a:solidFill>
                <a:srgbClr val="C0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063688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4A286D6-0507-C00A-C4FB-69619416EBA4}"/>
                  </a:ext>
                </a:extLst>
              </p:cNvPr>
              <p:cNvSpPr>
                <a:spLocks noGrp="1"/>
              </p:cNvSpPr>
              <p:nvPr>
                <p:ph idx="1"/>
              </p:nvPr>
            </p:nvSpPr>
            <p:spPr>
              <a:xfrm>
                <a:off x="298912" y="1173916"/>
                <a:ext cx="8546175" cy="5259392"/>
              </a:xfrm>
            </p:spPr>
            <p:txBody>
              <a:bodyPr>
                <a:normAutofit/>
              </a:bodyPr>
              <a:lstStyle/>
              <a:p>
                <a:pPr marL="0" rtl="0" eaLnBrk="1" fontAlgn="ctr" latinLnBrk="0" hangingPunct="1">
                  <a:lnSpc>
                    <a:spcPct val="150000"/>
                  </a:lnSpc>
                  <a:spcBef>
                    <a:spcPts val="0"/>
                  </a:spcBef>
                  <a:spcAft>
                    <a:spcPts val="0"/>
                  </a:spcAft>
                  <a:tabLst>
                    <a:tab pos="1789113" algn="l"/>
                    <a:tab pos="5024438" algn="l"/>
                    <a:tab pos="7177088" algn="l"/>
                  </a:tabLst>
                </a:pPr>
                <a:r>
                  <a:rPr lang="en-US" sz="2400" b="0" i="0" u="none" strike="noStrike" kern="1200" dirty="0">
                    <a:solidFill>
                      <a:schemeClr val="tx1"/>
                    </a:solidFill>
                    <a:effectLst/>
                    <a:latin typeface="Cambria Math" panose="02040503050406030204" pitchFamily="18" charset="0"/>
                    <a:ea typeface="Cambria Math" panose="02040503050406030204" pitchFamily="18" charset="0"/>
                  </a:rPr>
                  <a:t>z(D) = </a:t>
                </a:r>
                <a:r>
                  <a:rPr lang="en-US" sz="2400" b="1" i="1" u="none" strike="noStrike" kern="1200" dirty="0">
                    <a:solidFill>
                      <a:schemeClr val="tx1"/>
                    </a:solidFill>
                    <a:effectLst/>
                    <a:latin typeface="Cambria Math" panose="02040503050406030204" pitchFamily="18" charset="0"/>
                    <a:ea typeface="Cambria Math" panose="02040503050406030204" pitchFamily="18" charset="0"/>
                  </a:rPr>
                  <a:t>min</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  	</a:t>
                </a:r>
                <a14:m>
                  <m:oMath xmlns:m="http://schemas.openxmlformats.org/officeDocument/2006/math">
                    <m:nary>
                      <m:naryPr>
                        <m:chr m:val="∑"/>
                        <m:supHide m:val="on"/>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naryPr>
                      <m:sub>
                        <m:r>
                          <m:rPr>
                            <m:brk m:alnAt="7"/>
                          </m:rPr>
                          <a:rPr lang="en-US" sz="2400" b="0" i="0" u="none" strike="noStrike" kern="1200">
                            <a:solidFill>
                              <a:schemeClr val="tx1"/>
                            </a:solidFill>
                            <a:effectLst/>
                            <a:latin typeface="Cambria Math" panose="02040503050406030204" pitchFamily="18" charset="0"/>
                            <a:ea typeface="Cambria Math" panose="02040503050406030204" pitchFamily="18" charset="0"/>
                          </a:rPr>
                          <m:t>𝑖</m:t>
                        </m:r>
                        <m:r>
                          <a:rPr lang="en-US" sz="2400" b="0" i="0" u="none" strike="noStrike" kern="1200">
                            <a:solidFill>
                              <a:schemeClr val="tx1"/>
                            </a:solidFill>
                            <a:effectLst/>
                            <a:latin typeface="Cambria Math" panose="02040503050406030204" pitchFamily="18" charset="0"/>
                            <a:ea typeface="Cambria Math" panose="02040503050406030204" pitchFamily="18" charset="0"/>
                          </a:rPr>
                          <m:t>∈</m:t>
                        </m:r>
                        <m:r>
                          <a:rPr lang="it-IT" sz="2400" b="0" i="1" u="none" strike="noStrike" kern="1200">
                            <a:solidFill>
                              <a:schemeClr val="tx1"/>
                            </a:solidFill>
                            <a:effectLst/>
                            <a:latin typeface="Cambria Math" panose="02040503050406030204" pitchFamily="18" charset="0"/>
                            <a:ea typeface="Cambria Math" panose="02040503050406030204" pitchFamily="18" charset="0"/>
                          </a:rPr>
                          <m:t>𝐼</m:t>
                        </m:r>
                      </m:sub>
                      <m:sup/>
                      <m:e>
                        <m:nary>
                          <m:naryPr>
                            <m:chr m:val="∑"/>
                            <m:limLoc m:val="subSup"/>
                            <m:supHide m:val="on"/>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naryPr>
                          <m:sub>
                            <m:r>
                              <m:rPr>
                                <m:brk m:alnAt="9"/>
                              </m:rPr>
                              <a:rPr lang="en-US" sz="2400" b="0" i="0" u="none" strike="noStrike" kern="1200">
                                <a:solidFill>
                                  <a:schemeClr val="tx1"/>
                                </a:solidFill>
                                <a:effectLst/>
                                <a:latin typeface="Cambria Math" panose="02040503050406030204" pitchFamily="18" charset="0"/>
                                <a:ea typeface="Cambria Math" panose="02040503050406030204" pitchFamily="18" charset="0"/>
                              </a:rPr>
                              <m:t>𝑗</m:t>
                            </m:r>
                            <m:r>
                              <a:rPr lang="en-US" sz="2400" b="0" i="0" u="none" strike="noStrike" kern="1200">
                                <a:solidFill>
                                  <a:schemeClr val="tx1"/>
                                </a:solidFill>
                                <a:effectLst/>
                                <a:latin typeface="Cambria Math" panose="02040503050406030204" pitchFamily="18" charset="0"/>
                                <a:ea typeface="Cambria Math" panose="02040503050406030204" pitchFamily="18" charset="0"/>
                              </a:rPr>
                              <m:t>∈</m:t>
                            </m:r>
                            <m:r>
                              <a:rPr lang="it-IT" sz="2400" b="0" i="1" u="none" strike="noStrike" kern="1200">
                                <a:solidFill>
                                  <a:schemeClr val="tx1"/>
                                </a:solidFill>
                                <a:effectLst/>
                                <a:latin typeface="Cambria Math" panose="02040503050406030204" pitchFamily="18" charset="0"/>
                                <a:ea typeface="Cambria Math" panose="02040503050406030204" pitchFamily="18" charset="0"/>
                              </a:rPr>
                              <m:t>𝐽</m:t>
                            </m:r>
                          </m:sub>
                          <m:sup/>
                          <m:e>
                            <m:sSub>
                              <m:sSubPr>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sSubPr>
                              <m:e>
                                <m:r>
                                  <a:rPr lang="it-IT" sz="2400" b="0" i="0" u="none" strike="noStrike" kern="1200" smtClean="0">
                                    <a:solidFill>
                                      <a:schemeClr val="tx1"/>
                                    </a:solidFill>
                                    <a:effectLst/>
                                    <a:latin typeface="Cambria Math" panose="02040503050406030204" pitchFamily="18" charset="0"/>
                                    <a:ea typeface="Cambria Math" panose="02040503050406030204" pitchFamily="18" charset="0"/>
                                  </a:rPr>
                                  <m:t>(</m:t>
                                </m:r>
                                <m:r>
                                  <m:rPr>
                                    <m:sty m:val="p"/>
                                  </m:rPr>
                                  <a:rPr lang="en-US" sz="2400" b="0" i="0" u="none" strike="noStrike" kern="1200">
                                    <a:solidFill>
                                      <a:schemeClr val="tx1"/>
                                    </a:solidFill>
                                    <a:effectLst/>
                                    <a:latin typeface="Cambria Math" panose="02040503050406030204" pitchFamily="18" charset="0"/>
                                    <a:ea typeface="Cambria Math" panose="02040503050406030204" pitchFamily="18" charset="0"/>
                                  </a:rPr>
                                  <m:t>c</m:t>
                                </m:r>
                              </m:e>
                              <m:sub>
                                <m:r>
                                  <m:rPr>
                                    <m:sty m:val="p"/>
                                  </m:rPr>
                                  <a:rPr lang="en-US" sz="2400" b="0" i="0" u="none" strike="noStrike" kern="1200">
                                    <a:solidFill>
                                      <a:schemeClr val="tx1"/>
                                    </a:solidFill>
                                    <a:effectLst/>
                                    <a:latin typeface="Cambria Math" panose="02040503050406030204" pitchFamily="18" charset="0"/>
                                    <a:ea typeface="Cambria Math" panose="02040503050406030204" pitchFamily="18" charset="0"/>
                                  </a:rPr>
                                  <m:t>ij</m:t>
                                </m:r>
                              </m:sub>
                            </m:sSub>
                            <m:sSub>
                              <m:sSubPr>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sSubPr>
                              <m:e>
                                <m:r>
                                  <a:rPr lang="en-US" sz="2400" b="0" i="0" u="none" strike="noStrike" kern="1200">
                                    <a:solidFill>
                                      <a:schemeClr val="tx1"/>
                                    </a:solidFill>
                                    <a:effectLst/>
                                    <a:latin typeface="Cambria Math" panose="02040503050406030204" pitchFamily="18" charset="0"/>
                                    <a:ea typeface="Cambria Math" panose="02040503050406030204" pitchFamily="18" charset="0"/>
                                  </a:rPr>
                                  <m:t>𝑥</m:t>
                                </m:r>
                              </m:e>
                              <m:sub>
                                <m:r>
                                  <m:rPr>
                                    <m:sty m:val="p"/>
                                  </m:rPr>
                                  <a:rPr lang="en-US" sz="2400" b="0" i="0" u="none" strike="noStrike" kern="1200">
                                    <a:solidFill>
                                      <a:schemeClr val="tx1"/>
                                    </a:solidFill>
                                    <a:effectLst/>
                                    <a:latin typeface="Cambria Math" panose="02040503050406030204" pitchFamily="18" charset="0"/>
                                    <a:ea typeface="Cambria Math" panose="02040503050406030204" pitchFamily="18" charset="0"/>
                                  </a:rPr>
                                  <m:t>ij</m:t>
                                </m:r>
                              </m:sub>
                            </m:sSub>
                          </m:e>
                        </m:nary>
                      </m:e>
                    </m:nary>
                    <m:r>
                      <a:rPr lang="it-IT" sz="2400" b="0" i="1" u="none" strike="noStrike" kern="1200" smtClean="0">
                        <a:solidFill>
                          <a:schemeClr val="tx1"/>
                        </a:solidFill>
                        <a:effectLst/>
                        <a:latin typeface="Cambria Math" panose="02040503050406030204" pitchFamily="18" charset="0"/>
                        <a:ea typeface="Cambria Math" panose="02040503050406030204" pitchFamily="18" charset="0"/>
                      </a:rPr>
                      <m:t>+</m:t>
                    </m:r>
                    <m:sSub>
                      <m:sSubPr>
                        <m:ctrlPr>
                          <a:rPr lang="it-IT" sz="2400" b="0" i="1" u="none" strike="noStrike" kern="1200" smtClean="0">
                            <a:solidFill>
                              <a:schemeClr val="tx1"/>
                            </a:solidFill>
                            <a:effectLst/>
                            <a:latin typeface="Cambria Math" panose="02040503050406030204" pitchFamily="18" charset="0"/>
                            <a:ea typeface="Cambria Math" panose="02040503050406030204" pitchFamily="18" charset="0"/>
                          </a:rPr>
                        </m:ctrlPr>
                      </m:sSubPr>
                      <m:e>
                        <m:r>
                          <a:rPr lang="it-IT" sz="2400" b="0" i="1" u="none" strike="noStrike" kern="1200" smtClean="0">
                            <a:solidFill>
                              <a:schemeClr val="tx1"/>
                            </a:solidFill>
                            <a:effectLst/>
                            <a:latin typeface="Cambria Math" panose="02040503050406030204" pitchFamily="18" charset="0"/>
                            <a:ea typeface="Cambria Math" panose="02040503050406030204" pitchFamily="18" charset="0"/>
                          </a:rPr>
                          <m:t>𝑑</m:t>
                        </m:r>
                      </m:e>
                      <m:sub>
                        <m:r>
                          <a:rPr lang="it-IT" sz="2400" b="0" i="1" u="none" strike="noStrike" kern="1200" smtClean="0">
                            <a:solidFill>
                              <a:schemeClr val="tx1"/>
                            </a:solidFill>
                            <a:effectLst/>
                            <a:latin typeface="Cambria Math" panose="02040503050406030204" pitchFamily="18" charset="0"/>
                            <a:ea typeface="Cambria Math" panose="02040503050406030204" pitchFamily="18" charset="0"/>
                          </a:rPr>
                          <m:t>𝑖</m:t>
                        </m:r>
                      </m:sub>
                    </m:sSub>
                    <m:sSub>
                      <m:sSubPr>
                        <m:ctrlPr>
                          <a:rPr lang="it-IT" sz="2400" b="0" i="1" u="none" strike="noStrike" kern="1200" smtClean="0">
                            <a:solidFill>
                              <a:schemeClr val="tx1"/>
                            </a:solidFill>
                            <a:effectLst/>
                            <a:latin typeface="Cambria Math" panose="02040503050406030204" pitchFamily="18" charset="0"/>
                            <a:ea typeface="Cambria Math" panose="02040503050406030204" pitchFamily="18" charset="0"/>
                          </a:rPr>
                        </m:ctrlPr>
                      </m:sSubPr>
                      <m:e>
                        <m:r>
                          <a:rPr lang="it-IT" sz="2400" b="0" i="1" u="none" strike="noStrike" kern="1200" smtClean="0">
                            <a:solidFill>
                              <a:schemeClr val="tx1"/>
                            </a:solidFill>
                            <a:effectLst/>
                            <a:latin typeface="Cambria Math" panose="02040503050406030204" pitchFamily="18" charset="0"/>
                            <a:ea typeface="Cambria Math" panose="02040503050406030204" pitchFamily="18" charset="0"/>
                          </a:rPr>
                          <m:t>𝑞</m:t>
                        </m:r>
                      </m:e>
                      <m:sub>
                        <m:r>
                          <a:rPr lang="it-IT" sz="2400" b="0" i="1" u="none" strike="noStrike" kern="1200" smtClean="0">
                            <a:solidFill>
                              <a:schemeClr val="tx1"/>
                            </a:solidFill>
                            <a:effectLst/>
                            <a:latin typeface="Cambria Math" panose="02040503050406030204" pitchFamily="18" charset="0"/>
                            <a:ea typeface="Cambria Math" panose="02040503050406030204" pitchFamily="18" charset="0"/>
                          </a:rPr>
                          <m:t>𝑖𝑗</m:t>
                        </m:r>
                      </m:sub>
                    </m:sSub>
                    <m:r>
                      <a:rPr lang="it-IT" sz="2400" b="0" i="1" u="none" strike="noStrike" kern="1200" smtClean="0">
                        <a:solidFill>
                          <a:schemeClr val="tx1"/>
                        </a:solidFill>
                        <a:effectLst/>
                        <a:latin typeface="Cambria Math" panose="02040503050406030204" pitchFamily="18" charset="0"/>
                        <a:ea typeface="Cambria Math" panose="02040503050406030204" pitchFamily="18" charset="0"/>
                      </a:rPr>
                      <m:t>)</m:t>
                    </m:r>
                  </m:oMath>
                </a14:m>
                <a:r>
                  <a:rPr lang="en-US" sz="2400" b="0" i="0" u="none" strike="noStrike" kern="1200" dirty="0">
                    <a:solidFill>
                      <a:schemeClr val="tx1"/>
                    </a:solidFill>
                    <a:effectLst/>
                    <a:latin typeface="Cambria Math" panose="02040503050406030204" pitchFamily="18" charset="0"/>
                    <a:ea typeface="Cambria Math" panose="02040503050406030204" pitchFamily="18" charset="0"/>
                  </a:rPr>
                  <a:t>		(1)</a:t>
                </a:r>
                <a:endParaRPr lang="en-US" sz="2400" b="0" i="0" u="none" strike="noStrike" dirty="0">
                  <a:solidFill>
                    <a:schemeClr val="tx1"/>
                  </a:solidFill>
                  <a:effectLst/>
                  <a:latin typeface="Arial" panose="020B0604020202020204" pitchFamily="34" charset="0"/>
                </a:endParaRPr>
              </a:p>
              <a:p>
                <a:pPr fontAlgn="ctr">
                  <a:lnSpc>
                    <a:spcPct val="150000"/>
                  </a:lnSpc>
                  <a:spcBef>
                    <a:spcPts val="0"/>
                  </a:spcBef>
                  <a:tabLst>
                    <a:tab pos="1789113" algn="l"/>
                    <a:tab pos="5024438" algn="l"/>
                    <a:tab pos="7177088" algn="l"/>
                  </a:tabLst>
                </a:pPr>
                <a:r>
                  <a:rPr lang="en-US" sz="2400" b="1" i="1" u="none" strike="noStrike" kern="1200" dirty="0">
                    <a:solidFill>
                      <a:schemeClr val="tx1"/>
                    </a:solidFill>
                    <a:effectLst/>
                    <a:latin typeface="Cambria Math" panose="02040503050406030204" pitchFamily="18" charset="0"/>
                    <a:ea typeface="Cambria Math" panose="02040503050406030204" pitchFamily="18" charset="0"/>
                  </a:rPr>
                  <a:t>subject to</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 	</a:t>
                </a:r>
                <a14:m>
                  <m:oMath xmlns:m="http://schemas.openxmlformats.org/officeDocument/2006/math">
                    <m:nary>
                      <m:naryPr>
                        <m:chr m:val="∑"/>
                        <m:supHide m:val="on"/>
                        <m:ctrlPr>
                          <a:rPr lang="en-US" i="1">
                            <a:latin typeface="Cambria Math" panose="02040503050406030204" pitchFamily="18" charset="0"/>
                            <a:ea typeface="Cambria Math" panose="02040503050406030204" pitchFamily="18" charset="0"/>
                          </a:rPr>
                        </m:ctrlPr>
                      </m:naryPr>
                      <m:sub>
                        <m:r>
                          <a:rPr lang="en-US" i="1">
                            <a:latin typeface="Cambria Math" panose="02040503050406030204" pitchFamily="18" charset="0"/>
                            <a:ea typeface="Cambria Math" panose="02040503050406030204" pitchFamily="18" charset="0"/>
                          </a:rPr>
                          <m:t>𝑖</m:t>
                        </m:r>
                        <m: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𝐼</m:t>
                        </m:r>
                      </m:sub>
                      <m:sup/>
                      <m:e>
                        <m:sSub>
                          <m:sSubPr>
                            <m:ctrlPr>
                              <a:rPr lang="en-US" i="1">
                                <a:latin typeface="Cambria Math" panose="02040503050406030204" pitchFamily="18" charset="0"/>
                                <a:ea typeface="Cambria Math" panose="02040503050406030204" pitchFamily="18" charset="0"/>
                              </a:rPr>
                            </m:ctrlPr>
                          </m:sSubPr>
                          <m:e>
                            <m:r>
                              <a:rPr lang="en-US">
                                <a:latin typeface="Cambria Math" panose="02040503050406030204" pitchFamily="18" charset="0"/>
                                <a:ea typeface="Cambria Math" panose="02040503050406030204" pitchFamily="18" charset="0"/>
                              </a:rPr>
                              <m:t>𝑞</m:t>
                            </m:r>
                          </m:e>
                          <m:sub>
                            <m:r>
                              <m:rPr>
                                <m:sty m:val="p"/>
                              </m:rPr>
                              <a:rPr lang="en-US">
                                <a:latin typeface="Cambria Math" panose="02040503050406030204" pitchFamily="18" charset="0"/>
                                <a:ea typeface="Cambria Math" panose="02040503050406030204" pitchFamily="18" charset="0"/>
                              </a:rPr>
                              <m:t>ij</m:t>
                            </m:r>
                          </m:sub>
                        </m:sSub>
                      </m:e>
                    </m:nary>
                    <m:r>
                      <a:rPr lang="en-US">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𝑟𝑒𝑞</m:t>
                        </m:r>
                      </m:e>
                      <m:sub>
                        <m:r>
                          <m:rPr>
                            <m:sty m:val="p"/>
                          </m:rPr>
                          <a:rPr lang="en-US">
                            <a:latin typeface="Cambria Math" panose="02040503050406030204" pitchFamily="18" charset="0"/>
                            <a:ea typeface="Cambria Math" panose="02040503050406030204" pitchFamily="18" charset="0"/>
                          </a:rPr>
                          <m:t>j</m:t>
                        </m:r>
                      </m:sub>
                    </m:sSub>
                  </m:oMath>
                </a14:m>
                <a:r>
                  <a:rPr lang="en-US" dirty="0">
                    <a:latin typeface="Arial" panose="020B0604020202020204" pitchFamily="34" charset="0"/>
                  </a:rPr>
                  <a:t> 	</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j </a:t>
                </a:r>
                <a:r>
                  <a:rPr lang="en-US" sz="2400" b="0" i="0" u="none" strike="noStrike" kern="1200" dirty="0">
                    <a:solidFill>
                      <a:schemeClr val="tx1"/>
                    </a:solidFill>
                    <a:effectLst/>
                    <a:latin typeface="Cambria Math" panose="02040503050406030204" pitchFamily="18" charset="0"/>
                    <a:ea typeface="Cambria Math" panose="02040503050406030204" pitchFamily="18" charset="0"/>
                    <a:sym typeface="Symbol" panose="05050102010706020507" pitchFamily="18" charset="2"/>
                  </a:rPr>
                  <a:t> </a:t>
                </a:r>
                <a:r>
                  <a:rPr lang="en-US" sz="2400" b="0" u="none" strike="noStrike" kern="1200" dirty="0">
                    <a:solidFill>
                      <a:schemeClr val="tx1"/>
                    </a:solidFill>
                    <a:effectLst/>
                    <a:latin typeface="Cambria Math" panose="02040503050406030204" pitchFamily="18" charset="0"/>
                    <a:ea typeface="Cambria Math" panose="02040503050406030204" pitchFamily="18" charset="0"/>
                  </a:rPr>
                  <a:t>J </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	</a:t>
                </a:r>
                <a:r>
                  <a:rPr lang="it-IT" sz="2400" b="0" i="0" u="none" strike="noStrike" kern="1200" dirty="0">
                    <a:solidFill>
                      <a:schemeClr val="tx1"/>
                    </a:solidFill>
                    <a:effectLst/>
                    <a:latin typeface="Cambria Math" panose="02040503050406030204" pitchFamily="18" charset="0"/>
                    <a:ea typeface="Cambria Math" panose="02040503050406030204" pitchFamily="18" charset="0"/>
                  </a:rPr>
                  <a:t>(2)</a:t>
                </a:r>
                <a:endParaRPr lang="en-US" sz="2400" dirty="0">
                  <a:latin typeface="Arial" panose="020B0604020202020204" pitchFamily="34" charset="0"/>
                </a:endParaRPr>
              </a:p>
              <a:p>
                <a:pPr marL="0" rtl="0" eaLnBrk="1" fontAlgn="ctr" latinLnBrk="0" hangingPunct="1">
                  <a:lnSpc>
                    <a:spcPct val="150000"/>
                  </a:lnSpc>
                  <a:spcBef>
                    <a:spcPts val="0"/>
                  </a:spcBef>
                  <a:spcAft>
                    <a:spcPts val="0"/>
                  </a:spcAft>
                  <a:tabLst>
                    <a:tab pos="1789113" algn="l"/>
                    <a:tab pos="5024438" algn="l"/>
                    <a:tab pos="7177088" algn="l"/>
                  </a:tabLst>
                </a:pPr>
                <a:r>
                  <a:rPr lang="en-US" sz="2400" b="0" u="none" strike="noStrike" kern="1200" dirty="0">
                    <a:solidFill>
                      <a:schemeClr val="tx1"/>
                    </a:solidFill>
                    <a:effectLst/>
                    <a:ea typeface="Cambria Math" panose="02040503050406030204" pitchFamily="18" charset="0"/>
                  </a:rPr>
                  <a:t>	</a:t>
                </a:r>
                <a14:m>
                  <m:oMath xmlns:m="http://schemas.openxmlformats.org/officeDocument/2006/math">
                    <m:nary>
                      <m:naryPr>
                        <m:chr m:val="∑"/>
                        <m:supHide m:val="on"/>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naryPr>
                      <m:sub>
                        <m:r>
                          <a:rPr lang="en-US" sz="2400" b="0" i="0" u="none" strike="noStrike" kern="1200">
                            <a:solidFill>
                              <a:schemeClr val="tx1"/>
                            </a:solidFill>
                            <a:effectLst/>
                            <a:latin typeface="Cambria Math" panose="02040503050406030204" pitchFamily="18" charset="0"/>
                            <a:ea typeface="Cambria Math" panose="02040503050406030204" pitchFamily="18" charset="0"/>
                          </a:rPr>
                          <m:t>𝑗</m:t>
                        </m:r>
                        <m:r>
                          <a:rPr lang="en-US" sz="2400" b="0" i="0" u="none" strike="noStrike" kern="1200">
                            <a:solidFill>
                              <a:schemeClr val="tx1"/>
                            </a:solidFill>
                            <a:effectLst/>
                            <a:latin typeface="Cambria Math" panose="02040503050406030204" pitchFamily="18" charset="0"/>
                            <a:ea typeface="Cambria Math" panose="02040503050406030204" pitchFamily="18" charset="0"/>
                          </a:rPr>
                          <m:t>∈</m:t>
                        </m:r>
                        <m:r>
                          <a:rPr lang="it-IT" sz="2400" b="0" i="1" u="none" strike="noStrike" kern="1200">
                            <a:solidFill>
                              <a:schemeClr val="tx1"/>
                            </a:solidFill>
                            <a:effectLst/>
                            <a:latin typeface="Cambria Math" panose="02040503050406030204" pitchFamily="18" charset="0"/>
                            <a:ea typeface="Cambria Math" panose="02040503050406030204" pitchFamily="18" charset="0"/>
                          </a:rPr>
                          <m:t>𝐽</m:t>
                        </m:r>
                      </m:sub>
                      <m:sup/>
                      <m:e>
                        <m:sSub>
                          <m:sSubPr>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sSubPr>
                          <m:e>
                            <m:r>
                              <a:rPr lang="en-US" sz="2400" b="0" i="0" u="none" strike="noStrike" kern="1200">
                                <a:solidFill>
                                  <a:schemeClr val="tx1"/>
                                </a:solidFill>
                                <a:effectLst/>
                                <a:latin typeface="Cambria Math" panose="02040503050406030204" pitchFamily="18" charset="0"/>
                                <a:ea typeface="Cambria Math" panose="02040503050406030204" pitchFamily="18" charset="0"/>
                              </a:rPr>
                              <m:t>𝑞</m:t>
                            </m:r>
                          </m:e>
                          <m:sub>
                            <m:r>
                              <m:rPr>
                                <m:sty m:val="p"/>
                              </m:rPr>
                              <a:rPr lang="en-US" sz="2400" b="0" i="0" u="none" strike="noStrike" kern="1200">
                                <a:solidFill>
                                  <a:schemeClr val="tx1"/>
                                </a:solidFill>
                                <a:effectLst/>
                                <a:latin typeface="Cambria Math" panose="02040503050406030204" pitchFamily="18" charset="0"/>
                                <a:ea typeface="Cambria Math" panose="02040503050406030204" pitchFamily="18" charset="0"/>
                              </a:rPr>
                              <m:t>ij</m:t>
                            </m:r>
                          </m:sub>
                        </m:sSub>
                      </m:e>
                    </m:nary>
                    <m:r>
                      <a:rPr lang="en-US" sz="2400" b="0" i="0" u="none" strike="noStrike" kern="1200">
                        <a:solidFill>
                          <a:schemeClr val="tx1"/>
                        </a:solidFill>
                        <a:effectLst/>
                        <a:latin typeface="Cambria Math" panose="02040503050406030204" pitchFamily="18" charset="0"/>
                        <a:ea typeface="Cambria Math" panose="02040503050406030204" pitchFamily="18" charset="0"/>
                      </a:rPr>
                      <m:t>≤</m:t>
                    </m:r>
                    <m:sSub>
                      <m:sSubPr>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sSubPr>
                      <m:e>
                        <m:r>
                          <a:rPr lang="en-US" sz="2400" b="0" i="0" u="none" strike="noStrike" kern="1200">
                            <a:solidFill>
                              <a:schemeClr val="tx1"/>
                            </a:solidFill>
                            <a:effectLst/>
                            <a:latin typeface="Cambria Math" panose="02040503050406030204" pitchFamily="18" charset="0"/>
                            <a:ea typeface="Cambria Math" panose="02040503050406030204" pitchFamily="18" charset="0"/>
                          </a:rPr>
                          <m:t>𝑄</m:t>
                        </m:r>
                      </m:e>
                      <m:sub>
                        <m:r>
                          <a:rPr lang="en-US" sz="2400" b="0" i="0" u="none" strike="noStrike" kern="1200">
                            <a:solidFill>
                              <a:schemeClr val="tx1"/>
                            </a:solidFill>
                            <a:effectLst/>
                            <a:latin typeface="Cambria Math" panose="02040503050406030204" pitchFamily="18" charset="0"/>
                            <a:ea typeface="Cambria Math" panose="02040503050406030204" pitchFamily="18" charset="0"/>
                          </a:rPr>
                          <m:t>𝑖</m:t>
                        </m:r>
                      </m:sub>
                    </m:sSub>
                  </m:oMath>
                </a14:m>
                <a:r>
                  <a:rPr lang="en-US" sz="2400" dirty="0">
                    <a:latin typeface="Arial" panose="020B0604020202020204" pitchFamily="34" charset="0"/>
                  </a:rPr>
                  <a:t> 	</a:t>
                </a:r>
                <a:r>
                  <a:rPr lang="en-US" sz="2400" b="0" i="1" u="none" strike="noStrike" kern="1200" dirty="0" err="1">
                    <a:solidFill>
                      <a:schemeClr val="tx1"/>
                    </a:solidFill>
                    <a:effectLst/>
                    <a:latin typeface="Cambria Math" panose="02040503050406030204" pitchFamily="18" charset="0"/>
                    <a:ea typeface="Cambria Math" panose="02040503050406030204" pitchFamily="18" charset="0"/>
                  </a:rPr>
                  <a:t>i</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 </a:t>
                </a:r>
                <a:r>
                  <a:rPr lang="en-US" sz="2400" b="0" i="0" u="none" strike="noStrike" kern="1200" dirty="0">
                    <a:solidFill>
                      <a:schemeClr val="tx1"/>
                    </a:solidFill>
                    <a:effectLst/>
                    <a:latin typeface="Cambria Math" panose="02040503050406030204" pitchFamily="18" charset="0"/>
                    <a:ea typeface="Cambria Math" panose="02040503050406030204" pitchFamily="18" charset="0"/>
                    <a:sym typeface="Symbol" panose="05050102010706020507" pitchFamily="18" charset="2"/>
                  </a:rPr>
                  <a:t> </a:t>
                </a:r>
                <a:r>
                  <a:rPr lang="en-US" sz="2400" b="0" u="none" strike="noStrike" kern="1200" dirty="0">
                    <a:solidFill>
                      <a:schemeClr val="tx1"/>
                    </a:solidFill>
                    <a:effectLst/>
                    <a:latin typeface="Cambria Math" panose="02040503050406030204" pitchFamily="18" charset="0"/>
                    <a:ea typeface="Cambria Math" panose="02040503050406030204" pitchFamily="18" charset="0"/>
                  </a:rPr>
                  <a:t>I</a:t>
                </a:r>
                <a:r>
                  <a:rPr lang="en-US" sz="2400" b="0" i="0" u="none" strike="noStrike" kern="1200" baseline="-25000" dirty="0">
                    <a:solidFill>
                      <a:schemeClr val="tx1"/>
                    </a:solidFill>
                    <a:effectLst/>
                    <a:latin typeface="Cambria Math" panose="02040503050406030204" pitchFamily="18" charset="0"/>
                    <a:ea typeface="Cambria Math" panose="02040503050406030204" pitchFamily="18" charset="0"/>
                  </a:rPr>
                  <a:t>  	</a:t>
                </a:r>
                <a:r>
                  <a:rPr lang="it-IT" sz="2400" b="0" i="0" u="none" strike="noStrike" kern="1200" dirty="0">
                    <a:solidFill>
                      <a:schemeClr val="tx1"/>
                    </a:solidFill>
                    <a:effectLst/>
                    <a:latin typeface="Cambria Math" panose="02040503050406030204" pitchFamily="18" charset="0"/>
                    <a:ea typeface="Cambria Math" panose="02040503050406030204" pitchFamily="18" charset="0"/>
                  </a:rPr>
                  <a:t>(3)</a:t>
                </a:r>
              </a:p>
              <a:p>
                <a:pPr marL="0" rtl="0" eaLnBrk="1" fontAlgn="ctr" latinLnBrk="0" hangingPunct="1">
                  <a:lnSpc>
                    <a:spcPct val="150000"/>
                  </a:lnSpc>
                  <a:spcBef>
                    <a:spcPts val="0"/>
                  </a:spcBef>
                  <a:spcAft>
                    <a:spcPts val="0"/>
                  </a:spcAft>
                  <a:tabLst>
                    <a:tab pos="1789113" algn="l"/>
                    <a:tab pos="5024438" algn="l"/>
                    <a:tab pos="7177088" algn="l"/>
                  </a:tabLst>
                </a:pPr>
                <a:r>
                  <a:rPr lang="en-US" sz="2400" b="0" u="none" strike="noStrike" kern="1200" dirty="0">
                    <a:solidFill>
                      <a:schemeClr val="tx1"/>
                    </a:solidFill>
                    <a:effectLst/>
                    <a:ea typeface="Cambria Math" panose="02040503050406030204" pitchFamily="18" charset="0"/>
                  </a:rPr>
                  <a:t>	</a:t>
                </a:r>
                <a14:m>
                  <m:oMath xmlns:m="http://schemas.openxmlformats.org/officeDocument/2006/math">
                    <m:nary>
                      <m:naryPr>
                        <m:chr m:val="∑"/>
                        <m:supHide m:val="on"/>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naryPr>
                      <m:sub>
                        <m:r>
                          <a:rPr lang="en-US" sz="2400" b="0" i="0" u="none" strike="noStrike" kern="1200">
                            <a:solidFill>
                              <a:schemeClr val="tx1"/>
                            </a:solidFill>
                            <a:effectLst/>
                            <a:latin typeface="Cambria Math" panose="02040503050406030204" pitchFamily="18" charset="0"/>
                            <a:ea typeface="Cambria Math" panose="02040503050406030204" pitchFamily="18" charset="0"/>
                          </a:rPr>
                          <m:t>𝑖</m:t>
                        </m:r>
                        <m:r>
                          <a:rPr lang="en-US" sz="2400" b="0" i="0" u="none" strike="noStrike" kern="1200">
                            <a:solidFill>
                              <a:schemeClr val="tx1"/>
                            </a:solidFill>
                            <a:effectLst/>
                            <a:latin typeface="Cambria Math" panose="02040503050406030204" pitchFamily="18" charset="0"/>
                            <a:ea typeface="Cambria Math" panose="02040503050406030204" pitchFamily="18" charset="0"/>
                          </a:rPr>
                          <m:t>∈</m:t>
                        </m:r>
                        <m:r>
                          <a:rPr lang="it-IT" sz="2400" b="0" i="1" u="none" strike="noStrike" kern="1200">
                            <a:solidFill>
                              <a:schemeClr val="tx1"/>
                            </a:solidFill>
                            <a:effectLst/>
                            <a:latin typeface="Cambria Math" panose="02040503050406030204" pitchFamily="18" charset="0"/>
                            <a:ea typeface="Cambria Math" panose="02040503050406030204" pitchFamily="18" charset="0"/>
                          </a:rPr>
                          <m:t>𝐼</m:t>
                        </m:r>
                      </m:sub>
                      <m:sup/>
                      <m:e>
                        <m:sSub>
                          <m:sSubPr>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sSubPr>
                          <m:e>
                            <m:r>
                              <a:rPr lang="en-US" sz="2400" b="0" i="0" u="none" strike="noStrike" kern="1200">
                                <a:solidFill>
                                  <a:schemeClr val="tx1"/>
                                </a:solidFill>
                                <a:effectLst/>
                                <a:latin typeface="Cambria Math" panose="02040503050406030204" pitchFamily="18" charset="0"/>
                                <a:ea typeface="Cambria Math" panose="02040503050406030204" pitchFamily="18" charset="0"/>
                              </a:rPr>
                              <m:t>𝑥</m:t>
                            </m:r>
                          </m:e>
                          <m:sub>
                            <m:r>
                              <m:rPr>
                                <m:sty m:val="p"/>
                              </m:rPr>
                              <a:rPr lang="en-US" sz="2400" b="0" i="0" u="none" strike="noStrike" kern="1200">
                                <a:solidFill>
                                  <a:schemeClr val="tx1"/>
                                </a:solidFill>
                                <a:effectLst/>
                                <a:latin typeface="Cambria Math" panose="02040503050406030204" pitchFamily="18" charset="0"/>
                                <a:ea typeface="Cambria Math" panose="02040503050406030204" pitchFamily="18" charset="0"/>
                              </a:rPr>
                              <m:t>ij</m:t>
                            </m:r>
                          </m:sub>
                        </m:sSub>
                      </m:e>
                    </m:nary>
                    <m:r>
                      <a:rPr lang="en-US" sz="2400" b="0" i="1" u="none" strike="noStrike" kern="1200" smtClean="0">
                        <a:solidFill>
                          <a:schemeClr val="tx1"/>
                        </a:solidFill>
                        <a:effectLst/>
                        <a:latin typeface="Cambria Math" panose="02040503050406030204" pitchFamily="18" charset="0"/>
                        <a:ea typeface="Cambria Math" panose="02040503050406030204" pitchFamily="18" charset="0"/>
                      </a:rPr>
                      <m:t>≤</m:t>
                    </m:r>
                    <m:sSub>
                      <m:sSubPr>
                        <m:ctrlPr>
                          <a:rPr lang="en-US" sz="2400" b="0" i="1" u="none" strike="noStrike" kern="1200" smtClean="0">
                            <a:solidFill>
                              <a:schemeClr val="tx1"/>
                            </a:solidFill>
                            <a:effectLst/>
                            <a:latin typeface="Cambria Math" panose="02040503050406030204" pitchFamily="18" charset="0"/>
                            <a:ea typeface="Cambria Math" panose="02040503050406030204" pitchFamily="18" charset="0"/>
                          </a:rPr>
                        </m:ctrlPr>
                      </m:sSubPr>
                      <m:e>
                        <m:r>
                          <a:rPr lang="en-US" sz="2400" b="0" i="1" u="none" strike="noStrike" kern="1200" smtClean="0">
                            <a:solidFill>
                              <a:schemeClr val="tx1"/>
                            </a:solidFill>
                            <a:effectLst/>
                            <a:latin typeface="Cambria Math" panose="02040503050406030204" pitchFamily="18" charset="0"/>
                            <a:ea typeface="Cambria Math" panose="02040503050406030204" pitchFamily="18" charset="0"/>
                          </a:rPr>
                          <m:t>𝑏</m:t>
                        </m:r>
                      </m:e>
                      <m:sub>
                        <m:r>
                          <m:rPr>
                            <m:sty m:val="p"/>
                          </m:rPr>
                          <a:rPr lang="en-US" sz="2400" b="0" i="0" u="none" strike="noStrike" kern="1200" smtClean="0">
                            <a:solidFill>
                              <a:schemeClr val="tx1"/>
                            </a:solidFill>
                            <a:effectLst/>
                            <a:latin typeface="Cambria Math" panose="02040503050406030204" pitchFamily="18" charset="0"/>
                            <a:ea typeface="Cambria Math" panose="02040503050406030204" pitchFamily="18" charset="0"/>
                          </a:rPr>
                          <m:t>j</m:t>
                        </m:r>
                      </m:sub>
                    </m:sSub>
                  </m:oMath>
                </a14:m>
                <a:r>
                  <a:rPr lang="en-US" sz="2400" b="0" i="0" u="none" strike="noStrike" dirty="0">
                    <a:solidFill>
                      <a:schemeClr val="tx1"/>
                    </a:solidFill>
                    <a:effectLst/>
                    <a:latin typeface="Arial" panose="020B0604020202020204" pitchFamily="34" charset="0"/>
                  </a:rPr>
                  <a:t> 	</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j </a:t>
                </a:r>
                <a:r>
                  <a:rPr lang="en-US" sz="2400" b="0" i="0" u="none" strike="noStrike" kern="1200" dirty="0">
                    <a:solidFill>
                      <a:schemeClr val="tx1"/>
                    </a:solidFill>
                    <a:effectLst/>
                    <a:latin typeface="Cambria Math" panose="02040503050406030204" pitchFamily="18" charset="0"/>
                    <a:ea typeface="Cambria Math" panose="02040503050406030204" pitchFamily="18" charset="0"/>
                    <a:sym typeface="Symbol" panose="05050102010706020507" pitchFamily="18" charset="2"/>
                  </a:rPr>
                  <a:t> </a:t>
                </a:r>
                <a:r>
                  <a:rPr lang="en-US" sz="2400" b="0" u="none" strike="noStrike" kern="1200" dirty="0">
                    <a:solidFill>
                      <a:schemeClr val="tx1"/>
                    </a:solidFill>
                    <a:effectLst/>
                    <a:latin typeface="Cambria Math" panose="02040503050406030204" pitchFamily="18" charset="0"/>
                    <a:ea typeface="Cambria Math" panose="02040503050406030204" pitchFamily="18" charset="0"/>
                  </a:rPr>
                  <a:t>J</a:t>
                </a:r>
                <a:r>
                  <a:rPr lang="en-US" sz="2400" b="0" i="0" u="none" strike="noStrike" kern="1200" baseline="-25000" dirty="0">
                    <a:solidFill>
                      <a:schemeClr val="tx1"/>
                    </a:solidFill>
                    <a:effectLst/>
                    <a:latin typeface="Cambria Math" panose="02040503050406030204" pitchFamily="18" charset="0"/>
                    <a:ea typeface="Cambria Math" panose="02040503050406030204" pitchFamily="18" charset="0"/>
                  </a:rPr>
                  <a:t>  	</a:t>
                </a:r>
                <a:r>
                  <a:rPr lang="it-IT" sz="2400" b="0" i="0" u="none" strike="noStrike" kern="1200" dirty="0">
                    <a:solidFill>
                      <a:schemeClr val="tx1"/>
                    </a:solidFill>
                    <a:effectLst/>
                    <a:latin typeface="Cambria Math" panose="02040503050406030204" pitchFamily="18" charset="0"/>
                    <a:ea typeface="Cambria Math" panose="02040503050406030204" pitchFamily="18" charset="0"/>
                  </a:rPr>
                  <a:t>(4)</a:t>
                </a:r>
              </a:p>
              <a:p>
                <a:pPr fontAlgn="ctr">
                  <a:lnSpc>
                    <a:spcPct val="150000"/>
                  </a:lnSpc>
                  <a:spcBef>
                    <a:spcPts val="0"/>
                  </a:spcBef>
                  <a:tabLst>
                    <a:tab pos="1789113" algn="l"/>
                    <a:tab pos="5024438" algn="l"/>
                    <a:tab pos="7177088" algn="l"/>
                  </a:tabLst>
                </a:pPr>
                <a:r>
                  <a:rPr lang="en-US" sz="2400" dirty="0">
                    <a:ea typeface="Cambria Math" panose="02040503050406030204" pitchFamily="18" charset="0"/>
                  </a:rPr>
                  <a:t>	</a:t>
                </a:r>
                <a14:m>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𝑞</m:t>
                        </m:r>
                      </m:e>
                      <m:sub>
                        <m:r>
                          <m:rPr>
                            <m:sty m:val="p"/>
                          </m:rPr>
                          <a:rPr lang="en-US" sz="2400">
                            <a:latin typeface="Cambria Math" panose="02040503050406030204" pitchFamily="18" charset="0"/>
                            <a:ea typeface="Cambria Math" panose="02040503050406030204" pitchFamily="18" charset="0"/>
                          </a:rPr>
                          <m:t>ij</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𝑟𝑒𝑞</m:t>
                        </m:r>
                      </m:e>
                      <m:sub>
                        <m:r>
                          <m:rPr>
                            <m:sty m:val="p"/>
                          </m:rPr>
                          <a:rPr lang="en-US" sz="2400" b="0" i="0" smtClean="0">
                            <a:latin typeface="Cambria Math" panose="02040503050406030204" pitchFamily="18" charset="0"/>
                            <a:ea typeface="Cambria Math" panose="02040503050406030204" pitchFamily="18" charset="0"/>
                          </a:rPr>
                          <m:t>j</m:t>
                        </m:r>
                      </m:sub>
                    </m:sSub>
                    <m:sSub>
                      <m:sSubPr>
                        <m:ctrlPr>
                          <a:rPr lang="en-US" sz="2400" b="0" i="1" smtClean="0">
                            <a:latin typeface="Cambria Math" panose="02040503050406030204" pitchFamily="18" charset="0"/>
                            <a:ea typeface="Cambria Math" panose="02040503050406030204" pitchFamily="18" charset="0"/>
                          </a:rPr>
                        </m:ctrlPr>
                      </m:sSubPr>
                      <m:e>
                        <m:r>
                          <a:rPr lang="en-US" sz="2400" b="0" i="0"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𝑥</m:t>
                        </m:r>
                      </m:e>
                      <m:sub>
                        <m:r>
                          <m:rPr>
                            <m:sty m:val="p"/>
                          </m:rPr>
                          <a:rPr lang="en-US" sz="2400" b="0" i="0" smtClean="0">
                            <a:latin typeface="Cambria Math" panose="02040503050406030204" pitchFamily="18" charset="0"/>
                            <a:ea typeface="Cambria Math" panose="02040503050406030204" pitchFamily="18" charset="0"/>
                          </a:rPr>
                          <m:t>ij</m:t>
                        </m:r>
                      </m:sub>
                    </m:sSub>
                  </m:oMath>
                </a14:m>
                <a:r>
                  <a:rPr lang="en-US" sz="2400" dirty="0">
                    <a:latin typeface="Arial" panose="020B0604020202020204" pitchFamily="34" charset="0"/>
                  </a:rPr>
                  <a:t> 	</a:t>
                </a:r>
                <a:r>
                  <a:rPr lang="en-US" sz="2400" i="1" dirty="0" err="1">
                    <a:latin typeface="Cambria Math" panose="02040503050406030204" pitchFamily="18" charset="0"/>
                    <a:ea typeface="Cambria Math" panose="02040503050406030204" pitchFamily="18" charset="0"/>
                  </a:rPr>
                  <a:t>i</a:t>
                </a:r>
                <a:r>
                  <a:rPr lang="en-US" sz="2400" i="1" dirty="0">
                    <a:latin typeface="Cambria Math" panose="02040503050406030204" pitchFamily="18" charset="0"/>
                    <a:ea typeface="Cambria Math" panose="02040503050406030204" pitchFamily="18" charset="0"/>
                  </a:rPr>
                  <a:t> </a:t>
                </a:r>
                <a:r>
                  <a:rPr lang="en-US" sz="2400" dirty="0">
                    <a:latin typeface="Cambria Math" panose="02040503050406030204" pitchFamily="18" charset="0"/>
                    <a:ea typeface="Cambria Math" panose="02040503050406030204" pitchFamily="18" charset="0"/>
                    <a:sym typeface="Symbol" panose="05050102010706020507" pitchFamily="18" charset="2"/>
                  </a:rPr>
                  <a:t> </a:t>
                </a:r>
                <a:r>
                  <a:rPr lang="en-US" sz="2400" dirty="0">
                    <a:latin typeface="Cambria Math" panose="02040503050406030204" pitchFamily="18" charset="0"/>
                    <a:ea typeface="Cambria Math" panose="02040503050406030204" pitchFamily="18" charset="0"/>
                  </a:rPr>
                  <a:t>I,</a:t>
                </a:r>
                <a:r>
                  <a:rPr lang="en-US" sz="2400" baseline="-25000" dirty="0">
                    <a:latin typeface="Cambria Math" panose="02040503050406030204" pitchFamily="18" charset="0"/>
                    <a:ea typeface="Cambria Math" panose="02040503050406030204" pitchFamily="18" charset="0"/>
                  </a:rPr>
                  <a:t> </a:t>
                </a:r>
                <a:r>
                  <a:rPr lang="en-US" sz="2400" i="1" dirty="0">
                    <a:latin typeface="Cambria Math" panose="02040503050406030204" pitchFamily="18" charset="0"/>
                    <a:ea typeface="Cambria Math" panose="02040503050406030204" pitchFamily="18" charset="0"/>
                  </a:rPr>
                  <a:t>j </a:t>
                </a:r>
                <a:r>
                  <a:rPr lang="en-US" sz="2400" dirty="0">
                    <a:latin typeface="Cambria Math" panose="02040503050406030204" pitchFamily="18" charset="0"/>
                    <a:ea typeface="Cambria Math" panose="02040503050406030204" pitchFamily="18" charset="0"/>
                    <a:sym typeface="Symbol" panose="05050102010706020507" pitchFamily="18" charset="2"/>
                  </a:rPr>
                  <a:t> </a:t>
                </a:r>
                <a:r>
                  <a:rPr lang="en-US" sz="2400" dirty="0">
                    <a:latin typeface="Cambria Math" panose="02040503050406030204" pitchFamily="18" charset="0"/>
                    <a:ea typeface="Cambria Math" panose="02040503050406030204" pitchFamily="18" charset="0"/>
                  </a:rPr>
                  <a:t>J</a:t>
                </a:r>
                <a:r>
                  <a:rPr lang="en-US" sz="2400" baseline="-25000" dirty="0">
                    <a:latin typeface="Cambria Math" panose="02040503050406030204" pitchFamily="18" charset="0"/>
                    <a:ea typeface="Cambria Math" panose="02040503050406030204" pitchFamily="18" charset="0"/>
                  </a:rPr>
                  <a:t> </a:t>
                </a:r>
                <a:r>
                  <a:rPr lang="en-US" sz="2400" baseline="-25000" dirty="0">
                    <a:latin typeface="Arial" panose="020B0604020202020204" pitchFamily="34" charset="0"/>
                  </a:rPr>
                  <a:t> 	</a:t>
                </a:r>
                <a:r>
                  <a:rPr lang="it-IT" sz="2400" dirty="0">
                    <a:latin typeface="Cambria Math" panose="02040503050406030204" pitchFamily="18" charset="0"/>
                    <a:ea typeface="Cambria Math" panose="02040503050406030204" pitchFamily="18" charset="0"/>
                  </a:rPr>
                  <a:t>(5)</a:t>
                </a:r>
                <a:endParaRPr lang="en-US" sz="2400" dirty="0">
                  <a:latin typeface="Arial" panose="020B0604020202020204" pitchFamily="34" charset="0"/>
                </a:endParaRPr>
              </a:p>
              <a:p>
                <a:pPr fontAlgn="ctr">
                  <a:lnSpc>
                    <a:spcPct val="150000"/>
                  </a:lnSpc>
                  <a:spcBef>
                    <a:spcPts val="0"/>
                  </a:spcBef>
                  <a:tabLst>
                    <a:tab pos="1789113" algn="l"/>
                    <a:tab pos="5024438" algn="l"/>
                    <a:tab pos="7177088" algn="l"/>
                  </a:tabLst>
                </a:pPr>
                <a:r>
                  <a:rPr lang="en-US" sz="2400" dirty="0">
                    <a:latin typeface="Arial" panose="020B0604020202020204" pitchFamily="34" charset="0"/>
                    <a:ea typeface="Cambria Math" panose="02040503050406030204" pitchFamily="18" charset="0"/>
                  </a:rPr>
                  <a:t>	</a:t>
                </a:r>
                <a14:m>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a:latin typeface="Cambria Math" panose="02040503050406030204" pitchFamily="18" charset="0"/>
                            <a:ea typeface="Cambria Math" panose="02040503050406030204" pitchFamily="18" charset="0"/>
                          </a:rPr>
                          <m:t>𝑥</m:t>
                        </m:r>
                      </m:e>
                      <m:sub>
                        <m:r>
                          <m:rPr>
                            <m:sty m:val="p"/>
                          </m:rPr>
                          <a:rPr lang="en-US" sz="2400">
                            <a:latin typeface="Cambria Math" panose="02040503050406030204" pitchFamily="18" charset="0"/>
                            <a:ea typeface="Cambria Math" panose="02040503050406030204" pitchFamily="18" charset="0"/>
                          </a:rPr>
                          <m:t>ij</m:t>
                        </m:r>
                      </m:sub>
                    </m:sSub>
                    <m:r>
                      <a:rPr lang="en-US" sz="2400" i="1">
                        <a:latin typeface="Cambria Math" panose="02040503050406030204" pitchFamily="18" charset="0"/>
                        <a:ea typeface="Cambria Math" panose="02040503050406030204" pitchFamily="18" charset="0"/>
                      </a:rPr>
                      <m:t>∈</m:t>
                    </m:r>
                    <m:r>
                      <a:rPr lang="en-US" sz="2400">
                        <a:latin typeface="Cambria Math" panose="02040503050406030204" pitchFamily="18" charset="0"/>
                        <a:ea typeface="Cambria Math" panose="02040503050406030204" pitchFamily="18" charset="0"/>
                      </a:rPr>
                      <m:t>{0,1}</m:t>
                    </m:r>
                  </m:oMath>
                </a14:m>
                <a:r>
                  <a:rPr lang="en-US" sz="2400" dirty="0">
                    <a:latin typeface="Arial" panose="020B0604020202020204" pitchFamily="34" charset="0"/>
                  </a:rPr>
                  <a:t> 	</a:t>
                </a:r>
                <a:r>
                  <a:rPr lang="en-US" sz="2400" i="1" dirty="0" err="1">
                    <a:latin typeface="Cambria Math" panose="02040503050406030204" pitchFamily="18" charset="0"/>
                    <a:ea typeface="Cambria Math" panose="02040503050406030204" pitchFamily="18" charset="0"/>
                  </a:rPr>
                  <a:t>i</a:t>
                </a:r>
                <a:r>
                  <a:rPr lang="en-US" sz="2400" i="1" dirty="0">
                    <a:latin typeface="Cambria Math" panose="02040503050406030204" pitchFamily="18" charset="0"/>
                    <a:ea typeface="Cambria Math" panose="02040503050406030204" pitchFamily="18" charset="0"/>
                  </a:rPr>
                  <a:t> </a:t>
                </a:r>
                <a:r>
                  <a:rPr lang="en-US" sz="2400" dirty="0">
                    <a:latin typeface="Cambria Math" panose="02040503050406030204" pitchFamily="18" charset="0"/>
                    <a:ea typeface="Cambria Math" panose="02040503050406030204" pitchFamily="18" charset="0"/>
                    <a:sym typeface="Symbol" panose="05050102010706020507" pitchFamily="18" charset="2"/>
                  </a:rPr>
                  <a:t> </a:t>
                </a:r>
                <a:r>
                  <a:rPr lang="en-US" sz="2400" dirty="0">
                    <a:latin typeface="Cambria Math" panose="02040503050406030204" pitchFamily="18" charset="0"/>
                    <a:ea typeface="Cambria Math" panose="02040503050406030204" pitchFamily="18" charset="0"/>
                  </a:rPr>
                  <a:t>I,</a:t>
                </a:r>
                <a:r>
                  <a:rPr lang="en-US" sz="2400" baseline="-25000" dirty="0">
                    <a:latin typeface="Cambria Math" panose="02040503050406030204" pitchFamily="18" charset="0"/>
                    <a:ea typeface="Cambria Math" panose="02040503050406030204" pitchFamily="18" charset="0"/>
                  </a:rPr>
                  <a:t> </a:t>
                </a:r>
                <a:r>
                  <a:rPr lang="en-US" sz="2400" i="1" dirty="0">
                    <a:latin typeface="Cambria Math" panose="02040503050406030204" pitchFamily="18" charset="0"/>
                    <a:ea typeface="Cambria Math" panose="02040503050406030204" pitchFamily="18" charset="0"/>
                  </a:rPr>
                  <a:t>j </a:t>
                </a:r>
                <a:r>
                  <a:rPr lang="en-US" sz="2400" dirty="0">
                    <a:latin typeface="Cambria Math" panose="02040503050406030204" pitchFamily="18" charset="0"/>
                    <a:ea typeface="Cambria Math" panose="02040503050406030204" pitchFamily="18" charset="0"/>
                    <a:sym typeface="Symbol" panose="05050102010706020507" pitchFamily="18" charset="2"/>
                  </a:rPr>
                  <a:t> </a:t>
                </a:r>
                <a:r>
                  <a:rPr lang="en-US" sz="2400" dirty="0">
                    <a:latin typeface="Cambria Math" panose="02040503050406030204" pitchFamily="18" charset="0"/>
                    <a:ea typeface="Cambria Math" panose="02040503050406030204" pitchFamily="18" charset="0"/>
                  </a:rPr>
                  <a:t>J</a:t>
                </a:r>
                <a:r>
                  <a:rPr lang="en-US" sz="2400" baseline="-25000" dirty="0">
                    <a:latin typeface="Cambria Math" panose="02040503050406030204" pitchFamily="18" charset="0"/>
                    <a:ea typeface="Cambria Math" panose="02040503050406030204" pitchFamily="18" charset="0"/>
                  </a:rPr>
                  <a:t> </a:t>
                </a:r>
                <a:r>
                  <a:rPr lang="en-US" sz="2400" baseline="-25000" dirty="0">
                    <a:latin typeface="Arial" panose="020B0604020202020204" pitchFamily="34" charset="0"/>
                  </a:rPr>
                  <a:t> 	</a:t>
                </a:r>
                <a:r>
                  <a:rPr lang="it-IT" sz="2400" dirty="0">
                    <a:latin typeface="Cambria Math" panose="02040503050406030204" pitchFamily="18" charset="0"/>
                    <a:ea typeface="Cambria Math" panose="02040503050406030204" pitchFamily="18" charset="0"/>
                  </a:rPr>
                  <a:t>(6)</a:t>
                </a:r>
                <a:endParaRPr lang="en-US" sz="2400" dirty="0">
                  <a:latin typeface="Arial" panose="020B0604020202020204" pitchFamily="34" charset="0"/>
                </a:endParaRPr>
              </a:p>
              <a:p>
                <a:pPr fontAlgn="ctr">
                  <a:lnSpc>
                    <a:spcPct val="150000"/>
                  </a:lnSpc>
                  <a:spcBef>
                    <a:spcPts val="0"/>
                  </a:spcBef>
                  <a:tabLst>
                    <a:tab pos="1789113" algn="l"/>
                    <a:tab pos="5024438" algn="l"/>
                    <a:tab pos="7177088" algn="l"/>
                  </a:tabLst>
                </a:pPr>
                <a:r>
                  <a:rPr lang="en-US" sz="2400" b="0" u="none" strike="noStrike" kern="1200" dirty="0">
                    <a:solidFill>
                      <a:schemeClr val="tx1"/>
                    </a:solidFill>
                    <a:effectLst/>
                    <a:latin typeface="Arial" panose="020B0604020202020204" pitchFamily="34" charset="0"/>
                    <a:ea typeface="Cambria Math" panose="02040503050406030204" pitchFamily="18" charset="0"/>
                  </a:rPr>
                  <a:t>	</a:t>
                </a:r>
                <a14:m>
                  <m:oMath xmlns:m="http://schemas.openxmlformats.org/officeDocument/2006/math">
                    <m:sSub>
                      <m:sSubPr>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sSubPr>
                      <m:e>
                        <m:r>
                          <a:rPr lang="en-US" sz="2400" b="0" i="1" u="none" strike="noStrike" kern="1200" smtClean="0">
                            <a:solidFill>
                              <a:schemeClr val="tx1"/>
                            </a:solidFill>
                            <a:effectLst/>
                            <a:latin typeface="Cambria Math" panose="02040503050406030204" pitchFamily="18" charset="0"/>
                            <a:ea typeface="Cambria Math" panose="02040503050406030204" pitchFamily="18" charset="0"/>
                          </a:rPr>
                          <m:t>𝑞</m:t>
                        </m:r>
                      </m:e>
                      <m:sub>
                        <m:r>
                          <m:rPr>
                            <m:sty m:val="p"/>
                          </m:rPr>
                          <a:rPr lang="en-US" sz="2400" b="0" i="0" u="none" strike="noStrike" kern="1200">
                            <a:solidFill>
                              <a:schemeClr val="tx1"/>
                            </a:solidFill>
                            <a:effectLst/>
                            <a:latin typeface="Cambria Math" panose="02040503050406030204" pitchFamily="18" charset="0"/>
                            <a:ea typeface="Cambria Math" panose="02040503050406030204" pitchFamily="18" charset="0"/>
                          </a:rPr>
                          <m:t>ij</m:t>
                        </m:r>
                      </m:sub>
                    </m:sSub>
                    <m:r>
                      <a:rPr lang="en-US" sz="2400" b="0" i="1" u="none" strike="noStrike" kern="1200" smtClean="0">
                        <a:solidFill>
                          <a:schemeClr val="tx1"/>
                        </a:solidFill>
                        <a:effectLst/>
                        <a:latin typeface="Cambria Math" panose="02040503050406030204" pitchFamily="18" charset="0"/>
                        <a:ea typeface="Cambria Math" panose="02040503050406030204" pitchFamily="18" charset="0"/>
                      </a:rPr>
                      <m:t>∈</m:t>
                    </m:r>
                    <m:sSubSup>
                      <m:sSubSupPr>
                        <m:ctrlPr>
                          <a:rPr lang="en-US" sz="2400" b="0" i="1" u="none" strike="noStrike" kern="1200" smtClean="0">
                            <a:solidFill>
                              <a:schemeClr val="tx1"/>
                            </a:solidFill>
                            <a:effectLst/>
                            <a:latin typeface="Cambria Math" panose="02040503050406030204" pitchFamily="18" charset="0"/>
                            <a:ea typeface="Cambria Math" panose="02040503050406030204" pitchFamily="18" charset="0"/>
                          </a:rPr>
                        </m:ctrlPr>
                      </m:sSubSupPr>
                      <m:e>
                        <m:r>
                          <a:rPr lang="en-US" sz="2400" b="0" i="1" u="none" strike="noStrike" kern="1200" smtClean="0">
                            <a:solidFill>
                              <a:schemeClr val="tx1"/>
                            </a:solidFill>
                            <a:effectLst/>
                            <a:latin typeface="Cambria Math" panose="02040503050406030204" pitchFamily="18" charset="0"/>
                            <a:ea typeface="Cambria Math" panose="02040503050406030204" pitchFamily="18" charset="0"/>
                          </a:rPr>
                          <m:t>ℤ</m:t>
                        </m:r>
                      </m:e>
                      <m:sub>
                        <m:r>
                          <a:rPr lang="en-US" sz="2400" b="0" i="1" u="none" strike="noStrike" kern="1200" smtClean="0">
                            <a:solidFill>
                              <a:schemeClr val="tx1"/>
                            </a:solidFill>
                            <a:effectLst/>
                            <a:latin typeface="Cambria Math" panose="02040503050406030204" pitchFamily="18" charset="0"/>
                            <a:ea typeface="Cambria Math" panose="02040503050406030204" pitchFamily="18" charset="0"/>
                          </a:rPr>
                          <m:t>0</m:t>
                        </m:r>
                      </m:sub>
                      <m:sup>
                        <m:r>
                          <a:rPr lang="en-US" sz="2400" b="0" i="1" u="none" strike="noStrike" kern="1200" smtClean="0">
                            <a:solidFill>
                              <a:schemeClr val="tx1"/>
                            </a:solidFill>
                            <a:effectLst/>
                            <a:latin typeface="Cambria Math" panose="02040503050406030204" pitchFamily="18" charset="0"/>
                            <a:ea typeface="Cambria Math" panose="02040503050406030204" pitchFamily="18" charset="0"/>
                          </a:rPr>
                          <m:t>+</m:t>
                        </m:r>
                      </m:sup>
                    </m:sSubSup>
                  </m:oMath>
                </a14:m>
                <a:r>
                  <a:rPr lang="en-US" sz="2400" b="0" i="0" u="none" strike="noStrike" dirty="0">
                    <a:solidFill>
                      <a:schemeClr val="tx1"/>
                    </a:solidFill>
                    <a:effectLst/>
                    <a:latin typeface="Arial" panose="020B0604020202020204" pitchFamily="34" charset="0"/>
                  </a:rPr>
                  <a:t> 	</a:t>
                </a:r>
                <a:r>
                  <a:rPr lang="en-US" sz="2400" b="0" i="1" u="none" strike="noStrike" kern="1200" dirty="0" err="1">
                    <a:solidFill>
                      <a:schemeClr val="tx1"/>
                    </a:solidFill>
                    <a:effectLst/>
                    <a:latin typeface="Cambria Math" panose="02040503050406030204" pitchFamily="18" charset="0"/>
                    <a:ea typeface="Cambria Math" panose="02040503050406030204" pitchFamily="18" charset="0"/>
                  </a:rPr>
                  <a:t>i</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 </a:t>
                </a:r>
                <a:r>
                  <a:rPr lang="en-US" sz="2400" b="0" i="0" u="none" strike="noStrike" kern="1200" dirty="0">
                    <a:solidFill>
                      <a:schemeClr val="tx1"/>
                    </a:solidFill>
                    <a:effectLst/>
                    <a:latin typeface="Cambria Math" panose="02040503050406030204" pitchFamily="18" charset="0"/>
                    <a:ea typeface="Cambria Math" panose="02040503050406030204" pitchFamily="18" charset="0"/>
                    <a:sym typeface="Symbol" panose="05050102010706020507" pitchFamily="18" charset="2"/>
                  </a:rPr>
                  <a:t> </a:t>
                </a:r>
                <a:r>
                  <a:rPr lang="en-US" sz="2400" b="0" u="none" strike="noStrike" kern="1200" dirty="0">
                    <a:solidFill>
                      <a:schemeClr val="tx1"/>
                    </a:solidFill>
                    <a:effectLst/>
                    <a:latin typeface="Cambria Math" panose="02040503050406030204" pitchFamily="18" charset="0"/>
                    <a:ea typeface="Cambria Math" panose="02040503050406030204" pitchFamily="18" charset="0"/>
                  </a:rPr>
                  <a:t>I</a:t>
                </a:r>
                <a:r>
                  <a:rPr lang="en-US" sz="2400" b="0" i="0" u="none" strike="noStrike" kern="1200" dirty="0">
                    <a:solidFill>
                      <a:schemeClr val="tx1"/>
                    </a:solidFill>
                    <a:effectLst/>
                    <a:latin typeface="Cambria Math" panose="02040503050406030204" pitchFamily="18" charset="0"/>
                    <a:ea typeface="Cambria Math" panose="02040503050406030204" pitchFamily="18" charset="0"/>
                  </a:rPr>
                  <a:t>,</a:t>
                </a:r>
                <a:r>
                  <a:rPr lang="en-US" sz="2400" b="0" i="0" u="none" strike="noStrike" kern="1200" baseline="-25000" dirty="0">
                    <a:solidFill>
                      <a:schemeClr val="tx1"/>
                    </a:solidFill>
                    <a:effectLst/>
                    <a:latin typeface="Cambria Math" panose="02040503050406030204" pitchFamily="18" charset="0"/>
                    <a:ea typeface="Cambria Math" panose="02040503050406030204" pitchFamily="18" charset="0"/>
                  </a:rPr>
                  <a:t> </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j </a:t>
                </a:r>
                <a:r>
                  <a:rPr lang="en-US" sz="2400" b="0" i="0" u="none" strike="noStrike" kern="1200" dirty="0">
                    <a:solidFill>
                      <a:schemeClr val="tx1"/>
                    </a:solidFill>
                    <a:effectLst/>
                    <a:latin typeface="Cambria Math" panose="02040503050406030204" pitchFamily="18" charset="0"/>
                    <a:ea typeface="Cambria Math" panose="02040503050406030204" pitchFamily="18" charset="0"/>
                    <a:sym typeface="Symbol" panose="05050102010706020507" pitchFamily="18" charset="2"/>
                  </a:rPr>
                  <a:t> </a:t>
                </a:r>
                <a:r>
                  <a:rPr lang="en-US" sz="2400" b="0" u="none" strike="noStrike" kern="1200" dirty="0">
                    <a:solidFill>
                      <a:schemeClr val="tx1"/>
                    </a:solidFill>
                    <a:effectLst/>
                    <a:latin typeface="Cambria Math" panose="02040503050406030204" pitchFamily="18" charset="0"/>
                    <a:ea typeface="Cambria Math" panose="02040503050406030204" pitchFamily="18" charset="0"/>
                  </a:rPr>
                  <a:t>J</a:t>
                </a:r>
                <a:r>
                  <a:rPr lang="en-US" sz="2400" b="0" i="0" u="none" strike="noStrike" kern="1200" baseline="-25000" dirty="0">
                    <a:solidFill>
                      <a:schemeClr val="tx1"/>
                    </a:solidFill>
                    <a:effectLst/>
                    <a:latin typeface="Cambria Math" panose="02040503050406030204" pitchFamily="18" charset="0"/>
                    <a:ea typeface="Cambria Math" panose="02040503050406030204" pitchFamily="18" charset="0"/>
                  </a:rPr>
                  <a:t> </a:t>
                </a:r>
                <a:r>
                  <a:rPr lang="en-US" sz="2400" baseline="-25000" dirty="0">
                    <a:latin typeface="Arial" panose="020B0604020202020204" pitchFamily="34" charset="0"/>
                  </a:rPr>
                  <a:t> 	</a:t>
                </a:r>
                <a:r>
                  <a:rPr lang="it-IT" sz="2400" b="0" i="0" u="none" strike="noStrike" kern="1200" dirty="0">
                    <a:solidFill>
                      <a:schemeClr val="tx1"/>
                    </a:solidFill>
                    <a:effectLst/>
                    <a:latin typeface="Cambria Math" panose="02040503050406030204" pitchFamily="18" charset="0"/>
                    <a:ea typeface="Cambria Math" panose="02040503050406030204" pitchFamily="18" charset="0"/>
                  </a:rPr>
                  <a:t>(</a:t>
                </a:r>
                <a:r>
                  <a:rPr lang="it-IT" sz="2400" dirty="0">
                    <a:latin typeface="Cambria Math" panose="02040503050406030204" pitchFamily="18" charset="0"/>
                    <a:ea typeface="Cambria Math" panose="02040503050406030204" pitchFamily="18" charset="0"/>
                  </a:rPr>
                  <a:t>7</a:t>
                </a:r>
                <a:r>
                  <a:rPr lang="it-IT" sz="2400" b="0" i="0" u="none" strike="noStrike" kern="1200" dirty="0">
                    <a:solidFill>
                      <a:schemeClr val="tx1"/>
                    </a:solidFill>
                    <a:effectLst/>
                    <a:latin typeface="Cambria Math" panose="02040503050406030204" pitchFamily="18" charset="0"/>
                    <a:ea typeface="Cambria Math" panose="02040503050406030204" pitchFamily="18" charset="0"/>
                  </a:rPr>
                  <a:t>)</a:t>
                </a:r>
                <a:endParaRPr lang="en-US" sz="2400" b="0" i="0" u="none" strike="noStrike" dirty="0">
                  <a:solidFill>
                    <a:schemeClr val="tx1"/>
                  </a:solidFill>
                  <a:effectLst/>
                  <a:latin typeface="Arial" panose="020B0604020202020204" pitchFamily="34" charset="0"/>
                </a:endParaRPr>
              </a:p>
              <a:p>
                <a:endParaRPr lang="en-US" sz="2400" dirty="0">
                  <a:solidFill>
                    <a:schemeClr val="tx1"/>
                  </a:solidFill>
                </a:endParaRPr>
              </a:p>
            </p:txBody>
          </p:sp>
        </mc:Choice>
        <mc:Fallback xmlns="">
          <p:sp>
            <p:nvSpPr>
              <p:cNvPr id="2" name="Content Placeholder 1">
                <a:extLst>
                  <a:ext uri="{FF2B5EF4-FFF2-40B4-BE49-F238E27FC236}">
                    <a16:creationId xmlns:a16="http://schemas.microsoft.com/office/drawing/2014/main" id="{74A286D6-0507-C00A-C4FB-69619416EBA4}"/>
                  </a:ext>
                </a:extLst>
              </p:cNvPr>
              <p:cNvSpPr>
                <a:spLocks noGrp="1" noRot="1" noChangeAspect="1" noMove="1" noResize="1" noEditPoints="1" noAdjustHandles="1" noChangeArrowheads="1" noChangeShapeType="1" noTextEdit="1"/>
              </p:cNvSpPr>
              <p:nvPr>
                <p:ph idx="1"/>
              </p:nvPr>
            </p:nvSpPr>
            <p:spPr>
              <a:xfrm>
                <a:off x="298912" y="1173916"/>
                <a:ext cx="8546175" cy="5259392"/>
              </a:xfrm>
              <a:blipFill>
                <a:blip r:embed="rId2"/>
                <a:stretch>
                  <a:fillRect l="-1070" t="-754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396A4349-66F5-6CE3-AFE4-E6CD7F87A5FE}"/>
              </a:ext>
            </a:extLst>
          </p:cNvPr>
          <p:cNvSpPr>
            <a:spLocks noGrp="1"/>
          </p:cNvSpPr>
          <p:nvPr>
            <p:ph type="title"/>
          </p:nvPr>
        </p:nvSpPr>
        <p:spPr>
          <a:xfrm>
            <a:off x="278767" y="27446"/>
            <a:ext cx="8791195" cy="766769"/>
          </a:xfrm>
        </p:spPr>
        <p:txBody>
          <a:bodyPr/>
          <a:lstStyle/>
          <a:p>
            <a:r>
              <a:rPr lang="it-IT" dirty="0" err="1"/>
              <a:t>Deterministic</a:t>
            </a:r>
            <a:r>
              <a:rPr lang="it-IT" dirty="0"/>
              <a:t> </a:t>
            </a:r>
            <a:r>
              <a:rPr lang="it-IT" dirty="0" err="1"/>
              <a:t>allocation</a:t>
            </a:r>
            <a:endParaRPr lang="en-US" dirty="0"/>
          </a:p>
        </p:txBody>
      </p:sp>
      <p:sp>
        <p:nvSpPr>
          <p:cNvPr id="4" name="Footer Placeholder 3">
            <a:extLst>
              <a:ext uri="{FF2B5EF4-FFF2-40B4-BE49-F238E27FC236}">
                <a16:creationId xmlns:a16="http://schemas.microsoft.com/office/drawing/2014/main" id="{EEA1227D-CD72-1F39-4841-05299173BDFF}"/>
              </a:ext>
            </a:extLst>
          </p:cNvPr>
          <p:cNvSpPr>
            <a:spLocks noGrp="1"/>
          </p:cNvSpPr>
          <p:nvPr>
            <p:ph type="ftr" sz="quarter" idx="3"/>
          </p:nvPr>
        </p:nvSpPr>
        <p:spPr/>
        <p:txBody>
          <a:bodyPr/>
          <a:lstStyle/>
          <a:p>
            <a:pPr>
              <a:defRPr/>
            </a:pPr>
            <a:r>
              <a:rPr lang="it-IT"/>
              <a:t>Vittorio Maniezzo - University of Bologna</a:t>
            </a:r>
            <a:endParaRPr lang="it-IT" dirty="0"/>
          </a:p>
        </p:txBody>
      </p:sp>
      <p:sp>
        <p:nvSpPr>
          <p:cNvPr id="5" name="Slide Number Placeholder 4">
            <a:extLst>
              <a:ext uri="{FF2B5EF4-FFF2-40B4-BE49-F238E27FC236}">
                <a16:creationId xmlns:a16="http://schemas.microsoft.com/office/drawing/2014/main" id="{B1CBC097-C49A-3EF3-F0C3-7737496C4B5A}"/>
              </a:ext>
            </a:extLst>
          </p:cNvPr>
          <p:cNvSpPr>
            <a:spLocks noGrp="1"/>
          </p:cNvSpPr>
          <p:nvPr>
            <p:ph type="sldNum" sz="quarter" idx="4"/>
          </p:nvPr>
        </p:nvSpPr>
        <p:spPr/>
        <p:txBody>
          <a:bodyPr/>
          <a:lstStyle/>
          <a:p>
            <a:pPr>
              <a:defRPr/>
            </a:pPr>
            <a:fld id="{476DEB1C-3253-4C07-8F02-456B7B2AD41D}" type="slidenum">
              <a:rPr lang="it-IT" smtClean="0"/>
              <a:pPr>
                <a:defRPr/>
              </a:pPr>
              <a:t>7</a:t>
            </a:fld>
            <a:endParaRPr lang="it-IT" dirty="0"/>
          </a:p>
        </p:txBody>
      </p:sp>
    </p:spTree>
    <p:extLst>
      <p:ext uri="{BB962C8B-B14F-4D97-AF65-F5344CB8AC3E}">
        <p14:creationId xmlns:p14="http://schemas.microsoft.com/office/powerpoint/2010/main" val="1557273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4A286D6-0507-C00A-C4FB-69619416EBA4}"/>
                  </a:ext>
                </a:extLst>
              </p:cNvPr>
              <p:cNvSpPr>
                <a:spLocks noGrp="1"/>
              </p:cNvSpPr>
              <p:nvPr>
                <p:ph idx="1"/>
              </p:nvPr>
            </p:nvSpPr>
            <p:spPr>
              <a:xfrm>
                <a:off x="298912" y="1173916"/>
                <a:ext cx="8546175" cy="5338202"/>
              </a:xfrm>
            </p:spPr>
            <p:txBody>
              <a:bodyPr>
                <a:normAutofit/>
              </a:bodyPr>
              <a:lstStyle/>
              <a:p>
                <a:pPr marL="0" rtl="0" eaLnBrk="1" fontAlgn="ctr" latinLnBrk="0" hangingPunct="1">
                  <a:lnSpc>
                    <a:spcPct val="150000"/>
                  </a:lnSpc>
                  <a:spcBef>
                    <a:spcPts val="0"/>
                  </a:spcBef>
                  <a:spcAft>
                    <a:spcPts val="0"/>
                  </a:spcAft>
                  <a:tabLst>
                    <a:tab pos="1789113" algn="l"/>
                    <a:tab pos="5024438" algn="l"/>
                    <a:tab pos="7177088" algn="l"/>
                  </a:tabLst>
                </a:pPr>
                <a:r>
                  <a:rPr lang="en-US" sz="2400" b="0" i="0" u="none" strike="noStrike" kern="1200" dirty="0">
                    <a:solidFill>
                      <a:schemeClr val="tx1"/>
                    </a:solidFill>
                    <a:effectLst/>
                    <a:latin typeface="Cambria Math" panose="02040503050406030204" pitchFamily="18" charset="0"/>
                    <a:ea typeface="Cambria Math" panose="02040503050406030204" pitchFamily="18" charset="0"/>
                  </a:rPr>
                  <a:t>z(H) = </a:t>
                </a:r>
                <a:r>
                  <a:rPr lang="en-US" sz="2400" b="1" i="1" u="none" strike="noStrike" kern="1200" dirty="0">
                    <a:solidFill>
                      <a:schemeClr val="tx1"/>
                    </a:solidFill>
                    <a:effectLst/>
                    <a:latin typeface="Cambria Math" panose="02040503050406030204" pitchFamily="18" charset="0"/>
                    <a:ea typeface="Cambria Math" panose="02040503050406030204" pitchFamily="18" charset="0"/>
                  </a:rPr>
                  <a:t>min</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  	</a:t>
                </a:r>
                <a14:m>
                  <m:oMath xmlns:m="http://schemas.openxmlformats.org/officeDocument/2006/math">
                    <m:nary>
                      <m:naryPr>
                        <m:chr m:val="∑"/>
                        <m:supHide m:val="on"/>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naryPr>
                      <m:sub>
                        <m:r>
                          <m:rPr>
                            <m:brk m:alnAt="7"/>
                          </m:rPr>
                          <a:rPr lang="en-US" sz="2400" b="0" i="0" u="none" strike="noStrike" kern="1200">
                            <a:solidFill>
                              <a:schemeClr val="tx1"/>
                            </a:solidFill>
                            <a:effectLst/>
                            <a:latin typeface="Cambria Math" panose="02040503050406030204" pitchFamily="18" charset="0"/>
                            <a:ea typeface="Cambria Math" panose="02040503050406030204" pitchFamily="18" charset="0"/>
                          </a:rPr>
                          <m:t>𝑖</m:t>
                        </m:r>
                        <m:r>
                          <a:rPr lang="en-US" sz="2400" b="0" i="0" u="none" strike="noStrike" kern="1200">
                            <a:solidFill>
                              <a:schemeClr val="tx1"/>
                            </a:solidFill>
                            <a:effectLst/>
                            <a:latin typeface="Cambria Math" panose="02040503050406030204" pitchFamily="18" charset="0"/>
                            <a:ea typeface="Cambria Math" panose="02040503050406030204" pitchFamily="18" charset="0"/>
                          </a:rPr>
                          <m:t>∈</m:t>
                        </m:r>
                        <m:r>
                          <a:rPr lang="it-IT" sz="2400" b="0" i="1" u="none" strike="noStrike" kern="1200">
                            <a:solidFill>
                              <a:schemeClr val="tx1"/>
                            </a:solidFill>
                            <a:effectLst/>
                            <a:latin typeface="Cambria Math" panose="02040503050406030204" pitchFamily="18" charset="0"/>
                            <a:ea typeface="Cambria Math" panose="02040503050406030204" pitchFamily="18" charset="0"/>
                          </a:rPr>
                          <m:t>𝐼</m:t>
                        </m:r>
                      </m:sub>
                      <m:sup/>
                      <m:e>
                        <m:nary>
                          <m:naryPr>
                            <m:chr m:val="∑"/>
                            <m:limLoc m:val="subSup"/>
                            <m:supHide m:val="on"/>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naryPr>
                          <m:sub>
                            <m:r>
                              <m:rPr>
                                <m:brk m:alnAt="9"/>
                              </m:rPr>
                              <a:rPr lang="en-US" sz="2400" b="0" i="0" u="none" strike="noStrike" kern="1200">
                                <a:solidFill>
                                  <a:schemeClr val="tx1"/>
                                </a:solidFill>
                                <a:effectLst/>
                                <a:latin typeface="Cambria Math" panose="02040503050406030204" pitchFamily="18" charset="0"/>
                                <a:ea typeface="Cambria Math" panose="02040503050406030204" pitchFamily="18" charset="0"/>
                              </a:rPr>
                              <m:t>𝑗</m:t>
                            </m:r>
                            <m:r>
                              <a:rPr lang="en-US" sz="2400" b="0" i="0" u="none" strike="noStrike" kern="1200">
                                <a:solidFill>
                                  <a:schemeClr val="tx1"/>
                                </a:solidFill>
                                <a:effectLst/>
                                <a:latin typeface="Cambria Math" panose="02040503050406030204" pitchFamily="18" charset="0"/>
                                <a:ea typeface="Cambria Math" panose="02040503050406030204" pitchFamily="18" charset="0"/>
                              </a:rPr>
                              <m:t>∈</m:t>
                            </m:r>
                            <m:r>
                              <a:rPr lang="it-IT" sz="2400" b="0" i="1" u="none" strike="noStrike" kern="1200">
                                <a:solidFill>
                                  <a:schemeClr val="tx1"/>
                                </a:solidFill>
                                <a:effectLst/>
                                <a:latin typeface="Cambria Math" panose="02040503050406030204" pitchFamily="18" charset="0"/>
                                <a:ea typeface="Cambria Math" panose="02040503050406030204" pitchFamily="18" charset="0"/>
                              </a:rPr>
                              <m:t>𝐽</m:t>
                            </m:r>
                          </m:sub>
                          <m:sup/>
                          <m:e>
                            <m:sSub>
                              <m:sSubPr>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sSubPr>
                              <m:e>
                                <m:r>
                                  <a:rPr lang="it-IT" sz="2400" b="0" i="0" u="none" strike="noStrike" kern="1200" smtClean="0">
                                    <a:solidFill>
                                      <a:schemeClr val="tx1"/>
                                    </a:solidFill>
                                    <a:effectLst/>
                                    <a:latin typeface="Cambria Math" panose="02040503050406030204" pitchFamily="18" charset="0"/>
                                    <a:ea typeface="Cambria Math" panose="02040503050406030204" pitchFamily="18" charset="0"/>
                                  </a:rPr>
                                  <m:t>(</m:t>
                                </m:r>
                                <m:r>
                                  <m:rPr>
                                    <m:sty m:val="p"/>
                                  </m:rPr>
                                  <a:rPr lang="en-US" sz="2400" b="0" i="0" u="none" strike="noStrike" kern="1200">
                                    <a:solidFill>
                                      <a:schemeClr val="tx1"/>
                                    </a:solidFill>
                                    <a:effectLst/>
                                    <a:latin typeface="Cambria Math" panose="02040503050406030204" pitchFamily="18" charset="0"/>
                                    <a:ea typeface="Cambria Math" panose="02040503050406030204" pitchFamily="18" charset="0"/>
                                  </a:rPr>
                                  <m:t>c</m:t>
                                </m:r>
                              </m:e>
                              <m:sub>
                                <m:r>
                                  <m:rPr>
                                    <m:sty m:val="p"/>
                                  </m:rPr>
                                  <a:rPr lang="en-US" sz="2400" b="0" i="0" u="none" strike="noStrike" kern="1200">
                                    <a:solidFill>
                                      <a:schemeClr val="tx1"/>
                                    </a:solidFill>
                                    <a:effectLst/>
                                    <a:latin typeface="Cambria Math" panose="02040503050406030204" pitchFamily="18" charset="0"/>
                                    <a:ea typeface="Cambria Math" panose="02040503050406030204" pitchFamily="18" charset="0"/>
                                  </a:rPr>
                                  <m:t>ij</m:t>
                                </m:r>
                              </m:sub>
                            </m:sSub>
                            <m:sSub>
                              <m:sSubPr>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sSubPr>
                              <m:e>
                                <m:r>
                                  <a:rPr lang="en-US" sz="2400" b="0" i="0" u="none" strike="noStrike" kern="1200">
                                    <a:solidFill>
                                      <a:schemeClr val="tx1"/>
                                    </a:solidFill>
                                    <a:effectLst/>
                                    <a:latin typeface="Cambria Math" panose="02040503050406030204" pitchFamily="18" charset="0"/>
                                    <a:ea typeface="Cambria Math" panose="02040503050406030204" pitchFamily="18" charset="0"/>
                                  </a:rPr>
                                  <m:t>𝑥</m:t>
                                </m:r>
                              </m:e>
                              <m:sub>
                                <m:r>
                                  <m:rPr>
                                    <m:sty m:val="p"/>
                                  </m:rPr>
                                  <a:rPr lang="en-US" sz="2400" b="0" i="0" u="none" strike="noStrike" kern="1200">
                                    <a:solidFill>
                                      <a:schemeClr val="tx1"/>
                                    </a:solidFill>
                                    <a:effectLst/>
                                    <a:latin typeface="Cambria Math" panose="02040503050406030204" pitchFamily="18" charset="0"/>
                                    <a:ea typeface="Cambria Math" panose="02040503050406030204" pitchFamily="18" charset="0"/>
                                  </a:rPr>
                                  <m:t>ij</m:t>
                                </m:r>
                              </m:sub>
                            </m:sSub>
                          </m:e>
                        </m:nary>
                      </m:e>
                    </m:nary>
                    <m:r>
                      <a:rPr lang="it-IT" sz="2400" b="0" i="1" u="none" strike="noStrike" kern="1200" smtClean="0">
                        <a:solidFill>
                          <a:schemeClr val="tx1"/>
                        </a:solidFill>
                        <a:effectLst/>
                        <a:latin typeface="Cambria Math" panose="02040503050406030204" pitchFamily="18" charset="0"/>
                        <a:ea typeface="Cambria Math" panose="02040503050406030204" pitchFamily="18" charset="0"/>
                      </a:rPr>
                      <m:t>+</m:t>
                    </m:r>
                    <m:sSub>
                      <m:sSubPr>
                        <m:ctrlPr>
                          <a:rPr lang="it-IT" sz="2400" b="0" i="1" u="none" strike="noStrike" kern="1200" smtClean="0">
                            <a:solidFill>
                              <a:schemeClr val="tx1"/>
                            </a:solidFill>
                            <a:effectLst/>
                            <a:latin typeface="Cambria Math" panose="02040503050406030204" pitchFamily="18" charset="0"/>
                            <a:ea typeface="Cambria Math" panose="02040503050406030204" pitchFamily="18" charset="0"/>
                          </a:rPr>
                        </m:ctrlPr>
                      </m:sSubPr>
                      <m:e>
                        <m:r>
                          <a:rPr lang="it-IT" sz="2400" b="0" i="1" u="none" strike="noStrike" kern="1200" smtClean="0">
                            <a:solidFill>
                              <a:schemeClr val="tx1"/>
                            </a:solidFill>
                            <a:effectLst/>
                            <a:latin typeface="Cambria Math" panose="02040503050406030204" pitchFamily="18" charset="0"/>
                            <a:ea typeface="Cambria Math" panose="02040503050406030204" pitchFamily="18" charset="0"/>
                          </a:rPr>
                          <m:t>𝑑</m:t>
                        </m:r>
                      </m:e>
                      <m:sub>
                        <m:r>
                          <a:rPr lang="it-IT" sz="2400" b="0" i="1" u="none" strike="noStrike" kern="1200" smtClean="0">
                            <a:solidFill>
                              <a:schemeClr val="tx1"/>
                            </a:solidFill>
                            <a:effectLst/>
                            <a:latin typeface="Cambria Math" panose="02040503050406030204" pitchFamily="18" charset="0"/>
                            <a:ea typeface="Cambria Math" panose="02040503050406030204" pitchFamily="18" charset="0"/>
                          </a:rPr>
                          <m:t>𝑖</m:t>
                        </m:r>
                      </m:sub>
                    </m:sSub>
                    <m:sSub>
                      <m:sSubPr>
                        <m:ctrlPr>
                          <a:rPr lang="it-IT" sz="2400" b="0" i="1" u="none" strike="noStrike" kern="1200" smtClean="0">
                            <a:solidFill>
                              <a:schemeClr val="tx1"/>
                            </a:solidFill>
                            <a:effectLst/>
                            <a:latin typeface="Cambria Math" panose="02040503050406030204" pitchFamily="18" charset="0"/>
                            <a:ea typeface="Cambria Math" panose="02040503050406030204" pitchFamily="18" charset="0"/>
                          </a:rPr>
                        </m:ctrlPr>
                      </m:sSubPr>
                      <m:e>
                        <m:r>
                          <a:rPr lang="it-IT" sz="2400" b="0" i="1" u="none" strike="noStrike" kern="1200" smtClean="0">
                            <a:solidFill>
                              <a:schemeClr val="tx1"/>
                            </a:solidFill>
                            <a:effectLst/>
                            <a:latin typeface="Cambria Math" panose="02040503050406030204" pitchFamily="18" charset="0"/>
                            <a:ea typeface="Cambria Math" panose="02040503050406030204" pitchFamily="18" charset="0"/>
                          </a:rPr>
                          <m:t>𝑞</m:t>
                        </m:r>
                      </m:e>
                      <m:sub>
                        <m:r>
                          <a:rPr lang="it-IT" sz="2400" b="0" i="1" u="none" strike="noStrike" kern="1200" smtClean="0">
                            <a:solidFill>
                              <a:schemeClr val="tx1"/>
                            </a:solidFill>
                            <a:effectLst/>
                            <a:latin typeface="Cambria Math" panose="02040503050406030204" pitchFamily="18" charset="0"/>
                            <a:ea typeface="Cambria Math" panose="02040503050406030204" pitchFamily="18" charset="0"/>
                          </a:rPr>
                          <m:t>𝑖𝑗</m:t>
                        </m:r>
                      </m:sub>
                    </m:sSub>
                    <m:r>
                      <a:rPr lang="it-IT" sz="2400" b="0" i="1" u="none" strike="noStrike" kern="1200" smtClean="0">
                        <a:solidFill>
                          <a:schemeClr val="tx1"/>
                        </a:solidFill>
                        <a:effectLst/>
                        <a:latin typeface="Cambria Math" panose="02040503050406030204" pitchFamily="18" charset="0"/>
                        <a:ea typeface="Cambria Math" panose="02040503050406030204" pitchFamily="18" charset="0"/>
                      </a:rPr>
                      <m:t>)</m:t>
                    </m:r>
                  </m:oMath>
                </a14:m>
                <a:r>
                  <a:rPr lang="en-US" sz="2400" b="0" i="0" u="none" strike="noStrike" kern="1200" dirty="0">
                    <a:solidFill>
                      <a:schemeClr val="tx1"/>
                    </a:solidFill>
                    <a:effectLst/>
                    <a:latin typeface="Cambria Math" panose="02040503050406030204" pitchFamily="18" charset="0"/>
                    <a:ea typeface="Cambria Math" panose="02040503050406030204" pitchFamily="18" charset="0"/>
                  </a:rPr>
                  <a:t>		(1)</a:t>
                </a:r>
                <a:endParaRPr lang="en-US" sz="2400" b="0" i="0" u="none" strike="noStrike" dirty="0">
                  <a:solidFill>
                    <a:schemeClr val="tx1"/>
                  </a:solidFill>
                  <a:effectLst/>
                  <a:latin typeface="Arial" panose="020B0604020202020204" pitchFamily="34" charset="0"/>
                </a:endParaRPr>
              </a:p>
              <a:p>
                <a:pPr fontAlgn="ctr">
                  <a:lnSpc>
                    <a:spcPct val="150000"/>
                  </a:lnSpc>
                  <a:spcBef>
                    <a:spcPts val="0"/>
                  </a:spcBef>
                  <a:tabLst>
                    <a:tab pos="1789113" algn="l"/>
                    <a:tab pos="5024438" algn="l"/>
                    <a:tab pos="7177088" algn="l"/>
                  </a:tabLst>
                </a:pPr>
                <a:r>
                  <a:rPr lang="en-US" sz="2400" b="1" i="1" u="none" strike="noStrike" kern="1200" dirty="0">
                    <a:solidFill>
                      <a:schemeClr val="tx1"/>
                    </a:solidFill>
                    <a:effectLst/>
                    <a:latin typeface="Cambria Math" panose="02040503050406030204" pitchFamily="18" charset="0"/>
                    <a:ea typeface="Cambria Math" panose="02040503050406030204" pitchFamily="18" charset="0"/>
                  </a:rPr>
                  <a:t>subject to</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 	</a:t>
                </a:r>
                <a14:m>
                  <m:oMath xmlns:m="http://schemas.openxmlformats.org/officeDocument/2006/math">
                    <m:nary>
                      <m:naryPr>
                        <m:chr m:val="∑"/>
                        <m:supHide m:val="on"/>
                        <m:ctrlPr>
                          <a:rPr lang="en-US" i="1">
                            <a:latin typeface="Cambria Math" panose="02040503050406030204" pitchFamily="18" charset="0"/>
                            <a:ea typeface="Cambria Math" panose="02040503050406030204" pitchFamily="18" charset="0"/>
                          </a:rPr>
                        </m:ctrlPr>
                      </m:naryPr>
                      <m:sub>
                        <m:r>
                          <a:rPr lang="en-US" i="1">
                            <a:latin typeface="Cambria Math" panose="02040503050406030204" pitchFamily="18" charset="0"/>
                            <a:ea typeface="Cambria Math" panose="02040503050406030204" pitchFamily="18" charset="0"/>
                          </a:rPr>
                          <m:t>𝑖</m:t>
                        </m:r>
                        <m: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𝐼</m:t>
                        </m:r>
                      </m:sub>
                      <m:sup/>
                      <m:e>
                        <m:sSub>
                          <m:sSubPr>
                            <m:ctrlPr>
                              <a:rPr lang="en-US" i="1">
                                <a:latin typeface="Cambria Math" panose="02040503050406030204" pitchFamily="18" charset="0"/>
                                <a:ea typeface="Cambria Math" panose="02040503050406030204" pitchFamily="18" charset="0"/>
                              </a:rPr>
                            </m:ctrlPr>
                          </m:sSubPr>
                          <m:e>
                            <m:r>
                              <a:rPr lang="en-US">
                                <a:latin typeface="Cambria Math" panose="02040503050406030204" pitchFamily="18" charset="0"/>
                                <a:ea typeface="Cambria Math" panose="02040503050406030204" pitchFamily="18" charset="0"/>
                              </a:rPr>
                              <m:t>𝑞</m:t>
                            </m:r>
                          </m:e>
                          <m:sub>
                            <m:r>
                              <m:rPr>
                                <m:sty m:val="p"/>
                              </m:rPr>
                              <a:rPr lang="en-US">
                                <a:latin typeface="Cambria Math" panose="02040503050406030204" pitchFamily="18" charset="0"/>
                                <a:ea typeface="Cambria Math" panose="02040503050406030204" pitchFamily="18" charset="0"/>
                              </a:rPr>
                              <m:t>ij</m:t>
                            </m:r>
                          </m:sub>
                        </m:sSub>
                      </m:e>
                    </m:nary>
                    <m:r>
                      <a:rPr lang="en-US">
                        <a:latin typeface="Cambria Math" panose="02040503050406030204" pitchFamily="18" charset="0"/>
                        <a:ea typeface="Cambria Math" panose="02040503050406030204" pitchFamily="18" charset="0"/>
                      </a:rPr>
                      <m:t>=</m:t>
                    </m:r>
                    <m:sSub>
                      <m:sSubPr>
                        <m:ctrlPr>
                          <a:rPr lang="en-US" i="1" smtClean="0">
                            <a:solidFill>
                              <a:srgbClr val="FF0000"/>
                            </a:solidFill>
                            <a:latin typeface="Cambria Math" panose="02040503050406030204" pitchFamily="18" charset="0"/>
                            <a:ea typeface="Cambria Math" panose="02040503050406030204" pitchFamily="18" charset="0"/>
                          </a:rPr>
                        </m:ctrlPr>
                      </m:sSubPr>
                      <m:e>
                        <m:r>
                          <a:rPr lang="it-IT" b="0" i="1" smtClean="0">
                            <a:solidFill>
                              <a:srgbClr val="FF0000"/>
                            </a:solidFill>
                            <a:latin typeface="Cambria Math" panose="02040503050406030204" pitchFamily="18" charset="0"/>
                            <a:ea typeface="Cambria Math" panose="02040503050406030204" pitchFamily="18" charset="0"/>
                          </a:rPr>
                          <m:t>𝜌</m:t>
                        </m:r>
                      </m:e>
                      <m:sub>
                        <m:r>
                          <m:rPr>
                            <m:sty m:val="p"/>
                          </m:rPr>
                          <a:rPr lang="en-US">
                            <a:solidFill>
                              <a:srgbClr val="FF0000"/>
                            </a:solidFill>
                            <a:latin typeface="Cambria Math" panose="02040503050406030204" pitchFamily="18" charset="0"/>
                            <a:ea typeface="Cambria Math" panose="02040503050406030204" pitchFamily="18" charset="0"/>
                          </a:rPr>
                          <m:t>j</m:t>
                        </m:r>
                      </m:sub>
                    </m:sSub>
                  </m:oMath>
                </a14:m>
                <a:r>
                  <a:rPr lang="en-US" dirty="0">
                    <a:solidFill>
                      <a:srgbClr val="FF0000"/>
                    </a:solidFill>
                    <a:latin typeface="Arial" panose="020B0604020202020204" pitchFamily="34" charset="0"/>
                  </a:rPr>
                  <a:t> </a:t>
                </a:r>
                <a:r>
                  <a:rPr lang="en-US" dirty="0">
                    <a:latin typeface="Arial" panose="020B0604020202020204" pitchFamily="34" charset="0"/>
                  </a:rPr>
                  <a:t>	</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j </a:t>
                </a:r>
                <a:r>
                  <a:rPr lang="en-US" sz="2400" b="0" i="0" u="none" strike="noStrike" kern="1200" dirty="0">
                    <a:solidFill>
                      <a:schemeClr val="tx1"/>
                    </a:solidFill>
                    <a:effectLst/>
                    <a:latin typeface="Cambria Math" panose="02040503050406030204" pitchFamily="18" charset="0"/>
                    <a:ea typeface="Cambria Math" panose="02040503050406030204" pitchFamily="18" charset="0"/>
                    <a:sym typeface="Symbol" panose="05050102010706020507" pitchFamily="18" charset="2"/>
                  </a:rPr>
                  <a:t> </a:t>
                </a:r>
                <a:r>
                  <a:rPr lang="en-US" sz="2400" b="0" u="none" strike="noStrike" kern="1200" dirty="0">
                    <a:solidFill>
                      <a:schemeClr val="tx1"/>
                    </a:solidFill>
                    <a:effectLst/>
                    <a:latin typeface="Cambria Math" panose="02040503050406030204" pitchFamily="18" charset="0"/>
                    <a:ea typeface="Cambria Math" panose="02040503050406030204" pitchFamily="18" charset="0"/>
                  </a:rPr>
                  <a:t>J </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	</a:t>
                </a:r>
                <a:r>
                  <a:rPr lang="it-IT" sz="2400" b="0" i="0" u="none" strike="noStrike" kern="1200" dirty="0">
                    <a:solidFill>
                      <a:schemeClr val="tx1"/>
                    </a:solidFill>
                    <a:effectLst/>
                    <a:latin typeface="Cambria Math" panose="02040503050406030204" pitchFamily="18" charset="0"/>
                    <a:ea typeface="Cambria Math" panose="02040503050406030204" pitchFamily="18" charset="0"/>
                  </a:rPr>
                  <a:t>(2)</a:t>
                </a:r>
                <a:endParaRPr lang="en-US" sz="2400" dirty="0">
                  <a:latin typeface="Arial" panose="020B0604020202020204" pitchFamily="34" charset="0"/>
                </a:endParaRPr>
              </a:p>
              <a:p>
                <a:pPr marL="0" rtl="0" eaLnBrk="1" fontAlgn="ctr" latinLnBrk="0" hangingPunct="1">
                  <a:lnSpc>
                    <a:spcPct val="150000"/>
                  </a:lnSpc>
                  <a:spcBef>
                    <a:spcPts val="0"/>
                  </a:spcBef>
                  <a:spcAft>
                    <a:spcPts val="0"/>
                  </a:spcAft>
                  <a:tabLst>
                    <a:tab pos="1789113" algn="l"/>
                    <a:tab pos="5024438" algn="l"/>
                    <a:tab pos="7177088" algn="l"/>
                  </a:tabLst>
                </a:pPr>
                <a:r>
                  <a:rPr lang="en-US" sz="2400" b="0" u="none" strike="noStrike" kern="1200" dirty="0">
                    <a:solidFill>
                      <a:schemeClr val="tx1"/>
                    </a:solidFill>
                    <a:effectLst/>
                    <a:ea typeface="Cambria Math" panose="02040503050406030204" pitchFamily="18" charset="0"/>
                  </a:rPr>
                  <a:t>	</a:t>
                </a:r>
                <a14:m>
                  <m:oMath xmlns:m="http://schemas.openxmlformats.org/officeDocument/2006/math">
                    <m:nary>
                      <m:naryPr>
                        <m:chr m:val="∑"/>
                        <m:supHide m:val="on"/>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naryPr>
                      <m:sub>
                        <m:r>
                          <a:rPr lang="en-US" sz="2400" b="0" i="0" u="none" strike="noStrike" kern="1200">
                            <a:solidFill>
                              <a:schemeClr val="tx1"/>
                            </a:solidFill>
                            <a:effectLst/>
                            <a:latin typeface="Cambria Math" panose="02040503050406030204" pitchFamily="18" charset="0"/>
                            <a:ea typeface="Cambria Math" panose="02040503050406030204" pitchFamily="18" charset="0"/>
                          </a:rPr>
                          <m:t>𝑗</m:t>
                        </m:r>
                        <m:r>
                          <a:rPr lang="en-US" sz="2400" b="0" i="0" u="none" strike="noStrike" kern="1200">
                            <a:solidFill>
                              <a:schemeClr val="tx1"/>
                            </a:solidFill>
                            <a:effectLst/>
                            <a:latin typeface="Cambria Math" panose="02040503050406030204" pitchFamily="18" charset="0"/>
                            <a:ea typeface="Cambria Math" panose="02040503050406030204" pitchFamily="18" charset="0"/>
                          </a:rPr>
                          <m:t>∈</m:t>
                        </m:r>
                        <m:r>
                          <a:rPr lang="it-IT" sz="2400" b="0" i="1" u="none" strike="noStrike" kern="1200">
                            <a:solidFill>
                              <a:schemeClr val="tx1"/>
                            </a:solidFill>
                            <a:effectLst/>
                            <a:latin typeface="Cambria Math" panose="02040503050406030204" pitchFamily="18" charset="0"/>
                            <a:ea typeface="Cambria Math" panose="02040503050406030204" pitchFamily="18" charset="0"/>
                          </a:rPr>
                          <m:t>𝐽</m:t>
                        </m:r>
                      </m:sub>
                      <m:sup/>
                      <m:e>
                        <m:sSub>
                          <m:sSubPr>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sSubPr>
                          <m:e>
                            <m:r>
                              <a:rPr lang="en-US" sz="2400" b="0" i="0" u="none" strike="noStrike" kern="1200">
                                <a:solidFill>
                                  <a:schemeClr val="tx1"/>
                                </a:solidFill>
                                <a:effectLst/>
                                <a:latin typeface="Cambria Math" panose="02040503050406030204" pitchFamily="18" charset="0"/>
                                <a:ea typeface="Cambria Math" panose="02040503050406030204" pitchFamily="18" charset="0"/>
                              </a:rPr>
                              <m:t>𝑞</m:t>
                            </m:r>
                          </m:e>
                          <m:sub>
                            <m:r>
                              <m:rPr>
                                <m:sty m:val="p"/>
                              </m:rPr>
                              <a:rPr lang="en-US" sz="2400" b="0" i="0" u="none" strike="noStrike" kern="1200">
                                <a:solidFill>
                                  <a:schemeClr val="tx1"/>
                                </a:solidFill>
                                <a:effectLst/>
                                <a:latin typeface="Cambria Math" panose="02040503050406030204" pitchFamily="18" charset="0"/>
                                <a:ea typeface="Cambria Math" panose="02040503050406030204" pitchFamily="18" charset="0"/>
                              </a:rPr>
                              <m:t>ij</m:t>
                            </m:r>
                          </m:sub>
                        </m:sSub>
                      </m:e>
                    </m:nary>
                    <m:r>
                      <a:rPr lang="en-US" sz="2400" b="0" i="0" u="none" strike="noStrike" kern="1200">
                        <a:solidFill>
                          <a:schemeClr val="tx1"/>
                        </a:solidFill>
                        <a:effectLst/>
                        <a:latin typeface="Cambria Math" panose="02040503050406030204" pitchFamily="18" charset="0"/>
                        <a:ea typeface="Cambria Math" panose="02040503050406030204" pitchFamily="18" charset="0"/>
                      </a:rPr>
                      <m:t>≤</m:t>
                    </m:r>
                    <m:sSub>
                      <m:sSubPr>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sSubPr>
                      <m:e>
                        <m:r>
                          <a:rPr lang="en-US" sz="2400" b="0" i="0" u="none" strike="noStrike" kern="1200">
                            <a:solidFill>
                              <a:schemeClr val="tx1"/>
                            </a:solidFill>
                            <a:effectLst/>
                            <a:latin typeface="Cambria Math" panose="02040503050406030204" pitchFamily="18" charset="0"/>
                            <a:ea typeface="Cambria Math" panose="02040503050406030204" pitchFamily="18" charset="0"/>
                          </a:rPr>
                          <m:t>𝑄</m:t>
                        </m:r>
                      </m:e>
                      <m:sub>
                        <m:r>
                          <a:rPr lang="en-US" sz="2400" b="0" i="0" u="none" strike="noStrike" kern="1200">
                            <a:solidFill>
                              <a:schemeClr val="tx1"/>
                            </a:solidFill>
                            <a:effectLst/>
                            <a:latin typeface="Cambria Math" panose="02040503050406030204" pitchFamily="18" charset="0"/>
                            <a:ea typeface="Cambria Math" panose="02040503050406030204" pitchFamily="18" charset="0"/>
                          </a:rPr>
                          <m:t>𝑖</m:t>
                        </m:r>
                      </m:sub>
                    </m:sSub>
                  </m:oMath>
                </a14:m>
                <a:r>
                  <a:rPr lang="en-US" sz="2400" dirty="0">
                    <a:latin typeface="Arial" panose="020B0604020202020204" pitchFamily="34" charset="0"/>
                  </a:rPr>
                  <a:t> 	</a:t>
                </a:r>
                <a:r>
                  <a:rPr lang="en-US" sz="2400" b="0" i="1" u="none" strike="noStrike" kern="1200" dirty="0" err="1">
                    <a:solidFill>
                      <a:schemeClr val="tx1"/>
                    </a:solidFill>
                    <a:effectLst/>
                    <a:latin typeface="Cambria Math" panose="02040503050406030204" pitchFamily="18" charset="0"/>
                    <a:ea typeface="Cambria Math" panose="02040503050406030204" pitchFamily="18" charset="0"/>
                  </a:rPr>
                  <a:t>i</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 </a:t>
                </a:r>
                <a:r>
                  <a:rPr lang="en-US" sz="2400" b="0" i="0" u="none" strike="noStrike" kern="1200" dirty="0">
                    <a:solidFill>
                      <a:schemeClr val="tx1"/>
                    </a:solidFill>
                    <a:effectLst/>
                    <a:latin typeface="Cambria Math" panose="02040503050406030204" pitchFamily="18" charset="0"/>
                    <a:ea typeface="Cambria Math" panose="02040503050406030204" pitchFamily="18" charset="0"/>
                    <a:sym typeface="Symbol" panose="05050102010706020507" pitchFamily="18" charset="2"/>
                  </a:rPr>
                  <a:t> </a:t>
                </a:r>
                <a:r>
                  <a:rPr lang="en-US" sz="2400" b="0" u="none" strike="noStrike" kern="1200" dirty="0">
                    <a:solidFill>
                      <a:schemeClr val="tx1"/>
                    </a:solidFill>
                    <a:effectLst/>
                    <a:latin typeface="Cambria Math" panose="02040503050406030204" pitchFamily="18" charset="0"/>
                    <a:ea typeface="Cambria Math" panose="02040503050406030204" pitchFamily="18" charset="0"/>
                  </a:rPr>
                  <a:t>I</a:t>
                </a:r>
                <a:r>
                  <a:rPr lang="en-US" sz="2400" b="0" i="0" u="none" strike="noStrike" kern="1200" baseline="-25000" dirty="0">
                    <a:solidFill>
                      <a:schemeClr val="tx1"/>
                    </a:solidFill>
                    <a:effectLst/>
                    <a:latin typeface="Cambria Math" panose="02040503050406030204" pitchFamily="18" charset="0"/>
                    <a:ea typeface="Cambria Math" panose="02040503050406030204" pitchFamily="18" charset="0"/>
                  </a:rPr>
                  <a:t>  	</a:t>
                </a:r>
                <a:r>
                  <a:rPr lang="it-IT" sz="2400" b="0" i="0" u="none" strike="noStrike" kern="1200" dirty="0">
                    <a:solidFill>
                      <a:schemeClr val="tx1"/>
                    </a:solidFill>
                    <a:effectLst/>
                    <a:latin typeface="Cambria Math" panose="02040503050406030204" pitchFamily="18" charset="0"/>
                    <a:ea typeface="Cambria Math" panose="02040503050406030204" pitchFamily="18" charset="0"/>
                  </a:rPr>
                  <a:t>(3)</a:t>
                </a:r>
              </a:p>
              <a:p>
                <a:pPr marL="0" rtl="0" eaLnBrk="1" fontAlgn="ctr" latinLnBrk="0" hangingPunct="1">
                  <a:lnSpc>
                    <a:spcPct val="150000"/>
                  </a:lnSpc>
                  <a:spcBef>
                    <a:spcPts val="0"/>
                  </a:spcBef>
                  <a:spcAft>
                    <a:spcPts val="0"/>
                  </a:spcAft>
                  <a:tabLst>
                    <a:tab pos="1789113" algn="l"/>
                    <a:tab pos="5024438" algn="l"/>
                    <a:tab pos="7177088" algn="l"/>
                  </a:tabLst>
                </a:pPr>
                <a:r>
                  <a:rPr lang="en-US" sz="2400" b="0" u="none" strike="noStrike" kern="1200" dirty="0">
                    <a:solidFill>
                      <a:schemeClr val="tx1"/>
                    </a:solidFill>
                    <a:effectLst/>
                    <a:ea typeface="Cambria Math" panose="02040503050406030204" pitchFamily="18" charset="0"/>
                  </a:rPr>
                  <a:t>	</a:t>
                </a:r>
                <a14:m>
                  <m:oMath xmlns:m="http://schemas.openxmlformats.org/officeDocument/2006/math">
                    <m:nary>
                      <m:naryPr>
                        <m:chr m:val="∑"/>
                        <m:supHide m:val="on"/>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naryPr>
                      <m:sub>
                        <m:r>
                          <a:rPr lang="en-US" sz="2400" b="0" i="0" u="none" strike="noStrike" kern="1200">
                            <a:solidFill>
                              <a:schemeClr val="tx1"/>
                            </a:solidFill>
                            <a:effectLst/>
                            <a:latin typeface="Cambria Math" panose="02040503050406030204" pitchFamily="18" charset="0"/>
                            <a:ea typeface="Cambria Math" panose="02040503050406030204" pitchFamily="18" charset="0"/>
                          </a:rPr>
                          <m:t>𝑖</m:t>
                        </m:r>
                        <m:r>
                          <a:rPr lang="en-US" sz="2400" b="0" i="0" u="none" strike="noStrike" kern="1200">
                            <a:solidFill>
                              <a:schemeClr val="tx1"/>
                            </a:solidFill>
                            <a:effectLst/>
                            <a:latin typeface="Cambria Math" panose="02040503050406030204" pitchFamily="18" charset="0"/>
                            <a:ea typeface="Cambria Math" panose="02040503050406030204" pitchFamily="18" charset="0"/>
                          </a:rPr>
                          <m:t>∈</m:t>
                        </m:r>
                        <m:r>
                          <a:rPr lang="it-IT" sz="2400" b="0" i="1" u="none" strike="noStrike" kern="1200">
                            <a:solidFill>
                              <a:schemeClr val="tx1"/>
                            </a:solidFill>
                            <a:effectLst/>
                            <a:latin typeface="Cambria Math" panose="02040503050406030204" pitchFamily="18" charset="0"/>
                            <a:ea typeface="Cambria Math" panose="02040503050406030204" pitchFamily="18" charset="0"/>
                          </a:rPr>
                          <m:t>𝐼</m:t>
                        </m:r>
                      </m:sub>
                      <m:sup/>
                      <m:e>
                        <m:sSub>
                          <m:sSubPr>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sSubPr>
                          <m:e>
                            <m:r>
                              <a:rPr lang="en-US" sz="2400" b="0" i="0" u="none" strike="noStrike" kern="1200">
                                <a:solidFill>
                                  <a:schemeClr val="tx1"/>
                                </a:solidFill>
                                <a:effectLst/>
                                <a:latin typeface="Cambria Math" panose="02040503050406030204" pitchFamily="18" charset="0"/>
                                <a:ea typeface="Cambria Math" panose="02040503050406030204" pitchFamily="18" charset="0"/>
                              </a:rPr>
                              <m:t>𝑥</m:t>
                            </m:r>
                          </m:e>
                          <m:sub>
                            <m:r>
                              <m:rPr>
                                <m:sty m:val="p"/>
                              </m:rPr>
                              <a:rPr lang="en-US" sz="2400" b="0" i="0" u="none" strike="noStrike" kern="1200">
                                <a:solidFill>
                                  <a:schemeClr val="tx1"/>
                                </a:solidFill>
                                <a:effectLst/>
                                <a:latin typeface="Cambria Math" panose="02040503050406030204" pitchFamily="18" charset="0"/>
                                <a:ea typeface="Cambria Math" panose="02040503050406030204" pitchFamily="18" charset="0"/>
                              </a:rPr>
                              <m:t>ij</m:t>
                            </m:r>
                          </m:sub>
                        </m:sSub>
                      </m:e>
                    </m:nary>
                    <m:r>
                      <a:rPr lang="en-US" sz="2400" b="0" i="1" u="none" strike="noStrike" kern="1200" smtClean="0">
                        <a:solidFill>
                          <a:schemeClr val="tx1"/>
                        </a:solidFill>
                        <a:effectLst/>
                        <a:latin typeface="Cambria Math" panose="02040503050406030204" pitchFamily="18" charset="0"/>
                        <a:ea typeface="Cambria Math" panose="02040503050406030204" pitchFamily="18" charset="0"/>
                      </a:rPr>
                      <m:t>≤</m:t>
                    </m:r>
                    <m:sSub>
                      <m:sSubPr>
                        <m:ctrlPr>
                          <a:rPr lang="en-US" sz="2400" b="0" i="1" u="none" strike="noStrike" kern="1200" smtClean="0">
                            <a:solidFill>
                              <a:schemeClr val="tx1"/>
                            </a:solidFill>
                            <a:effectLst/>
                            <a:latin typeface="Cambria Math" panose="02040503050406030204" pitchFamily="18" charset="0"/>
                            <a:ea typeface="Cambria Math" panose="02040503050406030204" pitchFamily="18" charset="0"/>
                          </a:rPr>
                        </m:ctrlPr>
                      </m:sSubPr>
                      <m:e>
                        <m:r>
                          <a:rPr lang="en-US" sz="2400" b="0" i="1" u="none" strike="noStrike" kern="1200" smtClean="0">
                            <a:solidFill>
                              <a:schemeClr val="tx1"/>
                            </a:solidFill>
                            <a:effectLst/>
                            <a:latin typeface="Cambria Math" panose="02040503050406030204" pitchFamily="18" charset="0"/>
                            <a:ea typeface="Cambria Math" panose="02040503050406030204" pitchFamily="18" charset="0"/>
                          </a:rPr>
                          <m:t>𝑏</m:t>
                        </m:r>
                      </m:e>
                      <m:sub>
                        <m:r>
                          <m:rPr>
                            <m:sty m:val="p"/>
                          </m:rPr>
                          <a:rPr lang="en-US" sz="2400" b="0" i="0" u="none" strike="noStrike" kern="1200" smtClean="0">
                            <a:solidFill>
                              <a:schemeClr val="tx1"/>
                            </a:solidFill>
                            <a:effectLst/>
                            <a:latin typeface="Cambria Math" panose="02040503050406030204" pitchFamily="18" charset="0"/>
                            <a:ea typeface="Cambria Math" panose="02040503050406030204" pitchFamily="18" charset="0"/>
                          </a:rPr>
                          <m:t>j</m:t>
                        </m:r>
                      </m:sub>
                    </m:sSub>
                  </m:oMath>
                </a14:m>
                <a:r>
                  <a:rPr lang="en-US" sz="2400" b="0" i="0" u="none" strike="noStrike" dirty="0">
                    <a:solidFill>
                      <a:schemeClr val="tx1"/>
                    </a:solidFill>
                    <a:effectLst/>
                    <a:latin typeface="Arial" panose="020B0604020202020204" pitchFamily="34" charset="0"/>
                  </a:rPr>
                  <a:t> 	</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j </a:t>
                </a:r>
                <a:r>
                  <a:rPr lang="en-US" sz="2400" b="0" i="0" u="none" strike="noStrike" kern="1200" dirty="0">
                    <a:solidFill>
                      <a:schemeClr val="tx1"/>
                    </a:solidFill>
                    <a:effectLst/>
                    <a:latin typeface="Cambria Math" panose="02040503050406030204" pitchFamily="18" charset="0"/>
                    <a:ea typeface="Cambria Math" panose="02040503050406030204" pitchFamily="18" charset="0"/>
                    <a:sym typeface="Symbol" panose="05050102010706020507" pitchFamily="18" charset="2"/>
                  </a:rPr>
                  <a:t> </a:t>
                </a:r>
                <a:r>
                  <a:rPr lang="en-US" sz="2400" b="0" u="none" strike="noStrike" kern="1200" dirty="0">
                    <a:solidFill>
                      <a:schemeClr val="tx1"/>
                    </a:solidFill>
                    <a:effectLst/>
                    <a:latin typeface="Cambria Math" panose="02040503050406030204" pitchFamily="18" charset="0"/>
                    <a:ea typeface="Cambria Math" panose="02040503050406030204" pitchFamily="18" charset="0"/>
                  </a:rPr>
                  <a:t>J</a:t>
                </a:r>
                <a:r>
                  <a:rPr lang="en-US" sz="2400" b="0" i="0" u="none" strike="noStrike" kern="1200" baseline="-25000" dirty="0">
                    <a:solidFill>
                      <a:schemeClr val="tx1"/>
                    </a:solidFill>
                    <a:effectLst/>
                    <a:latin typeface="Cambria Math" panose="02040503050406030204" pitchFamily="18" charset="0"/>
                    <a:ea typeface="Cambria Math" panose="02040503050406030204" pitchFamily="18" charset="0"/>
                  </a:rPr>
                  <a:t>  	</a:t>
                </a:r>
                <a:r>
                  <a:rPr lang="it-IT" sz="2400" b="0" i="0" u="none" strike="noStrike" kern="1200" dirty="0">
                    <a:solidFill>
                      <a:schemeClr val="tx1"/>
                    </a:solidFill>
                    <a:effectLst/>
                    <a:latin typeface="Cambria Math" panose="02040503050406030204" pitchFamily="18" charset="0"/>
                    <a:ea typeface="Cambria Math" panose="02040503050406030204" pitchFamily="18" charset="0"/>
                  </a:rPr>
                  <a:t>(4)</a:t>
                </a:r>
              </a:p>
              <a:p>
                <a:pPr fontAlgn="ctr">
                  <a:lnSpc>
                    <a:spcPct val="150000"/>
                  </a:lnSpc>
                  <a:spcBef>
                    <a:spcPts val="0"/>
                  </a:spcBef>
                  <a:tabLst>
                    <a:tab pos="1789113" algn="l"/>
                    <a:tab pos="5024438" algn="l"/>
                    <a:tab pos="7177088" algn="l"/>
                  </a:tabLst>
                </a:pPr>
                <a:r>
                  <a:rPr lang="en-US" sz="2400" dirty="0">
                    <a:ea typeface="Cambria Math" panose="02040503050406030204" pitchFamily="18" charset="0"/>
                  </a:rPr>
                  <a:t>	</a:t>
                </a:r>
                <a14:m>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𝑞</m:t>
                        </m:r>
                      </m:e>
                      <m:sub>
                        <m:r>
                          <m:rPr>
                            <m:sty m:val="p"/>
                          </m:rPr>
                          <a:rPr lang="en-US" sz="2400">
                            <a:latin typeface="Cambria Math" panose="02040503050406030204" pitchFamily="18" charset="0"/>
                            <a:ea typeface="Cambria Math" panose="02040503050406030204" pitchFamily="18" charset="0"/>
                          </a:rPr>
                          <m:t>ij</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solidFill>
                              <a:srgbClr val="FF0000"/>
                            </a:solidFill>
                            <a:latin typeface="Cambria Math" panose="02040503050406030204" pitchFamily="18" charset="0"/>
                            <a:ea typeface="Cambria Math" panose="02040503050406030204" pitchFamily="18" charset="0"/>
                          </a:rPr>
                        </m:ctrlPr>
                      </m:sSubPr>
                      <m:e>
                        <m:r>
                          <a:rPr lang="it-IT" sz="2400" b="0" i="1" smtClean="0">
                            <a:solidFill>
                              <a:srgbClr val="FF0000"/>
                            </a:solidFill>
                            <a:latin typeface="Cambria Math" panose="02040503050406030204" pitchFamily="18" charset="0"/>
                            <a:ea typeface="Cambria Math" panose="02040503050406030204" pitchFamily="18" charset="0"/>
                          </a:rPr>
                          <m:t>𝜌</m:t>
                        </m:r>
                      </m:e>
                      <m:sub>
                        <m:r>
                          <m:rPr>
                            <m:sty m:val="p"/>
                          </m:rPr>
                          <a:rPr lang="en-US" sz="2400" b="0" i="0" smtClean="0">
                            <a:solidFill>
                              <a:srgbClr val="FF0000"/>
                            </a:solidFill>
                            <a:latin typeface="Cambria Math" panose="02040503050406030204" pitchFamily="18" charset="0"/>
                            <a:ea typeface="Cambria Math" panose="02040503050406030204" pitchFamily="18" charset="0"/>
                          </a:rPr>
                          <m:t>j</m:t>
                        </m:r>
                      </m:sub>
                    </m:sSub>
                    <m:sSub>
                      <m:sSubPr>
                        <m:ctrlPr>
                          <a:rPr lang="en-US" sz="2400" b="0" i="1" smtClean="0">
                            <a:latin typeface="Cambria Math" panose="02040503050406030204" pitchFamily="18" charset="0"/>
                            <a:ea typeface="Cambria Math" panose="02040503050406030204" pitchFamily="18" charset="0"/>
                          </a:rPr>
                        </m:ctrlPr>
                      </m:sSubPr>
                      <m:e>
                        <m:r>
                          <a:rPr lang="en-US" sz="2400" b="0" i="0"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𝑥</m:t>
                        </m:r>
                      </m:e>
                      <m:sub>
                        <m:r>
                          <m:rPr>
                            <m:sty m:val="p"/>
                          </m:rPr>
                          <a:rPr lang="en-US" sz="2400" b="0" i="0" smtClean="0">
                            <a:latin typeface="Cambria Math" panose="02040503050406030204" pitchFamily="18" charset="0"/>
                            <a:ea typeface="Cambria Math" panose="02040503050406030204" pitchFamily="18" charset="0"/>
                          </a:rPr>
                          <m:t>ij</m:t>
                        </m:r>
                      </m:sub>
                    </m:sSub>
                  </m:oMath>
                </a14:m>
                <a:r>
                  <a:rPr lang="en-US" sz="2400" dirty="0">
                    <a:latin typeface="Arial" panose="020B0604020202020204" pitchFamily="34" charset="0"/>
                  </a:rPr>
                  <a:t> 	</a:t>
                </a:r>
                <a:r>
                  <a:rPr lang="en-US" sz="2400" i="1" dirty="0" err="1">
                    <a:latin typeface="Cambria Math" panose="02040503050406030204" pitchFamily="18" charset="0"/>
                    <a:ea typeface="Cambria Math" panose="02040503050406030204" pitchFamily="18" charset="0"/>
                  </a:rPr>
                  <a:t>i</a:t>
                </a:r>
                <a:r>
                  <a:rPr lang="en-US" sz="2400" i="1" dirty="0">
                    <a:latin typeface="Cambria Math" panose="02040503050406030204" pitchFamily="18" charset="0"/>
                    <a:ea typeface="Cambria Math" panose="02040503050406030204" pitchFamily="18" charset="0"/>
                  </a:rPr>
                  <a:t> </a:t>
                </a:r>
                <a:r>
                  <a:rPr lang="en-US" sz="2400" dirty="0">
                    <a:latin typeface="Cambria Math" panose="02040503050406030204" pitchFamily="18" charset="0"/>
                    <a:ea typeface="Cambria Math" panose="02040503050406030204" pitchFamily="18" charset="0"/>
                    <a:sym typeface="Symbol" panose="05050102010706020507" pitchFamily="18" charset="2"/>
                  </a:rPr>
                  <a:t> </a:t>
                </a:r>
                <a:r>
                  <a:rPr lang="en-US" sz="2400" dirty="0">
                    <a:latin typeface="Cambria Math" panose="02040503050406030204" pitchFamily="18" charset="0"/>
                    <a:ea typeface="Cambria Math" panose="02040503050406030204" pitchFamily="18" charset="0"/>
                  </a:rPr>
                  <a:t>I,</a:t>
                </a:r>
                <a:r>
                  <a:rPr lang="en-US" sz="2400" baseline="-25000" dirty="0">
                    <a:latin typeface="Cambria Math" panose="02040503050406030204" pitchFamily="18" charset="0"/>
                    <a:ea typeface="Cambria Math" panose="02040503050406030204" pitchFamily="18" charset="0"/>
                  </a:rPr>
                  <a:t> </a:t>
                </a:r>
                <a:r>
                  <a:rPr lang="en-US" sz="2400" i="1" dirty="0">
                    <a:latin typeface="Cambria Math" panose="02040503050406030204" pitchFamily="18" charset="0"/>
                    <a:ea typeface="Cambria Math" panose="02040503050406030204" pitchFamily="18" charset="0"/>
                  </a:rPr>
                  <a:t>j </a:t>
                </a:r>
                <a:r>
                  <a:rPr lang="en-US" sz="2400" dirty="0">
                    <a:latin typeface="Cambria Math" panose="02040503050406030204" pitchFamily="18" charset="0"/>
                    <a:ea typeface="Cambria Math" panose="02040503050406030204" pitchFamily="18" charset="0"/>
                    <a:sym typeface="Symbol" panose="05050102010706020507" pitchFamily="18" charset="2"/>
                  </a:rPr>
                  <a:t> </a:t>
                </a:r>
                <a:r>
                  <a:rPr lang="en-US" sz="2400" dirty="0">
                    <a:latin typeface="Cambria Math" panose="02040503050406030204" pitchFamily="18" charset="0"/>
                    <a:ea typeface="Cambria Math" panose="02040503050406030204" pitchFamily="18" charset="0"/>
                  </a:rPr>
                  <a:t>J</a:t>
                </a:r>
                <a:r>
                  <a:rPr lang="en-US" sz="2400" baseline="-25000" dirty="0">
                    <a:latin typeface="Cambria Math" panose="02040503050406030204" pitchFamily="18" charset="0"/>
                    <a:ea typeface="Cambria Math" panose="02040503050406030204" pitchFamily="18" charset="0"/>
                  </a:rPr>
                  <a:t> </a:t>
                </a:r>
                <a:r>
                  <a:rPr lang="en-US" sz="2400" baseline="-25000" dirty="0">
                    <a:latin typeface="Arial" panose="020B0604020202020204" pitchFamily="34" charset="0"/>
                  </a:rPr>
                  <a:t> 	</a:t>
                </a:r>
                <a:r>
                  <a:rPr lang="it-IT" sz="2400" dirty="0">
                    <a:latin typeface="Cambria Math" panose="02040503050406030204" pitchFamily="18" charset="0"/>
                    <a:ea typeface="Cambria Math" panose="02040503050406030204" pitchFamily="18" charset="0"/>
                  </a:rPr>
                  <a:t>(5)</a:t>
                </a:r>
                <a:endParaRPr lang="en-US" sz="2400" dirty="0">
                  <a:latin typeface="Arial" panose="020B0604020202020204" pitchFamily="34" charset="0"/>
                </a:endParaRPr>
              </a:p>
              <a:p>
                <a:pPr fontAlgn="ctr">
                  <a:lnSpc>
                    <a:spcPct val="150000"/>
                  </a:lnSpc>
                  <a:spcBef>
                    <a:spcPts val="0"/>
                  </a:spcBef>
                  <a:tabLst>
                    <a:tab pos="1789113" algn="l"/>
                    <a:tab pos="5024438" algn="l"/>
                    <a:tab pos="7177088" algn="l"/>
                  </a:tabLst>
                </a:pPr>
                <a:r>
                  <a:rPr lang="en-US" sz="2400" dirty="0">
                    <a:latin typeface="Arial" panose="020B0604020202020204" pitchFamily="34" charset="0"/>
                    <a:ea typeface="Cambria Math" panose="02040503050406030204" pitchFamily="18" charset="0"/>
                  </a:rPr>
                  <a:t>	</a:t>
                </a:r>
                <a14:m>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a:latin typeface="Cambria Math" panose="02040503050406030204" pitchFamily="18" charset="0"/>
                            <a:ea typeface="Cambria Math" panose="02040503050406030204" pitchFamily="18" charset="0"/>
                          </a:rPr>
                          <m:t>𝑥</m:t>
                        </m:r>
                      </m:e>
                      <m:sub>
                        <m:r>
                          <m:rPr>
                            <m:sty m:val="p"/>
                          </m:rPr>
                          <a:rPr lang="en-US" sz="2400">
                            <a:latin typeface="Cambria Math" panose="02040503050406030204" pitchFamily="18" charset="0"/>
                            <a:ea typeface="Cambria Math" panose="02040503050406030204" pitchFamily="18" charset="0"/>
                          </a:rPr>
                          <m:t>ij</m:t>
                        </m:r>
                      </m:sub>
                    </m:sSub>
                    <m:r>
                      <a:rPr lang="en-US" sz="2400" i="1">
                        <a:latin typeface="Cambria Math" panose="02040503050406030204" pitchFamily="18" charset="0"/>
                        <a:ea typeface="Cambria Math" panose="02040503050406030204" pitchFamily="18" charset="0"/>
                      </a:rPr>
                      <m:t>∈</m:t>
                    </m:r>
                    <m:r>
                      <a:rPr lang="en-US" sz="2400">
                        <a:latin typeface="Cambria Math" panose="02040503050406030204" pitchFamily="18" charset="0"/>
                        <a:ea typeface="Cambria Math" panose="02040503050406030204" pitchFamily="18" charset="0"/>
                      </a:rPr>
                      <m:t>{0,1}</m:t>
                    </m:r>
                  </m:oMath>
                </a14:m>
                <a:r>
                  <a:rPr lang="en-US" sz="2400" dirty="0">
                    <a:latin typeface="Arial" panose="020B0604020202020204" pitchFamily="34" charset="0"/>
                  </a:rPr>
                  <a:t> 	</a:t>
                </a:r>
                <a:r>
                  <a:rPr lang="en-US" sz="2400" i="1" dirty="0" err="1">
                    <a:latin typeface="Cambria Math" panose="02040503050406030204" pitchFamily="18" charset="0"/>
                    <a:ea typeface="Cambria Math" panose="02040503050406030204" pitchFamily="18" charset="0"/>
                  </a:rPr>
                  <a:t>i</a:t>
                </a:r>
                <a:r>
                  <a:rPr lang="en-US" sz="2400" i="1" dirty="0">
                    <a:latin typeface="Cambria Math" panose="02040503050406030204" pitchFamily="18" charset="0"/>
                    <a:ea typeface="Cambria Math" panose="02040503050406030204" pitchFamily="18" charset="0"/>
                  </a:rPr>
                  <a:t> </a:t>
                </a:r>
                <a:r>
                  <a:rPr lang="en-US" sz="2400" dirty="0">
                    <a:latin typeface="Cambria Math" panose="02040503050406030204" pitchFamily="18" charset="0"/>
                    <a:ea typeface="Cambria Math" panose="02040503050406030204" pitchFamily="18" charset="0"/>
                    <a:sym typeface="Symbol" panose="05050102010706020507" pitchFamily="18" charset="2"/>
                  </a:rPr>
                  <a:t> </a:t>
                </a:r>
                <a:r>
                  <a:rPr lang="en-US" sz="2400" dirty="0">
                    <a:latin typeface="Cambria Math" panose="02040503050406030204" pitchFamily="18" charset="0"/>
                    <a:ea typeface="Cambria Math" panose="02040503050406030204" pitchFamily="18" charset="0"/>
                  </a:rPr>
                  <a:t>I,</a:t>
                </a:r>
                <a:r>
                  <a:rPr lang="en-US" sz="2400" baseline="-25000" dirty="0">
                    <a:latin typeface="Cambria Math" panose="02040503050406030204" pitchFamily="18" charset="0"/>
                    <a:ea typeface="Cambria Math" panose="02040503050406030204" pitchFamily="18" charset="0"/>
                  </a:rPr>
                  <a:t> </a:t>
                </a:r>
                <a:r>
                  <a:rPr lang="en-US" sz="2400" i="1" dirty="0">
                    <a:latin typeface="Cambria Math" panose="02040503050406030204" pitchFamily="18" charset="0"/>
                    <a:ea typeface="Cambria Math" panose="02040503050406030204" pitchFamily="18" charset="0"/>
                  </a:rPr>
                  <a:t>j </a:t>
                </a:r>
                <a:r>
                  <a:rPr lang="en-US" sz="2400" dirty="0">
                    <a:latin typeface="Cambria Math" panose="02040503050406030204" pitchFamily="18" charset="0"/>
                    <a:ea typeface="Cambria Math" panose="02040503050406030204" pitchFamily="18" charset="0"/>
                    <a:sym typeface="Symbol" panose="05050102010706020507" pitchFamily="18" charset="2"/>
                  </a:rPr>
                  <a:t> </a:t>
                </a:r>
                <a:r>
                  <a:rPr lang="en-US" sz="2400" dirty="0">
                    <a:latin typeface="Cambria Math" panose="02040503050406030204" pitchFamily="18" charset="0"/>
                    <a:ea typeface="Cambria Math" panose="02040503050406030204" pitchFamily="18" charset="0"/>
                  </a:rPr>
                  <a:t>J</a:t>
                </a:r>
                <a:r>
                  <a:rPr lang="en-US" sz="2400" baseline="-25000" dirty="0">
                    <a:latin typeface="Cambria Math" panose="02040503050406030204" pitchFamily="18" charset="0"/>
                    <a:ea typeface="Cambria Math" panose="02040503050406030204" pitchFamily="18" charset="0"/>
                  </a:rPr>
                  <a:t> </a:t>
                </a:r>
                <a:r>
                  <a:rPr lang="en-US" sz="2400" baseline="-25000" dirty="0">
                    <a:latin typeface="Arial" panose="020B0604020202020204" pitchFamily="34" charset="0"/>
                  </a:rPr>
                  <a:t> 	</a:t>
                </a:r>
                <a:r>
                  <a:rPr lang="it-IT" sz="2400" dirty="0">
                    <a:latin typeface="Cambria Math" panose="02040503050406030204" pitchFamily="18" charset="0"/>
                    <a:ea typeface="Cambria Math" panose="02040503050406030204" pitchFamily="18" charset="0"/>
                  </a:rPr>
                  <a:t>(6)</a:t>
                </a:r>
                <a:endParaRPr lang="en-US" sz="2400" dirty="0">
                  <a:latin typeface="Arial" panose="020B0604020202020204" pitchFamily="34" charset="0"/>
                </a:endParaRPr>
              </a:p>
              <a:p>
                <a:pPr fontAlgn="ctr">
                  <a:lnSpc>
                    <a:spcPct val="150000"/>
                  </a:lnSpc>
                  <a:spcBef>
                    <a:spcPts val="0"/>
                  </a:spcBef>
                  <a:tabLst>
                    <a:tab pos="1789113" algn="l"/>
                    <a:tab pos="5024438" algn="l"/>
                    <a:tab pos="7177088" algn="l"/>
                  </a:tabLst>
                </a:pPr>
                <a:r>
                  <a:rPr lang="en-US" sz="2400" b="0" u="none" strike="noStrike" kern="1200" dirty="0">
                    <a:solidFill>
                      <a:schemeClr val="tx1"/>
                    </a:solidFill>
                    <a:effectLst/>
                    <a:latin typeface="Arial" panose="020B0604020202020204" pitchFamily="34" charset="0"/>
                    <a:ea typeface="Cambria Math" panose="02040503050406030204" pitchFamily="18" charset="0"/>
                  </a:rPr>
                  <a:t>	</a:t>
                </a:r>
                <a14:m>
                  <m:oMath xmlns:m="http://schemas.openxmlformats.org/officeDocument/2006/math">
                    <m:sSub>
                      <m:sSubPr>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sSubPr>
                      <m:e>
                        <m:r>
                          <a:rPr lang="en-US" sz="2400" b="0" i="1" u="none" strike="noStrike" kern="1200" smtClean="0">
                            <a:solidFill>
                              <a:schemeClr val="tx1"/>
                            </a:solidFill>
                            <a:effectLst/>
                            <a:latin typeface="Cambria Math" panose="02040503050406030204" pitchFamily="18" charset="0"/>
                            <a:ea typeface="Cambria Math" panose="02040503050406030204" pitchFamily="18" charset="0"/>
                          </a:rPr>
                          <m:t>𝑞</m:t>
                        </m:r>
                      </m:e>
                      <m:sub>
                        <m:r>
                          <m:rPr>
                            <m:sty m:val="p"/>
                          </m:rPr>
                          <a:rPr lang="en-US" sz="2400" b="0" i="0" u="none" strike="noStrike" kern="1200">
                            <a:solidFill>
                              <a:schemeClr val="tx1"/>
                            </a:solidFill>
                            <a:effectLst/>
                            <a:latin typeface="Cambria Math" panose="02040503050406030204" pitchFamily="18" charset="0"/>
                            <a:ea typeface="Cambria Math" panose="02040503050406030204" pitchFamily="18" charset="0"/>
                          </a:rPr>
                          <m:t>ij</m:t>
                        </m:r>
                      </m:sub>
                    </m:sSub>
                    <m:r>
                      <a:rPr lang="en-US" sz="2400" b="0" i="1" u="none" strike="noStrike" kern="1200" smtClean="0">
                        <a:solidFill>
                          <a:schemeClr val="tx1"/>
                        </a:solidFill>
                        <a:effectLst/>
                        <a:latin typeface="Cambria Math" panose="02040503050406030204" pitchFamily="18" charset="0"/>
                        <a:ea typeface="Cambria Math" panose="02040503050406030204" pitchFamily="18" charset="0"/>
                      </a:rPr>
                      <m:t>∈</m:t>
                    </m:r>
                    <m:sSubSup>
                      <m:sSubSupPr>
                        <m:ctrlPr>
                          <a:rPr lang="en-US" sz="2400" b="0" i="1" u="none" strike="noStrike" kern="1200" smtClean="0">
                            <a:solidFill>
                              <a:schemeClr val="tx1"/>
                            </a:solidFill>
                            <a:effectLst/>
                            <a:latin typeface="Cambria Math" panose="02040503050406030204" pitchFamily="18" charset="0"/>
                            <a:ea typeface="Cambria Math" panose="02040503050406030204" pitchFamily="18" charset="0"/>
                          </a:rPr>
                        </m:ctrlPr>
                      </m:sSubSupPr>
                      <m:e>
                        <m:r>
                          <a:rPr lang="en-US" sz="2400" b="0" i="1" u="none" strike="noStrike" kern="1200" smtClean="0">
                            <a:solidFill>
                              <a:schemeClr val="tx1"/>
                            </a:solidFill>
                            <a:effectLst/>
                            <a:latin typeface="Cambria Math" panose="02040503050406030204" pitchFamily="18" charset="0"/>
                            <a:ea typeface="Cambria Math" panose="02040503050406030204" pitchFamily="18" charset="0"/>
                          </a:rPr>
                          <m:t>ℤ</m:t>
                        </m:r>
                      </m:e>
                      <m:sub>
                        <m:r>
                          <a:rPr lang="en-US" sz="2400" b="0" i="1" u="none" strike="noStrike" kern="1200" smtClean="0">
                            <a:solidFill>
                              <a:schemeClr val="tx1"/>
                            </a:solidFill>
                            <a:effectLst/>
                            <a:latin typeface="Cambria Math" panose="02040503050406030204" pitchFamily="18" charset="0"/>
                            <a:ea typeface="Cambria Math" panose="02040503050406030204" pitchFamily="18" charset="0"/>
                          </a:rPr>
                          <m:t>0</m:t>
                        </m:r>
                      </m:sub>
                      <m:sup>
                        <m:r>
                          <a:rPr lang="en-US" sz="2400" b="0" i="1" u="none" strike="noStrike" kern="1200" smtClean="0">
                            <a:solidFill>
                              <a:schemeClr val="tx1"/>
                            </a:solidFill>
                            <a:effectLst/>
                            <a:latin typeface="Cambria Math" panose="02040503050406030204" pitchFamily="18" charset="0"/>
                            <a:ea typeface="Cambria Math" panose="02040503050406030204" pitchFamily="18" charset="0"/>
                          </a:rPr>
                          <m:t>+</m:t>
                        </m:r>
                      </m:sup>
                    </m:sSubSup>
                  </m:oMath>
                </a14:m>
                <a:r>
                  <a:rPr lang="en-US" sz="2400" b="0" i="0" u="none" strike="noStrike" dirty="0">
                    <a:solidFill>
                      <a:schemeClr val="tx1"/>
                    </a:solidFill>
                    <a:effectLst/>
                    <a:latin typeface="Arial" panose="020B0604020202020204" pitchFamily="34" charset="0"/>
                  </a:rPr>
                  <a:t> 	</a:t>
                </a:r>
                <a:r>
                  <a:rPr lang="en-US" sz="2400" b="0" i="1" u="none" strike="noStrike" kern="1200" dirty="0" err="1">
                    <a:solidFill>
                      <a:schemeClr val="tx1"/>
                    </a:solidFill>
                    <a:effectLst/>
                    <a:latin typeface="Cambria Math" panose="02040503050406030204" pitchFamily="18" charset="0"/>
                    <a:ea typeface="Cambria Math" panose="02040503050406030204" pitchFamily="18" charset="0"/>
                  </a:rPr>
                  <a:t>i</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 </a:t>
                </a:r>
                <a:r>
                  <a:rPr lang="en-US" sz="2400" b="0" i="0" u="none" strike="noStrike" kern="1200" dirty="0">
                    <a:solidFill>
                      <a:schemeClr val="tx1"/>
                    </a:solidFill>
                    <a:effectLst/>
                    <a:latin typeface="Cambria Math" panose="02040503050406030204" pitchFamily="18" charset="0"/>
                    <a:ea typeface="Cambria Math" panose="02040503050406030204" pitchFamily="18" charset="0"/>
                    <a:sym typeface="Symbol" panose="05050102010706020507" pitchFamily="18" charset="2"/>
                  </a:rPr>
                  <a:t> </a:t>
                </a:r>
                <a:r>
                  <a:rPr lang="en-US" sz="2400" b="0" u="none" strike="noStrike" kern="1200" dirty="0">
                    <a:solidFill>
                      <a:schemeClr val="tx1"/>
                    </a:solidFill>
                    <a:effectLst/>
                    <a:latin typeface="Cambria Math" panose="02040503050406030204" pitchFamily="18" charset="0"/>
                    <a:ea typeface="Cambria Math" panose="02040503050406030204" pitchFamily="18" charset="0"/>
                  </a:rPr>
                  <a:t>I</a:t>
                </a:r>
                <a:r>
                  <a:rPr lang="en-US" sz="2400" b="0" i="0" u="none" strike="noStrike" kern="1200" dirty="0">
                    <a:solidFill>
                      <a:schemeClr val="tx1"/>
                    </a:solidFill>
                    <a:effectLst/>
                    <a:latin typeface="Cambria Math" panose="02040503050406030204" pitchFamily="18" charset="0"/>
                    <a:ea typeface="Cambria Math" panose="02040503050406030204" pitchFamily="18" charset="0"/>
                  </a:rPr>
                  <a:t>,</a:t>
                </a:r>
                <a:r>
                  <a:rPr lang="en-US" sz="2400" b="0" i="0" u="none" strike="noStrike" kern="1200" baseline="-25000" dirty="0">
                    <a:solidFill>
                      <a:schemeClr val="tx1"/>
                    </a:solidFill>
                    <a:effectLst/>
                    <a:latin typeface="Cambria Math" panose="02040503050406030204" pitchFamily="18" charset="0"/>
                    <a:ea typeface="Cambria Math" panose="02040503050406030204" pitchFamily="18" charset="0"/>
                  </a:rPr>
                  <a:t> </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j </a:t>
                </a:r>
                <a:r>
                  <a:rPr lang="en-US" sz="2400" b="0" i="0" u="none" strike="noStrike" kern="1200" dirty="0">
                    <a:solidFill>
                      <a:schemeClr val="tx1"/>
                    </a:solidFill>
                    <a:effectLst/>
                    <a:latin typeface="Cambria Math" panose="02040503050406030204" pitchFamily="18" charset="0"/>
                    <a:ea typeface="Cambria Math" panose="02040503050406030204" pitchFamily="18" charset="0"/>
                    <a:sym typeface="Symbol" panose="05050102010706020507" pitchFamily="18" charset="2"/>
                  </a:rPr>
                  <a:t> </a:t>
                </a:r>
                <a:r>
                  <a:rPr lang="en-US" sz="2400" b="0" u="none" strike="noStrike" kern="1200" dirty="0">
                    <a:solidFill>
                      <a:schemeClr val="tx1"/>
                    </a:solidFill>
                    <a:effectLst/>
                    <a:latin typeface="Cambria Math" panose="02040503050406030204" pitchFamily="18" charset="0"/>
                    <a:ea typeface="Cambria Math" panose="02040503050406030204" pitchFamily="18" charset="0"/>
                  </a:rPr>
                  <a:t>J</a:t>
                </a:r>
                <a:r>
                  <a:rPr lang="en-US" sz="2400" b="0" i="0" u="none" strike="noStrike" kern="1200" baseline="-25000" dirty="0">
                    <a:solidFill>
                      <a:schemeClr val="tx1"/>
                    </a:solidFill>
                    <a:effectLst/>
                    <a:latin typeface="Cambria Math" panose="02040503050406030204" pitchFamily="18" charset="0"/>
                    <a:ea typeface="Cambria Math" panose="02040503050406030204" pitchFamily="18" charset="0"/>
                  </a:rPr>
                  <a:t> </a:t>
                </a:r>
                <a:r>
                  <a:rPr lang="en-US" sz="2400" baseline="-25000" dirty="0">
                    <a:latin typeface="Arial" panose="020B0604020202020204" pitchFamily="34" charset="0"/>
                  </a:rPr>
                  <a:t> 	</a:t>
                </a:r>
                <a:r>
                  <a:rPr lang="it-IT" sz="2400" b="0" i="0" u="none" strike="noStrike" kern="1200" dirty="0">
                    <a:solidFill>
                      <a:schemeClr val="tx1"/>
                    </a:solidFill>
                    <a:effectLst/>
                    <a:latin typeface="Cambria Math" panose="02040503050406030204" pitchFamily="18" charset="0"/>
                    <a:ea typeface="Cambria Math" panose="02040503050406030204" pitchFamily="18" charset="0"/>
                  </a:rPr>
                  <a:t>(</a:t>
                </a:r>
                <a:r>
                  <a:rPr lang="it-IT" sz="2400" dirty="0">
                    <a:latin typeface="Cambria Math" panose="02040503050406030204" pitchFamily="18" charset="0"/>
                    <a:ea typeface="Cambria Math" panose="02040503050406030204" pitchFamily="18" charset="0"/>
                  </a:rPr>
                  <a:t>7</a:t>
                </a:r>
                <a:r>
                  <a:rPr lang="it-IT" sz="2400" b="0" i="0" u="none" strike="noStrike" kern="1200" dirty="0">
                    <a:solidFill>
                      <a:schemeClr val="tx1"/>
                    </a:solidFill>
                    <a:effectLst/>
                    <a:latin typeface="Cambria Math" panose="02040503050406030204" pitchFamily="18" charset="0"/>
                    <a:ea typeface="Cambria Math" panose="02040503050406030204" pitchFamily="18" charset="0"/>
                  </a:rPr>
                  <a:t>)</a:t>
                </a:r>
                <a:endParaRPr lang="en-US" sz="2400" b="0" i="0" u="none" strike="noStrike" dirty="0">
                  <a:solidFill>
                    <a:schemeClr val="tx1"/>
                  </a:solidFill>
                  <a:effectLst/>
                  <a:latin typeface="Arial" panose="020B0604020202020204" pitchFamily="34" charset="0"/>
                </a:endParaRPr>
              </a:p>
              <a:p>
                <a:endParaRPr lang="en-US" sz="2400" dirty="0">
                  <a:solidFill>
                    <a:schemeClr val="tx1"/>
                  </a:solidFill>
                </a:endParaRPr>
              </a:p>
            </p:txBody>
          </p:sp>
        </mc:Choice>
        <mc:Fallback xmlns="">
          <p:sp>
            <p:nvSpPr>
              <p:cNvPr id="2" name="Content Placeholder 1">
                <a:extLst>
                  <a:ext uri="{FF2B5EF4-FFF2-40B4-BE49-F238E27FC236}">
                    <a16:creationId xmlns:a16="http://schemas.microsoft.com/office/drawing/2014/main" id="{74A286D6-0507-C00A-C4FB-69619416EBA4}"/>
                  </a:ext>
                </a:extLst>
              </p:cNvPr>
              <p:cNvSpPr>
                <a:spLocks noGrp="1" noRot="1" noChangeAspect="1" noMove="1" noResize="1" noEditPoints="1" noAdjustHandles="1" noChangeArrowheads="1" noChangeShapeType="1" noTextEdit="1"/>
              </p:cNvSpPr>
              <p:nvPr>
                <p:ph idx="1"/>
              </p:nvPr>
            </p:nvSpPr>
            <p:spPr>
              <a:xfrm>
                <a:off x="298912" y="1173916"/>
                <a:ext cx="8546175" cy="5338202"/>
              </a:xfrm>
              <a:blipFill>
                <a:blip r:embed="rId2"/>
                <a:stretch>
                  <a:fillRect l="-1070" t="-7429"/>
                </a:stretch>
              </a:blipFill>
            </p:spPr>
            <p:txBody>
              <a:bodyPr/>
              <a:lstStyle/>
              <a:p>
                <a:r>
                  <a:rPr lang="it-IT">
                    <a:noFill/>
                  </a:rPr>
                  <a:t> </a:t>
                </a:r>
              </a:p>
            </p:txBody>
          </p:sp>
        </mc:Fallback>
      </mc:AlternateContent>
      <p:sp>
        <p:nvSpPr>
          <p:cNvPr id="3" name="Title 2">
            <a:extLst>
              <a:ext uri="{FF2B5EF4-FFF2-40B4-BE49-F238E27FC236}">
                <a16:creationId xmlns:a16="http://schemas.microsoft.com/office/drawing/2014/main" id="{396A4349-66F5-6CE3-AFE4-E6CD7F87A5FE}"/>
              </a:ext>
            </a:extLst>
          </p:cNvPr>
          <p:cNvSpPr>
            <a:spLocks noGrp="1"/>
          </p:cNvSpPr>
          <p:nvPr>
            <p:ph type="title"/>
          </p:nvPr>
        </p:nvSpPr>
        <p:spPr>
          <a:xfrm>
            <a:off x="278767" y="27446"/>
            <a:ext cx="8791195" cy="766769"/>
          </a:xfrm>
        </p:spPr>
        <p:txBody>
          <a:bodyPr/>
          <a:lstStyle/>
          <a:p>
            <a:r>
              <a:rPr lang="it-IT" dirty="0" err="1"/>
              <a:t>Stochastic</a:t>
            </a:r>
            <a:r>
              <a:rPr lang="it-IT" dirty="0"/>
              <a:t> </a:t>
            </a:r>
            <a:r>
              <a:rPr lang="it-IT" dirty="0" err="1"/>
              <a:t>allocation</a:t>
            </a:r>
            <a:endParaRPr lang="en-US" dirty="0"/>
          </a:p>
        </p:txBody>
      </p:sp>
      <p:sp>
        <p:nvSpPr>
          <p:cNvPr id="4" name="Footer Placeholder 3">
            <a:extLst>
              <a:ext uri="{FF2B5EF4-FFF2-40B4-BE49-F238E27FC236}">
                <a16:creationId xmlns:a16="http://schemas.microsoft.com/office/drawing/2014/main" id="{EEA1227D-CD72-1F39-4841-05299173BDFF}"/>
              </a:ext>
            </a:extLst>
          </p:cNvPr>
          <p:cNvSpPr>
            <a:spLocks noGrp="1"/>
          </p:cNvSpPr>
          <p:nvPr>
            <p:ph type="ftr" sz="quarter" idx="3"/>
          </p:nvPr>
        </p:nvSpPr>
        <p:spPr/>
        <p:txBody>
          <a:bodyPr/>
          <a:lstStyle/>
          <a:p>
            <a:pPr>
              <a:defRPr/>
            </a:pPr>
            <a:r>
              <a:rPr lang="it-IT"/>
              <a:t>Vittorio Maniezzo - University of Bologna</a:t>
            </a:r>
            <a:endParaRPr lang="it-IT" dirty="0"/>
          </a:p>
        </p:txBody>
      </p:sp>
      <p:sp>
        <p:nvSpPr>
          <p:cNvPr id="5" name="Slide Number Placeholder 4">
            <a:extLst>
              <a:ext uri="{FF2B5EF4-FFF2-40B4-BE49-F238E27FC236}">
                <a16:creationId xmlns:a16="http://schemas.microsoft.com/office/drawing/2014/main" id="{B1CBC097-C49A-3EF3-F0C3-7737496C4B5A}"/>
              </a:ext>
            </a:extLst>
          </p:cNvPr>
          <p:cNvSpPr>
            <a:spLocks noGrp="1"/>
          </p:cNvSpPr>
          <p:nvPr>
            <p:ph type="sldNum" sz="quarter" idx="4"/>
          </p:nvPr>
        </p:nvSpPr>
        <p:spPr/>
        <p:txBody>
          <a:bodyPr/>
          <a:lstStyle/>
          <a:p>
            <a:pPr>
              <a:defRPr/>
            </a:pPr>
            <a:fld id="{476DEB1C-3253-4C07-8F02-456B7B2AD41D}" type="slidenum">
              <a:rPr lang="it-IT" smtClean="0"/>
              <a:pPr>
                <a:defRPr/>
              </a:pPr>
              <a:t>8</a:t>
            </a:fld>
            <a:endParaRPr lang="it-IT" dirty="0"/>
          </a:p>
        </p:txBody>
      </p:sp>
    </p:spTree>
    <p:extLst>
      <p:ext uri="{BB962C8B-B14F-4D97-AF65-F5344CB8AC3E}">
        <p14:creationId xmlns:p14="http://schemas.microsoft.com/office/powerpoint/2010/main" val="245242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4A286D6-0507-C00A-C4FB-69619416EBA4}"/>
                  </a:ext>
                </a:extLst>
              </p:cNvPr>
              <p:cNvSpPr>
                <a:spLocks noGrp="1"/>
              </p:cNvSpPr>
              <p:nvPr>
                <p:ph idx="1"/>
              </p:nvPr>
            </p:nvSpPr>
            <p:spPr>
              <a:xfrm>
                <a:off x="312482" y="1137040"/>
                <a:ext cx="8600926" cy="5184953"/>
              </a:xfrm>
            </p:spPr>
            <p:txBody>
              <a:bodyPr>
                <a:normAutofit/>
              </a:bodyPr>
              <a:lstStyle/>
              <a:p>
                <a:pPr fontAlgn="ctr">
                  <a:lnSpc>
                    <a:spcPct val="150000"/>
                  </a:lnSpc>
                  <a:spcBef>
                    <a:spcPts val="0"/>
                  </a:spcBef>
                  <a:tabLst>
                    <a:tab pos="1789113" algn="l"/>
                    <a:tab pos="5024438" algn="l"/>
                    <a:tab pos="7543800" algn="l"/>
                  </a:tabLst>
                </a:pPr>
                <a:r>
                  <a:rPr lang="en-US" sz="2400" b="0" i="0" u="none" strike="noStrike" kern="1200" dirty="0">
                    <a:solidFill>
                      <a:schemeClr val="tx1"/>
                    </a:solidFill>
                    <a:effectLst/>
                    <a:latin typeface="Cambria Math" panose="02040503050406030204" pitchFamily="18" charset="0"/>
                    <a:ea typeface="Cambria Math" panose="02040503050406030204" pitchFamily="18" charset="0"/>
                  </a:rPr>
                  <a:t>z(SB) = </a:t>
                </a:r>
                <a:r>
                  <a:rPr lang="en-US" sz="2400" b="1" i="1" u="none" strike="noStrike" kern="1200" dirty="0">
                    <a:solidFill>
                      <a:schemeClr val="tx1"/>
                    </a:solidFill>
                    <a:effectLst/>
                    <a:latin typeface="Cambria Math" panose="02040503050406030204" pitchFamily="18" charset="0"/>
                    <a:ea typeface="Cambria Math" panose="02040503050406030204" pitchFamily="18" charset="0"/>
                  </a:rPr>
                  <a:t>min</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  	</a:t>
                </a:r>
                <a14:m>
                  <m:oMath xmlns:m="http://schemas.openxmlformats.org/officeDocument/2006/math">
                    <m:nary>
                      <m:naryPr>
                        <m:chr m:val="∑"/>
                        <m:supHide m:val="on"/>
                        <m:ctrlPr>
                          <a:rPr lang="it-IT" sz="2400" b="0" i="1" u="none" strike="noStrike" kern="1200" smtClean="0">
                            <a:solidFill>
                              <a:schemeClr val="tx1"/>
                            </a:solidFill>
                            <a:effectLst/>
                            <a:latin typeface="Cambria Math" panose="02040503050406030204" pitchFamily="18" charset="0"/>
                            <a:ea typeface="Cambria Math" panose="02040503050406030204" pitchFamily="18" charset="0"/>
                          </a:rPr>
                        </m:ctrlPr>
                      </m:naryPr>
                      <m:sub>
                        <m:r>
                          <a:rPr lang="it-IT" sz="2400" b="0" i="1" u="none" strike="noStrike" kern="1200" smtClean="0">
                            <a:solidFill>
                              <a:schemeClr val="tx1"/>
                            </a:solidFill>
                            <a:effectLst/>
                            <a:latin typeface="Cambria Math" panose="02040503050406030204" pitchFamily="18" charset="0"/>
                            <a:ea typeface="Cambria Math" panose="02040503050406030204" pitchFamily="18" charset="0"/>
                          </a:rPr>
                          <m:t>𝑠</m:t>
                        </m:r>
                        <m:r>
                          <a:rPr lang="it-IT" sz="2400" b="0" i="1" u="none" strike="noStrike" kern="1200" smtClean="0">
                            <a:solidFill>
                              <a:schemeClr val="tx1"/>
                            </a:solidFill>
                            <a:effectLst/>
                            <a:latin typeface="Cambria Math" panose="02040503050406030204" pitchFamily="18" charset="0"/>
                            <a:ea typeface="Cambria Math" panose="02040503050406030204" pitchFamily="18" charset="0"/>
                          </a:rPr>
                          <m:t>∈</m:t>
                        </m:r>
                        <m:r>
                          <a:rPr lang="it-IT" sz="2400" b="0" i="1" u="none" strike="noStrike" kern="1200" smtClean="0">
                            <a:solidFill>
                              <a:schemeClr val="tx1"/>
                            </a:solidFill>
                            <a:effectLst/>
                            <a:latin typeface="Cambria Math" panose="02040503050406030204" pitchFamily="18" charset="0"/>
                            <a:ea typeface="Cambria Math" panose="02040503050406030204" pitchFamily="18" charset="0"/>
                          </a:rPr>
                          <m:t>𝑆</m:t>
                        </m:r>
                      </m:sub>
                      <m:sup/>
                      <m:e>
                        <m:d>
                          <m:dPr>
                            <m:ctrlPr>
                              <a:rPr lang="it-IT" sz="2400" b="0" i="1" u="none" strike="noStrike" kern="1200" smtClean="0">
                                <a:solidFill>
                                  <a:schemeClr val="tx1"/>
                                </a:solidFill>
                                <a:effectLst/>
                                <a:latin typeface="Cambria Math" panose="02040503050406030204" pitchFamily="18" charset="0"/>
                                <a:ea typeface="Cambria Math" panose="02040503050406030204" pitchFamily="18" charset="0"/>
                              </a:rPr>
                            </m:ctrlPr>
                          </m:dPr>
                          <m:e>
                            <m:sSub>
                              <m:sSubPr>
                                <m:ctrlPr>
                                  <a:rPr lang="it-IT" sz="2400" b="0" i="1" u="none" strike="noStrike" kern="1200" smtClean="0">
                                    <a:solidFill>
                                      <a:srgbClr val="FF0000"/>
                                    </a:solidFill>
                                    <a:effectLst/>
                                    <a:latin typeface="Cambria Math" panose="02040503050406030204" pitchFamily="18" charset="0"/>
                                    <a:ea typeface="Cambria Math" panose="02040503050406030204" pitchFamily="18" charset="0"/>
                                  </a:rPr>
                                </m:ctrlPr>
                              </m:sSubPr>
                              <m:e>
                                <m:r>
                                  <a:rPr lang="it-IT" sz="2400" b="0" i="1" u="none" strike="noStrike" kern="1200" smtClean="0">
                                    <a:solidFill>
                                      <a:srgbClr val="FF0000"/>
                                    </a:solidFill>
                                    <a:effectLst/>
                                    <a:latin typeface="Cambria Math" panose="02040503050406030204" pitchFamily="18" charset="0"/>
                                    <a:ea typeface="Cambria Math" panose="02040503050406030204" pitchFamily="18" charset="0"/>
                                  </a:rPr>
                                  <m:t>𝑝</m:t>
                                </m:r>
                              </m:e>
                              <m:sub>
                                <m:r>
                                  <a:rPr lang="it-IT" sz="2400" b="0" i="1" u="none" strike="noStrike" kern="1200" smtClean="0">
                                    <a:solidFill>
                                      <a:srgbClr val="FF0000"/>
                                    </a:solidFill>
                                    <a:effectLst/>
                                    <a:latin typeface="Cambria Math" panose="02040503050406030204" pitchFamily="18" charset="0"/>
                                    <a:ea typeface="Cambria Math" panose="02040503050406030204" pitchFamily="18" charset="0"/>
                                  </a:rPr>
                                  <m:t>𝑠</m:t>
                                </m:r>
                              </m:sub>
                            </m:sSub>
                            <m:nary>
                              <m:naryPr>
                                <m:chr m:val="∑"/>
                                <m:supHide m:val="on"/>
                                <m:ctrlPr>
                                  <a:rPr lang="en-US" i="1">
                                    <a:latin typeface="Cambria Math" panose="02040503050406030204" pitchFamily="18" charset="0"/>
                                    <a:ea typeface="Cambria Math" panose="02040503050406030204" pitchFamily="18" charset="0"/>
                                  </a:rPr>
                                </m:ctrlPr>
                              </m:naryPr>
                              <m:sub>
                                <m:r>
                                  <m:rPr>
                                    <m:brk m:alnAt="7"/>
                                  </m:rPr>
                                  <a:rPr lang="en-US">
                                    <a:latin typeface="Cambria Math" panose="02040503050406030204" pitchFamily="18" charset="0"/>
                                    <a:ea typeface="Cambria Math" panose="02040503050406030204" pitchFamily="18" charset="0"/>
                                  </a:rPr>
                                  <m:t>𝑖</m:t>
                                </m:r>
                                <m:r>
                                  <a:rPr lang="en-US">
                                    <a:latin typeface="Cambria Math" panose="02040503050406030204" pitchFamily="18" charset="0"/>
                                    <a:ea typeface="Cambria Math" panose="02040503050406030204" pitchFamily="18" charset="0"/>
                                  </a:rPr>
                                  <m:t>∈</m:t>
                                </m:r>
                                <m:r>
                                  <a:rPr lang="it-IT" i="1">
                                    <a:latin typeface="Cambria Math" panose="02040503050406030204" pitchFamily="18" charset="0"/>
                                    <a:ea typeface="Cambria Math" panose="02040503050406030204" pitchFamily="18" charset="0"/>
                                  </a:rPr>
                                  <m:t>𝐼</m:t>
                                </m:r>
                              </m:sub>
                              <m:sup/>
                              <m:e>
                                <m:d>
                                  <m:dPr>
                                    <m:ctrlPr>
                                      <a:rPr lang="it-IT" i="1" smtClean="0">
                                        <a:latin typeface="Cambria Math" panose="02040503050406030204" pitchFamily="18" charset="0"/>
                                        <a:ea typeface="Cambria Math" panose="02040503050406030204" pitchFamily="18" charset="0"/>
                                      </a:rPr>
                                    </m:ctrlPr>
                                  </m:dPr>
                                  <m:e>
                                    <m:nary>
                                      <m:naryPr>
                                        <m:chr m:val="∑"/>
                                        <m:limLoc m:val="subSup"/>
                                        <m:supHide m:val="on"/>
                                        <m:ctrlPr>
                                          <a:rPr lang="en-US" i="1">
                                            <a:latin typeface="Cambria Math" panose="02040503050406030204" pitchFamily="18" charset="0"/>
                                            <a:ea typeface="Cambria Math" panose="02040503050406030204" pitchFamily="18" charset="0"/>
                                          </a:rPr>
                                        </m:ctrlPr>
                                      </m:naryPr>
                                      <m:sub>
                                        <m:r>
                                          <m:rPr>
                                            <m:brk m:alnAt="9"/>
                                          </m:rPr>
                                          <a:rPr lang="en-US">
                                            <a:latin typeface="Cambria Math" panose="02040503050406030204" pitchFamily="18" charset="0"/>
                                            <a:ea typeface="Cambria Math" panose="02040503050406030204" pitchFamily="18" charset="0"/>
                                          </a:rPr>
                                          <m:t>𝑗</m:t>
                                        </m:r>
                                        <m:r>
                                          <a:rPr lang="en-US">
                                            <a:latin typeface="Cambria Math" panose="02040503050406030204" pitchFamily="18" charset="0"/>
                                            <a:ea typeface="Cambria Math" panose="02040503050406030204" pitchFamily="18" charset="0"/>
                                          </a:rPr>
                                          <m:t>∈</m:t>
                                        </m:r>
                                        <m:r>
                                          <a:rPr lang="it-IT" i="1">
                                            <a:latin typeface="Cambria Math" panose="02040503050406030204" pitchFamily="18" charset="0"/>
                                            <a:ea typeface="Cambria Math" panose="02040503050406030204" pitchFamily="18" charset="0"/>
                                          </a:rPr>
                                          <m:t>𝐽</m:t>
                                        </m:r>
                                      </m:sub>
                                      <m:sup/>
                                      <m:e>
                                        <m:sSub>
                                          <m:sSubPr>
                                            <m:ctrlPr>
                                              <a:rPr lang="en-US" i="1">
                                                <a:latin typeface="Cambria Math" panose="02040503050406030204" pitchFamily="18" charset="0"/>
                                                <a:ea typeface="Cambria Math" panose="02040503050406030204" pitchFamily="18" charset="0"/>
                                              </a:rPr>
                                            </m:ctrlPr>
                                          </m:sSubPr>
                                          <m:e>
                                            <m:r>
                                              <a:rPr lang="it-IT">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c</m:t>
                                            </m:r>
                                          </m:e>
                                          <m:sub>
                                            <m:r>
                                              <m:rPr>
                                                <m:sty m:val="p"/>
                                              </m:rPr>
                                              <a:rPr lang="en-US">
                                                <a:latin typeface="Cambria Math" panose="02040503050406030204" pitchFamily="18" charset="0"/>
                                                <a:ea typeface="Cambria Math" panose="02040503050406030204" pitchFamily="18" charset="0"/>
                                              </a:rPr>
                                              <m:t>ij</m:t>
                                            </m:r>
                                          </m:sub>
                                        </m:sSub>
                                        <m:sSub>
                                          <m:sSubPr>
                                            <m:ctrlPr>
                                              <a:rPr lang="en-US" i="1">
                                                <a:latin typeface="Cambria Math" panose="02040503050406030204" pitchFamily="18" charset="0"/>
                                                <a:ea typeface="Cambria Math" panose="02040503050406030204" pitchFamily="18" charset="0"/>
                                              </a:rPr>
                                            </m:ctrlPr>
                                          </m:sSubPr>
                                          <m:e>
                                            <m:r>
                                              <a:rPr lang="en-US">
                                                <a:latin typeface="Cambria Math" panose="02040503050406030204" pitchFamily="18" charset="0"/>
                                                <a:ea typeface="Cambria Math" panose="02040503050406030204" pitchFamily="18" charset="0"/>
                                              </a:rPr>
                                              <m:t>𝑥</m:t>
                                            </m:r>
                                          </m:e>
                                          <m:sub>
                                            <m:r>
                                              <m:rPr>
                                                <m:sty m:val="p"/>
                                              </m:rPr>
                                              <a:rPr lang="en-US">
                                                <a:latin typeface="Cambria Math" panose="02040503050406030204" pitchFamily="18" charset="0"/>
                                                <a:ea typeface="Cambria Math" panose="02040503050406030204" pitchFamily="18" charset="0"/>
                                              </a:rPr>
                                              <m:t>ij</m:t>
                                            </m:r>
                                          </m:sub>
                                        </m:sSub>
                                      </m:e>
                                    </m:nary>
                                    <m:r>
                                      <a:rPr lang="it-IT" i="1">
                                        <a:latin typeface="Cambria Math" panose="02040503050406030204" pitchFamily="18" charset="0"/>
                                        <a:ea typeface="Cambria Math" panose="02040503050406030204" pitchFamily="18" charset="0"/>
                                      </a:rPr>
                                      <m:t>+</m:t>
                                    </m:r>
                                    <m:sSub>
                                      <m:sSubPr>
                                        <m:ctrlPr>
                                          <a:rPr lang="it-IT" i="1">
                                            <a:latin typeface="Cambria Math" panose="02040503050406030204" pitchFamily="18" charset="0"/>
                                            <a:ea typeface="Cambria Math" panose="02040503050406030204" pitchFamily="18" charset="0"/>
                                          </a:rPr>
                                        </m:ctrlPr>
                                      </m:sSubPr>
                                      <m:e>
                                        <m:r>
                                          <a:rPr lang="it-IT" i="1">
                                            <a:latin typeface="Cambria Math" panose="02040503050406030204" pitchFamily="18" charset="0"/>
                                            <a:ea typeface="Cambria Math" panose="02040503050406030204" pitchFamily="18" charset="0"/>
                                          </a:rPr>
                                          <m:t>𝑑</m:t>
                                        </m:r>
                                      </m:e>
                                      <m:sub>
                                        <m:r>
                                          <a:rPr lang="it-IT" i="1">
                                            <a:latin typeface="Cambria Math" panose="02040503050406030204" pitchFamily="18" charset="0"/>
                                            <a:ea typeface="Cambria Math" panose="02040503050406030204" pitchFamily="18" charset="0"/>
                                          </a:rPr>
                                          <m:t>𝑖</m:t>
                                        </m:r>
                                      </m:sub>
                                    </m:sSub>
                                    <m:sSubSup>
                                      <m:sSubSupPr>
                                        <m:ctrlPr>
                                          <a:rPr lang="it-IT" b="0" i="1" smtClean="0">
                                            <a:solidFill>
                                              <a:srgbClr val="FF0000"/>
                                            </a:solidFill>
                                            <a:latin typeface="Cambria Math" panose="02040503050406030204" pitchFamily="18" charset="0"/>
                                            <a:ea typeface="Cambria Math" panose="02040503050406030204" pitchFamily="18" charset="0"/>
                                          </a:rPr>
                                        </m:ctrlPr>
                                      </m:sSubSupPr>
                                      <m:e>
                                        <m:r>
                                          <a:rPr lang="it-IT" i="1">
                                            <a:solidFill>
                                              <a:srgbClr val="FF0000"/>
                                            </a:solidFill>
                                            <a:latin typeface="Cambria Math" panose="02040503050406030204" pitchFamily="18" charset="0"/>
                                            <a:ea typeface="Cambria Math" panose="02040503050406030204" pitchFamily="18" charset="0"/>
                                          </a:rPr>
                                          <m:t>𝑞</m:t>
                                        </m:r>
                                      </m:e>
                                      <m:sub>
                                        <m:r>
                                          <a:rPr lang="it-IT" i="1">
                                            <a:solidFill>
                                              <a:srgbClr val="FF0000"/>
                                            </a:solidFill>
                                            <a:latin typeface="Cambria Math" panose="02040503050406030204" pitchFamily="18" charset="0"/>
                                            <a:ea typeface="Cambria Math" panose="02040503050406030204" pitchFamily="18" charset="0"/>
                                          </a:rPr>
                                          <m:t>𝑖𝑗</m:t>
                                        </m:r>
                                      </m:sub>
                                      <m:sup>
                                        <m:r>
                                          <a:rPr lang="it-IT" b="0" i="1" smtClean="0">
                                            <a:solidFill>
                                              <a:srgbClr val="FF0000"/>
                                            </a:solidFill>
                                            <a:latin typeface="Cambria Math" panose="02040503050406030204" pitchFamily="18" charset="0"/>
                                            <a:ea typeface="Cambria Math" panose="02040503050406030204" pitchFamily="18" charset="0"/>
                                          </a:rPr>
                                          <m:t>𝑠</m:t>
                                        </m:r>
                                      </m:sup>
                                    </m:sSubSup>
                                    <m:r>
                                      <a:rPr lang="it-IT" i="1">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𝑀</m:t>
                                    </m:r>
                                    <m:sSub>
                                      <m:sSubPr>
                                        <m:ctrlPr>
                                          <a:rPr lang="it-IT" b="0" i="1" smtClean="0">
                                            <a:solidFill>
                                              <a:srgbClr val="FF0000"/>
                                            </a:solidFill>
                                            <a:latin typeface="Cambria Math" panose="02040503050406030204" pitchFamily="18" charset="0"/>
                                            <a:ea typeface="Cambria Math" panose="02040503050406030204" pitchFamily="18" charset="0"/>
                                          </a:rPr>
                                        </m:ctrlPr>
                                      </m:sSubPr>
                                      <m:e>
                                        <m:r>
                                          <a:rPr lang="it-IT" b="0" i="1" smtClean="0">
                                            <a:solidFill>
                                              <a:srgbClr val="FF0000"/>
                                            </a:solidFill>
                                            <a:latin typeface="Cambria Math" panose="02040503050406030204" pitchFamily="18" charset="0"/>
                                            <a:ea typeface="Cambria Math" panose="02040503050406030204" pitchFamily="18" charset="0"/>
                                          </a:rPr>
                                          <m:t>𝜖</m:t>
                                        </m:r>
                                      </m:e>
                                      <m:sub>
                                        <m:r>
                                          <a:rPr lang="it-IT" b="0" i="1" smtClean="0">
                                            <a:solidFill>
                                              <a:srgbClr val="FF0000"/>
                                            </a:solidFill>
                                            <a:latin typeface="Cambria Math" panose="02040503050406030204" pitchFamily="18" charset="0"/>
                                            <a:ea typeface="Cambria Math" panose="02040503050406030204" pitchFamily="18" charset="0"/>
                                          </a:rPr>
                                          <m:t>𝑗𝑠</m:t>
                                        </m:r>
                                      </m:sub>
                                    </m:sSub>
                                  </m:e>
                                </m:d>
                              </m:e>
                            </m:nary>
                          </m:e>
                        </m:d>
                      </m:e>
                    </m:nary>
                  </m:oMath>
                </a14:m>
                <a:r>
                  <a:rPr lang="en-US" sz="2400" b="0" i="0" u="none" strike="noStrike" kern="1200" dirty="0">
                    <a:solidFill>
                      <a:schemeClr val="tx1"/>
                    </a:solidFill>
                    <a:effectLst/>
                    <a:latin typeface="Cambria Math" panose="02040503050406030204" pitchFamily="18" charset="0"/>
                    <a:ea typeface="Cambria Math" panose="02040503050406030204" pitchFamily="18" charset="0"/>
                  </a:rPr>
                  <a:t>	(1)</a:t>
                </a:r>
                <a:endParaRPr lang="en-US" sz="2400" b="0" i="0" u="none" strike="noStrike" dirty="0">
                  <a:solidFill>
                    <a:schemeClr val="tx1"/>
                  </a:solidFill>
                  <a:effectLst/>
                  <a:latin typeface="Arial" panose="020B0604020202020204" pitchFamily="34" charset="0"/>
                </a:endParaRPr>
              </a:p>
              <a:p>
                <a:pPr fontAlgn="ctr">
                  <a:lnSpc>
                    <a:spcPct val="150000"/>
                  </a:lnSpc>
                  <a:spcBef>
                    <a:spcPts val="0"/>
                  </a:spcBef>
                  <a:tabLst>
                    <a:tab pos="1789113" algn="l"/>
                    <a:tab pos="5024438" algn="l"/>
                    <a:tab pos="7543800" algn="l"/>
                  </a:tabLst>
                </a:pPr>
                <a:r>
                  <a:rPr lang="en-US" sz="2400" b="1" i="1" u="none" strike="noStrike" kern="1200" dirty="0">
                    <a:solidFill>
                      <a:schemeClr val="tx1"/>
                    </a:solidFill>
                    <a:effectLst/>
                    <a:latin typeface="Cambria Math" panose="02040503050406030204" pitchFamily="18" charset="0"/>
                    <a:ea typeface="Cambria Math" panose="02040503050406030204" pitchFamily="18" charset="0"/>
                  </a:rPr>
                  <a:t>subject to</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 	</a:t>
                </a:r>
                <a14:m>
                  <m:oMath xmlns:m="http://schemas.openxmlformats.org/officeDocument/2006/math">
                    <m:nary>
                      <m:naryPr>
                        <m:chr m:val="∑"/>
                        <m:supHide m:val="on"/>
                        <m:ctrlPr>
                          <a:rPr lang="en-US" i="1">
                            <a:latin typeface="Cambria Math" panose="02040503050406030204" pitchFamily="18" charset="0"/>
                            <a:ea typeface="Cambria Math" panose="02040503050406030204" pitchFamily="18" charset="0"/>
                          </a:rPr>
                        </m:ctrlPr>
                      </m:naryPr>
                      <m:sub>
                        <m:r>
                          <a:rPr lang="en-US" i="1">
                            <a:latin typeface="Cambria Math" panose="02040503050406030204" pitchFamily="18" charset="0"/>
                            <a:ea typeface="Cambria Math" panose="02040503050406030204" pitchFamily="18" charset="0"/>
                          </a:rPr>
                          <m:t>𝑖</m:t>
                        </m:r>
                        <m: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𝐼</m:t>
                        </m:r>
                      </m:sub>
                      <m:sup/>
                      <m:e>
                        <m:sSubSup>
                          <m:sSubSupPr>
                            <m:ctrlPr>
                              <a:rPr lang="it-IT" b="0" i="1" smtClean="0">
                                <a:solidFill>
                                  <a:srgbClr val="FF0000"/>
                                </a:solidFill>
                                <a:latin typeface="Cambria Math" panose="02040503050406030204" pitchFamily="18" charset="0"/>
                                <a:ea typeface="Cambria Math" panose="02040503050406030204" pitchFamily="18" charset="0"/>
                              </a:rPr>
                            </m:ctrlPr>
                          </m:sSubSupPr>
                          <m:e>
                            <m:r>
                              <a:rPr lang="en-US">
                                <a:solidFill>
                                  <a:srgbClr val="FF0000"/>
                                </a:solidFill>
                                <a:latin typeface="Cambria Math" panose="02040503050406030204" pitchFamily="18" charset="0"/>
                                <a:ea typeface="Cambria Math" panose="02040503050406030204" pitchFamily="18" charset="0"/>
                              </a:rPr>
                              <m:t>𝑞</m:t>
                            </m:r>
                          </m:e>
                          <m:sub>
                            <m:r>
                              <m:rPr>
                                <m:sty m:val="p"/>
                              </m:rPr>
                              <a:rPr lang="en-US">
                                <a:solidFill>
                                  <a:srgbClr val="FF0000"/>
                                </a:solidFill>
                                <a:latin typeface="Cambria Math" panose="02040503050406030204" pitchFamily="18" charset="0"/>
                                <a:ea typeface="Cambria Math" panose="02040503050406030204" pitchFamily="18" charset="0"/>
                              </a:rPr>
                              <m:t>ij</m:t>
                            </m:r>
                          </m:sub>
                          <m:sup>
                            <m:r>
                              <m:rPr>
                                <m:sty m:val="p"/>
                              </m:rPr>
                              <a:rPr lang="it-IT" b="0" i="0" smtClean="0">
                                <a:solidFill>
                                  <a:srgbClr val="FF0000"/>
                                </a:solidFill>
                                <a:latin typeface="Cambria Math" panose="02040503050406030204" pitchFamily="18" charset="0"/>
                                <a:ea typeface="Cambria Math" panose="02040503050406030204" pitchFamily="18" charset="0"/>
                              </a:rPr>
                              <m:t>s</m:t>
                            </m:r>
                          </m:sup>
                        </m:sSubSup>
                      </m:e>
                    </m:nary>
                    <m:r>
                      <a:rPr lang="it-IT" b="0" i="1" smtClean="0">
                        <a:latin typeface="Cambria Math" panose="02040503050406030204" pitchFamily="18" charset="0"/>
                        <a:ea typeface="Cambria Math" panose="02040503050406030204" pitchFamily="18" charset="0"/>
                      </a:rPr>
                      <m:t>+</m:t>
                    </m:r>
                    <m:sSub>
                      <m:sSubPr>
                        <m:ctrlPr>
                          <a:rPr lang="it-IT" b="0" i="1" smtClean="0">
                            <a:solidFill>
                              <a:srgbClr val="FF0000"/>
                            </a:solidFill>
                            <a:latin typeface="Cambria Math" panose="02040503050406030204" pitchFamily="18" charset="0"/>
                            <a:ea typeface="Cambria Math" panose="02040503050406030204" pitchFamily="18" charset="0"/>
                          </a:rPr>
                        </m:ctrlPr>
                      </m:sSubPr>
                      <m:e>
                        <m:r>
                          <a:rPr lang="it-IT" b="0" i="1" smtClean="0">
                            <a:solidFill>
                              <a:srgbClr val="FF0000"/>
                            </a:solidFill>
                            <a:latin typeface="Cambria Math" panose="02040503050406030204" pitchFamily="18" charset="0"/>
                            <a:ea typeface="Cambria Math" panose="02040503050406030204" pitchFamily="18" charset="0"/>
                          </a:rPr>
                          <m:t>𝜖</m:t>
                        </m:r>
                      </m:e>
                      <m:sub>
                        <m:r>
                          <a:rPr lang="it-IT" b="0" i="1" smtClean="0">
                            <a:solidFill>
                              <a:srgbClr val="FF0000"/>
                            </a:solidFill>
                            <a:latin typeface="Cambria Math" panose="02040503050406030204" pitchFamily="18" charset="0"/>
                            <a:ea typeface="Cambria Math" panose="02040503050406030204" pitchFamily="18" charset="0"/>
                          </a:rPr>
                          <m:t>𝑗𝑠</m:t>
                        </m:r>
                      </m:sub>
                    </m:sSub>
                    <m:r>
                      <a:rPr lang="en-US">
                        <a:latin typeface="Cambria Math" panose="02040503050406030204" pitchFamily="18" charset="0"/>
                        <a:ea typeface="Cambria Math" panose="02040503050406030204" pitchFamily="18" charset="0"/>
                      </a:rPr>
                      <m:t>=</m:t>
                    </m:r>
                    <m:sSubSup>
                      <m:sSubSupPr>
                        <m:ctrlPr>
                          <a:rPr lang="it-IT" b="0" i="1" smtClean="0">
                            <a:solidFill>
                              <a:srgbClr val="FF0000"/>
                            </a:solidFill>
                            <a:latin typeface="Cambria Math" panose="02040503050406030204" pitchFamily="18" charset="0"/>
                            <a:ea typeface="Cambria Math" panose="02040503050406030204" pitchFamily="18" charset="0"/>
                          </a:rPr>
                        </m:ctrlPr>
                      </m:sSubSupPr>
                      <m:e>
                        <m:r>
                          <a:rPr lang="it-IT" b="0" i="1" smtClean="0">
                            <a:solidFill>
                              <a:srgbClr val="FF0000"/>
                            </a:solidFill>
                            <a:latin typeface="Cambria Math" panose="02040503050406030204" pitchFamily="18" charset="0"/>
                            <a:ea typeface="Cambria Math" panose="02040503050406030204" pitchFamily="18" charset="0"/>
                          </a:rPr>
                          <m:t>𝜌</m:t>
                        </m:r>
                      </m:e>
                      <m:sub>
                        <m:r>
                          <m:rPr>
                            <m:sty m:val="p"/>
                          </m:rPr>
                          <a:rPr lang="en-US">
                            <a:solidFill>
                              <a:srgbClr val="FF0000"/>
                            </a:solidFill>
                            <a:latin typeface="Cambria Math" panose="02040503050406030204" pitchFamily="18" charset="0"/>
                            <a:ea typeface="Cambria Math" panose="02040503050406030204" pitchFamily="18" charset="0"/>
                          </a:rPr>
                          <m:t>j</m:t>
                        </m:r>
                      </m:sub>
                      <m:sup>
                        <m:r>
                          <a:rPr lang="it-IT" b="0" i="1" smtClean="0">
                            <a:solidFill>
                              <a:srgbClr val="FF0000"/>
                            </a:solidFill>
                            <a:latin typeface="Cambria Math" panose="02040503050406030204" pitchFamily="18" charset="0"/>
                            <a:ea typeface="Cambria Math" panose="02040503050406030204" pitchFamily="18" charset="0"/>
                          </a:rPr>
                          <m:t>𝑠</m:t>
                        </m:r>
                      </m:sup>
                    </m:sSubSup>
                  </m:oMath>
                </a14:m>
                <a:r>
                  <a:rPr lang="en-US" dirty="0">
                    <a:solidFill>
                      <a:schemeClr val="tx1"/>
                    </a:solidFill>
                    <a:latin typeface="Arial" panose="020B0604020202020204" pitchFamily="34" charset="0"/>
                  </a:rPr>
                  <a:t> 	</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j </a:t>
                </a:r>
                <a:r>
                  <a:rPr lang="en-US" sz="2400" b="0" i="0" u="none" strike="noStrike" kern="1200" dirty="0">
                    <a:solidFill>
                      <a:schemeClr val="tx1"/>
                    </a:solidFill>
                    <a:effectLst/>
                    <a:latin typeface="Cambria Math" panose="02040503050406030204" pitchFamily="18" charset="0"/>
                    <a:ea typeface="Cambria Math" panose="02040503050406030204" pitchFamily="18" charset="0"/>
                    <a:sym typeface="Symbol" panose="05050102010706020507" pitchFamily="18" charset="2"/>
                  </a:rPr>
                  <a:t> </a:t>
                </a:r>
                <a:r>
                  <a:rPr lang="en-US" sz="2400" b="0" u="none" strike="noStrike" kern="1200" dirty="0">
                    <a:solidFill>
                      <a:schemeClr val="tx1"/>
                    </a:solidFill>
                    <a:effectLst/>
                    <a:latin typeface="Cambria Math" panose="02040503050406030204" pitchFamily="18" charset="0"/>
                    <a:ea typeface="Cambria Math" panose="02040503050406030204" pitchFamily="18" charset="0"/>
                  </a:rPr>
                  <a:t>J, s </a:t>
                </a:r>
                <a:r>
                  <a:rPr lang="en-US" dirty="0">
                    <a:solidFill>
                      <a:schemeClr val="tx1"/>
                    </a:solidFill>
                    <a:latin typeface="Cambria Math" panose="02040503050406030204" pitchFamily="18" charset="0"/>
                    <a:ea typeface="Cambria Math" panose="02040503050406030204" pitchFamily="18" charset="0"/>
                    <a:sym typeface="Symbol" panose="05050102010706020507" pitchFamily="18" charset="2"/>
                  </a:rPr>
                  <a:t> </a:t>
                </a:r>
                <a:r>
                  <a:rPr lang="en-US" dirty="0">
                    <a:solidFill>
                      <a:schemeClr val="tx1"/>
                    </a:solidFill>
                    <a:latin typeface="Cambria Math" panose="02040503050406030204" pitchFamily="18" charset="0"/>
                    <a:ea typeface="Cambria Math" panose="02040503050406030204" pitchFamily="18" charset="0"/>
                  </a:rPr>
                  <a:t>S </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	</a:t>
                </a:r>
                <a:r>
                  <a:rPr lang="it-IT" sz="2400" b="0" i="0" u="none" strike="noStrike" kern="1200" dirty="0">
                    <a:solidFill>
                      <a:schemeClr val="tx1"/>
                    </a:solidFill>
                    <a:effectLst/>
                    <a:latin typeface="Cambria Math" panose="02040503050406030204" pitchFamily="18" charset="0"/>
                    <a:ea typeface="Cambria Math" panose="02040503050406030204" pitchFamily="18" charset="0"/>
                  </a:rPr>
                  <a:t>(2)</a:t>
                </a:r>
                <a:endParaRPr lang="en-US" sz="2400" dirty="0">
                  <a:solidFill>
                    <a:schemeClr val="tx1"/>
                  </a:solidFill>
                  <a:latin typeface="Arial" panose="020B0604020202020204" pitchFamily="34" charset="0"/>
                </a:endParaRPr>
              </a:p>
              <a:p>
                <a:pPr fontAlgn="ctr">
                  <a:lnSpc>
                    <a:spcPct val="150000"/>
                  </a:lnSpc>
                  <a:spcBef>
                    <a:spcPts val="0"/>
                  </a:spcBef>
                  <a:tabLst>
                    <a:tab pos="1789113" algn="l"/>
                    <a:tab pos="5024438" algn="l"/>
                    <a:tab pos="7543800" algn="l"/>
                  </a:tabLst>
                </a:pPr>
                <a:r>
                  <a:rPr lang="en-US" sz="2400" b="0" u="none" strike="noStrike" kern="1200" dirty="0">
                    <a:solidFill>
                      <a:schemeClr val="tx1"/>
                    </a:solidFill>
                    <a:effectLst/>
                    <a:ea typeface="Cambria Math" panose="02040503050406030204" pitchFamily="18" charset="0"/>
                  </a:rPr>
                  <a:t>	</a:t>
                </a:r>
                <a14:m>
                  <m:oMath xmlns:m="http://schemas.openxmlformats.org/officeDocument/2006/math">
                    <m:nary>
                      <m:naryPr>
                        <m:chr m:val="∑"/>
                        <m:supHide m:val="on"/>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naryPr>
                      <m:sub>
                        <m:r>
                          <a:rPr lang="en-US" sz="2400" b="0" i="0" u="none" strike="noStrike" kern="1200">
                            <a:solidFill>
                              <a:schemeClr val="tx1"/>
                            </a:solidFill>
                            <a:effectLst/>
                            <a:latin typeface="Cambria Math" panose="02040503050406030204" pitchFamily="18" charset="0"/>
                            <a:ea typeface="Cambria Math" panose="02040503050406030204" pitchFamily="18" charset="0"/>
                          </a:rPr>
                          <m:t>𝑗</m:t>
                        </m:r>
                        <m:r>
                          <a:rPr lang="en-US" sz="2400" b="0" i="0" u="none" strike="noStrike" kern="1200">
                            <a:solidFill>
                              <a:schemeClr val="tx1"/>
                            </a:solidFill>
                            <a:effectLst/>
                            <a:latin typeface="Cambria Math" panose="02040503050406030204" pitchFamily="18" charset="0"/>
                            <a:ea typeface="Cambria Math" panose="02040503050406030204" pitchFamily="18" charset="0"/>
                          </a:rPr>
                          <m:t>∈</m:t>
                        </m:r>
                        <m:r>
                          <a:rPr lang="it-IT" sz="2400" b="0" i="1" u="none" strike="noStrike" kern="1200">
                            <a:solidFill>
                              <a:schemeClr val="tx1"/>
                            </a:solidFill>
                            <a:effectLst/>
                            <a:latin typeface="Cambria Math" panose="02040503050406030204" pitchFamily="18" charset="0"/>
                            <a:ea typeface="Cambria Math" panose="02040503050406030204" pitchFamily="18" charset="0"/>
                          </a:rPr>
                          <m:t>𝐽</m:t>
                        </m:r>
                      </m:sub>
                      <m:sup/>
                      <m:e>
                        <m:sSubSup>
                          <m:sSubSupPr>
                            <m:ctrlPr>
                              <a:rPr lang="it-IT" sz="2400" b="0" i="1" u="none" strike="noStrike" kern="1200" smtClean="0">
                                <a:solidFill>
                                  <a:srgbClr val="FF0000"/>
                                </a:solidFill>
                                <a:effectLst/>
                                <a:latin typeface="Cambria Math" panose="02040503050406030204" pitchFamily="18" charset="0"/>
                                <a:ea typeface="Cambria Math" panose="02040503050406030204" pitchFamily="18" charset="0"/>
                              </a:rPr>
                            </m:ctrlPr>
                          </m:sSubSupPr>
                          <m:e>
                            <m:r>
                              <a:rPr lang="en-US" sz="2400" b="0" i="0" u="none" strike="noStrike" kern="1200">
                                <a:solidFill>
                                  <a:srgbClr val="FF0000"/>
                                </a:solidFill>
                                <a:effectLst/>
                                <a:latin typeface="Cambria Math" panose="02040503050406030204" pitchFamily="18" charset="0"/>
                                <a:ea typeface="Cambria Math" panose="02040503050406030204" pitchFamily="18" charset="0"/>
                              </a:rPr>
                              <m:t>𝑞</m:t>
                            </m:r>
                          </m:e>
                          <m:sub>
                            <m:r>
                              <m:rPr>
                                <m:sty m:val="p"/>
                              </m:rPr>
                              <a:rPr lang="en-US" sz="2400" b="0" i="0" u="none" strike="noStrike" kern="1200">
                                <a:solidFill>
                                  <a:srgbClr val="FF0000"/>
                                </a:solidFill>
                                <a:effectLst/>
                                <a:latin typeface="Cambria Math" panose="02040503050406030204" pitchFamily="18" charset="0"/>
                                <a:ea typeface="Cambria Math" panose="02040503050406030204" pitchFamily="18" charset="0"/>
                              </a:rPr>
                              <m:t>ij</m:t>
                            </m:r>
                          </m:sub>
                          <m:sup>
                            <m:r>
                              <m:rPr>
                                <m:sty m:val="p"/>
                              </m:rPr>
                              <a:rPr lang="it-IT" sz="2400" b="0" i="0" u="none" strike="noStrike" kern="1200" smtClean="0">
                                <a:solidFill>
                                  <a:srgbClr val="FF0000"/>
                                </a:solidFill>
                                <a:effectLst/>
                                <a:latin typeface="Cambria Math" panose="02040503050406030204" pitchFamily="18" charset="0"/>
                                <a:ea typeface="Cambria Math" panose="02040503050406030204" pitchFamily="18" charset="0"/>
                              </a:rPr>
                              <m:t>s</m:t>
                            </m:r>
                          </m:sup>
                        </m:sSubSup>
                      </m:e>
                    </m:nary>
                    <m:r>
                      <a:rPr lang="en-US" sz="2400" b="0" i="0" u="none" strike="noStrike" kern="1200">
                        <a:solidFill>
                          <a:schemeClr val="tx1"/>
                        </a:solidFill>
                        <a:effectLst/>
                        <a:latin typeface="Cambria Math" panose="02040503050406030204" pitchFamily="18" charset="0"/>
                        <a:ea typeface="Cambria Math" panose="02040503050406030204" pitchFamily="18" charset="0"/>
                      </a:rPr>
                      <m:t>≤</m:t>
                    </m:r>
                    <m:sSub>
                      <m:sSubPr>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sSubPr>
                      <m:e>
                        <m:r>
                          <a:rPr lang="en-US" sz="2400" b="0" i="0" u="none" strike="noStrike" kern="1200">
                            <a:solidFill>
                              <a:schemeClr val="tx1"/>
                            </a:solidFill>
                            <a:effectLst/>
                            <a:latin typeface="Cambria Math" panose="02040503050406030204" pitchFamily="18" charset="0"/>
                            <a:ea typeface="Cambria Math" panose="02040503050406030204" pitchFamily="18" charset="0"/>
                          </a:rPr>
                          <m:t>𝑄</m:t>
                        </m:r>
                      </m:e>
                      <m:sub>
                        <m:r>
                          <a:rPr lang="en-US" sz="2400" b="0" i="0" u="none" strike="noStrike" kern="1200">
                            <a:solidFill>
                              <a:schemeClr val="tx1"/>
                            </a:solidFill>
                            <a:effectLst/>
                            <a:latin typeface="Cambria Math" panose="02040503050406030204" pitchFamily="18" charset="0"/>
                            <a:ea typeface="Cambria Math" panose="02040503050406030204" pitchFamily="18" charset="0"/>
                          </a:rPr>
                          <m:t>𝑖</m:t>
                        </m:r>
                      </m:sub>
                    </m:sSub>
                  </m:oMath>
                </a14:m>
                <a:r>
                  <a:rPr lang="en-US" sz="2400" dirty="0">
                    <a:solidFill>
                      <a:schemeClr val="tx1"/>
                    </a:solidFill>
                    <a:latin typeface="Arial" panose="020B0604020202020204" pitchFamily="34" charset="0"/>
                  </a:rPr>
                  <a:t> 	</a:t>
                </a:r>
                <a:r>
                  <a:rPr lang="en-US" sz="2400" b="0" i="1" u="none" strike="noStrike" kern="1200" dirty="0" err="1">
                    <a:solidFill>
                      <a:schemeClr val="tx1"/>
                    </a:solidFill>
                    <a:effectLst/>
                    <a:latin typeface="Cambria Math" panose="02040503050406030204" pitchFamily="18" charset="0"/>
                    <a:ea typeface="Cambria Math" panose="02040503050406030204" pitchFamily="18" charset="0"/>
                  </a:rPr>
                  <a:t>i</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 </a:t>
                </a:r>
                <a:r>
                  <a:rPr lang="en-US" sz="2400" b="0" i="0" u="none" strike="noStrike" kern="1200" dirty="0">
                    <a:solidFill>
                      <a:schemeClr val="tx1"/>
                    </a:solidFill>
                    <a:effectLst/>
                    <a:latin typeface="Cambria Math" panose="02040503050406030204" pitchFamily="18" charset="0"/>
                    <a:ea typeface="Cambria Math" panose="02040503050406030204" pitchFamily="18" charset="0"/>
                    <a:sym typeface="Symbol" panose="05050102010706020507" pitchFamily="18" charset="2"/>
                  </a:rPr>
                  <a:t> </a:t>
                </a:r>
                <a:r>
                  <a:rPr lang="en-US" sz="2400" b="0" u="none" strike="noStrike" kern="1200" dirty="0">
                    <a:solidFill>
                      <a:schemeClr val="tx1"/>
                    </a:solidFill>
                    <a:effectLst/>
                    <a:latin typeface="Cambria Math" panose="02040503050406030204" pitchFamily="18" charset="0"/>
                    <a:ea typeface="Cambria Math" panose="02040503050406030204" pitchFamily="18" charset="0"/>
                  </a:rPr>
                  <a:t>I</a:t>
                </a:r>
                <a:r>
                  <a:rPr lang="en-US" dirty="0">
                    <a:solidFill>
                      <a:schemeClr val="tx1"/>
                    </a:solidFill>
                    <a:latin typeface="Cambria Math" panose="02040503050406030204" pitchFamily="18" charset="0"/>
                    <a:ea typeface="Cambria Math" panose="02040503050406030204" pitchFamily="18" charset="0"/>
                  </a:rPr>
                  <a:t>, s </a:t>
                </a:r>
                <a:r>
                  <a:rPr lang="en-US" dirty="0">
                    <a:solidFill>
                      <a:schemeClr val="tx1"/>
                    </a:solidFill>
                    <a:latin typeface="Cambria Math" panose="02040503050406030204" pitchFamily="18" charset="0"/>
                    <a:ea typeface="Cambria Math" panose="02040503050406030204" pitchFamily="18" charset="0"/>
                    <a:sym typeface="Symbol" panose="05050102010706020507" pitchFamily="18" charset="2"/>
                  </a:rPr>
                  <a:t> </a:t>
                </a:r>
                <a:r>
                  <a:rPr lang="en-US" dirty="0">
                    <a:solidFill>
                      <a:schemeClr val="tx1"/>
                    </a:solidFill>
                    <a:latin typeface="Cambria Math" panose="02040503050406030204" pitchFamily="18" charset="0"/>
                    <a:ea typeface="Cambria Math" panose="02040503050406030204" pitchFamily="18" charset="0"/>
                  </a:rPr>
                  <a:t>S</a:t>
                </a:r>
                <a:r>
                  <a:rPr lang="en-US" sz="2400" b="0" i="0" u="none" strike="noStrike" kern="1200" baseline="-25000" dirty="0">
                    <a:solidFill>
                      <a:schemeClr val="tx1"/>
                    </a:solidFill>
                    <a:effectLst/>
                    <a:latin typeface="Cambria Math" panose="02040503050406030204" pitchFamily="18" charset="0"/>
                    <a:ea typeface="Cambria Math" panose="02040503050406030204" pitchFamily="18" charset="0"/>
                  </a:rPr>
                  <a:t> 	</a:t>
                </a:r>
                <a:r>
                  <a:rPr lang="it-IT" sz="2400" b="0" i="0" u="none" strike="noStrike" kern="1200" dirty="0">
                    <a:solidFill>
                      <a:schemeClr val="tx1"/>
                    </a:solidFill>
                    <a:effectLst/>
                    <a:latin typeface="Cambria Math" panose="02040503050406030204" pitchFamily="18" charset="0"/>
                    <a:ea typeface="Cambria Math" panose="02040503050406030204" pitchFamily="18" charset="0"/>
                  </a:rPr>
                  <a:t>(3)</a:t>
                </a:r>
              </a:p>
              <a:p>
                <a:pPr marL="0" rtl="0" eaLnBrk="1" fontAlgn="ctr" latinLnBrk="0" hangingPunct="1">
                  <a:lnSpc>
                    <a:spcPct val="150000"/>
                  </a:lnSpc>
                  <a:spcBef>
                    <a:spcPts val="0"/>
                  </a:spcBef>
                  <a:spcAft>
                    <a:spcPts val="0"/>
                  </a:spcAft>
                  <a:tabLst>
                    <a:tab pos="1789113" algn="l"/>
                    <a:tab pos="5024438" algn="l"/>
                    <a:tab pos="7543800" algn="l"/>
                  </a:tabLst>
                </a:pPr>
                <a:r>
                  <a:rPr lang="en-US" sz="2400" b="0" u="none" strike="noStrike" kern="1200" dirty="0">
                    <a:solidFill>
                      <a:schemeClr val="tx1"/>
                    </a:solidFill>
                    <a:effectLst/>
                    <a:ea typeface="Cambria Math" panose="02040503050406030204" pitchFamily="18" charset="0"/>
                  </a:rPr>
                  <a:t>	</a:t>
                </a:r>
                <a14:m>
                  <m:oMath xmlns:m="http://schemas.openxmlformats.org/officeDocument/2006/math">
                    <m:nary>
                      <m:naryPr>
                        <m:chr m:val="∑"/>
                        <m:supHide m:val="on"/>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naryPr>
                      <m:sub>
                        <m:r>
                          <a:rPr lang="en-US" sz="2400" b="0" i="0" u="none" strike="noStrike" kern="1200">
                            <a:solidFill>
                              <a:schemeClr val="tx1"/>
                            </a:solidFill>
                            <a:effectLst/>
                            <a:latin typeface="Cambria Math" panose="02040503050406030204" pitchFamily="18" charset="0"/>
                            <a:ea typeface="Cambria Math" panose="02040503050406030204" pitchFamily="18" charset="0"/>
                          </a:rPr>
                          <m:t>𝑖</m:t>
                        </m:r>
                        <m:r>
                          <a:rPr lang="en-US" sz="2400" b="0" i="0" u="none" strike="noStrike" kern="1200">
                            <a:solidFill>
                              <a:schemeClr val="tx1"/>
                            </a:solidFill>
                            <a:effectLst/>
                            <a:latin typeface="Cambria Math" panose="02040503050406030204" pitchFamily="18" charset="0"/>
                            <a:ea typeface="Cambria Math" panose="02040503050406030204" pitchFamily="18" charset="0"/>
                          </a:rPr>
                          <m:t>∈</m:t>
                        </m:r>
                        <m:r>
                          <a:rPr lang="it-IT" sz="2400" b="0" i="1" u="none" strike="noStrike" kern="1200">
                            <a:solidFill>
                              <a:schemeClr val="tx1"/>
                            </a:solidFill>
                            <a:effectLst/>
                            <a:latin typeface="Cambria Math" panose="02040503050406030204" pitchFamily="18" charset="0"/>
                            <a:ea typeface="Cambria Math" panose="02040503050406030204" pitchFamily="18" charset="0"/>
                          </a:rPr>
                          <m:t>𝐼</m:t>
                        </m:r>
                      </m:sub>
                      <m:sup/>
                      <m:e>
                        <m:sSub>
                          <m:sSubPr>
                            <m:ctrlPr>
                              <a:rPr lang="en-US" sz="2400" b="0" i="1" u="none" strike="noStrike" kern="1200">
                                <a:solidFill>
                                  <a:schemeClr val="tx1"/>
                                </a:solidFill>
                                <a:effectLst/>
                                <a:latin typeface="Cambria Math" panose="02040503050406030204" pitchFamily="18" charset="0"/>
                                <a:ea typeface="Cambria Math" panose="02040503050406030204" pitchFamily="18" charset="0"/>
                              </a:rPr>
                            </m:ctrlPr>
                          </m:sSubPr>
                          <m:e>
                            <m:r>
                              <a:rPr lang="en-US" sz="2400" b="0" i="0" u="none" strike="noStrike" kern="1200">
                                <a:solidFill>
                                  <a:schemeClr val="tx1"/>
                                </a:solidFill>
                                <a:effectLst/>
                                <a:latin typeface="Cambria Math" panose="02040503050406030204" pitchFamily="18" charset="0"/>
                                <a:ea typeface="Cambria Math" panose="02040503050406030204" pitchFamily="18" charset="0"/>
                              </a:rPr>
                              <m:t>𝑥</m:t>
                            </m:r>
                          </m:e>
                          <m:sub>
                            <m:r>
                              <m:rPr>
                                <m:sty m:val="p"/>
                              </m:rPr>
                              <a:rPr lang="en-US" sz="2400" b="0" i="0" u="none" strike="noStrike" kern="1200">
                                <a:solidFill>
                                  <a:schemeClr val="tx1"/>
                                </a:solidFill>
                                <a:effectLst/>
                                <a:latin typeface="Cambria Math" panose="02040503050406030204" pitchFamily="18" charset="0"/>
                                <a:ea typeface="Cambria Math" panose="02040503050406030204" pitchFamily="18" charset="0"/>
                              </a:rPr>
                              <m:t>ij</m:t>
                            </m:r>
                          </m:sub>
                        </m:sSub>
                      </m:e>
                    </m:nary>
                    <m:r>
                      <a:rPr lang="en-US" sz="2400" b="0" i="1" u="none" strike="noStrike" kern="1200" smtClean="0">
                        <a:solidFill>
                          <a:schemeClr val="tx1"/>
                        </a:solidFill>
                        <a:effectLst/>
                        <a:latin typeface="Cambria Math" panose="02040503050406030204" pitchFamily="18" charset="0"/>
                        <a:ea typeface="Cambria Math" panose="02040503050406030204" pitchFamily="18" charset="0"/>
                      </a:rPr>
                      <m:t>≤</m:t>
                    </m:r>
                    <m:sSub>
                      <m:sSubPr>
                        <m:ctrlPr>
                          <a:rPr lang="en-US" sz="2400" b="0" i="1" u="none" strike="noStrike" kern="1200" smtClean="0">
                            <a:solidFill>
                              <a:schemeClr val="tx1"/>
                            </a:solidFill>
                            <a:effectLst/>
                            <a:latin typeface="Cambria Math" panose="02040503050406030204" pitchFamily="18" charset="0"/>
                            <a:ea typeface="Cambria Math" panose="02040503050406030204" pitchFamily="18" charset="0"/>
                          </a:rPr>
                        </m:ctrlPr>
                      </m:sSubPr>
                      <m:e>
                        <m:r>
                          <a:rPr lang="en-US" sz="2400" b="0" i="1" u="none" strike="noStrike" kern="1200" smtClean="0">
                            <a:solidFill>
                              <a:schemeClr val="tx1"/>
                            </a:solidFill>
                            <a:effectLst/>
                            <a:latin typeface="Cambria Math" panose="02040503050406030204" pitchFamily="18" charset="0"/>
                            <a:ea typeface="Cambria Math" panose="02040503050406030204" pitchFamily="18" charset="0"/>
                          </a:rPr>
                          <m:t>𝑏</m:t>
                        </m:r>
                      </m:e>
                      <m:sub>
                        <m:r>
                          <m:rPr>
                            <m:sty m:val="p"/>
                          </m:rPr>
                          <a:rPr lang="en-US" sz="2400" b="0" i="0" u="none" strike="noStrike" kern="1200" smtClean="0">
                            <a:solidFill>
                              <a:schemeClr val="tx1"/>
                            </a:solidFill>
                            <a:effectLst/>
                            <a:latin typeface="Cambria Math" panose="02040503050406030204" pitchFamily="18" charset="0"/>
                            <a:ea typeface="Cambria Math" panose="02040503050406030204" pitchFamily="18" charset="0"/>
                          </a:rPr>
                          <m:t>j</m:t>
                        </m:r>
                      </m:sub>
                    </m:sSub>
                  </m:oMath>
                </a14:m>
                <a:r>
                  <a:rPr lang="en-US" sz="2400" b="0" i="0" u="none" strike="noStrike" dirty="0">
                    <a:solidFill>
                      <a:schemeClr val="tx1"/>
                    </a:solidFill>
                    <a:effectLst/>
                    <a:latin typeface="Arial" panose="020B0604020202020204" pitchFamily="34" charset="0"/>
                  </a:rPr>
                  <a:t> 	</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j </a:t>
                </a:r>
                <a:r>
                  <a:rPr lang="en-US" sz="2400" b="0" i="0" u="none" strike="noStrike" kern="1200" dirty="0">
                    <a:solidFill>
                      <a:schemeClr val="tx1"/>
                    </a:solidFill>
                    <a:effectLst/>
                    <a:latin typeface="Cambria Math" panose="02040503050406030204" pitchFamily="18" charset="0"/>
                    <a:ea typeface="Cambria Math" panose="02040503050406030204" pitchFamily="18" charset="0"/>
                    <a:sym typeface="Symbol" panose="05050102010706020507" pitchFamily="18" charset="2"/>
                  </a:rPr>
                  <a:t> </a:t>
                </a:r>
                <a:r>
                  <a:rPr lang="en-US" sz="2400" b="0" u="none" strike="noStrike" kern="1200" dirty="0">
                    <a:solidFill>
                      <a:schemeClr val="tx1"/>
                    </a:solidFill>
                    <a:effectLst/>
                    <a:latin typeface="Cambria Math" panose="02040503050406030204" pitchFamily="18" charset="0"/>
                    <a:ea typeface="Cambria Math" panose="02040503050406030204" pitchFamily="18" charset="0"/>
                  </a:rPr>
                  <a:t>J</a:t>
                </a:r>
                <a:r>
                  <a:rPr lang="en-US" sz="2400" b="0" i="0" u="none" strike="noStrike" kern="1200" baseline="-25000" dirty="0">
                    <a:solidFill>
                      <a:schemeClr val="tx1"/>
                    </a:solidFill>
                    <a:effectLst/>
                    <a:latin typeface="Cambria Math" panose="02040503050406030204" pitchFamily="18" charset="0"/>
                    <a:ea typeface="Cambria Math" panose="02040503050406030204" pitchFamily="18" charset="0"/>
                  </a:rPr>
                  <a:t>  	</a:t>
                </a:r>
                <a:r>
                  <a:rPr lang="it-IT" sz="2400" b="0" i="0" u="none" strike="noStrike" kern="1200" dirty="0">
                    <a:solidFill>
                      <a:schemeClr val="tx1"/>
                    </a:solidFill>
                    <a:effectLst/>
                    <a:latin typeface="Cambria Math" panose="02040503050406030204" pitchFamily="18" charset="0"/>
                    <a:ea typeface="Cambria Math" panose="02040503050406030204" pitchFamily="18" charset="0"/>
                  </a:rPr>
                  <a:t>(4)</a:t>
                </a:r>
              </a:p>
              <a:p>
                <a:pPr fontAlgn="ctr">
                  <a:lnSpc>
                    <a:spcPct val="150000"/>
                  </a:lnSpc>
                  <a:spcBef>
                    <a:spcPts val="0"/>
                  </a:spcBef>
                  <a:tabLst>
                    <a:tab pos="1789113" algn="l"/>
                    <a:tab pos="5024438" algn="l"/>
                    <a:tab pos="7543800" algn="l"/>
                  </a:tabLst>
                </a:pPr>
                <a:r>
                  <a:rPr lang="en-US" sz="2400" dirty="0">
                    <a:solidFill>
                      <a:schemeClr val="tx1"/>
                    </a:solidFill>
                    <a:ea typeface="Cambria Math" panose="02040503050406030204" pitchFamily="18" charset="0"/>
                  </a:rPr>
                  <a:t>	</a:t>
                </a:r>
                <a14:m>
                  <m:oMath xmlns:m="http://schemas.openxmlformats.org/officeDocument/2006/math">
                    <m:sSubSup>
                      <m:sSubSupPr>
                        <m:ctrlPr>
                          <a:rPr lang="it-IT" sz="2400" b="0" i="1" smtClean="0">
                            <a:solidFill>
                              <a:srgbClr val="FF0000"/>
                            </a:solidFill>
                            <a:latin typeface="Cambria Math" panose="02040503050406030204" pitchFamily="18" charset="0"/>
                            <a:ea typeface="Cambria Math" panose="02040503050406030204" pitchFamily="18" charset="0"/>
                          </a:rPr>
                        </m:ctrlPr>
                      </m:sSubSupPr>
                      <m:e>
                        <m:r>
                          <a:rPr lang="en-US" sz="2400" b="0" i="1" smtClean="0">
                            <a:solidFill>
                              <a:srgbClr val="FF0000"/>
                            </a:solidFill>
                            <a:latin typeface="Cambria Math" panose="02040503050406030204" pitchFamily="18" charset="0"/>
                            <a:ea typeface="Cambria Math" panose="02040503050406030204" pitchFamily="18" charset="0"/>
                          </a:rPr>
                          <m:t>𝑞</m:t>
                        </m:r>
                      </m:e>
                      <m:sub>
                        <m:r>
                          <m:rPr>
                            <m:sty m:val="p"/>
                          </m:rPr>
                          <a:rPr lang="en-US" sz="2400">
                            <a:solidFill>
                              <a:srgbClr val="FF0000"/>
                            </a:solidFill>
                            <a:latin typeface="Cambria Math" panose="02040503050406030204" pitchFamily="18" charset="0"/>
                            <a:ea typeface="Cambria Math" panose="02040503050406030204" pitchFamily="18" charset="0"/>
                          </a:rPr>
                          <m:t>ij</m:t>
                        </m:r>
                      </m:sub>
                      <m:sup>
                        <m:r>
                          <a:rPr lang="it-IT" sz="2400" b="0" i="1" smtClean="0">
                            <a:solidFill>
                              <a:srgbClr val="FF0000"/>
                            </a:solidFill>
                            <a:latin typeface="Cambria Math" panose="02040503050406030204" pitchFamily="18" charset="0"/>
                            <a:ea typeface="Cambria Math" panose="02040503050406030204" pitchFamily="18" charset="0"/>
                          </a:rPr>
                          <m:t>𝑠</m:t>
                        </m:r>
                      </m:sup>
                    </m:sSubSup>
                    <m:r>
                      <a:rPr lang="en-US" sz="2400" b="0" i="1" smtClean="0">
                        <a:solidFill>
                          <a:schemeClr val="tx1"/>
                        </a:solidFill>
                        <a:latin typeface="Cambria Math" panose="02040503050406030204" pitchFamily="18" charset="0"/>
                        <a:ea typeface="Cambria Math" panose="02040503050406030204" pitchFamily="18" charset="0"/>
                      </a:rPr>
                      <m:t>≤</m:t>
                    </m:r>
                    <m:sSubSup>
                      <m:sSubSupPr>
                        <m:ctrlPr>
                          <a:rPr lang="it-IT" sz="2400" b="0" i="1" smtClean="0">
                            <a:solidFill>
                              <a:srgbClr val="FF0000"/>
                            </a:solidFill>
                            <a:latin typeface="Cambria Math" panose="02040503050406030204" pitchFamily="18" charset="0"/>
                            <a:ea typeface="Cambria Math" panose="02040503050406030204" pitchFamily="18" charset="0"/>
                          </a:rPr>
                        </m:ctrlPr>
                      </m:sSubSupPr>
                      <m:e>
                        <m:r>
                          <a:rPr lang="it-IT" sz="2400" b="0" i="1" smtClean="0">
                            <a:solidFill>
                              <a:srgbClr val="FF0000"/>
                            </a:solidFill>
                            <a:latin typeface="Cambria Math" panose="02040503050406030204" pitchFamily="18" charset="0"/>
                            <a:ea typeface="Cambria Math" panose="02040503050406030204" pitchFamily="18" charset="0"/>
                          </a:rPr>
                          <m:t>𝜌</m:t>
                        </m:r>
                      </m:e>
                      <m:sub>
                        <m:r>
                          <m:rPr>
                            <m:sty m:val="p"/>
                          </m:rPr>
                          <a:rPr lang="en-US" sz="2400" b="0" i="0" smtClean="0">
                            <a:solidFill>
                              <a:srgbClr val="FF0000"/>
                            </a:solidFill>
                            <a:latin typeface="Cambria Math" panose="02040503050406030204" pitchFamily="18" charset="0"/>
                            <a:ea typeface="Cambria Math" panose="02040503050406030204" pitchFamily="18" charset="0"/>
                          </a:rPr>
                          <m:t>j</m:t>
                        </m:r>
                      </m:sub>
                      <m:sup>
                        <m:r>
                          <a:rPr lang="it-IT" sz="2400" b="0" i="1" smtClean="0">
                            <a:solidFill>
                              <a:srgbClr val="FF0000"/>
                            </a:solidFill>
                            <a:latin typeface="Cambria Math" panose="02040503050406030204" pitchFamily="18" charset="0"/>
                            <a:ea typeface="Cambria Math" panose="02040503050406030204" pitchFamily="18" charset="0"/>
                          </a:rPr>
                          <m:t>𝑠</m:t>
                        </m:r>
                      </m:sup>
                    </m:sSubSup>
                    <m:sSub>
                      <m:sSubPr>
                        <m:ctrlPr>
                          <a:rPr lang="en-US" sz="2400" b="0" i="1" smtClean="0">
                            <a:solidFill>
                              <a:schemeClr val="tx1"/>
                            </a:solidFill>
                            <a:latin typeface="Cambria Math" panose="02040503050406030204" pitchFamily="18" charset="0"/>
                            <a:ea typeface="Cambria Math" panose="02040503050406030204" pitchFamily="18" charset="0"/>
                          </a:rPr>
                        </m:ctrlPr>
                      </m:sSubPr>
                      <m:e>
                        <m:r>
                          <a:rPr lang="en-US" sz="2400" b="0" i="0" smtClean="0">
                            <a:solidFill>
                              <a:schemeClr val="tx1"/>
                            </a:solidFill>
                            <a:latin typeface="Cambria Math" panose="02040503050406030204" pitchFamily="18" charset="0"/>
                            <a:ea typeface="Cambria Math" panose="02040503050406030204" pitchFamily="18" charset="0"/>
                          </a:rPr>
                          <m:t> </m:t>
                        </m:r>
                        <m:r>
                          <a:rPr lang="en-US" sz="2400" b="0" i="1" smtClean="0">
                            <a:solidFill>
                              <a:schemeClr val="tx1"/>
                            </a:solidFill>
                            <a:latin typeface="Cambria Math" panose="02040503050406030204" pitchFamily="18" charset="0"/>
                            <a:ea typeface="Cambria Math" panose="02040503050406030204" pitchFamily="18" charset="0"/>
                          </a:rPr>
                          <m:t>𝑥</m:t>
                        </m:r>
                      </m:e>
                      <m:sub>
                        <m:r>
                          <m:rPr>
                            <m:sty m:val="p"/>
                          </m:rPr>
                          <a:rPr lang="en-US" sz="2400" b="0" i="0" smtClean="0">
                            <a:solidFill>
                              <a:schemeClr val="tx1"/>
                            </a:solidFill>
                            <a:latin typeface="Cambria Math" panose="02040503050406030204" pitchFamily="18" charset="0"/>
                            <a:ea typeface="Cambria Math" panose="02040503050406030204" pitchFamily="18" charset="0"/>
                          </a:rPr>
                          <m:t>ij</m:t>
                        </m:r>
                      </m:sub>
                    </m:sSub>
                  </m:oMath>
                </a14:m>
                <a:r>
                  <a:rPr lang="en-US" sz="2400" dirty="0">
                    <a:solidFill>
                      <a:schemeClr val="tx1"/>
                    </a:solidFill>
                    <a:latin typeface="Arial" panose="020B0604020202020204" pitchFamily="34" charset="0"/>
                  </a:rPr>
                  <a:t> 	</a:t>
                </a:r>
                <a:r>
                  <a:rPr lang="en-US" sz="2400" i="1" dirty="0" err="1">
                    <a:solidFill>
                      <a:schemeClr val="tx1"/>
                    </a:solidFill>
                    <a:latin typeface="Cambria Math" panose="02040503050406030204" pitchFamily="18" charset="0"/>
                    <a:ea typeface="Cambria Math" panose="02040503050406030204" pitchFamily="18" charset="0"/>
                  </a:rPr>
                  <a:t>i</a:t>
                </a:r>
                <a:r>
                  <a:rPr lang="en-US" sz="2400" i="1" dirty="0">
                    <a:solidFill>
                      <a:schemeClr val="tx1"/>
                    </a:solidFill>
                    <a:latin typeface="Cambria Math" panose="02040503050406030204" pitchFamily="18" charset="0"/>
                    <a:ea typeface="Cambria Math" panose="02040503050406030204" pitchFamily="18" charset="0"/>
                  </a:rPr>
                  <a:t> </a:t>
                </a:r>
                <a:r>
                  <a:rPr lang="en-US" sz="2400" dirty="0">
                    <a:solidFill>
                      <a:schemeClr val="tx1"/>
                    </a:solidFill>
                    <a:latin typeface="Cambria Math" panose="02040503050406030204" pitchFamily="18" charset="0"/>
                    <a:ea typeface="Cambria Math" panose="02040503050406030204" pitchFamily="18" charset="0"/>
                    <a:sym typeface="Symbol" panose="05050102010706020507" pitchFamily="18" charset="2"/>
                  </a:rPr>
                  <a:t> </a:t>
                </a:r>
                <a:r>
                  <a:rPr lang="en-US" sz="2400" dirty="0">
                    <a:solidFill>
                      <a:schemeClr val="tx1"/>
                    </a:solidFill>
                    <a:latin typeface="Cambria Math" panose="02040503050406030204" pitchFamily="18" charset="0"/>
                    <a:ea typeface="Cambria Math" panose="02040503050406030204" pitchFamily="18" charset="0"/>
                  </a:rPr>
                  <a:t>I,</a:t>
                </a:r>
                <a:r>
                  <a:rPr lang="en-US" sz="2400" baseline="-25000" dirty="0">
                    <a:solidFill>
                      <a:schemeClr val="tx1"/>
                    </a:solidFill>
                    <a:latin typeface="Cambria Math" panose="02040503050406030204" pitchFamily="18" charset="0"/>
                    <a:ea typeface="Cambria Math" panose="02040503050406030204" pitchFamily="18" charset="0"/>
                  </a:rPr>
                  <a:t> </a:t>
                </a:r>
                <a:r>
                  <a:rPr lang="en-US" sz="2400" i="1" dirty="0">
                    <a:solidFill>
                      <a:schemeClr val="tx1"/>
                    </a:solidFill>
                    <a:latin typeface="Cambria Math" panose="02040503050406030204" pitchFamily="18" charset="0"/>
                    <a:ea typeface="Cambria Math" panose="02040503050406030204" pitchFamily="18" charset="0"/>
                  </a:rPr>
                  <a:t>j </a:t>
                </a:r>
                <a:r>
                  <a:rPr lang="en-US" sz="2400" dirty="0">
                    <a:solidFill>
                      <a:schemeClr val="tx1"/>
                    </a:solidFill>
                    <a:latin typeface="Cambria Math" panose="02040503050406030204" pitchFamily="18" charset="0"/>
                    <a:ea typeface="Cambria Math" panose="02040503050406030204" pitchFamily="18" charset="0"/>
                    <a:sym typeface="Symbol" panose="05050102010706020507" pitchFamily="18" charset="2"/>
                  </a:rPr>
                  <a:t> </a:t>
                </a:r>
                <a:r>
                  <a:rPr lang="en-US" sz="2400" dirty="0">
                    <a:solidFill>
                      <a:schemeClr val="tx1"/>
                    </a:solidFill>
                    <a:latin typeface="Cambria Math" panose="02040503050406030204" pitchFamily="18" charset="0"/>
                    <a:ea typeface="Cambria Math" panose="02040503050406030204" pitchFamily="18" charset="0"/>
                  </a:rPr>
                  <a:t>J</a:t>
                </a:r>
                <a:r>
                  <a:rPr lang="en-US" dirty="0">
                    <a:solidFill>
                      <a:schemeClr val="tx1"/>
                    </a:solidFill>
                    <a:latin typeface="Cambria Math" panose="02040503050406030204" pitchFamily="18" charset="0"/>
                    <a:ea typeface="Cambria Math" panose="02040503050406030204" pitchFamily="18" charset="0"/>
                  </a:rPr>
                  <a:t>, s </a:t>
                </a:r>
                <a:r>
                  <a:rPr lang="en-US" dirty="0">
                    <a:solidFill>
                      <a:schemeClr val="tx1"/>
                    </a:solidFill>
                    <a:latin typeface="Cambria Math" panose="02040503050406030204" pitchFamily="18" charset="0"/>
                    <a:ea typeface="Cambria Math" panose="02040503050406030204" pitchFamily="18" charset="0"/>
                    <a:sym typeface="Symbol" panose="05050102010706020507" pitchFamily="18" charset="2"/>
                  </a:rPr>
                  <a:t> </a:t>
                </a:r>
                <a:r>
                  <a:rPr lang="en-US" dirty="0">
                    <a:solidFill>
                      <a:schemeClr val="tx1"/>
                    </a:solidFill>
                    <a:latin typeface="Cambria Math" panose="02040503050406030204" pitchFamily="18" charset="0"/>
                    <a:ea typeface="Cambria Math" panose="02040503050406030204" pitchFamily="18" charset="0"/>
                  </a:rPr>
                  <a:t>S</a:t>
                </a:r>
                <a:r>
                  <a:rPr lang="en-US" sz="2400" baseline="-25000" dirty="0">
                    <a:solidFill>
                      <a:schemeClr val="tx1"/>
                    </a:solidFill>
                    <a:latin typeface="Cambria Math" panose="02040503050406030204" pitchFamily="18" charset="0"/>
                    <a:ea typeface="Cambria Math" panose="02040503050406030204" pitchFamily="18" charset="0"/>
                  </a:rPr>
                  <a:t> </a:t>
                </a:r>
                <a:r>
                  <a:rPr lang="en-US" sz="2400" baseline="-25000" dirty="0">
                    <a:solidFill>
                      <a:schemeClr val="tx1"/>
                    </a:solidFill>
                    <a:latin typeface="Arial" panose="020B0604020202020204" pitchFamily="34" charset="0"/>
                  </a:rPr>
                  <a:t> 	</a:t>
                </a:r>
                <a:r>
                  <a:rPr lang="it-IT" sz="2400" dirty="0">
                    <a:solidFill>
                      <a:schemeClr val="tx1"/>
                    </a:solidFill>
                    <a:latin typeface="Cambria Math" panose="02040503050406030204" pitchFamily="18" charset="0"/>
                    <a:ea typeface="Cambria Math" panose="02040503050406030204" pitchFamily="18" charset="0"/>
                  </a:rPr>
                  <a:t>(5)</a:t>
                </a:r>
                <a:endParaRPr lang="en-US" sz="2400" dirty="0">
                  <a:solidFill>
                    <a:schemeClr val="tx1"/>
                  </a:solidFill>
                  <a:latin typeface="Arial" panose="020B0604020202020204" pitchFamily="34" charset="0"/>
                </a:endParaRPr>
              </a:p>
              <a:p>
                <a:pPr fontAlgn="ctr">
                  <a:lnSpc>
                    <a:spcPct val="150000"/>
                  </a:lnSpc>
                  <a:spcBef>
                    <a:spcPts val="0"/>
                  </a:spcBef>
                  <a:tabLst>
                    <a:tab pos="1789113" algn="l"/>
                    <a:tab pos="5024438" algn="l"/>
                    <a:tab pos="7543800" algn="l"/>
                  </a:tabLst>
                </a:pPr>
                <a:r>
                  <a:rPr lang="en-US" sz="2400" dirty="0">
                    <a:solidFill>
                      <a:schemeClr val="tx1"/>
                    </a:solidFill>
                    <a:latin typeface="Arial" panose="020B0604020202020204" pitchFamily="34" charset="0"/>
                    <a:ea typeface="Cambria Math" panose="02040503050406030204" pitchFamily="18" charset="0"/>
                  </a:rPr>
                  <a:t>	</a:t>
                </a:r>
                <a14:m>
                  <m:oMath xmlns:m="http://schemas.openxmlformats.org/officeDocument/2006/math">
                    <m:sSub>
                      <m:sSubPr>
                        <m:ctrlPr>
                          <a:rPr lang="en-US" sz="2400" i="1">
                            <a:solidFill>
                              <a:schemeClr val="tx1"/>
                            </a:solidFill>
                            <a:latin typeface="Cambria Math" panose="02040503050406030204" pitchFamily="18" charset="0"/>
                            <a:ea typeface="Cambria Math" panose="02040503050406030204" pitchFamily="18" charset="0"/>
                          </a:rPr>
                        </m:ctrlPr>
                      </m:sSubPr>
                      <m:e>
                        <m:r>
                          <a:rPr lang="en-US" sz="2400">
                            <a:solidFill>
                              <a:schemeClr val="tx1"/>
                            </a:solidFill>
                            <a:latin typeface="Cambria Math" panose="02040503050406030204" pitchFamily="18" charset="0"/>
                            <a:ea typeface="Cambria Math" panose="02040503050406030204" pitchFamily="18" charset="0"/>
                          </a:rPr>
                          <m:t>𝑥</m:t>
                        </m:r>
                      </m:e>
                      <m:sub>
                        <m:r>
                          <m:rPr>
                            <m:sty m:val="p"/>
                          </m:rPr>
                          <a:rPr lang="en-US" sz="2400">
                            <a:solidFill>
                              <a:schemeClr val="tx1"/>
                            </a:solidFill>
                            <a:latin typeface="Cambria Math" panose="02040503050406030204" pitchFamily="18" charset="0"/>
                            <a:ea typeface="Cambria Math" panose="02040503050406030204" pitchFamily="18" charset="0"/>
                          </a:rPr>
                          <m:t>ij</m:t>
                        </m:r>
                      </m:sub>
                    </m:sSub>
                    <m:r>
                      <a:rPr lang="en-US" sz="2400" i="1">
                        <a:solidFill>
                          <a:schemeClr val="tx1"/>
                        </a:solidFill>
                        <a:latin typeface="Cambria Math" panose="02040503050406030204" pitchFamily="18" charset="0"/>
                        <a:ea typeface="Cambria Math" panose="02040503050406030204" pitchFamily="18" charset="0"/>
                      </a:rPr>
                      <m:t>∈</m:t>
                    </m:r>
                    <m:r>
                      <a:rPr lang="en-US" sz="2400">
                        <a:solidFill>
                          <a:schemeClr val="tx1"/>
                        </a:solidFill>
                        <a:latin typeface="Cambria Math" panose="02040503050406030204" pitchFamily="18" charset="0"/>
                        <a:ea typeface="Cambria Math" panose="02040503050406030204" pitchFamily="18" charset="0"/>
                      </a:rPr>
                      <m:t>{0,1}</m:t>
                    </m:r>
                  </m:oMath>
                </a14:m>
                <a:r>
                  <a:rPr lang="en-US" sz="2400" dirty="0">
                    <a:solidFill>
                      <a:schemeClr val="tx1"/>
                    </a:solidFill>
                    <a:latin typeface="Arial" panose="020B0604020202020204" pitchFamily="34" charset="0"/>
                  </a:rPr>
                  <a:t> 	</a:t>
                </a:r>
                <a:r>
                  <a:rPr lang="en-US" sz="2400" i="1" dirty="0" err="1">
                    <a:solidFill>
                      <a:schemeClr val="tx1"/>
                    </a:solidFill>
                    <a:latin typeface="Cambria Math" panose="02040503050406030204" pitchFamily="18" charset="0"/>
                    <a:ea typeface="Cambria Math" panose="02040503050406030204" pitchFamily="18" charset="0"/>
                  </a:rPr>
                  <a:t>i</a:t>
                </a:r>
                <a:r>
                  <a:rPr lang="en-US" sz="2400" i="1" dirty="0">
                    <a:solidFill>
                      <a:schemeClr val="tx1"/>
                    </a:solidFill>
                    <a:latin typeface="Cambria Math" panose="02040503050406030204" pitchFamily="18" charset="0"/>
                    <a:ea typeface="Cambria Math" panose="02040503050406030204" pitchFamily="18" charset="0"/>
                  </a:rPr>
                  <a:t> </a:t>
                </a:r>
                <a:r>
                  <a:rPr lang="en-US" sz="2400" dirty="0">
                    <a:solidFill>
                      <a:schemeClr val="tx1"/>
                    </a:solidFill>
                    <a:latin typeface="Cambria Math" panose="02040503050406030204" pitchFamily="18" charset="0"/>
                    <a:ea typeface="Cambria Math" panose="02040503050406030204" pitchFamily="18" charset="0"/>
                    <a:sym typeface="Symbol" panose="05050102010706020507" pitchFamily="18" charset="2"/>
                  </a:rPr>
                  <a:t> </a:t>
                </a:r>
                <a:r>
                  <a:rPr lang="en-US" sz="2400" dirty="0">
                    <a:solidFill>
                      <a:schemeClr val="tx1"/>
                    </a:solidFill>
                    <a:latin typeface="Cambria Math" panose="02040503050406030204" pitchFamily="18" charset="0"/>
                    <a:ea typeface="Cambria Math" panose="02040503050406030204" pitchFamily="18" charset="0"/>
                  </a:rPr>
                  <a:t>I,</a:t>
                </a:r>
                <a:r>
                  <a:rPr lang="en-US" sz="2400" baseline="-25000" dirty="0">
                    <a:solidFill>
                      <a:schemeClr val="tx1"/>
                    </a:solidFill>
                    <a:latin typeface="Cambria Math" panose="02040503050406030204" pitchFamily="18" charset="0"/>
                    <a:ea typeface="Cambria Math" panose="02040503050406030204" pitchFamily="18" charset="0"/>
                  </a:rPr>
                  <a:t> </a:t>
                </a:r>
                <a:r>
                  <a:rPr lang="en-US" sz="2400" i="1" dirty="0">
                    <a:solidFill>
                      <a:schemeClr val="tx1"/>
                    </a:solidFill>
                    <a:latin typeface="Cambria Math" panose="02040503050406030204" pitchFamily="18" charset="0"/>
                    <a:ea typeface="Cambria Math" panose="02040503050406030204" pitchFamily="18" charset="0"/>
                  </a:rPr>
                  <a:t>j </a:t>
                </a:r>
                <a:r>
                  <a:rPr lang="en-US" sz="2400" dirty="0">
                    <a:solidFill>
                      <a:schemeClr val="tx1"/>
                    </a:solidFill>
                    <a:latin typeface="Cambria Math" panose="02040503050406030204" pitchFamily="18" charset="0"/>
                    <a:ea typeface="Cambria Math" panose="02040503050406030204" pitchFamily="18" charset="0"/>
                    <a:sym typeface="Symbol" panose="05050102010706020507" pitchFamily="18" charset="2"/>
                  </a:rPr>
                  <a:t> </a:t>
                </a:r>
                <a:r>
                  <a:rPr lang="en-US" sz="2400" dirty="0">
                    <a:solidFill>
                      <a:schemeClr val="tx1"/>
                    </a:solidFill>
                    <a:latin typeface="Cambria Math" panose="02040503050406030204" pitchFamily="18" charset="0"/>
                    <a:ea typeface="Cambria Math" panose="02040503050406030204" pitchFamily="18" charset="0"/>
                  </a:rPr>
                  <a:t>J</a:t>
                </a:r>
                <a:r>
                  <a:rPr lang="en-US" sz="2400" baseline="-25000" dirty="0">
                    <a:solidFill>
                      <a:schemeClr val="tx1"/>
                    </a:solidFill>
                    <a:latin typeface="Cambria Math" panose="02040503050406030204" pitchFamily="18" charset="0"/>
                    <a:ea typeface="Cambria Math" panose="02040503050406030204" pitchFamily="18" charset="0"/>
                  </a:rPr>
                  <a:t> </a:t>
                </a:r>
                <a:r>
                  <a:rPr lang="en-US" sz="2400" baseline="-25000" dirty="0">
                    <a:solidFill>
                      <a:schemeClr val="tx1"/>
                    </a:solidFill>
                    <a:latin typeface="Arial" panose="020B0604020202020204" pitchFamily="34" charset="0"/>
                  </a:rPr>
                  <a:t> 	</a:t>
                </a:r>
                <a:r>
                  <a:rPr lang="it-IT" sz="2400" dirty="0">
                    <a:solidFill>
                      <a:schemeClr val="tx1"/>
                    </a:solidFill>
                    <a:latin typeface="Cambria Math" panose="02040503050406030204" pitchFamily="18" charset="0"/>
                    <a:ea typeface="Cambria Math" panose="02040503050406030204" pitchFamily="18" charset="0"/>
                  </a:rPr>
                  <a:t>(6)</a:t>
                </a:r>
                <a:endParaRPr lang="en-US" sz="2400" dirty="0">
                  <a:solidFill>
                    <a:schemeClr val="tx1"/>
                  </a:solidFill>
                  <a:latin typeface="Arial" panose="020B0604020202020204" pitchFamily="34" charset="0"/>
                </a:endParaRPr>
              </a:p>
              <a:p>
                <a:pPr fontAlgn="ctr">
                  <a:lnSpc>
                    <a:spcPct val="150000"/>
                  </a:lnSpc>
                  <a:spcBef>
                    <a:spcPts val="0"/>
                  </a:spcBef>
                  <a:tabLst>
                    <a:tab pos="1789113" algn="l"/>
                    <a:tab pos="5024438" algn="l"/>
                    <a:tab pos="7543800" algn="l"/>
                  </a:tabLst>
                </a:pPr>
                <a:r>
                  <a:rPr lang="en-US" sz="2400" b="0" u="none" strike="noStrike" kern="1200" dirty="0">
                    <a:solidFill>
                      <a:schemeClr val="tx1"/>
                    </a:solidFill>
                    <a:effectLst/>
                    <a:latin typeface="Arial" panose="020B0604020202020204" pitchFamily="34" charset="0"/>
                    <a:ea typeface="Cambria Math" panose="02040503050406030204" pitchFamily="18" charset="0"/>
                  </a:rPr>
                  <a:t>	</a:t>
                </a:r>
                <a14:m>
                  <m:oMath xmlns:m="http://schemas.openxmlformats.org/officeDocument/2006/math">
                    <m:sSubSup>
                      <m:sSubSupPr>
                        <m:ctrlPr>
                          <a:rPr lang="it-IT" sz="2400" b="0" i="1" u="none" strike="noStrike" kern="1200" smtClean="0">
                            <a:solidFill>
                              <a:srgbClr val="FF0000"/>
                            </a:solidFill>
                            <a:effectLst/>
                            <a:latin typeface="Cambria Math" panose="02040503050406030204" pitchFamily="18" charset="0"/>
                            <a:ea typeface="Cambria Math" panose="02040503050406030204" pitchFamily="18" charset="0"/>
                          </a:rPr>
                        </m:ctrlPr>
                      </m:sSubSupPr>
                      <m:e>
                        <m:r>
                          <a:rPr lang="en-US" sz="2400" b="0" i="1" u="none" strike="noStrike" kern="1200" smtClean="0">
                            <a:solidFill>
                              <a:srgbClr val="FF0000"/>
                            </a:solidFill>
                            <a:effectLst/>
                            <a:latin typeface="Cambria Math" panose="02040503050406030204" pitchFamily="18" charset="0"/>
                            <a:ea typeface="Cambria Math" panose="02040503050406030204" pitchFamily="18" charset="0"/>
                          </a:rPr>
                          <m:t>𝑞</m:t>
                        </m:r>
                      </m:e>
                      <m:sub>
                        <m:r>
                          <m:rPr>
                            <m:sty m:val="p"/>
                          </m:rPr>
                          <a:rPr lang="en-US" sz="2400" b="0" i="0" u="none" strike="noStrike" kern="1200">
                            <a:solidFill>
                              <a:srgbClr val="FF0000"/>
                            </a:solidFill>
                            <a:effectLst/>
                            <a:latin typeface="Cambria Math" panose="02040503050406030204" pitchFamily="18" charset="0"/>
                            <a:ea typeface="Cambria Math" panose="02040503050406030204" pitchFamily="18" charset="0"/>
                          </a:rPr>
                          <m:t>ij</m:t>
                        </m:r>
                      </m:sub>
                      <m:sup>
                        <m:r>
                          <a:rPr lang="it-IT" sz="2400" b="0" i="1" u="none" strike="noStrike" kern="1200" smtClean="0">
                            <a:solidFill>
                              <a:srgbClr val="FF0000"/>
                            </a:solidFill>
                            <a:effectLst/>
                            <a:latin typeface="Cambria Math" panose="02040503050406030204" pitchFamily="18" charset="0"/>
                            <a:ea typeface="Cambria Math" panose="02040503050406030204" pitchFamily="18" charset="0"/>
                          </a:rPr>
                          <m:t>𝑠</m:t>
                        </m:r>
                      </m:sup>
                    </m:sSubSup>
                    <m:r>
                      <a:rPr lang="en-US" sz="2400" b="0" i="1" u="none" strike="noStrike" kern="1200" smtClean="0">
                        <a:solidFill>
                          <a:schemeClr val="tx1"/>
                        </a:solidFill>
                        <a:effectLst/>
                        <a:latin typeface="Cambria Math" panose="02040503050406030204" pitchFamily="18" charset="0"/>
                        <a:ea typeface="Cambria Math" panose="02040503050406030204" pitchFamily="18" charset="0"/>
                      </a:rPr>
                      <m:t>∈</m:t>
                    </m:r>
                    <m:sSubSup>
                      <m:sSubSupPr>
                        <m:ctrlPr>
                          <a:rPr lang="en-US" sz="2400" b="0" i="1" u="none" strike="noStrike" kern="1200" smtClean="0">
                            <a:solidFill>
                              <a:schemeClr val="tx1"/>
                            </a:solidFill>
                            <a:effectLst/>
                            <a:latin typeface="Cambria Math" panose="02040503050406030204" pitchFamily="18" charset="0"/>
                            <a:ea typeface="Cambria Math" panose="02040503050406030204" pitchFamily="18" charset="0"/>
                          </a:rPr>
                        </m:ctrlPr>
                      </m:sSubSupPr>
                      <m:e>
                        <m:r>
                          <a:rPr lang="en-US" sz="2400" b="0" i="1" u="none" strike="noStrike" kern="1200" smtClean="0">
                            <a:solidFill>
                              <a:schemeClr val="tx1"/>
                            </a:solidFill>
                            <a:effectLst/>
                            <a:latin typeface="Cambria Math" panose="02040503050406030204" pitchFamily="18" charset="0"/>
                            <a:ea typeface="Cambria Math" panose="02040503050406030204" pitchFamily="18" charset="0"/>
                          </a:rPr>
                          <m:t>ℤ</m:t>
                        </m:r>
                      </m:e>
                      <m:sub>
                        <m:r>
                          <a:rPr lang="en-US" sz="2400" b="0" i="1" u="none" strike="noStrike" kern="1200" smtClean="0">
                            <a:solidFill>
                              <a:schemeClr val="tx1"/>
                            </a:solidFill>
                            <a:effectLst/>
                            <a:latin typeface="Cambria Math" panose="02040503050406030204" pitchFamily="18" charset="0"/>
                            <a:ea typeface="Cambria Math" panose="02040503050406030204" pitchFamily="18" charset="0"/>
                          </a:rPr>
                          <m:t>0</m:t>
                        </m:r>
                      </m:sub>
                      <m:sup>
                        <m:r>
                          <a:rPr lang="en-US" sz="2400" b="0" i="1" u="none" strike="noStrike" kern="1200" smtClean="0">
                            <a:solidFill>
                              <a:schemeClr val="tx1"/>
                            </a:solidFill>
                            <a:effectLst/>
                            <a:latin typeface="Cambria Math" panose="02040503050406030204" pitchFamily="18" charset="0"/>
                            <a:ea typeface="Cambria Math" panose="02040503050406030204" pitchFamily="18" charset="0"/>
                          </a:rPr>
                          <m:t>+</m:t>
                        </m:r>
                      </m:sup>
                    </m:sSubSup>
                  </m:oMath>
                </a14:m>
                <a:r>
                  <a:rPr lang="en-US" sz="2400" b="0" i="0" u="none" strike="noStrike" dirty="0">
                    <a:solidFill>
                      <a:schemeClr val="tx1"/>
                    </a:solidFill>
                    <a:effectLst/>
                    <a:latin typeface="Arial" panose="020B0604020202020204" pitchFamily="34" charset="0"/>
                  </a:rPr>
                  <a:t> 	</a:t>
                </a:r>
                <a:r>
                  <a:rPr lang="en-US" sz="2400" b="0" i="1" u="none" strike="noStrike" kern="1200" dirty="0" err="1">
                    <a:solidFill>
                      <a:schemeClr val="tx1"/>
                    </a:solidFill>
                    <a:effectLst/>
                    <a:latin typeface="Cambria Math" panose="02040503050406030204" pitchFamily="18" charset="0"/>
                    <a:ea typeface="Cambria Math" panose="02040503050406030204" pitchFamily="18" charset="0"/>
                  </a:rPr>
                  <a:t>i</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 </a:t>
                </a:r>
                <a:r>
                  <a:rPr lang="en-US" sz="2400" b="0" i="0" u="none" strike="noStrike" kern="1200" dirty="0">
                    <a:solidFill>
                      <a:schemeClr val="tx1"/>
                    </a:solidFill>
                    <a:effectLst/>
                    <a:latin typeface="Cambria Math" panose="02040503050406030204" pitchFamily="18" charset="0"/>
                    <a:ea typeface="Cambria Math" panose="02040503050406030204" pitchFamily="18" charset="0"/>
                    <a:sym typeface="Symbol" panose="05050102010706020507" pitchFamily="18" charset="2"/>
                  </a:rPr>
                  <a:t> </a:t>
                </a:r>
                <a:r>
                  <a:rPr lang="en-US" sz="2400" b="0" u="none" strike="noStrike" kern="1200" dirty="0">
                    <a:solidFill>
                      <a:schemeClr val="tx1"/>
                    </a:solidFill>
                    <a:effectLst/>
                    <a:latin typeface="Cambria Math" panose="02040503050406030204" pitchFamily="18" charset="0"/>
                    <a:ea typeface="Cambria Math" panose="02040503050406030204" pitchFamily="18" charset="0"/>
                  </a:rPr>
                  <a:t>I</a:t>
                </a:r>
                <a:r>
                  <a:rPr lang="en-US" sz="2400" b="0" i="0" u="none" strike="noStrike" kern="1200" dirty="0">
                    <a:solidFill>
                      <a:schemeClr val="tx1"/>
                    </a:solidFill>
                    <a:effectLst/>
                    <a:latin typeface="Cambria Math" panose="02040503050406030204" pitchFamily="18" charset="0"/>
                    <a:ea typeface="Cambria Math" panose="02040503050406030204" pitchFamily="18" charset="0"/>
                  </a:rPr>
                  <a:t>,</a:t>
                </a:r>
                <a:r>
                  <a:rPr lang="en-US" sz="2400" b="0" i="0" u="none" strike="noStrike" kern="1200" baseline="-25000" dirty="0">
                    <a:solidFill>
                      <a:schemeClr val="tx1"/>
                    </a:solidFill>
                    <a:effectLst/>
                    <a:latin typeface="Cambria Math" panose="02040503050406030204" pitchFamily="18" charset="0"/>
                    <a:ea typeface="Cambria Math" panose="02040503050406030204" pitchFamily="18" charset="0"/>
                  </a:rPr>
                  <a:t> </a:t>
                </a:r>
                <a:r>
                  <a:rPr lang="en-US" sz="2400" b="0" i="1" u="none" strike="noStrike" kern="1200" dirty="0">
                    <a:solidFill>
                      <a:schemeClr val="tx1"/>
                    </a:solidFill>
                    <a:effectLst/>
                    <a:latin typeface="Cambria Math" panose="02040503050406030204" pitchFamily="18" charset="0"/>
                    <a:ea typeface="Cambria Math" panose="02040503050406030204" pitchFamily="18" charset="0"/>
                  </a:rPr>
                  <a:t>j </a:t>
                </a:r>
                <a:r>
                  <a:rPr lang="en-US" sz="2400" b="0" i="0" u="none" strike="noStrike" kern="1200" dirty="0">
                    <a:solidFill>
                      <a:schemeClr val="tx1"/>
                    </a:solidFill>
                    <a:effectLst/>
                    <a:latin typeface="Cambria Math" panose="02040503050406030204" pitchFamily="18" charset="0"/>
                    <a:ea typeface="Cambria Math" panose="02040503050406030204" pitchFamily="18" charset="0"/>
                    <a:sym typeface="Symbol" panose="05050102010706020507" pitchFamily="18" charset="2"/>
                  </a:rPr>
                  <a:t> </a:t>
                </a:r>
                <a:r>
                  <a:rPr lang="en-US" sz="2400" b="0" u="none" strike="noStrike" kern="1200" dirty="0">
                    <a:solidFill>
                      <a:schemeClr val="tx1"/>
                    </a:solidFill>
                    <a:effectLst/>
                    <a:latin typeface="Cambria Math" panose="02040503050406030204" pitchFamily="18" charset="0"/>
                    <a:ea typeface="Cambria Math" panose="02040503050406030204" pitchFamily="18" charset="0"/>
                  </a:rPr>
                  <a:t>J</a:t>
                </a:r>
                <a:r>
                  <a:rPr lang="en-US" dirty="0">
                    <a:latin typeface="Cambria Math" panose="02040503050406030204" pitchFamily="18" charset="0"/>
                    <a:ea typeface="Cambria Math" panose="02040503050406030204" pitchFamily="18" charset="0"/>
                  </a:rPr>
                  <a:t>, s </a:t>
                </a:r>
                <a:r>
                  <a:rPr lang="en-US" dirty="0">
                    <a:latin typeface="Cambria Math" panose="02040503050406030204" pitchFamily="18" charset="0"/>
                    <a:ea typeface="Cambria Math" panose="02040503050406030204" pitchFamily="18" charset="0"/>
                    <a:sym typeface="Symbol" panose="05050102010706020507" pitchFamily="18" charset="2"/>
                  </a:rPr>
                  <a:t> </a:t>
                </a:r>
                <a:r>
                  <a:rPr lang="en-US" dirty="0">
                    <a:latin typeface="Cambria Math" panose="02040503050406030204" pitchFamily="18" charset="0"/>
                    <a:ea typeface="Cambria Math" panose="02040503050406030204" pitchFamily="18" charset="0"/>
                  </a:rPr>
                  <a:t>S</a:t>
                </a:r>
                <a:r>
                  <a:rPr lang="en-US" sz="2400" baseline="-25000" dirty="0">
                    <a:latin typeface="Arial" panose="020B0604020202020204" pitchFamily="34" charset="0"/>
                  </a:rPr>
                  <a:t> 	</a:t>
                </a:r>
                <a:r>
                  <a:rPr lang="it-IT" sz="2400" b="0" i="0" u="none" strike="noStrike" kern="1200" dirty="0">
                    <a:solidFill>
                      <a:schemeClr val="tx1"/>
                    </a:solidFill>
                    <a:effectLst/>
                    <a:latin typeface="Cambria Math" panose="02040503050406030204" pitchFamily="18" charset="0"/>
                    <a:ea typeface="Cambria Math" panose="02040503050406030204" pitchFamily="18" charset="0"/>
                  </a:rPr>
                  <a:t>(</a:t>
                </a:r>
                <a:r>
                  <a:rPr lang="it-IT" sz="2400" dirty="0">
                    <a:latin typeface="Cambria Math" panose="02040503050406030204" pitchFamily="18" charset="0"/>
                    <a:ea typeface="Cambria Math" panose="02040503050406030204" pitchFamily="18" charset="0"/>
                  </a:rPr>
                  <a:t>7</a:t>
                </a:r>
                <a:r>
                  <a:rPr lang="it-IT" sz="2400" b="0" i="0" u="none" strike="noStrike" kern="1200" dirty="0">
                    <a:solidFill>
                      <a:schemeClr val="tx1"/>
                    </a:solidFill>
                    <a:effectLst/>
                    <a:latin typeface="Cambria Math" panose="02040503050406030204" pitchFamily="18" charset="0"/>
                    <a:ea typeface="Cambria Math" panose="02040503050406030204" pitchFamily="18" charset="0"/>
                  </a:rPr>
                  <a:t>)</a:t>
                </a:r>
              </a:p>
              <a:p>
                <a:pPr fontAlgn="ctr">
                  <a:lnSpc>
                    <a:spcPct val="150000"/>
                  </a:lnSpc>
                  <a:spcBef>
                    <a:spcPts val="0"/>
                  </a:spcBef>
                  <a:tabLst>
                    <a:tab pos="1789113" algn="l"/>
                    <a:tab pos="5024438" algn="l"/>
                    <a:tab pos="7543800" algn="l"/>
                  </a:tabLst>
                </a:pPr>
                <a:r>
                  <a:rPr lang="en-US" dirty="0">
                    <a:latin typeface="Arial" panose="020B0604020202020204" pitchFamily="34" charset="0"/>
                    <a:ea typeface="Cambria Math" panose="02040503050406030204" pitchFamily="18" charset="0"/>
                  </a:rPr>
                  <a:t>	</a:t>
                </a:r>
                <a14:m>
                  <m:oMath xmlns:m="http://schemas.openxmlformats.org/officeDocument/2006/math">
                    <m:sSub>
                      <m:sSubPr>
                        <m:ctrlPr>
                          <a:rPr lang="it-IT" i="1" smtClean="0">
                            <a:solidFill>
                              <a:srgbClr val="FF0000"/>
                            </a:solidFill>
                            <a:latin typeface="Cambria Math" panose="02040503050406030204" pitchFamily="18" charset="0"/>
                            <a:ea typeface="Cambria Math" panose="02040503050406030204" pitchFamily="18" charset="0"/>
                          </a:rPr>
                        </m:ctrlPr>
                      </m:sSubPr>
                      <m:e>
                        <m:r>
                          <a:rPr lang="it-IT" i="1">
                            <a:solidFill>
                              <a:srgbClr val="FF0000"/>
                            </a:solidFill>
                            <a:latin typeface="Cambria Math" panose="02040503050406030204" pitchFamily="18" charset="0"/>
                            <a:ea typeface="Cambria Math" panose="02040503050406030204" pitchFamily="18" charset="0"/>
                          </a:rPr>
                          <m:t>𝜖</m:t>
                        </m:r>
                      </m:e>
                      <m:sub>
                        <m:r>
                          <a:rPr lang="it-IT" i="1">
                            <a:solidFill>
                              <a:srgbClr val="FF0000"/>
                            </a:solidFill>
                            <a:latin typeface="Cambria Math" panose="02040503050406030204" pitchFamily="18" charset="0"/>
                            <a:ea typeface="Cambria Math" panose="02040503050406030204" pitchFamily="18" charset="0"/>
                          </a:rPr>
                          <m:t>𝑗𝑠</m:t>
                        </m:r>
                      </m:sub>
                    </m:sSub>
                    <m:r>
                      <a:rPr lang="en-US">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a:latin typeface="Cambria Math" panose="02040503050406030204" pitchFamily="18" charset="0"/>
                            <a:ea typeface="Cambria Math" panose="02040503050406030204" pitchFamily="18" charset="0"/>
                          </a:rPr>
                          <m:t>ℤ</m:t>
                        </m:r>
                      </m:e>
                      <m:sub>
                        <m:r>
                          <a:rPr lang="en-US">
                            <a:latin typeface="Cambria Math" panose="02040503050406030204" pitchFamily="18" charset="0"/>
                            <a:ea typeface="Cambria Math" panose="02040503050406030204" pitchFamily="18" charset="0"/>
                          </a:rPr>
                          <m:t>0</m:t>
                        </m:r>
                      </m:sub>
                      <m:sup>
                        <m:r>
                          <a:rPr lang="en-US">
                            <a:latin typeface="Cambria Math" panose="02040503050406030204" pitchFamily="18" charset="0"/>
                            <a:ea typeface="Cambria Math" panose="02040503050406030204" pitchFamily="18" charset="0"/>
                          </a:rPr>
                          <m:t>+</m:t>
                        </m:r>
                      </m:sup>
                    </m:sSubSup>
                  </m:oMath>
                </a14:m>
                <a:r>
                  <a:rPr lang="en-US" dirty="0">
                    <a:latin typeface="Arial" panose="020B0604020202020204" pitchFamily="34" charset="0"/>
                    <a:ea typeface="Cambria Math" panose="02040503050406030204" pitchFamily="18" charset="0"/>
                  </a:rPr>
                  <a:t> 	</a:t>
                </a:r>
                <a:r>
                  <a:rPr lang="en-US" i="1" dirty="0">
                    <a:latin typeface="Cambria Math" panose="02040503050406030204" pitchFamily="18" charset="0"/>
                    <a:ea typeface="Cambria Math" panose="02040503050406030204" pitchFamily="18" charset="0"/>
                  </a:rPr>
                  <a:t> j </a:t>
                </a:r>
                <a:r>
                  <a:rPr lang="en-US" dirty="0">
                    <a:latin typeface="Cambria Math" panose="02040503050406030204" pitchFamily="18" charset="0"/>
                    <a:ea typeface="Cambria Math" panose="02040503050406030204" pitchFamily="18" charset="0"/>
                    <a:sym typeface="Symbol" panose="05050102010706020507" pitchFamily="18" charset="2"/>
                  </a:rPr>
                  <a:t> </a:t>
                </a:r>
                <a:r>
                  <a:rPr lang="en-US" dirty="0">
                    <a:latin typeface="Cambria Math" panose="02040503050406030204" pitchFamily="18" charset="0"/>
                    <a:ea typeface="Cambria Math" panose="02040503050406030204" pitchFamily="18" charset="0"/>
                  </a:rPr>
                  <a:t>J, s </a:t>
                </a:r>
                <a:r>
                  <a:rPr lang="en-US" dirty="0">
                    <a:latin typeface="Cambria Math" panose="02040503050406030204" pitchFamily="18" charset="0"/>
                    <a:ea typeface="Cambria Math" panose="02040503050406030204" pitchFamily="18" charset="0"/>
                    <a:sym typeface="Symbol" panose="05050102010706020507" pitchFamily="18" charset="2"/>
                  </a:rPr>
                  <a:t> </a:t>
                </a:r>
                <a:r>
                  <a:rPr lang="en-US" dirty="0">
                    <a:latin typeface="Cambria Math" panose="02040503050406030204" pitchFamily="18" charset="0"/>
                    <a:ea typeface="Cambria Math" panose="02040503050406030204" pitchFamily="18" charset="0"/>
                  </a:rPr>
                  <a:t>S</a:t>
                </a:r>
                <a:r>
                  <a:rPr lang="en-US" baseline="-25000" dirty="0">
                    <a:latin typeface="Arial" panose="020B0604020202020204" pitchFamily="34" charset="0"/>
                  </a:rPr>
                  <a:t> 	</a:t>
                </a:r>
                <a:r>
                  <a:rPr lang="it-IT" dirty="0">
                    <a:latin typeface="Cambria Math" panose="02040503050406030204" pitchFamily="18" charset="0"/>
                    <a:ea typeface="Cambria Math" panose="02040503050406030204" pitchFamily="18" charset="0"/>
                  </a:rPr>
                  <a:t>(8)</a:t>
                </a:r>
                <a:endParaRPr lang="it-IT" dirty="0">
                  <a:latin typeface="Arial" panose="020B0604020202020204" pitchFamily="34" charset="0"/>
                  <a:ea typeface="Cambria Math" panose="02040503050406030204" pitchFamily="18" charset="0"/>
                </a:endParaRPr>
              </a:p>
            </p:txBody>
          </p:sp>
        </mc:Choice>
        <mc:Fallback xmlns="">
          <p:sp>
            <p:nvSpPr>
              <p:cNvPr id="2" name="Content Placeholder 1">
                <a:extLst>
                  <a:ext uri="{FF2B5EF4-FFF2-40B4-BE49-F238E27FC236}">
                    <a16:creationId xmlns:a16="http://schemas.microsoft.com/office/drawing/2014/main" id="{74A286D6-0507-C00A-C4FB-69619416EBA4}"/>
                  </a:ext>
                </a:extLst>
              </p:cNvPr>
              <p:cNvSpPr>
                <a:spLocks noGrp="1" noRot="1" noChangeAspect="1" noMove="1" noResize="1" noEditPoints="1" noAdjustHandles="1" noChangeArrowheads="1" noChangeShapeType="1" noTextEdit="1"/>
              </p:cNvSpPr>
              <p:nvPr>
                <p:ph idx="1"/>
              </p:nvPr>
            </p:nvSpPr>
            <p:spPr>
              <a:xfrm>
                <a:off x="312482" y="1137040"/>
                <a:ext cx="8600926" cy="5184953"/>
              </a:xfrm>
              <a:blipFill>
                <a:blip r:embed="rId2"/>
                <a:stretch>
                  <a:fillRect l="-1063"/>
                </a:stretch>
              </a:blipFill>
            </p:spPr>
            <p:txBody>
              <a:bodyPr/>
              <a:lstStyle/>
              <a:p>
                <a:r>
                  <a:rPr lang="it-IT">
                    <a:noFill/>
                  </a:rPr>
                  <a:t> </a:t>
                </a:r>
              </a:p>
            </p:txBody>
          </p:sp>
        </mc:Fallback>
      </mc:AlternateContent>
      <p:sp>
        <p:nvSpPr>
          <p:cNvPr id="3" name="Title 2">
            <a:extLst>
              <a:ext uri="{FF2B5EF4-FFF2-40B4-BE49-F238E27FC236}">
                <a16:creationId xmlns:a16="http://schemas.microsoft.com/office/drawing/2014/main" id="{396A4349-66F5-6CE3-AFE4-E6CD7F87A5FE}"/>
              </a:ext>
            </a:extLst>
          </p:cNvPr>
          <p:cNvSpPr>
            <a:spLocks noGrp="1"/>
          </p:cNvSpPr>
          <p:nvPr>
            <p:ph type="title"/>
          </p:nvPr>
        </p:nvSpPr>
        <p:spPr>
          <a:xfrm>
            <a:off x="278767" y="27446"/>
            <a:ext cx="8791195" cy="766769"/>
          </a:xfrm>
        </p:spPr>
        <p:txBody>
          <a:bodyPr/>
          <a:lstStyle/>
          <a:p>
            <a:r>
              <a:rPr lang="en-US" dirty="0"/>
              <a:t>Scenario-based</a:t>
            </a:r>
          </a:p>
        </p:txBody>
      </p:sp>
      <p:sp>
        <p:nvSpPr>
          <p:cNvPr id="4" name="Footer Placeholder 3">
            <a:extLst>
              <a:ext uri="{FF2B5EF4-FFF2-40B4-BE49-F238E27FC236}">
                <a16:creationId xmlns:a16="http://schemas.microsoft.com/office/drawing/2014/main" id="{EEA1227D-CD72-1F39-4841-05299173BDFF}"/>
              </a:ext>
            </a:extLst>
          </p:cNvPr>
          <p:cNvSpPr>
            <a:spLocks noGrp="1"/>
          </p:cNvSpPr>
          <p:nvPr>
            <p:ph type="ftr" sz="quarter" idx="3"/>
          </p:nvPr>
        </p:nvSpPr>
        <p:spPr/>
        <p:txBody>
          <a:bodyPr/>
          <a:lstStyle/>
          <a:p>
            <a:pPr>
              <a:defRPr/>
            </a:pPr>
            <a:r>
              <a:rPr lang="it-IT"/>
              <a:t>Vittorio Maniezzo - University of Bologna</a:t>
            </a:r>
            <a:endParaRPr lang="it-IT" dirty="0"/>
          </a:p>
        </p:txBody>
      </p:sp>
      <p:sp>
        <p:nvSpPr>
          <p:cNvPr id="5" name="Slide Number Placeholder 4">
            <a:extLst>
              <a:ext uri="{FF2B5EF4-FFF2-40B4-BE49-F238E27FC236}">
                <a16:creationId xmlns:a16="http://schemas.microsoft.com/office/drawing/2014/main" id="{B1CBC097-C49A-3EF3-F0C3-7737496C4B5A}"/>
              </a:ext>
            </a:extLst>
          </p:cNvPr>
          <p:cNvSpPr>
            <a:spLocks noGrp="1"/>
          </p:cNvSpPr>
          <p:nvPr>
            <p:ph type="sldNum" sz="quarter" idx="4"/>
          </p:nvPr>
        </p:nvSpPr>
        <p:spPr/>
        <p:txBody>
          <a:bodyPr/>
          <a:lstStyle/>
          <a:p>
            <a:pPr>
              <a:defRPr/>
            </a:pPr>
            <a:fld id="{476DEB1C-3253-4C07-8F02-456B7B2AD41D}" type="slidenum">
              <a:rPr lang="it-IT" smtClean="0"/>
              <a:pPr>
                <a:defRPr/>
              </a:pPr>
              <a:t>9</a:t>
            </a:fld>
            <a:endParaRPr lang="it-IT" dirty="0"/>
          </a:p>
        </p:txBody>
      </p:sp>
      <p:sp>
        <p:nvSpPr>
          <p:cNvPr id="7" name="Callout: Line 6">
            <a:extLst>
              <a:ext uri="{FF2B5EF4-FFF2-40B4-BE49-F238E27FC236}">
                <a16:creationId xmlns:a16="http://schemas.microsoft.com/office/drawing/2014/main" id="{31B7D93F-1DD9-BD0D-45A6-05C4651151FC}"/>
              </a:ext>
            </a:extLst>
          </p:cNvPr>
          <p:cNvSpPr/>
          <p:nvPr/>
        </p:nvSpPr>
        <p:spPr>
          <a:xfrm>
            <a:off x="430305" y="2944906"/>
            <a:ext cx="1324604" cy="1150684"/>
          </a:xfrm>
          <a:prstGeom prst="borderCallout1">
            <a:avLst>
              <a:gd name="adj1" fmla="val -6567"/>
              <a:gd name="adj2" fmla="val 69485"/>
              <a:gd name="adj3" fmla="val -47479"/>
              <a:gd name="adj4" fmla="val 295764"/>
            </a:avLst>
          </a:prstGeom>
          <a:noFill/>
          <a:ln>
            <a:solidFill>
              <a:srgbClr val="0070C0"/>
            </a:solidFill>
          </a:ln>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it-IT" sz="2400" dirty="0" err="1">
                <a:solidFill>
                  <a:srgbClr val="0070C0"/>
                </a:solidFill>
              </a:rPr>
              <a:t>We</a:t>
            </a:r>
            <a:r>
              <a:rPr lang="it-IT" sz="2400" dirty="0">
                <a:solidFill>
                  <a:srgbClr val="0070C0"/>
                </a:solidFill>
              </a:rPr>
              <a:t> forecast </a:t>
            </a:r>
            <a:r>
              <a:rPr lang="it-IT" sz="2400" dirty="0" err="1">
                <a:solidFill>
                  <a:srgbClr val="0070C0"/>
                </a:solidFill>
              </a:rPr>
              <a:t>these</a:t>
            </a:r>
            <a:endParaRPr lang="it-IT" sz="2400" dirty="0">
              <a:solidFill>
                <a:srgbClr val="0070C0"/>
              </a:solidFill>
            </a:endParaRPr>
          </a:p>
        </p:txBody>
      </p:sp>
    </p:spTree>
    <p:extLst>
      <p:ext uri="{BB962C8B-B14F-4D97-AF65-F5344CB8AC3E}">
        <p14:creationId xmlns:p14="http://schemas.microsoft.com/office/powerpoint/2010/main" val="3660652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1C6C74-2F5A-4BD2-A2E7-1E2A91EE866B}"/>
              </a:ext>
            </a:extLst>
          </p:cNvPr>
          <p:cNvSpPr>
            <a:spLocks noGrp="1"/>
          </p:cNvSpPr>
          <p:nvPr>
            <p:ph idx="1"/>
          </p:nvPr>
        </p:nvSpPr>
        <p:spPr>
          <a:xfrm>
            <a:off x="298907" y="954460"/>
            <a:ext cx="7857541" cy="865196"/>
          </a:xfrm>
        </p:spPr>
        <p:txBody>
          <a:bodyPr/>
          <a:lstStyle/>
          <a:p>
            <a:r>
              <a:rPr lang="en-US" dirty="0"/>
              <a:t>Economics-related time series can often be effectively decomposed using STL</a:t>
            </a:r>
          </a:p>
        </p:txBody>
      </p:sp>
      <p:sp>
        <p:nvSpPr>
          <p:cNvPr id="3" name="Title 2">
            <a:extLst>
              <a:ext uri="{FF2B5EF4-FFF2-40B4-BE49-F238E27FC236}">
                <a16:creationId xmlns:a16="http://schemas.microsoft.com/office/drawing/2014/main" id="{1A638FB1-ED62-4625-865F-D06016D5F91A}"/>
              </a:ext>
            </a:extLst>
          </p:cNvPr>
          <p:cNvSpPr>
            <a:spLocks noGrp="1"/>
          </p:cNvSpPr>
          <p:nvPr>
            <p:ph type="title"/>
          </p:nvPr>
        </p:nvSpPr>
        <p:spPr/>
        <p:txBody>
          <a:bodyPr/>
          <a:lstStyle/>
          <a:p>
            <a:r>
              <a:rPr lang="en-US" dirty="0" err="1"/>
              <a:t>Prewhitening</a:t>
            </a:r>
            <a:endParaRPr lang="en-US" dirty="0"/>
          </a:p>
        </p:txBody>
      </p:sp>
      <p:sp>
        <p:nvSpPr>
          <p:cNvPr id="4" name="Footer Placeholder 3">
            <a:extLst>
              <a:ext uri="{FF2B5EF4-FFF2-40B4-BE49-F238E27FC236}">
                <a16:creationId xmlns:a16="http://schemas.microsoft.com/office/drawing/2014/main" id="{645F0937-F769-4F6E-8580-CBBCA4D251D7}"/>
              </a:ext>
            </a:extLst>
          </p:cNvPr>
          <p:cNvSpPr>
            <a:spLocks noGrp="1"/>
          </p:cNvSpPr>
          <p:nvPr>
            <p:ph type="ftr" sz="quarter" idx="3"/>
          </p:nvPr>
        </p:nvSpPr>
        <p:spPr/>
        <p:txBody>
          <a:bodyPr/>
          <a:lstStyle/>
          <a:p>
            <a:pPr>
              <a:defRPr/>
            </a:pPr>
            <a:r>
              <a:rPr lang="it-IT"/>
              <a:t>Vittorio Maniezzo - University of Bologna</a:t>
            </a:r>
            <a:endParaRPr lang="it-IT" dirty="0"/>
          </a:p>
        </p:txBody>
      </p:sp>
      <p:sp>
        <p:nvSpPr>
          <p:cNvPr id="5" name="Slide Number Placeholder 4">
            <a:extLst>
              <a:ext uri="{FF2B5EF4-FFF2-40B4-BE49-F238E27FC236}">
                <a16:creationId xmlns:a16="http://schemas.microsoft.com/office/drawing/2014/main" id="{B71836D5-1DDA-427B-8458-42079267F7A7}"/>
              </a:ext>
            </a:extLst>
          </p:cNvPr>
          <p:cNvSpPr>
            <a:spLocks noGrp="1"/>
          </p:cNvSpPr>
          <p:nvPr>
            <p:ph type="sldNum" sz="quarter" idx="4"/>
          </p:nvPr>
        </p:nvSpPr>
        <p:spPr/>
        <p:txBody>
          <a:bodyPr/>
          <a:lstStyle/>
          <a:p>
            <a:pPr>
              <a:defRPr/>
            </a:pPr>
            <a:fld id="{476DEB1C-3253-4C07-8F02-456B7B2AD41D}" type="slidenum">
              <a:rPr lang="it-IT" smtClean="0"/>
              <a:pPr>
                <a:defRPr/>
              </a:pPr>
              <a:t>10</a:t>
            </a:fld>
            <a:endParaRPr lang="it-IT" dirty="0"/>
          </a:p>
        </p:txBody>
      </p:sp>
      <p:graphicFrame>
        <p:nvGraphicFramePr>
          <p:cNvPr id="6" name="Chart 5">
            <a:extLst>
              <a:ext uri="{FF2B5EF4-FFF2-40B4-BE49-F238E27FC236}">
                <a16:creationId xmlns:a16="http://schemas.microsoft.com/office/drawing/2014/main" id="{914F6936-617F-4265-A226-E04C2919F950}"/>
              </a:ext>
            </a:extLst>
          </p:cNvPr>
          <p:cNvGraphicFramePr>
            <a:graphicFrameLocks/>
          </p:cNvGraphicFramePr>
          <p:nvPr/>
        </p:nvGraphicFramePr>
        <p:xfrm>
          <a:off x="710565" y="1747564"/>
          <a:ext cx="3632835" cy="266546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59D514D4-2DBB-41FB-9AD7-62DE94011550}"/>
              </a:ext>
            </a:extLst>
          </p:cNvPr>
          <p:cNvGraphicFramePr>
            <a:graphicFrameLocks/>
          </p:cNvGraphicFramePr>
          <p:nvPr/>
        </p:nvGraphicFramePr>
        <p:xfrm>
          <a:off x="4765803" y="1747564"/>
          <a:ext cx="3759071" cy="254097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F4E2309E-D802-4D6E-8335-D3CFBCC3F768}"/>
              </a:ext>
            </a:extLst>
          </p:cNvPr>
          <p:cNvGraphicFramePr>
            <a:graphicFrameLocks/>
          </p:cNvGraphicFramePr>
          <p:nvPr/>
        </p:nvGraphicFramePr>
        <p:xfrm>
          <a:off x="4773168" y="4389342"/>
          <a:ext cx="3783538" cy="2270712"/>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a:extLst>
              <a:ext uri="{FF2B5EF4-FFF2-40B4-BE49-F238E27FC236}">
                <a16:creationId xmlns:a16="http://schemas.microsoft.com/office/drawing/2014/main" id="{AA42D1C7-B668-42A5-82F9-3F90EC885BFC}"/>
              </a:ext>
            </a:extLst>
          </p:cNvPr>
          <p:cNvSpPr txBox="1"/>
          <p:nvPr/>
        </p:nvSpPr>
        <p:spPr>
          <a:xfrm>
            <a:off x="2022604" y="5449824"/>
            <a:ext cx="2651760" cy="539496"/>
          </a:xfrm>
          <a:prstGeom prst="rect">
            <a:avLst/>
          </a:prstGeom>
          <a:noFill/>
          <a:ln>
            <a:noFill/>
          </a:ln>
        </p:spPr>
        <p:txBody>
          <a:bodyPr wrap="none" rtlCol="0" anchor="t" anchorCtr="0">
            <a:noAutofit/>
          </a:bodyPr>
          <a:lstStyle/>
          <a:p>
            <a:pPr algn="l"/>
            <a:r>
              <a:rPr lang="en-US" sz="2400" dirty="0"/>
              <a:t>(almost) white noise</a:t>
            </a:r>
          </a:p>
        </p:txBody>
      </p:sp>
      <p:sp>
        <p:nvSpPr>
          <p:cNvPr id="13" name="Arrow: Right 12">
            <a:extLst>
              <a:ext uri="{FF2B5EF4-FFF2-40B4-BE49-F238E27FC236}">
                <a16:creationId xmlns:a16="http://schemas.microsoft.com/office/drawing/2014/main" id="{CF9D577B-C269-4CD9-95DF-EE1814141D1C}"/>
              </a:ext>
            </a:extLst>
          </p:cNvPr>
          <p:cNvSpPr/>
          <p:nvPr/>
        </p:nvSpPr>
        <p:spPr>
          <a:xfrm>
            <a:off x="4343400" y="3018050"/>
            <a:ext cx="411658" cy="410950"/>
          </a:xfrm>
          <a:prstGeom prst="rightArrow">
            <a:avLst/>
          </a:prstGeom>
          <a:noFill/>
          <a:ln>
            <a:solidFill>
              <a:schemeClr val="tx1"/>
            </a:solidFill>
          </a:ln>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14" name="Arrow: Right 13">
            <a:extLst>
              <a:ext uri="{FF2B5EF4-FFF2-40B4-BE49-F238E27FC236}">
                <a16:creationId xmlns:a16="http://schemas.microsoft.com/office/drawing/2014/main" id="{F98DDE43-5D64-48BC-A221-6CB6A0A6D20B}"/>
              </a:ext>
            </a:extLst>
          </p:cNvPr>
          <p:cNvSpPr/>
          <p:nvPr/>
        </p:nvSpPr>
        <p:spPr>
          <a:xfrm rot="5400000">
            <a:off x="6471424" y="4030516"/>
            <a:ext cx="411658" cy="410950"/>
          </a:xfrm>
          <a:prstGeom prst="rightArrow">
            <a:avLst/>
          </a:prstGeom>
          <a:noFill/>
          <a:ln>
            <a:solidFill>
              <a:schemeClr val="tx1"/>
            </a:solidFill>
          </a:ln>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Tree>
    <p:extLst>
      <p:ext uri="{BB962C8B-B14F-4D97-AF65-F5344CB8AC3E}">
        <p14:creationId xmlns:p14="http://schemas.microsoft.com/office/powerpoint/2010/main" val="640449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8FF44D-8BCC-46EB-B005-E0626A2CEA68}"/>
              </a:ext>
            </a:extLst>
          </p:cNvPr>
          <p:cNvSpPr>
            <a:spLocks noGrp="1"/>
          </p:cNvSpPr>
          <p:nvPr>
            <p:ph idx="1"/>
          </p:nvPr>
        </p:nvSpPr>
        <p:spPr>
          <a:xfrm>
            <a:off x="298907" y="1283644"/>
            <a:ext cx="8546175" cy="4275908"/>
          </a:xfrm>
        </p:spPr>
        <p:txBody>
          <a:bodyPr/>
          <a:lstStyle/>
          <a:p>
            <a:pPr>
              <a:spcBef>
                <a:spcPts val="2400"/>
              </a:spcBef>
            </a:pPr>
            <a:r>
              <a:rPr lang="en-US" dirty="0"/>
              <a:t>The </a:t>
            </a:r>
            <a:r>
              <a:rPr lang="en-US" dirty="0" err="1"/>
              <a:t>prewhitened</a:t>
            </a:r>
            <a:r>
              <a:rPr lang="en-US" dirty="0"/>
              <a:t> series only retains </a:t>
            </a:r>
            <a:r>
              <a:rPr lang="en-US" dirty="0">
                <a:solidFill>
                  <a:srgbClr val="C00000"/>
                </a:solidFill>
              </a:rPr>
              <a:t>residuals unexplained </a:t>
            </a:r>
            <a:r>
              <a:rPr lang="en-US" dirty="0"/>
              <a:t>by the model (i.e. </a:t>
            </a:r>
            <a:r>
              <a:rPr lang="en-US" i="1" dirty="0"/>
              <a:t>random shock</a:t>
            </a:r>
            <a:r>
              <a:rPr lang="en-US" dirty="0"/>
              <a:t>).</a:t>
            </a:r>
          </a:p>
          <a:p>
            <a:pPr>
              <a:spcBef>
                <a:spcPts val="2400"/>
              </a:spcBef>
            </a:pPr>
            <a:r>
              <a:rPr lang="en-US" dirty="0"/>
              <a:t>Residuals are (hopefully) </a:t>
            </a:r>
            <a:r>
              <a:rPr lang="en-US" dirty="0">
                <a:solidFill>
                  <a:srgbClr val="C00000"/>
                </a:solidFill>
              </a:rPr>
              <a:t>normally distributed</a:t>
            </a:r>
            <a:r>
              <a:rPr lang="en-US" dirty="0"/>
              <a:t>.</a:t>
            </a:r>
          </a:p>
          <a:p>
            <a:pPr>
              <a:spcBef>
                <a:spcPts val="2400"/>
              </a:spcBef>
            </a:pPr>
            <a:r>
              <a:rPr lang="en-US" dirty="0"/>
              <a:t>The observed residuals are </a:t>
            </a:r>
            <a:r>
              <a:rPr lang="en-US" dirty="0">
                <a:solidFill>
                  <a:srgbClr val="C00000"/>
                </a:solidFill>
              </a:rPr>
              <a:t>realizations of a random variable </a:t>
            </a:r>
            <a:r>
              <a:rPr lang="en-US" dirty="0"/>
              <a:t>whose distribution can be identified.</a:t>
            </a:r>
          </a:p>
          <a:p>
            <a:pPr>
              <a:spcBef>
                <a:spcPts val="2400"/>
              </a:spcBef>
            </a:pPr>
            <a:r>
              <a:rPr lang="en-US" dirty="0"/>
              <a:t>Using the average and standard deviation of the residual series, I can </a:t>
            </a:r>
            <a:r>
              <a:rPr lang="en-US" dirty="0">
                <a:solidFill>
                  <a:srgbClr val="C00000"/>
                </a:solidFill>
              </a:rPr>
              <a:t>generate alternative samples </a:t>
            </a:r>
            <a:r>
              <a:rPr lang="en-US" dirty="0"/>
              <a:t>that are compatible with the overall model, i.e. samples that could have occurred.</a:t>
            </a:r>
          </a:p>
        </p:txBody>
      </p:sp>
      <p:sp>
        <p:nvSpPr>
          <p:cNvPr id="3" name="Title 2">
            <a:extLst>
              <a:ext uri="{FF2B5EF4-FFF2-40B4-BE49-F238E27FC236}">
                <a16:creationId xmlns:a16="http://schemas.microsoft.com/office/drawing/2014/main" id="{07DFAADB-A2D1-4F6E-B2CA-0AE368DA8434}"/>
              </a:ext>
            </a:extLst>
          </p:cNvPr>
          <p:cNvSpPr>
            <a:spLocks noGrp="1"/>
          </p:cNvSpPr>
          <p:nvPr>
            <p:ph type="title"/>
          </p:nvPr>
        </p:nvSpPr>
        <p:spPr/>
        <p:txBody>
          <a:bodyPr/>
          <a:lstStyle/>
          <a:p>
            <a:r>
              <a:rPr lang="en-US" dirty="0"/>
              <a:t>Recoloring</a:t>
            </a:r>
          </a:p>
        </p:txBody>
      </p:sp>
      <p:sp>
        <p:nvSpPr>
          <p:cNvPr id="4" name="Footer Placeholder 3">
            <a:extLst>
              <a:ext uri="{FF2B5EF4-FFF2-40B4-BE49-F238E27FC236}">
                <a16:creationId xmlns:a16="http://schemas.microsoft.com/office/drawing/2014/main" id="{F7B5A2F7-FEB4-4ED8-B65B-2310458C3617}"/>
              </a:ext>
            </a:extLst>
          </p:cNvPr>
          <p:cNvSpPr>
            <a:spLocks noGrp="1"/>
          </p:cNvSpPr>
          <p:nvPr>
            <p:ph type="ftr" sz="quarter" idx="3"/>
          </p:nvPr>
        </p:nvSpPr>
        <p:spPr/>
        <p:txBody>
          <a:bodyPr/>
          <a:lstStyle/>
          <a:p>
            <a:pPr>
              <a:defRPr/>
            </a:pPr>
            <a:r>
              <a:rPr lang="it-IT"/>
              <a:t>Vittorio Maniezzo - University of Bologna</a:t>
            </a:r>
            <a:endParaRPr lang="it-IT" dirty="0"/>
          </a:p>
        </p:txBody>
      </p:sp>
      <p:sp>
        <p:nvSpPr>
          <p:cNvPr id="5" name="Slide Number Placeholder 4">
            <a:extLst>
              <a:ext uri="{FF2B5EF4-FFF2-40B4-BE49-F238E27FC236}">
                <a16:creationId xmlns:a16="http://schemas.microsoft.com/office/drawing/2014/main" id="{C527D396-F414-401F-BB0F-255D0A94B9DA}"/>
              </a:ext>
            </a:extLst>
          </p:cNvPr>
          <p:cNvSpPr>
            <a:spLocks noGrp="1"/>
          </p:cNvSpPr>
          <p:nvPr>
            <p:ph type="sldNum" sz="quarter" idx="4"/>
          </p:nvPr>
        </p:nvSpPr>
        <p:spPr/>
        <p:txBody>
          <a:bodyPr/>
          <a:lstStyle/>
          <a:p>
            <a:pPr>
              <a:defRPr/>
            </a:pPr>
            <a:fld id="{476DEB1C-3253-4C07-8F02-456B7B2AD41D}" type="slidenum">
              <a:rPr lang="it-IT" smtClean="0"/>
              <a:pPr>
                <a:defRPr/>
              </a:pPr>
              <a:t>11</a:t>
            </a:fld>
            <a:endParaRPr lang="it-IT" dirty="0"/>
          </a:p>
        </p:txBody>
      </p:sp>
    </p:spTree>
    <p:extLst>
      <p:ext uri="{BB962C8B-B14F-4D97-AF65-F5344CB8AC3E}">
        <p14:creationId xmlns:p14="http://schemas.microsoft.com/office/powerpoint/2010/main" val="3539023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1F4680-9B87-44BC-8183-0B814E7452CD}"/>
              </a:ext>
            </a:extLst>
          </p:cNvPr>
          <p:cNvSpPr>
            <a:spLocks noGrp="1"/>
          </p:cNvSpPr>
          <p:nvPr>
            <p:ph idx="1"/>
          </p:nvPr>
        </p:nvSpPr>
        <p:spPr/>
        <p:txBody>
          <a:bodyPr>
            <a:normAutofit/>
          </a:bodyPr>
          <a:lstStyle/>
          <a:p>
            <a:r>
              <a:rPr lang="en-US" dirty="0">
                <a:solidFill>
                  <a:srgbClr val="C00000"/>
                </a:solidFill>
              </a:rPr>
              <a:t>Bootstrapping</a:t>
            </a:r>
            <a:r>
              <a:rPr lang="en-US" dirty="0"/>
              <a:t> is non-parametric </a:t>
            </a:r>
            <a:r>
              <a:rPr lang="en-US" dirty="0">
                <a:solidFill>
                  <a:srgbClr val="C00000"/>
                </a:solidFill>
              </a:rPr>
              <a:t>resampling technique </a:t>
            </a:r>
            <a:r>
              <a:rPr lang="en-US" dirty="0"/>
              <a:t>used when historical data is available. It makes no assumptions about the underlying probability distribution of the stochastic variables.</a:t>
            </a:r>
          </a:p>
          <a:p>
            <a:r>
              <a:rPr lang="en-US" dirty="0"/>
              <a:t>The </a:t>
            </a:r>
            <a:r>
              <a:rPr lang="en-US" dirty="0">
                <a:solidFill>
                  <a:srgbClr val="C00000"/>
                </a:solidFill>
              </a:rPr>
              <a:t>assumption</a:t>
            </a:r>
            <a:r>
              <a:rPr lang="en-US" dirty="0"/>
              <a:t> of bootstrapping is that the observed historical data sample mimics the characteristics of the true, unknown population distribution. </a:t>
            </a:r>
          </a:p>
          <a:p>
            <a:r>
              <a:rPr lang="en-US" dirty="0"/>
              <a:t>Bootstrapping </a:t>
            </a:r>
            <a:r>
              <a:rPr lang="en-US" dirty="0">
                <a:solidFill>
                  <a:srgbClr val="C00000"/>
                </a:solidFill>
              </a:rPr>
              <a:t>repeatedly draws </a:t>
            </a:r>
            <a:r>
              <a:rPr lang="en-US" dirty="0"/>
              <a:t>samples with replacement from the observed data to generate "</a:t>
            </a:r>
            <a:r>
              <a:rPr lang="en-US" i="1" dirty="0"/>
              <a:t>bootstrap samples</a:t>
            </a:r>
            <a:r>
              <a:rPr lang="en-US" dirty="0"/>
              <a:t>". Each sample is </a:t>
            </a:r>
            <a:r>
              <a:rPr lang="en-US" dirty="0">
                <a:solidFill>
                  <a:srgbClr val="C00000"/>
                </a:solidFill>
              </a:rPr>
              <a:t>a plausible realization </a:t>
            </a:r>
            <a:r>
              <a:rPr lang="en-US" dirty="0"/>
              <a:t>of what a new data sample from the true population *might* look like.</a:t>
            </a:r>
          </a:p>
          <a:p>
            <a:r>
              <a:rPr lang="en-US" dirty="0">
                <a:solidFill>
                  <a:srgbClr val="C00000"/>
                </a:solidFill>
              </a:rPr>
              <a:t>Autoregressive models </a:t>
            </a:r>
            <a:r>
              <a:rPr lang="en-US" dirty="0"/>
              <a:t>are particularly suitable for data series bootstrap set generation.</a:t>
            </a:r>
          </a:p>
        </p:txBody>
      </p:sp>
      <p:sp>
        <p:nvSpPr>
          <p:cNvPr id="3" name="Title 2">
            <a:extLst>
              <a:ext uri="{FF2B5EF4-FFF2-40B4-BE49-F238E27FC236}">
                <a16:creationId xmlns:a16="http://schemas.microsoft.com/office/drawing/2014/main" id="{A7280876-7C87-4557-8129-C333424C4C34}"/>
              </a:ext>
            </a:extLst>
          </p:cNvPr>
          <p:cNvSpPr>
            <a:spLocks noGrp="1"/>
          </p:cNvSpPr>
          <p:nvPr>
            <p:ph type="title"/>
          </p:nvPr>
        </p:nvSpPr>
        <p:spPr/>
        <p:txBody>
          <a:bodyPr/>
          <a:lstStyle/>
          <a:p>
            <a:r>
              <a:rPr lang="en-US" dirty="0"/>
              <a:t>Bootstrapping time series</a:t>
            </a:r>
          </a:p>
        </p:txBody>
      </p:sp>
      <p:sp>
        <p:nvSpPr>
          <p:cNvPr id="4" name="Footer Placeholder 3">
            <a:extLst>
              <a:ext uri="{FF2B5EF4-FFF2-40B4-BE49-F238E27FC236}">
                <a16:creationId xmlns:a16="http://schemas.microsoft.com/office/drawing/2014/main" id="{1A1F047D-92D6-4330-A193-EF5DFAA8ED38}"/>
              </a:ext>
            </a:extLst>
          </p:cNvPr>
          <p:cNvSpPr>
            <a:spLocks noGrp="1"/>
          </p:cNvSpPr>
          <p:nvPr>
            <p:ph type="ftr" sz="quarter" idx="3"/>
          </p:nvPr>
        </p:nvSpPr>
        <p:spPr/>
        <p:txBody>
          <a:bodyPr/>
          <a:lstStyle/>
          <a:p>
            <a:pPr>
              <a:defRPr/>
            </a:pPr>
            <a:r>
              <a:rPr lang="it-IT"/>
              <a:t>Vittorio Maniezzo - University of Bologna</a:t>
            </a:r>
            <a:endParaRPr lang="it-IT" dirty="0"/>
          </a:p>
        </p:txBody>
      </p:sp>
      <p:sp>
        <p:nvSpPr>
          <p:cNvPr id="5" name="Slide Number Placeholder 4">
            <a:extLst>
              <a:ext uri="{FF2B5EF4-FFF2-40B4-BE49-F238E27FC236}">
                <a16:creationId xmlns:a16="http://schemas.microsoft.com/office/drawing/2014/main" id="{4391D393-DC25-4D25-B9CC-EDAE1E0D6482}"/>
              </a:ext>
            </a:extLst>
          </p:cNvPr>
          <p:cNvSpPr>
            <a:spLocks noGrp="1"/>
          </p:cNvSpPr>
          <p:nvPr>
            <p:ph type="sldNum" sz="quarter" idx="4"/>
          </p:nvPr>
        </p:nvSpPr>
        <p:spPr/>
        <p:txBody>
          <a:bodyPr/>
          <a:lstStyle/>
          <a:p>
            <a:pPr>
              <a:defRPr/>
            </a:pPr>
            <a:fld id="{476DEB1C-3253-4C07-8F02-456B7B2AD41D}" type="slidenum">
              <a:rPr lang="it-IT" smtClean="0"/>
              <a:pPr>
                <a:defRPr/>
              </a:pPr>
              <a:t>12</a:t>
            </a:fld>
            <a:endParaRPr lang="it-IT" dirty="0"/>
          </a:p>
        </p:txBody>
      </p:sp>
    </p:spTree>
    <p:extLst>
      <p:ext uri="{BB962C8B-B14F-4D97-AF65-F5344CB8AC3E}">
        <p14:creationId xmlns:p14="http://schemas.microsoft.com/office/powerpoint/2010/main" val="348357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85879DB-4DE7-4174-8C19-2CB9A0440F59}"/>
                  </a:ext>
                </a:extLst>
              </p:cNvPr>
              <p:cNvSpPr>
                <a:spLocks noGrp="1"/>
              </p:cNvSpPr>
              <p:nvPr>
                <p:ph idx="1"/>
              </p:nvPr>
            </p:nvSpPr>
            <p:spPr>
              <a:xfrm>
                <a:off x="298907" y="1173916"/>
                <a:ext cx="8546175" cy="3251780"/>
              </a:xfrm>
            </p:spPr>
            <p:txBody>
              <a:bodyPr/>
              <a:lstStyle/>
              <a:p>
                <a:r>
                  <a:rPr lang="en-US" dirty="0"/>
                  <a:t>We fit an AR(p) model on each series </a:t>
                </a:r>
              </a:p>
              <a:p>
                <a:r>
                  <a:rPr lang="en-US" dirty="0"/>
                  <a:t>We extracted </a:t>
                </a:r>
                <a:r>
                  <a:rPr lang="en-US" dirty="0">
                    <a:solidFill>
                      <a:srgbClr val="C00000"/>
                    </a:solidFill>
                  </a:rPr>
                  <a:t>residuals</a:t>
                </a:r>
                <a:r>
                  <a:rPr lang="en-US" dirty="0"/>
                  <a:t> </a:t>
                </a:r>
                <a14:m>
                  <m:oMath xmlns:m="http://schemas.openxmlformats.org/officeDocument/2006/math">
                    <m:sSub>
                      <m:sSubPr>
                        <m:ctrlPr>
                          <a:rPr lang="it-IT" b="0"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𝜀</m:t>
                        </m:r>
                      </m:e>
                      <m:sub>
                        <m:r>
                          <a:rPr lang="it-IT" b="0" i="1" smtClean="0">
                            <a:latin typeface="Cambria Math" panose="02040503050406030204" pitchFamily="18" charset="0"/>
                            <a:ea typeface="Cambria Math" panose="02040503050406030204" pitchFamily="18" charset="0"/>
                          </a:rPr>
                          <m:t>𝑡</m:t>
                        </m:r>
                      </m:sub>
                    </m:sSub>
                  </m:oMath>
                </a14:m>
                <a:r>
                  <a:rPr lang="en-US" dirty="0"/>
                  <a:t>, which were </a:t>
                </a:r>
                <a:r>
                  <a:rPr lang="en-US" i="1" dirty="0"/>
                  <a:t>sufficiently (?)</a:t>
                </a:r>
                <a:r>
                  <a:rPr lang="en-US" dirty="0"/>
                  <a:t> stationary</a:t>
                </a:r>
              </a:p>
              <a:p>
                <a:r>
                  <a:rPr lang="en-US" dirty="0"/>
                  <a:t>We resampled the residuals in </a:t>
                </a:r>
                <a14:m>
                  <m:oMath xmlns:m="http://schemas.openxmlformats.org/officeDocument/2006/math">
                    <m:sSubSup>
                      <m:sSubSupPr>
                        <m:ctrlPr>
                          <a:rPr lang="it-IT" b="0" i="1" smtClean="0">
                            <a:latin typeface="Cambria Math" panose="02040503050406030204" pitchFamily="18" charset="0"/>
                            <a:ea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𝜀</m:t>
                        </m:r>
                      </m:e>
                      <m:sub>
                        <m:r>
                          <a:rPr lang="it-IT" b="0" i="1" smtClean="0">
                            <a:latin typeface="Cambria Math" panose="02040503050406030204" pitchFamily="18" charset="0"/>
                            <a:ea typeface="Cambria Math" panose="02040503050406030204" pitchFamily="18" charset="0"/>
                          </a:rPr>
                          <m:t>𝑡</m:t>
                        </m:r>
                      </m:sub>
                      <m:sup>
                        <m:r>
                          <a:rPr lang="it-IT" b="0" i="1" smtClean="0">
                            <a:latin typeface="Cambria Math" panose="02040503050406030204" pitchFamily="18" charset="0"/>
                            <a:ea typeface="Cambria Math" panose="02040503050406030204" pitchFamily="18" charset="0"/>
                          </a:rPr>
                          <m:t>∗</m:t>
                        </m:r>
                      </m:sup>
                    </m:sSubSup>
                  </m:oMath>
                </a14:m>
                <a:r>
                  <a:rPr lang="en-US" dirty="0"/>
                  <a:t> and simulated new series as:</a:t>
                </a:r>
              </a:p>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𝑥</m:t>
                          </m:r>
                        </m:e>
                        <m:sub>
                          <m:r>
                            <a:rPr lang="it-IT" b="0" i="1" smtClean="0">
                              <a:latin typeface="Cambria Math" panose="02040503050406030204" pitchFamily="18" charset="0"/>
                            </a:rPr>
                            <m:t>𝑡</m:t>
                          </m:r>
                        </m:sub>
                        <m:sup>
                          <m:r>
                            <a:rPr lang="it-IT" b="0" i="1" smtClean="0">
                              <a:latin typeface="Cambria Math" panose="02040503050406030204" pitchFamily="18" charset="0"/>
                            </a:rPr>
                            <m:t>∗</m:t>
                          </m:r>
                        </m:sup>
                      </m:sSubSup>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𝜙</m:t>
                          </m:r>
                        </m:e>
                        <m:sub>
                          <m:r>
                            <a:rPr lang="it-IT" b="0" i="1" smtClean="0">
                              <a:latin typeface="Cambria Math" panose="02040503050406030204" pitchFamily="18" charset="0"/>
                            </a:rPr>
                            <m:t>1</m:t>
                          </m:r>
                        </m:sub>
                      </m:sSub>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𝑥</m:t>
                          </m:r>
                        </m:e>
                        <m:sub>
                          <m:r>
                            <a:rPr lang="it-IT" b="0" i="1" smtClean="0">
                              <a:latin typeface="Cambria Math" panose="02040503050406030204" pitchFamily="18" charset="0"/>
                            </a:rPr>
                            <m:t>𝑡</m:t>
                          </m:r>
                          <m:r>
                            <a:rPr lang="it-IT" b="0" i="1" smtClean="0">
                              <a:latin typeface="Cambria Math" panose="02040503050406030204" pitchFamily="18" charset="0"/>
                            </a:rPr>
                            <m:t>−1</m:t>
                          </m:r>
                        </m:sub>
                        <m:sup>
                          <m:r>
                            <a:rPr lang="it-IT" b="0" i="1" smtClean="0">
                              <a:latin typeface="Cambria Math" panose="02040503050406030204" pitchFamily="18" charset="0"/>
                            </a:rPr>
                            <m:t>∗</m:t>
                          </m:r>
                        </m:sup>
                      </m:sSubSup>
                      <m:r>
                        <a:rPr lang="it-IT" b="0" i="1" smtClean="0">
                          <a:latin typeface="Cambria Math" panose="02040503050406030204" pitchFamily="18" charset="0"/>
                        </a:rPr>
                        <m:t>+ …+</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𝜙</m:t>
                          </m:r>
                        </m:e>
                        <m:sub>
                          <m:r>
                            <a:rPr lang="it-IT" b="0" i="1" smtClean="0">
                              <a:latin typeface="Cambria Math" panose="02040503050406030204" pitchFamily="18" charset="0"/>
                            </a:rPr>
                            <m:t>𝑝</m:t>
                          </m:r>
                        </m:sub>
                      </m:sSub>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𝑥</m:t>
                          </m:r>
                        </m:e>
                        <m:sub>
                          <m:r>
                            <a:rPr lang="it-IT" b="0" i="1" smtClean="0">
                              <a:latin typeface="Cambria Math" panose="02040503050406030204" pitchFamily="18" charset="0"/>
                            </a:rPr>
                            <m:t>𝑡</m:t>
                          </m:r>
                          <m:r>
                            <a:rPr lang="it-IT" b="0" i="1" smtClean="0">
                              <a:latin typeface="Cambria Math" panose="02040503050406030204" pitchFamily="18" charset="0"/>
                            </a:rPr>
                            <m:t>−</m:t>
                          </m:r>
                          <m:r>
                            <a:rPr lang="it-IT" b="0" i="1" smtClean="0">
                              <a:latin typeface="Cambria Math" panose="02040503050406030204" pitchFamily="18" charset="0"/>
                            </a:rPr>
                            <m:t>𝑝</m:t>
                          </m:r>
                        </m:sub>
                        <m:sup>
                          <m:r>
                            <a:rPr lang="it-IT" b="0" i="1" smtClean="0">
                              <a:latin typeface="Cambria Math" panose="02040503050406030204" pitchFamily="18" charset="0"/>
                            </a:rPr>
                            <m:t>∗</m:t>
                          </m:r>
                        </m:sup>
                      </m:sSubSup>
                      <m:r>
                        <a:rPr lang="it-IT" b="0" i="1" smtClean="0">
                          <a:latin typeface="Cambria Math" panose="02040503050406030204" pitchFamily="18" charset="0"/>
                        </a:rPr>
                        <m:t>+</m:t>
                      </m:r>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𝜀</m:t>
                          </m:r>
                        </m:e>
                        <m:sub>
                          <m:r>
                            <a:rPr lang="it-IT" b="0" i="1" smtClean="0">
                              <a:latin typeface="Cambria Math" panose="02040503050406030204" pitchFamily="18" charset="0"/>
                            </a:rPr>
                            <m:t>𝑡</m:t>
                          </m:r>
                        </m:sub>
                        <m:sup>
                          <m:r>
                            <a:rPr lang="it-IT" b="0" i="1" smtClean="0">
                              <a:latin typeface="Cambria Math" panose="02040503050406030204" pitchFamily="18" charset="0"/>
                            </a:rPr>
                            <m:t>∗</m:t>
                          </m:r>
                        </m:sup>
                      </m:sSubSup>
                    </m:oMath>
                  </m:oMathPara>
                </a14:m>
                <a:endParaRPr lang="en-US" dirty="0"/>
              </a:p>
              <a:p>
                <a:r>
                  <a:rPr lang="en-US" dirty="0"/>
                  <a:t>We bootstrapped the residual series and reconstructed request series.</a:t>
                </a:r>
              </a:p>
            </p:txBody>
          </p:sp>
        </mc:Choice>
        <mc:Fallback xmlns="">
          <p:sp>
            <p:nvSpPr>
              <p:cNvPr id="2" name="Content Placeholder 1">
                <a:extLst>
                  <a:ext uri="{FF2B5EF4-FFF2-40B4-BE49-F238E27FC236}">
                    <a16:creationId xmlns:a16="http://schemas.microsoft.com/office/drawing/2014/main" id="{C85879DB-4DE7-4174-8C19-2CB9A0440F59}"/>
                  </a:ext>
                </a:extLst>
              </p:cNvPr>
              <p:cNvSpPr>
                <a:spLocks noGrp="1" noRot="1" noChangeAspect="1" noMove="1" noResize="1" noEditPoints="1" noAdjustHandles="1" noChangeArrowheads="1" noChangeShapeType="1" noTextEdit="1"/>
              </p:cNvSpPr>
              <p:nvPr>
                <p:ph idx="1"/>
              </p:nvPr>
            </p:nvSpPr>
            <p:spPr>
              <a:xfrm>
                <a:off x="298907" y="1173916"/>
                <a:ext cx="8546175" cy="3251780"/>
              </a:xfrm>
              <a:blipFill>
                <a:blip r:embed="rId2"/>
                <a:stretch>
                  <a:fillRect l="-1070" t="-1501"/>
                </a:stretch>
              </a:blipFill>
            </p:spPr>
            <p:txBody>
              <a:bodyPr/>
              <a:lstStyle/>
              <a:p>
                <a:r>
                  <a:rPr lang="it-IT">
                    <a:noFill/>
                  </a:rPr>
                  <a:t> </a:t>
                </a:r>
              </a:p>
            </p:txBody>
          </p:sp>
        </mc:Fallback>
      </mc:AlternateContent>
      <p:sp>
        <p:nvSpPr>
          <p:cNvPr id="3" name="Title 2">
            <a:extLst>
              <a:ext uri="{FF2B5EF4-FFF2-40B4-BE49-F238E27FC236}">
                <a16:creationId xmlns:a16="http://schemas.microsoft.com/office/drawing/2014/main" id="{9A06050C-9BA7-4D38-BC68-FED697FECD85}"/>
              </a:ext>
            </a:extLst>
          </p:cNvPr>
          <p:cNvSpPr>
            <a:spLocks noGrp="1"/>
          </p:cNvSpPr>
          <p:nvPr>
            <p:ph type="title"/>
          </p:nvPr>
        </p:nvSpPr>
        <p:spPr/>
        <p:txBody>
          <a:bodyPr/>
          <a:lstStyle/>
          <a:p>
            <a:r>
              <a:rPr lang="en-US" dirty="0"/>
              <a:t>Bootstrapping</a:t>
            </a:r>
          </a:p>
        </p:txBody>
      </p:sp>
      <p:sp>
        <p:nvSpPr>
          <p:cNvPr id="4" name="Footer Placeholder 3">
            <a:extLst>
              <a:ext uri="{FF2B5EF4-FFF2-40B4-BE49-F238E27FC236}">
                <a16:creationId xmlns:a16="http://schemas.microsoft.com/office/drawing/2014/main" id="{041C44BB-771E-4337-84BA-119A3BF8807E}"/>
              </a:ext>
            </a:extLst>
          </p:cNvPr>
          <p:cNvSpPr>
            <a:spLocks noGrp="1"/>
          </p:cNvSpPr>
          <p:nvPr>
            <p:ph type="ftr" sz="quarter" idx="3"/>
          </p:nvPr>
        </p:nvSpPr>
        <p:spPr/>
        <p:txBody>
          <a:bodyPr/>
          <a:lstStyle/>
          <a:p>
            <a:pPr>
              <a:defRPr/>
            </a:pPr>
            <a:r>
              <a:rPr lang="it-IT"/>
              <a:t>Vittorio Maniezzo - University of Bologna</a:t>
            </a:r>
            <a:endParaRPr lang="it-IT" dirty="0"/>
          </a:p>
        </p:txBody>
      </p:sp>
      <p:sp>
        <p:nvSpPr>
          <p:cNvPr id="5" name="Slide Number Placeholder 4">
            <a:extLst>
              <a:ext uri="{FF2B5EF4-FFF2-40B4-BE49-F238E27FC236}">
                <a16:creationId xmlns:a16="http://schemas.microsoft.com/office/drawing/2014/main" id="{9A5E24EB-6EDE-4EDA-86C8-1F7EC53C7293}"/>
              </a:ext>
            </a:extLst>
          </p:cNvPr>
          <p:cNvSpPr>
            <a:spLocks noGrp="1"/>
          </p:cNvSpPr>
          <p:nvPr>
            <p:ph type="sldNum" sz="quarter" idx="4"/>
          </p:nvPr>
        </p:nvSpPr>
        <p:spPr/>
        <p:txBody>
          <a:bodyPr/>
          <a:lstStyle/>
          <a:p>
            <a:pPr>
              <a:defRPr/>
            </a:pPr>
            <a:fld id="{476DEB1C-3253-4C07-8F02-456B7B2AD41D}" type="slidenum">
              <a:rPr lang="it-IT" smtClean="0"/>
              <a:pPr>
                <a:defRPr/>
              </a:pPr>
              <a:t>13</a:t>
            </a:fld>
            <a:endParaRPr lang="it-IT" dirty="0"/>
          </a:p>
        </p:txBody>
      </p:sp>
      <p:pic>
        <p:nvPicPr>
          <p:cNvPr id="8" name="Picture 7">
            <a:extLst>
              <a:ext uri="{FF2B5EF4-FFF2-40B4-BE49-F238E27FC236}">
                <a16:creationId xmlns:a16="http://schemas.microsoft.com/office/drawing/2014/main" id="{DE9D8429-2C95-4DB5-BF22-7A0B314FEC31}"/>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725329" y="3770837"/>
            <a:ext cx="3900494" cy="3032340"/>
          </a:xfrm>
          <a:prstGeom prst="rect">
            <a:avLst/>
          </a:prstGeom>
        </p:spPr>
      </p:pic>
    </p:spTree>
    <p:extLst>
      <p:ext uri="{BB962C8B-B14F-4D97-AF65-F5344CB8AC3E}">
        <p14:creationId xmlns:p14="http://schemas.microsoft.com/office/powerpoint/2010/main" val="1125269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333D55-D19D-4E81-B3AB-1AF9E41BF6AB}"/>
              </a:ext>
            </a:extLst>
          </p:cNvPr>
          <p:cNvSpPr>
            <a:spLocks noGrp="1"/>
          </p:cNvSpPr>
          <p:nvPr>
            <p:ph idx="1"/>
          </p:nvPr>
        </p:nvSpPr>
        <p:spPr/>
        <p:txBody>
          <a:bodyPr/>
          <a:lstStyle/>
          <a:p>
            <a:r>
              <a:rPr lang="en-US" dirty="0"/>
              <a:t>We were working on </a:t>
            </a:r>
            <a:r>
              <a:rPr lang="en-US" dirty="0">
                <a:solidFill>
                  <a:srgbClr val="C00000"/>
                </a:solidFill>
              </a:rPr>
              <a:t>short data series</a:t>
            </a:r>
            <a:r>
              <a:rPr lang="en-US" dirty="0"/>
              <a:t>, that often produce biased estimates.</a:t>
            </a:r>
          </a:p>
          <a:p>
            <a:r>
              <a:rPr lang="en-US" dirty="0"/>
              <a:t>The resampling process was guided according to </a:t>
            </a:r>
            <a:r>
              <a:rPr lang="en-US" dirty="0">
                <a:solidFill>
                  <a:srgbClr val="C00000"/>
                </a:solidFill>
              </a:rPr>
              <a:t>Maximum Entropy Bootstrap</a:t>
            </a:r>
            <a:r>
              <a:rPr lang="en-US" dirty="0"/>
              <a:t> (MEB, Vinod 1993), associating a probability with each outcome and </a:t>
            </a:r>
            <a:r>
              <a:rPr lang="en-US" dirty="0">
                <a:solidFill>
                  <a:srgbClr val="C00000"/>
                </a:solidFill>
              </a:rPr>
              <a:t>maximizing an information entropy </a:t>
            </a:r>
            <a:r>
              <a:rPr lang="en-US" dirty="0"/>
              <a:t>function defined over the resampled data, </a:t>
            </a:r>
            <a:r>
              <a:rPr lang="en-US" dirty="0">
                <a:solidFill>
                  <a:srgbClr val="C00000"/>
                </a:solidFill>
              </a:rPr>
              <a:t>subject to constraints </a:t>
            </a:r>
            <a:r>
              <a:rPr lang="en-US" dirty="0"/>
              <a:t>reflecting statistics computed on the original data. </a:t>
            </a:r>
          </a:p>
          <a:p>
            <a:r>
              <a:rPr lang="en-US" dirty="0"/>
              <a:t>This guarantees that the generated bootstraps are the </a:t>
            </a:r>
            <a:r>
              <a:rPr lang="en-US" b="1" dirty="0"/>
              <a:t>least biased, </a:t>
            </a:r>
            <a:r>
              <a:rPr lang="en-US" dirty="0"/>
              <a:t>i.e., the </a:t>
            </a:r>
            <a:r>
              <a:rPr lang="en-US" dirty="0">
                <a:solidFill>
                  <a:srgbClr val="C00000"/>
                </a:solidFill>
              </a:rPr>
              <a:t>most non-committal estimates </a:t>
            </a:r>
            <a:r>
              <a:rPr lang="en-US" dirty="0"/>
              <a:t>consistent with the known constraints, i.e., with the observed data.</a:t>
            </a:r>
          </a:p>
          <a:p>
            <a:r>
              <a:rPr lang="en-US" dirty="0"/>
              <a:t> </a:t>
            </a:r>
          </a:p>
        </p:txBody>
      </p:sp>
      <p:sp>
        <p:nvSpPr>
          <p:cNvPr id="3" name="Title 2">
            <a:extLst>
              <a:ext uri="{FF2B5EF4-FFF2-40B4-BE49-F238E27FC236}">
                <a16:creationId xmlns:a16="http://schemas.microsoft.com/office/drawing/2014/main" id="{9D0DD118-A109-4FE0-AD46-B81ED76F66B9}"/>
              </a:ext>
            </a:extLst>
          </p:cNvPr>
          <p:cNvSpPr>
            <a:spLocks noGrp="1"/>
          </p:cNvSpPr>
          <p:nvPr>
            <p:ph type="title"/>
          </p:nvPr>
        </p:nvSpPr>
        <p:spPr/>
        <p:txBody>
          <a:bodyPr/>
          <a:lstStyle/>
          <a:p>
            <a:r>
              <a:rPr lang="en-US" dirty="0"/>
              <a:t>Maximum entropy bootstrap</a:t>
            </a:r>
          </a:p>
        </p:txBody>
      </p:sp>
      <p:sp>
        <p:nvSpPr>
          <p:cNvPr id="4" name="Footer Placeholder 3">
            <a:extLst>
              <a:ext uri="{FF2B5EF4-FFF2-40B4-BE49-F238E27FC236}">
                <a16:creationId xmlns:a16="http://schemas.microsoft.com/office/drawing/2014/main" id="{32973CCE-2470-4337-9E79-942349CEB47A}"/>
              </a:ext>
            </a:extLst>
          </p:cNvPr>
          <p:cNvSpPr>
            <a:spLocks noGrp="1"/>
          </p:cNvSpPr>
          <p:nvPr>
            <p:ph type="ftr" sz="quarter" idx="3"/>
          </p:nvPr>
        </p:nvSpPr>
        <p:spPr/>
        <p:txBody>
          <a:bodyPr/>
          <a:lstStyle/>
          <a:p>
            <a:pPr>
              <a:defRPr/>
            </a:pPr>
            <a:r>
              <a:rPr lang="it-IT"/>
              <a:t>Vittorio Maniezzo - University of Bologna</a:t>
            </a:r>
            <a:endParaRPr lang="it-IT" dirty="0"/>
          </a:p>
        </p:txBody>
      </p:sp>
      <p:sp>
        <p:nvSpPr>
          <p:cNvPr id="5" name="Slide Number Placeholder 4">
            <a:extLst>
              <a:ext uri="{FF2B5EF4-FFF2-40B4-BE49-F238E27FC236}">
                <a16:creationId xmlns:a16="http://schemas.microsoft.com/office/drawing/2014/main" id="{50FA2E18-5A1F-420B-9D00-C26676F56989}"/>
              </a:ext>
            </a:extLst>
          </p:cNvPr>
          <p:cNvSpPr>
            <a:spLocks noGrp="1"/>
          </p:cNvSpPr>
          <p:nvPr>
            <p:ph type="sldNum" sz="quarter" idx="4"/>
          </p:nvPr>
        </p:nvSpPr>
        <p:spPr/>
        <p:txBody>
          <a:bodyPr/>
          <a:lstStyle/>
          <a:p>
            <a:pPr>
              <a:defRPr/>
            </a:pPr>
            <a:fld id="{476DEB1C-3253-4C07-8F02-456B7B2AD41D}" type="slidenum">
              <a:rPr lang="it-IT" smtClean="0"/>
              <a:pPr>
                <a:defRPr/>
              </a:pPr>
              <a:t>14</a:t>
            </a:fld>
            <a:endParaRPr lang="it-IT" dirty="0"/>
          </a:p>
        </p:txBody>
      </p:sp>
    </p:spTree>
    <p:extLst>
      <p:ext uri="{BB962C8B-B14F-4D97-AF65-F5344CB8AC3E}">
        <p14:creationId xmlns:p14="http://schemas.microsoft.com/office/powerpoint/2010/main" val="32744334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984A9C-C4E5-926C-9850-B0E9DC56B02B}"/>
              </a:ext>
            </a:extLst>
          </p:cNvPr>
          <p:cNvSpPr>
            <a:spLocks noGrp="1"/>
          </p:cNvSpPr>
          <p:nvPr>
            <p:ph idx="1"/>
          </p:nvPr>
        </p:nvSpPr>
        <p:spPr>
          <a:xfrm>
            <a:off x="293370" y="1270000"/>
            <a:ext cx="8221980" cy="5223164"/>
          </a:xfrm>
        </p:spPr>
        <p:txBody>
          <a:bodyPr>
            <a:normAutofit lnSpcReduction="10000"/>
          </a:bodyPr>
          <a:lstStyle/>
          <a:p>
            <a:r>
              <a:rPr lang="en-US" dirty="0"/>
              <a:t>Standard MEB defines a probability distribution </a:t>
            </a:r>
            <a:r>
              <a:rPr lang="en-US" dirty="0">
                <a:solidFill>
                  <a:srgbClr val="C00000"/>
                </a:solidFill>
              </a:rPr>
              <a:t>maximizing entropy subject to constraints </a:t>
            </a:r>
            <a:r>
              <a:rPr lang="en-US" dirty="0"/>
              <a:t>derived from statistics computed on the empirical dataset.  </a:t>
            </a:r>
          </a:p>
          <a:p>
            <a:pPr>
              <a:spcBef>
                <a:spcPts val="0"/>
              </a:spcBef>
            </a:pPr>
            <a:r>
              <a:rPr lang="en-US" dirty="0"/>
              <a:t>It can be formulated in a </a:t>
            </a:r>
            <a:r>
              <a:rPr lang="en-US" dirty="0" err="1"/>
              <a:t>Lagrangian</a:t>
            </a:r>
            <a:r>
              <a:rPr lang="en-US" dirty="0"/>
              <a:t> fashion as</a:t>
            </a:r>
          </a:p>
          <a:p>
            <a:endParaRPr lang="en-US" dirty="0"/>
          </a:p>
          <a:p>
            <a:endParaRPr lang="en-US" dirty="0"/>
          </a:p>
          <a:p>
            <a:pPr>
              <a:spcBef>
                <a:spcPts val="1200"/>
              </a:spcBef>
            </a:pPr>
            <a:r>
              <a:rPr lang="en-US" dirty="0"/>
              <a:t>We added to the formulation an </a:t>
            </a:r>
            <a:r>
              <a:rPr lang="en-US" dirty="0">
                <a:solidFill>
                  <a:srgbClr val="C00000"/>
                </a:solidFill>
              </a:rPr>
              <a:t>auxiliary objective-related component</a:t>
            </a:r>
            <a:r>
              <a:rPr lang="en-US" dirty="0"/>
              <a:t>, representing scenario-wise quantities that are relevant to downstream cost functions</a:t>
            </a:r>
          </a:p>
          <a:p>
            <a:endParaRPr lang="en-US" dirty="0"/>
          </a:p>
          <a:p>
            <a:endParaRPr lang="en-US" dirty="0"/>
          </a:p>
          <a:p>
            <a:pPr>
              <a:spcBef>
                <a:spcPts val="1800"/>
              </a:spcBef>
            </a:pPr>
            <a:r>
              <a:rPr lang="en-US" dirty="0"/>
              <a:t>This </a:t>
            </a:r>
            <a:r>
              <a:rPr lang="en-US" dirty="0">
                <a:solidFill>
                  <a:srgbClr val="C00000"/>
                </a:solidFill>
              </a:rPr>
              <a:t>produces synthetic datasets </a:t>
            </a:r>
            <a:r>
              <a:rPr lang="en-US" dirty="0"/>
              <a:t>that reflect the uncertainty of the original data but also adhere to the specific objectives and constraints</a:t>
            </a:r>
          </a:p>
        </p:txBody>
      </p:sp>
      <p:sp>
        <p:nvSpPr>
          <p:cNvPr id="3" name="Title 2">
            <a:extLst>
              <a:ext uri="{FF2B5EF4-FFF2-40B4-BE49-F238E27FC236}">
                <a16:creationId xmlns:a16="http://schemas.microsoft.com/office/drawing/2014/main" id="{B97DFD49-EDC0-C50D-5418-FAA0171F1057}"/>
              </a:ext>
            </a:extLst>
          </p:cNvPr>
          <p:cNvSpPr>
            <a:spLocks noGrp="1"/>
          </p:cNvSpPr>
          <p:nvPr>
            <p:ph type="title"/>
          </p:nvPr>
        </p:nvSpPr>
        <p:spPr>
          <a:xfrm>
            <a:off x="262890" y="-34867"/>
            <a:ext cx="7886700" cy="1004387"/>
          </a:xfrm>
        </p:spPr>
        <p:txBody>
          <a:bodyPr>
            <a:normAutofit fontScale="90000"/>
          </a:bodyPr>
          <a:lstStyle/>
          <a:p>
            <a:r>
              <a:rPr lang="it-IT" dirty="0" err="1"/>
              <a:t>Objective-Augmented</a:t>
            </a:r>
            <a:r>
              <a:rPr lang="it-IT" dirty="0"/>
              <a:t> Maximum </a:t>
            </a:r>
            <a:r>
              <a:rPr lang="it-IT" dirty="0" err="1"/>
              <a:t>Entropy</a:t>
            </a:r>
            <a:br>
              <a:rPr lang="it-IT" dirty="0"/>
            </a:br>
            <a:r>
              <a:rPr lang="it-IT" dirty="0"/>
              <a:t>Bootstrap (OA-MEB)</a:t>
            </a:r>
            <a:endParaRPr lang="en-US" dirty="0"/>
          </a:p>
        </p:txBody>
      </p:sp>
      <p:sp>
        <p:nvSpPr>
          <p:cNvPr id="4" name="Footer Placeholder 3">
            <a:extLst>
              <a:ext uri="{FF2B5EF4-FFF2-40B4-BE49-F238E27FC236}">
                <a16:creationId xmlns:a16="http://schemas.microsoft.com/office/drawing/2014/main" id="{7B1A1E05-4607-1B09-A231-E42B5A7FB56F}"/>
              </a:ext>
            </a:extLst>
          </p:cNvPr>
          <p:cNvSpPr>
            <a:spLocks noGrp="1"/>
          </p:cNvSpPr>
          <p:nvPr>
            <p:ph type="ftr" sz="quarter" idx="3"/>
          </p:nvPr>
        </p:nvSpPr>
        <p:spPr/>
        <p:txBody>
          <a:bodyPr/>
          <a:lstStyle/>
          <a:p>
            <a:pPr>
              <a:defRPr/>
            </a:pPr>
            <a:r>
              <a:rPr lang="it-IT"/>
              <a:t>Vittorio Maniezzo - University of Bologna</a:t>
            </a:r>
            <a:endParaRPr lang="it-IT" dirty="0"/>
          </a:p>
        </p:txBody>
      </p:sp>
      <p:sp>
        <p:nvSpPr>
          <p:cNvPr id="5" name="Slide Number Placeholder 4">
            <a:extLst>
              <a:ext uri="{FF2B5EF4-FFF2-40B4-BE49-F238E27FC236}">
                <a16:creationId xmlns:a16="http://schemas.microsoft.com/office/drawing/2014/main" id="{B9A4DB53-5D01-698C-B3F6-113DAF1696E6}"/>
              </a:ext>
            </a:extLst>
          </p:cNvPr>
          <p:cNvSpPr>
            <a:spLocks noGrp="1"/>
          </p:cNvSpPr>
          <p:nvPr>
            <p:ph type="sldNum" sz="quarter" idx="4"/>
          </p:nvPr>
        </p:nvSpPr>
        <p:spPr/>
        <p:txBody>
          <a:bodyPr/>
          <a:lstStyle/>
          <a:p>
            <a:pPr>
              <a:defRPr/>
            </a:pPr>
            <a:fld id="{476DEB1C-3253-4C07-8F02-456B7B2AD41D}" type="slidenum">
              <a:rPr lang="it-IT" smtClean="0"/>
              <a:pPr>
                <a:defRPr/>
              </a:pPr>
              <a:t>15</a:t>
            </a:fld>
            <a:endParaRPr lang="it-IT" dirty="0"/>
          </a:p>
        </p:txBody>
      </p:sp>
      <p:pic>
        <p:nvPicPr>
          <p:cNvPr id="7" name="Picture 6">
            <a:extLst>
              <a:ext uri="{FF2B5EF4-FFF2-40B4-BE49-F238E27FC236}">
                <a16:creationId xmlns:a16="http://schemas.microsoft.com/office/drawing/2014/main" id="{BD5E1DC9-4A59-A4C7-9F89-213FA991C81E}"/>
              </a:ext>
            </a:extLst>
          </p:cNvPr>
          <p:cNvPicPr>
            <a:picLocks noChangeAspect="1"/>
          </p:cNvPicPr>
          <p:nvPr/>
        </p:nvPicPr>
        <p:blipFill>
          <a:blip r:embed="rId2"/>
          <a:stretch>
            <a:fillRect/>
          </a:stretch>
        </p:blipFill>
        <p:spPr>
          <a:xfrm>
            <a:off x="388266" y="2492823"/>
            <a:ext cx="5631668" cy="823031"/>
          </a:xfrm>
          <a:prstGeom prst="rect">
            <a:avLst/>
          </a:prstGeom>
        </p:spPr>
      </p:pic>
      <p:pic>
        <p:nvPicPr>
          <p:cNvPr id="9" name="Picture 8">
            <a:extLst>
              <a:ext uri="{FF2B5EF4-FFF2-40B4-BE49-F238E27FC236}">
                <a16:creationId xmlns:a16="http://schemas.microsoft.com/office/drawing/2014/main" id="{A47831DA-BFD2-AD12-5EF0-3F5AA3EF1830}"/>
              </a:ext>
            </a:extLst>
          </p:cNvPr>
          <p:cNvPicPr>
            <a:picLocks noChangeAspect="1"/>
          </p:cNvPicPr>
          <p:nvPr/>
        </p:nvPicPr>
        <p:blipFill>
          <a:blip r:embed="rId3"/>
          <a:stretch>
            <a:fillRect/>
          </a:stretch>
        </p:blipFill>
        <p:spPr>
          <a:xfrm>
            <a:off x="388266" y="4343893"/>
            <a:ext cx="7788315" cy="853514"/>
          </a:xfrm>
          <a:prstGeom prst="rect">
            <a:avLst/>
          </a:prstGeom>
        </p:spPr>
      </p:pic>
    </p:spTree>
    <p:extLst>
      <p:ext uri="{BB962C8B-B14F-4D97-AF65-F5344CB8AC3E}">
        <p14:creationId xmlns:p14="http://schemas.microsoft.com/office/powerpoint/2010/main" val="4030846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15287C68-E67C-4F60-996C-60722B34E7FA}"/>
                  </a:ext>
                </a:extLst>
              </p:cNvPr>
              <p:cNvSpPr>
                <a:spLocks noGrp="1"/>
              </p:cNvSpPr>
              <p:nvPr>
                <p:ph idx="1"/>
              </p:nvPr>
            </p:nvSpPr>
            <p:spPr/>
            <p:txBody>
              <a:bodyPr>
                <a:normAutofit/>
              </a:bodyPr>
              <a:lstStyle/>
              <a:p>
                <a:r>
                  <a:rPr lang="en-US" dirty="0"/>
                  <a:t>Fit an AR(p) model on each OA-MEB series, independently.</a:t>
                </a:r>
              </a:p>
              <a:p>
                <a:r>
                  <a:rPr lang="en-US" dirty="0">
                    <a:solidFill>
                      <a:srgbClr val="C00000"/>
                    </a:solidFill>
                  </a:rPr>
                  <a:t>Each model is used to generate a scenario </a:t>
                </a:r>
                <a14:m>
                  <m:oMath xmlns:m="http://schemas.openxmlformats.org/officeDocument/2006/math">
                    <m:r>
                      <a:rPr lang="it-IT" b="0" i="1" smtClean="0">
                        <a:latin typeface="Cambria Math" panose="02040503050406030204" pitchFamily="18" charset="0"/>
                      </a:rPr>
                      <m:t>𝑠</m:t>
                    </m:r>
                    <m:r>
                      <a:rPr lang="it-IT" b="0" i="1" smtClean="0">
                        <a:latin typeface="Cambria Math" panose="02040503050406030204" pitchFamily="18" charset="0"/>
                      </a:rPr>
                      <m:t>∈</m:t>
                    </m:r>
                    <m:r>
                      <a:rPr lang="it-IT" b="0" i="1" smtClean="0">
                        <a:latin typeface="Cambria Math" panose="02040503050406030204" pitchFamily="18" charset="0"/>
                      </a:rPr>
                      <m:t>𝑆</m:t>
                    </m:r>
                  </m:oMath>
                </a14:m>
                <a:r>
                  <a:rPr lang="en-US" dirty="0"/>
                  <a:t>, specifically, a realization </a:t>
                </a:r>
                <a14:m>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𝜌</m:t>
                        </m:r>
                      </m:e>
                      <m:sub>
                        <m:r>
                          <a:rPr lang="it-IT" b="0" i="1" smtClean="0">
                            <a:latin typeface="Cambria Math" panose="02040503050406030204" pitchFamily="18" charset="0"/>
                          </a:rPr>
                          <m:t>𝑗</m:t>
                        </m:r>
                      </m:sub>
                      <m:sup>
                        <m:r>
                          <a:rPr lang="it-IT" b="0" i="1" smtClean="0">
                            <a:latin typeface="Cambria Math" panose="02040503050406030204" pitchFamily="18" charset="0"/>
                          </a:rPr>
                          <m:t>𝑠</m:t>
                        </m:r>
                      </m:sup>
                    </m:sSubSup>
                  </m:oMath>
                </a14:m>
                <a:r>
                  <a:rPr lang="en-US" dirty="0"/>
                  <a:t> of the </a:t>
                </a:r>
                <a:r>
                  <a:rPr lang="en-US" dirty="0">
                    <a:solidFill>
                      <a:srgbClr val="C00000"/>
                    </a:solidFill>
                  </a:rPr>
                  <a:t>forecasted requests </a:t>
                </a:r>
                <a:r>
                  <a:rPr lang="en-US" dirty="0"/>
                  <a:t>of customer </a:t>
                </a:r>
                <a14:m>
                  <m:oMath xmlns:m="http://schemas.openxmlformats.org/officeDocument/2006/math">
                    <m:r>
                      <a:rPr lang="it-IT" b="0" i="1" smtClean="0">
                        <a:latin typeface="Cambria Math" panose="02040503050406030204" pitchFamily="18" charset="0"/>
                      </a:rPr>
                      <m:t>𝑗</m:t>
                    </m:r>
                    <m:r>
                      <a:rPr lang="it-IT" b="0" i="1" smtClean="0">
                        <a:latin typeface="Cambria Math" panose="02040503050406030204" pitchFamily="18" charset="0"/>
                      </a:rPr>
                      <m:t>∈</m:t>
                    </m:r>
                    <m:r>
                      <a:rPr lang="it-IT" b="0" i="1" smtClean="0">
                        <a:latin typeface="Cambria Math" panose="02040503050406030204" pitchFamily="18" charset="0"/>
                      </a:rPr>
                      <m:t>𝐽</m:t>
                    </m:r>
                  </m:oMath>
                </a14:m>
                <a:r>
                  <a:rPr lang="en-US" dirty="0"/>
                  <a:t> according to scenario </a:t>
                </a:r>
                <a:r>
                  <a:rPr lang="en-US" i="1" dirty="0">
                    <a:latin typeface="Cambria" panose="02040503050406030204" pitchFamily="18" charset="0"/>
                    <a:ea typeface="Cambria" panose="02040503050406030204" pitchFamily="18" charset="0"/>
                  </a:rPr>
                  <a:t>S</a:t>
                </a:r>
                <a:r>
                  <a:rPr lang="en-US" dirty="0"/>
                  <a:t>.</a:t>
                </a:r>
              </a:p>
              <a:p>
                <a:r>
                  <a:rPr lang="en-US" dirty="0"/>
                  <a:t>All scenarios are deemed </a:t>
                </a:r>
                <a:r>
                  <a:rPr lang="en-US" dirty="0">
                    <a:solidFill>
                      <a:srgbClr val="C00000"/>
                    </a:solidFill>
                  </a:rPr>
                  <a:t>equiprobable</a:t>
                </a:r>
                <a:r>
                  <a:rPr lang="en-US" dirty="0"/>
                  <a:t>.</a:t>
                </a:r>
              </a:p>
              <a:p>
                <a:r>
                  <a:rPr lang="en-US" dirty="0"/>
                  <a:t>The resulting </a:t>
                </a:r>
                <a:r>
                  <a:rPr lang="en-US" dirty="0">
                    <a:solidFill>
                      <a:srgbClr val="C00000"/>
                    </a:solidFill>
                  </a:rPr>
                  <a:t>deterministic equivalent </a:t>
                </a:r>
                <a:r>
                  <a:rPr lang="en-US" dirty="0"/>
                  <a:t>SB formulation is passed on to a MIP solver.</a:t>
                </a:r>
              </a:p>
              <a:p>
                <a:r>
                  <a:rPr lang="en-US" dirty="0"/>
                  <a:t>The solution details the server </a:t>
                </a:r>
                <a:r>
                  <a:rPr lang="en-US" i="1" dirty="0" err="1">
                    <a:latin typeface="+mn-lt"/>
                  </a:rPr>
                  <a:t>i</a:t>
                </a:r>
                <a:r>
                  <a:rPr lang="en-US" dirty="0"/>
                  <a:t> that each client </a:t>
                </a:r>
                <a:r>
                  <a:rPr lang="en-US" i="1" dirty="0">
                    <a:latin typeface="+mn-lt"/>
                  </a:rPr>
                  <a:t>j</a:t>
                </a:r>
                <a:r>
                  <a:rPr lang="en-US" dirty="0"/>
                  <a:t> will be associated with, as well as the amount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𝑞</m:t>
                        </m:r>
                      </m:e>
                      <m:sub>
                        <m:r>
                          <a:rPr lang="it-IT" b="0" i="1" smtClean="0">
                            <a:latin typeface="Cambria Math" panose="02040503050406030204" pitchFamily="18" charset="0"/>
                          </a:rPr>
                          <m:t>𝑖𝑗</m:t>
                        </m:r>
                      </m:sub>
                    </m:sSub>
                  </m:oMath>
                </a14:m>
                <a:r>
                  <a:rPr lang="en-US" dirty="0"/>
                  <a:t>it will request from the server.</a:t>
                </a:r>
              </a:p>
              <a:p>
                <a:r>
                  <a:rPr lang="en-US" dirty="0"/>
                  <a:t>It is therefore possible to estimate the actual capacity requested from each server.</a:t>
                </a:r>
              </a:p>
            </p:txBody>
          </p:sp>
        </mc:Choice>
        <mc:Fallback xmlns="">
          <p:sp>
            <p:nvSpPr>
              <p:cNvPr id="2" name="Content Placeholder 1">
                <a:extLst>
                  <a:ext uri="{FF2B5EF4-FFF2-40B4-BE49-F238E27FC236}">
                    <a16:creationId xmlns:a16="http://schemas.microsoft.com/office/drawing/2014/main" id="{15287C68-E67C-4F60-996C-60722B34E7FA}"/>
                  </a:ext>
                </a:extLst>
              </p:cNvPr>
              <p:cNvSpPr>
                <a:spLocks noGrp="1" noRot="1" noChangeAspect="1" noMove="1" noResize="1" noEditPoints="1" noAdjustHandles="1" noChangeArrowheads="1" noChangeShapeType="1" noTextEdit="1"/>
              </p:cNvSpPr>
              <p:nvPr>
                <p:ph idx="1"/>
              </p:nvPr>
            </p:nvSpPr>
            <p:spPr>
              <a:blipFill>
                <a:blip r:embed="rId2"/>
                <a:stretch>
                  <a:fillRect l="-1112" t="-1561" r="-1038"/>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6D87712D-703F-4615-B30A-AE3B2313D75A}"/>
              </a:ext>
            </a:extLst>
          </p:cNvPr>
          <p:cNvSpPr>
            <a:spLocks noGrp="1"/>
          </p:cNvSpPr>
          <p:nvPr>
            <p:ph type="title"/>
          </p:nvPr>
        </p:nvSpPr>
        <p:spPr>
          <a:xfrm>
            <a:off x="278767" y="84884"/>
            <a:ext cx="8791195" cy="766769"/>
          </a:xfrm>
        </p:spPr>
        <p:txBody>
          <a:bodyPr>
            <a:normAutofit fontScale="90000"/>
          </a:bodyPr>
          <a:lstStyle/>
          <a:p>
            <a:pPr marL="1089025" indent="-1089025">
              <a:lnSpc>
                <a:spcPts val="3400"/>
              </a:lnSpc>
            </a:pPr>
            <a:r>
              <a:rPr lang="en-US" dirty="0"/>
              <a:t>BESO: Bootstrapped Enhanced Scenario Optimization</a:t>
            </a:r>
          </a:p>
        </p:txBody>
      </p:sp>
      <p:sp>
        <p:nvSpPr>
          <p:cNvPr id="4" name="Footer Placeholder 3">
            <a:extLst>
              <a:ext uri="{FF2B5EF4-FFF2-40B4-BE49-F238E27FC236}">
                <a16:creationId xmlns:a16="http://schemas.microsoft.com/office/drawing/2014/main" id="{F73F7CBB-54A3-4FAB-AFE5-219EAB3171AF}"/>
              </a:ext>
            </a:extLst>
          </p:cNvPr>
          <p:cNvSpPr>
            <a:spLocks noGrp="1"/>
          </p:cNvSpPr>
          <p:nvPr>
            <p:ph type="ftr" sz="quarter" idx="3"/>
          </p:nvPr>
        </p:nvSpPr>
        <p:spPr/>
        <p:txBody>
          <a:bodyPr/>
          <a:lstStyle/>
          <a:p>
            <a:pPr>
              <a:defRPr/>
            </a:pPr>
            <a:r>
              <a:rPr lang="it-IT"/>
              <a:t>Vittorio Maniezzo - University of Bologna</a:t>
            </a:r>
            <a:endParaRPr lang="it-IT" dirty="0"/>
          </a:p>
        </p:txBody>
      </p:sp>
      <p:sp>
        <p:nvSpPr>
          <p:cNvPr id="5" name="Slide Number Placeholder 4">
            <a:extLst>
              <a:ext uri="{FF2B5EF4-FFF2-40B4-BE49-F238E27FC236}">
                <a16:creationId xmlns:a16="http://schemas.microsoft.com/office/drawing/2014/main" id="{B1C7E620-B83C-44AF-B958-12960902B194}"/>
              </a:ext>
            </a:extLst>
          </p:cNvPr>
          <p:cNvSpPr>
            <a:spLocks noGrp="1"/>
          </p:cNvSpPr>
          <p:nvPr>
            <p:ph type="sldNum" sz="quarter" idx="4"/>
          </p:nvPr>
        </p:nvSpPr>
        <p:spPr/>
        <p:txBody>
          <a:bodyPr/>
          <a:lstStyle/>
          <a:p>
            <a:pPr>
              <a:defRPr/>
            </a:pPr>
            <a:fld id="{476DEB1C-3253-4C07-8F02-456B7B2AD41D}" type="slidenum">
              <a:rPr lang="it-IT" smtClean="0"/>
              <a:pPr>
                <a:defRPr/>
              </a:pPr>
              <a:t>16</a:t>
            </a:fld>
            <a:endParaRPr lang="it-IT" dirty="0"/>
          </a:p>
        </p:txBody>
      </p:sp>
    </p:spTree>
    <p:extLst>
      <p:ext uri="{BB962C8B-B14F-4D97-AF65-F5344CB8AC3E}">
        <p14:creationId xmlns:p14="http://schemas.microsoft.com/office/powerpoint/2010/main" val="2952285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4EE236-424A-4239-BA22-9D2048E75548}"/>
              </a:ext>
            </a:extLst>
          </p:cNvPr>
          <p:cNvSpPr>
            <a:spLocks noGrp="1"/>
          </p:cNvSpPr>
          <p:nvPr>
            <p:ph idx="1"/>
          </p:nvPr>
        </p:nvSpPr>
        <p:spPr/>
        <p:txBody>
          <a:bodyPr>
            <a:normAutofit/>
          </a:bodyPr>
          <a:lstStyle/>
          <a:p>
            <a:r>
              <a:rPr lang="en-US" dirty="0"/>
              <a:t>MEB bootstrap sets were aggregated (bagged) to obtain forecasts.</a:t>
            </a:r>
          </a:p>
          <a:p>
            <a:r>
              <a:rPr lang="en-US" dirty="0"/>
              <a:t>Besides MEB bagging we also considered alternative forecasts modules based on:</a:t>
            </a:r>
          </a:p>
          <a:p>
            <a:pPr marL="342900" indent="-342900">
              <a:spcBef>
                <a:spcPts val="1200"/>
              </a:spcBef>
              <a:buFont typeface="Arial" panose="020B0604020202020204" pitchFamily="34" charset="0"/>
              <a:buChar char="•"/>
            </a:pPr>
            <a:r>
              <a:rPr lang="en-US" dirty="0"/>
              <a:t>AR</a:t>
            </a:r>
          </a:p>
          <a:p>
            <a:pPr marL="342900" indent="-342900">
              <a:spcBef>
                <a:spcPts val="1200"/>
              </a:spcBef>
              <a:buFont typeface="Arial" panose="020B0604020202020204" pitchFamily="34" charset="0"/>
              <a:buChar char="•"/>
            </a:pPr>
            <a:r>
              <a:rPr lang="en-US" dirty="0"/>
              <a:t>Holt-Winters</a:t>
            </a:r>
          </a:p>
          <a:p>
            <a:pPr marL="342900" indent="-342900">
              <a:spcBef>
                <a:spcPts val="1200"/>
              </a:spcBef>
              <a:buFont typeface="Arial" panose="020B0604020202020204" pitchFamily="34" charset="0"/>
              <a:buChar char="•"/>
            </a:pPr>
            <a:r>
              <a:rPr lang="en-US" dirty="0"/>
              <a:t>SARIMA</a:t>
            </a:r>
          </a:p>
          <a:p>
            <a:pPr marL="342900" indent="-342900">
              <a:spcBef>
                <a:spcPts val="1200"/>
              </a:spcBef>
              <a:buFont typeface="Arial" panose="020B0604020202020204" pitchFamily="34" charset="0"/>
              <a:buChar char="•"/>
            </a:pPr>
            <a:r>
              <a:rPr lang="en-US" dirty="0"/>
              <a:t>Multilayer </a:t>
            </a:r>
            <a:r>
              <a:rPr lang="en-US" dirty="0" err="1"/>
              <a:t>perceptrons</a:t>
            </a:r>
            <a:endParaRPr lang="en-US" dirty="0"/>
          </a:p>
          <a:p>
            <a:pPr marL="342900" indent="-342900">
              <a:spcBef>
                <a:spcPts val="1200"/>
              </a:spcBef>
              <a:buFont typeface="Arial" panose="020B0604020202020204" pitchFamily="34" charset="0"/>
              <a:buChar char="•"/>
            </a:pPr>
            <a:r>
              <a:rPr lang="en-US" dirty="0"/>
              <a:t>LSTM networks</a:t>
            </a:r>
          </a:p>
          <a:p>
            <a:pPr marL="342900" indent="-342900">
              <a:spcBef>
                <a:spcPts val="1200"/>
              </a:spcBef>
              <a:buFont typeface="Arial" panose="020B0604020202020204" pitchFamily="34" charset="0"/>
              <a:buChar char="•"/>
            </a:pPr>
            <a:r>
              <a:rPr lang="en-US" dirty="0"/>
              <a:t>Random forests</a:t>
            </a:r>
          </a:p>
          <a:p>
            <a:pPr marL="342900" indent="-342900">
              <a:spcBef>
                <a:spcPts val="1200"/>
              </a:spcBef>
              <a:buFont typeface="Arial" panose="020B0604020202020204" pitchFamily="34" charset="0"/>
              <a:buChar char="•"/>
            </a:pPr>
            <a:r>
              <a:rPr lang="en-US" dirty="0" err="1"/>
              <a:t>XGboost</a:t>
            </a:r>
            <a:endParaRPr lang="en-US" dirty="0"/>
          </a:p>
        </p:txBody>
      </p:sp>
      <p:sp>
        <p:nvSpPr>
          <p:cNvPr id="3" name="Title 2">
            <a:extLst>
              <a:ext uri="{FF2B5EF4-FFF2-40B4-BE49-F238E27FC236}">
                <a16:creationId xmlns:a16="http://schemas.microsoft.com/office/drawing/2014/main" id="{7B15D2CC-336C-4085-9492-B0D3CF53C866}"/>
              </a:ext>
            </a:extLst>
          </p:cNvPr>
          <p:cNvSpPr>
            <a:spLocks noGrp="1"/>
          </p:cNvSpPr>
          <p:nvPr>
            <p:ph type="title"/>
          </p:nvPr>
        </p:nvSpPr>
        <p:spPr/>
        <p:txBody>
          <a:bodyPr/>
          <a:lstStyle/>
          <a:p>
            <a:r>
              <a:rPr lang="en-US" dirty="0"/>
              <a:t>Forecasts</a:t>
            </a:r>
          </a:p>
        </p:txBody>
      </p:sp>
      <p:sp>
        <p:nvSpPr>
          <p:cNvPr id="4" name="Footer Placeholder 3">
            <a:extLst>
              <a:ext uri="{FF2B5EF4-FFF2-40B4-BE49-F238E27FC236}">
                <a16:creationId xmlns:a16="http://schemas.microsoft.com/office/drawing/2014/main" id="{990DECC6-8D2D-4C53-80A7-CCD15FE36E59}"/>
              </a:ext>
            </a:extLst>
          </p:cNvPr>
          <p:cNvSpPr>
            <a:spLocks noGrp="1"/>
          </p:cNvSpPr>
          <p:nvPr>
            <p:ph type="ftr" sz="quarter" idx="3"/>
          </p:nvPr>
        </p:nvSpPr>
        <p:spPr/>
        <p:txBody>
          <a:bodyPr/>
          <a:lstStyle/>
          <a:p>
            <a:pPr>
              <a:defRPr/>
            </a:pPr>
            <a:r>
              <a:rPr lang="it-IT"/>
              <a:t>Vittorio Maniezzo - University of Bologna</a:t>
            </a:r>
            <a:endParaRPr lang="it-IT" dirty="0"/>
          </a:p>
        </p:txBody>
      </p:sp>
      <p:sp>
        <p:nvSpPr>
          <p:cNvPr id="5" name="Slide Number Placeholder 4">
            <a:extLst>
              <a:ext uri="{FF2B5EF4-FFF2-40B4-BE49-F238E27FC236}">
                <a16:creationId xmlns:a16="http://schemas.microsoft.com/office/drawing/2014/main" id="{BD96CDC2-49FB-474A-90CA-F9B00D80110C}"/>
              </a:ext>
            </a:extLst>
          </p:cNvPr>
          <p:cNvSpPr>
            <a:spLocks noGrp="1"/>
          </p:cNvSpPr>
          <p:nvPr>
            <p:ph type="sldNum" sz="quarter" idx="4"/>
          </p:nvPr>
        </p:nvSpPr>
        <p:spPr/>
        <p:txBody>
          <a:bodyPr/>
          <a:lstStyle/>
          <a:p>
            <a:pPr>
              <a:defRPr/>
            </a:pPr>
            <a:fld id="{476DEB1C-3253-4C07-8F02-456B7B2AD41D}" type="slidenum">
              <a:rPr lang="it-IT" smtClean="0"/>
              <a:pPr>
                <a:defRPr/>
              </a:pPr>
              <a:t>17</a:t>
            </a:fld>
            <a:endParaRPr lang="it-IT" dirty="0"/>
          </a:p>
        </p:txBody>
      </p:sp>
    </p:spTree>
    <p:extLst>
      <p:ext uri="{BB962C8B-B14F-4D97-AF65-F5344CB8AC3E}">
        <p14:creationId xmlns:p14="http://schemas.microsoft.com/office/powerpoint/2010/main" val="1142149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9F596C-3993-309B-C16F-9C0BA57833DC}"/>
              </a:ext>
            </a:extLst>
          </p:cNvPr>
          <p:cNvSpPr>
            <a:spLocks noGrp="1"/>
          </p:cNvSpPr>
          <p:nvPr>
            <p:ph idx="1"/>
          </p:nvPr>
        </p:nvSpPr>
        <p:spPr>
          <a:xfrm>
            <a:off x="298907" y="1018468"/>
            <a:ext cx="8546175" cy="490292"/>
          </a:xfrm>
        </p:spPr>
        <p:txBody>
          <a:bodyPr>
            <a:normAutofit fontScale="92500"/>
          </a:bodyPr>
          <a:lstStyle/>
          <a:p>
            <a:r>
              <a:rPr lang="en-US" dirty="0"/>
              <a:t>MEB based forecasting. Average rankings for different </a:t>
            </a:r>
            <a:r>
              <a:rPr lang="en-US" dirty="0" err="1"/>
              <a:t>boostset</a:t>
            </a:r>
            <a:r>
              <a:rPr lang="en-US" dirty="0"/>
              <a:t> sizes.</a:t>
            </a:r>
          </a:p>
          <a:p>
            <a:endParaRPr lang="en-US" dirty="0"/>
          </a:p>
          <a:p>
            <a:endParaRPr lang="it-IT" dirty="0"/>
          </a:p>
        </p:txBody>
      </p:sp>
      <p:sp>
        <p:nvSpPr>
          <p:cNvPr id="3" name="Title 2">
            <a:extLst>
              <a:ext uri="{FF2B5EF4-FFF2-40B4-BE49-F238E27FC236}">
                <a16:creationId xmlns:a16="http://schemas.microsoft.com/office/drawing/2014/main" id="{EFE71628-30DF-2175-CCB1-FFF5F40E3C67}"/>
              </a:ext>
            </a:extLst>
          </p:cNvPr>
          <p:cNvSpPr>
            <a:spLocks noGrp="1"/>
          </p:cNvSpPr>
          <p:nvPr>
            <p:ph type="title"/>
          </p:nvPr>
        </p:nvSpPr>
        <p:spPr/>
        <p:txBody>
          <a:bodyPr/>
          <a:lstStyle/>
          <a:p>
            <a:r>
              <a:rPr lang="en-US" dirty="0"/>
              <a:t>Results, forecasts</a:t>
            </a:r>
            <a:endParaRPr lang="it-IT" dirty="0"/>
          </a:p>
        </p:txBody>
      </p:sp>
      <p:sp>
        <p:nvSpPr>
          <p:cNvPr id="4" name="Footer Placeholder 3">
            <a:extLst>
              <a:ext uri="{FF2B5EF4-FFF2-40B4-BE49-F238E27FC236}">
                <a16:creationId xmlns:a16="http://schemas.microsoft.com/office/drawing/2014/main" id="{6A56DC0A-2CB0-A862-E697-E630A4048572}"/>
              </a:ext>
            </a:extLst>
          </p:cNvPr>
          <p:cNvSpPr>
            <a:spLocks noGrp="1"/>
          </p:cNvSpPr>
          <p:nvPr>
            <p:ph type="ftr" sz="quarter" idx="3"/>
          </p:nvPr>
        </p:nvSpPr>
        <p:spPr/>
        <p:txBody>
          <a:bodyPr/>
          <a:lstStyle/>
          <a:p>
            <a:pPr>
              <a:defRPr/>
            </a:pPr>
            <a:r>
              <a:rPr lang="it-IT"/>
              <a:t>Vittorio Maniezzo - University of Bologna</a:t>
            </a:r>
            <a:endParaRPr lang="it-IT" dirty="0"/>
          </a:p>
        </p:txBody>
      </p:sp>
      <p:sp>
        <p:nvSpPr>
          <p:cNvPr id="5" name="Slide Number Placeholder 4">
            <a:extLst>
              <a:ext uri="{FF2B5EF4-FFF2-40B4-BE49-F238E27FC236}">
                <a16:creationId xmlns:a16="http://schemas.microsoft.com/office/drawing/2014/main" id="{72D239EC-68A7-7A7A-B5C0-DC3C98E60408}"/>
              </a:ext>
            </a:extLst>
          </p:cNvPr>
          <p:cNvSpPr>
            <a:spLocks noGrp="1"/>
          </p:cNvSpPr>
          <p:nvPr>
            <p:ph type="sldNum" sz="quarter" idx="4"/>
          </p:nvPr>
        </p:nvSpPr>
        <p:spPr/>
        <p:txBody>
          <a:bodyPr/>
          <a:lstStyle/>
          <a:p>
            <a:pPr>
              <a:defRPr/>
            </a:pPr>
            <a:fld id="{476DEB1C-3253-4C07-8F02-456B7B2AD41D}" type="slidenum">
              <a:rPr lang="it-IT" smtClean="0"/>
              <a:pPr>
                <a:defRPr/>
              </a:pPr>
              <a:t>18</a:t>
            </a:fld>
            <a:endParaRPr lang="it-IT" dirty="0"/>
          </a:p>
        </p:txBody>
      </p:sp>
      <p:sp>
        <p:nvSpPr>
          <p:cNvPr id="6" name="AutoShape 2">
            <a:extLst>
              <a:ext uri="{FF2B5EF4-FFF2-40B4-BE49-F238E27FC236}">
                <a16:creationId xmlns:a16="http://schemas.microsoft.com/office/drawing/2014/main" id="{7AB47DEF-C84E-4092-B595-D18B9173F03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5E35AD79-FEA4-4F84-939C-4E05117C3244}"/>
              </a:ext>
            </a:extLst>
          </p:cNvPr>
          <p:cNvPicPr>
            <a:picLocks noChangeAspect="1"/>
          </p:cNvPicPr>
          <p:nvPr/>
        </p:nvPicPr>
        <p:blipFill>
          <a:blip r:embed="rId2"/>
          <a:stretch>
            <a:fillRect/>
          </a:stretch>
        </p:blipFill>
        <p:spPr>
          <a:xfrm>
            <a:off x="651264" y="4391968"/>
            <a:ext cx="2972330" cy="2229248"/>
          </a:xfrm>
          <a:prstGeom prst="rect">
            <a:avLst/>
          </a:prstGeom>
        </p:spPr>
      </p:pic>
      <p:pic>
        <p:nvPicPr>
          <p:cNvPr id="8" name="Picture 7">
            <a:extLst>
              <a:ext uri="{FF2B5EF4-FFF2-40B4-BE49-F238E27FC236}">
                <a16:creationId xmlns:a16="http://schemas.microsoft.com/office/drawing/2014/main" id="{B15F2B21-64B1-4651-9558-04869FCDA497}"/>
              </a:ext>
            </a:extLst>
          </p:cNvPr>
          <p:cNvPicPr>
            <a:picLocks noChangeAspect="1"/>
          </p:cNvPicPr>
          <p:nvPr/>
        </p:nvPicPr>
        <p:blipFill>
          <a:blip r:embed="rId3"/>
          <a:stretch>
            <a:fillRect/>
          </a:stretch>
        </p:blipFill>
        <p:spPr>
          <a:xfrm>
            <a:off x="4525323" y="4391968"/>
            <a:ext cx="2972330" cy="2229248"/>
          </a:xfrm>
          <a:prstGeom prst="rect">
            <a:avLst/>
          </a:prstGeom>
        </p:spPr>
      </p:pic>
      <p:pic>
        <p:nvPicPr>
          <p:cNvPr id="11" name="Picture 10">
            <a:extLst>
              <a:ext uri="{FF2B5EF4-FFF2-40B4-BE49-F238E27FC236}">
                <a16:creationId xmlns:a16="http://schemas.microsoft.com/office/drawing/2014/main" id="{62170D8E-3334-7B03-618F-16D0275CB09B}"/>
              </a:ext>
            </a:extLst>
          </p:cNvPr>
          <p:cNvPicPr>
            <a:picLocks noChangeAspect="1"/>
          </p:cNvPicPr>
          <p:nvPr/>
        </p:nvPicPr>
        <p:blipFill>
          <a:blip r:embed="rId4">
            <a:clrChange>
              <a:clrFrom>
                <a:srgbClr val="F9FDFD"/>
              </a:clrFrom>
              <a:clrTo>
                <a:srgbClr val="F9FDFD">
                  <a:alpha val="0"/>
                </a:srgbClr>
              </a:clrTo>
            </a:clrChange>
          </a:blip>
          <a:stretch>
            <a:fillRect/>
          </a:stretch>
        </p:blipFill>
        <p:spPr>
          <a:xfrm>
            <a:off x="707669" y="1387059"/>
            <a:ext cx="7203880" cy="3167368"/>
          </a:xfrm>
          <a:prstGeom prst="rect">
            <a:avLst/>
          </a:prstGeom>
        </p:spPr>
      </p:pic>
    </p:spTree>
    <p:extLst>
      <p:ext uri="{BB962C8B-B14F-4D97-AF65-F5344CB8AC3E}">
        <p14:creationId xmlns:p14="http://schemas.microsoft.com/office/powerpoint/2010/main" val="2369700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CF30E9-3DC7-3EA0-32CA-F2ADAED3C6E5}"/>
              </a:ext>
            </a:extLst>
          </p:cNvPr>
          <p:cNvSpPr>
            <a:spLocks noGrp="1"/>
          </p:cNvSpPr>
          <p:nvPr>
            <p:ph type="title"/>
          </p:nvPr>
        </p:nvSpPr>
        <p:spPr/>
        <p:txBody>
          <a:bodyPr/>
          <a:lstStyle/>
          <a:p>
            <a:r>
              <a:rPr lang="en-US" dirty="0"/>
              <a:t>Results, forecasts</a:t>
            </a:r>
            <a:endParaRPr lang="it-IT" dirty="0"/>
          </a:p>
        </p:txBody>
      </p:sp>
      <p:sp>
        <p:nvSpPr>
          <p:cNvPr id="4" name="Footer Placeholder 3">
            <a:extLst>
              <a:ext uri="{FF2B5EF4-FFF2-40B4-BE49-F238E27FC236}">
                <a16:creationId xmlns:a16="http://schemas.microsoft.com/office/drawing/2014/main" id="{8E913267-F1C1-E815-B1AC-6F042FCBB762}"/>
              </a:ext>
            </a:extLst>
          </p:cNvPr>
          <p:cNvSpPr>
            <a:spLocks noGrp="1"/>
          </p:cNvSpPr>
          <p:nvPr>
            <p:ph type="ftr" sz="quarter" idx="3"/>
          </p:nvPr>
        </p:nvSpPr>
        <p:spPr/>
        <p:txBody>
          <a:bodyPr/>
          <a:lstStyle/>
          <a:p>
            <a:pPr>
              <a:defRPr/>
            </a:pPr>
            <a:r>
              <a:rPr lang="it-IT"/>
              <a:t>Vittorio Maniezzo - University of Bologna</a:t>
            </a:r>
            <a:endParaRPr lang="it-IT" dirty="0"/>
          </a:p>
        </p:txBody>
      </p:sp>
      <p:sp>
        <p:nvSpPr>
          <p:cNvPr id="5" name="Slide Number Placeholder 4">
            <a:extLst>
              <a:ext uri="{FF2B5EF4-FFF2-40B4-BE49-F238E27FC236}">
                <a16:creationId xmlns:a16="http://schemas.microsoft.com/office/drawing/2014/main" id="{2A3360F6-BABC-ABDE-FB0F-7D110E9789E0}"/>
              </a:ext>
            </a:extLst>
          </p:cNvPr>
          <p:cNvSpPr>
            <a:spLocks noGrp="1"/>
          </p:cNvSpPr>
          <p:nvPr>
            <p:ph type="sldNum" sz="quarter" idx="4"/>
          </p:nvPr>
        </p:nvSpPr>
        <p:spPr/>
        <p:txBody>
          <a:bodyPr/>
          <a:lstStyle/>
          <a:p>
            <a:pPr>
              <a:defRPr/>
            </a:pPr>
            <a:fld id="{476DEB1C-3253-4C07-8F02-456B7B2AD41D}" type="slidenum">
              <a:rPr lang="it-IT" smtClean="0"/>
              <a:pPr>
                <a:defRPr/>
              </a:pPr>
              <a:t>19</a:t>
            </a:fld>
            <a:endParaRPr lang="it-IT" dirty="0"/>
          </a:p>
        </p:txBody>
      </p:sp>
      <p:sp>
        <p:nvSpPr>
          <p:cNvPr id="8" name="TextBox 7">
            <a:extLst>
              <a:ext uri="{FF2B5EF4-FFF2-40B4-BE49-F238E27FC236}">
                <a16:creationId xmlns:a16="http://schemas.microsoft.com/office/drawing/2014/main" id="{ECAF7F87-2B3A-5157-5F27-3D4E450930F3}"/>
              </a:ext>
            </a:extLst>
          </p:cNvPr>
          <p:cNvSpPr txBox="1"/>
          <p:nvPr/>
        </p:nvSpPr>
        <p:spPr>
          <a:xfrm>
            <a:off x="1202359" y="972001"/>
            <a:ext cx="6238568" cy="914400"/>
          </a:xfrm>
          <a:prstGeom prst="rect">
            <a:avLst/>
          </a:prstGeom>
          <a:noFill/>
          <a:ln>
            <a:noFill/>
          </a:ln>
        </p:spPr>
        <p:txBody>
          <a:bodyPr wrap="none" rtlCol="0" anchor="t" anchorCtr="0">
            <a:noAutofit/>
          </a:bodyPr>
          <a:lstStyle/>
          <a:p>
            <a:r>
              <a:rPr lang="it-IT" sz="2400" dirty="0"/>
              <a:t>Critical </a:t>
            </a:r>
            <a:r>
              <a:rPr lang="it-IT" sz="2400" dirty="0" err="1"/>
              <a:t>difference</a:t>
            </a:r>
            <a:r>
              <a:rPr lang="it-IT" sz="2400" dirty="0"/>
              <a:t> </a:t>
            </a:r>
            <a:r>
              <a:rPr lang="it-IT" sz="2400" dirty="0" err="1"/>
              <a:t>diagrams</a:t>
            </a:r>
            <a:r>
              <a:rPr lang="it-IT" sz="2400" dirty="0"/>
              <a:t> (</a:t>
            </a:r>
            <a:r>
              <a:rPr lang="it-IT" sz="2400" dirty="0" err="1"/>
              <a:t>Fawaz</a:t>
            </a:r>
            <a:r>
              <a:rPr lang="it-IT" sz="2400" dirty="0"/>
              <a:t> et al., 2019)</a:t>
            </a:r>
          </a:p>
        </p:txBody>
      </p:sp>
      <p:pic>
        <p:nvPicPr>
          <p:cNvPr id="11" name="Content Placeholder 10">
            <a:extLst>
              <a:ext uri="{FF2B5EF4-FFF2-40B4-BE49-F238E27FC236}">
                <a16:creationId xmlns:a16="http://schemas.microsoft.com/office/drawing/2014/main" id="{E272D35D-92BC-B3F0-55B3-F6F8689EBEA4}"/>
              </a:ext>
            </a:extLst>
          </p:cNvPr>
          <p:cNvPicPr>
            <a:picLocks noGrp="1" noChangeAspect="1"/>
          </p:cNvPicPr>
          <p:nvPr>
            <p:ph idx="1"/>
          </p:nvPr>
        </p:nvPicPr>
        <p:blipFill>
          <a:blip r:embed="rId2">
            <a:clrChange>
              <a:clrFrom>
                <a:srgbClr val="FEFEFE"/>
              </a:clrFrom>
              <a:clrTo>
                <a:srgbClr val="FEFEFE">
                  <a:alpha val="0"/>
                </a:srgbClr>
              </a:clrTo>
            </a:clrChange>
          </a:blip>
          <a:stretch>
            <a:fillRect/>
          </a:stretch>
        </p:blipFill>
        <p:spPr>
          <a:xfrm>
            <a:off x="283748" y="1494483"/>
            <a:ext cx="8304762" cy="2438095"/>
          </a:xfrm>
        </p:spPr>
      </p:pic>
      <p:pic>
        <p:nvPicPr>
          <p:cNvPr id="13" name="Picture 12">
            <a:extLst>
              <a:ext uri="{FF2B5EF4-FFF2-40B4-BE49-F238E27FC236}">
                <a16:creationId xmlns:a16="http://schemas.microsoft.com/office/drawing/2014/main" id="{0FC619C5-3B1D-B69D-5EA6-92C467876432}"/>
              </a:ext>
            </a:extLst>
          </p:cNvPr>
          <p:cNvPicPr>
            <a:picLocks noChangeAspect="1"/>
          </p:cNvPicPr>
          <p:nvPr/>
        </p:nvPicPr>
        <p:blipFill>
          <a:blip r:embed="rId3">
            <a:clrChange>
              <a:clrFrom>
                <a:srgbClr val="FEFEFE"/>
              </a:clrFrom>
              <a:clrTo>
                <a:srgbClr val="FEFEFE">
                  <a:alpha val="0"/>
                </a:srgbClr>
              </a:clrTo>
            </a:clrChange>
          </a:blip>
          <a:stretch>
            <a:fillRect/>
          </a:stretch>
        </p:blipFill>
        <p:spPr>
          <a:xfrm>
            <a:off x="287771" y="4006938"/>
            <a:ext cx="8457143" cy="2438095"/>
          </a:xfrm>
          <a:prstGeom prst="rect">
            <a:avLst/>
          </a:prstGeom>
        </p:spPr>
      </p:pic>
    </p:spTree>
    <p:extLst>
      <p:ext uri="{BB962C8B-B14F-4D97-AF65-F5344CB8AC3E}">
        <p14:creationId xmlns:p14="http://schemas.microsoft.com/office/powerpoint/2010/main" val="14370939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E9AD77-5EE7-F954-33B4-3A8F8A48DECA}"/>
              </a:ext>
            </a:extLst>
          </p:cNvPr>
          <p:cNvSpPr>
            <a:spLocks noGrp="1"/>
          </p:cNvSpPr>
          <p:nvPr>
            <p:ph type="title"/>
          </p:nvPr>
        </p:nvSpPr>
        <p:spPr/>
        <p:txBody>
          <a:bodyPr/>
          <a:lstStyle/>
          <a:p>
            <a:r>
              <a:rPr lang="it-IT" dirty="0" err="1"/>
              <a:t>Results</a:t>
            </a:r>
            <a:r>
              <a:rPr lang="it-IT" dirty="0"/>
              <a:t>, </a:t>
            </a:r>
            <a:r>
              <a:rPr lang="it-IT" dirty="0" err="1"/>
              <a:t>optimization</a:t>
            </a:r>
            <a:endParaRPr lang="it-IT" dirty="0"/>
          </a:p>
        </p:txBody>
      </p:sp>
      <p:sp>
        <p:nvSpPr>
          <p:cNvPr id="4" name="Footer Placeholder 3">
            <a:extLst>
              <a:ext uri="{FF2B5EF4-FFF2-40B4-BE49-F238E27FC236}">
                <a16:creationId xmlns:a16="http://schemas.microsoft.com/office/drawing/2014/main" id="{F02EAB2B-6A02-ECDF-B23E-EABF394512F3}"/>
              </a:ext>
            </a:extLst>
          </p:cNvPr>
          <p:cNvSpPr>
            <a:spLocks noGrp="1"/>
          </p:cNvSpPr>
          <p:nvPr>
            <p:ph type="ftr" sz="quarter" idx="3"/>
          </p:nvPr>
        </p:nvSpPr>
        <p:spPr/>
        <p:txBody>
          <a:bodyPr/>
          <a:lstStyle/>
          <a:p>
            <a:pPr>
              <a:defRPr/>
            </a:pPr>
            <a:r>
              <a:rPr lang="it-IT"/>
              <a:t>Vittorio Maniezzo - University of Bologna</a:t>
            </a:r>
            <a:endParaRPr lang="it-IT" dirty="0"/>
          </a:p>
        </p:txBody>
      </p:sp>
      <p:sp>
        <p:nvSpPr>
          <p:cNvPr id="5" name="Slide Number Placeholder 4">
            <a:extLst>
              <a:ext uri="{FF2B5EF4-FFF2-40B4-BE49-F238E27FC236}">
                <a16:creationId xmlns:a16="http://schemas.microsoft.com/office/drawing/2014/main" id="{8309B41E-08EB-587F-56AE-21B50991ADA8}"/>
              </a:ext>
            </a:extLst>
          </p:cNvPr>
          <p:cNvSpPr>
            <a:spLocks noGrp="1"/>
          </p:cNvSpPr>
          <p:nvPr>
            <p:ph type="sldNum" sz="quarter" idx="4"/>
          </p:nvPr>
        </p:nvSpPr>
        <p:spPr/>
        <p:txBody>
          <a:bodyPr/>
          <a:lstStyle/>
          <a:p>
            <a:pPr>
              <a:defRPr/>
            </a:pPr>
            <a:fld id="{476DEB1C-3253-4C07-8F02-456B7B2AD41D}" type="slidenum">
              <a:rPr lang="it-IT" smtClean="0"/>
              <a:pPr>
                <a:defRPr/>
              </a:pPr>
              <a:t>20</a:t>
            </a:fld>
            <a:endParaRPr lang="it-IT" dirty="0"/>
          </a:p>
        </p:txBody>
      </p:sp>
      <p:sp>
        <p:nvSpPr>
          <p:cNvPr id="2" name="TextBox 1">
            <a:extLst>
              <a:ext uri="{FF2B5EF4-FFF2-40B4-BE49-F238E27FC236}">
                <a16:creationId xmlns:a16="http://schemas.microsoft.com/office/drawing/2014/main" id="{C705BEAE-9A63-435D-1BDA-9F8BBEF88057}"/>
              </a:ext>
            </a:extLst>
          </p:cNvPr>
          <p:cNvSpPr txBox="1"/>
          <p:nvPr/>
        </p:nvSpPr>
        <p:spPr>
          <a:xfrm>
            <a:off x="278767" y="4352235"/>
            <a:ext cx="8389889" cy="2092881"/>
          </a:xfrm>
          <a:prstGeom prst="rect">
            <a:avLst/>
          </a:prstGeom>
          <a:noFill/>
          <a:ln>
            <a:noFill/>
          </a:ln>
        </p:spPr>
        <p:txBody>
          <a:bodyPr wrap="square" rtlCol="0" anchor="t" anchorCtr="0">
            <a:spAutoFit/>
          </a:bodyPr>
          <a:lstStyle/>
          <a:p>
            <a:pPr algn="l">
              <a:spcBef>
                <a:spcPts val="1200"/>
              </a:spcBef>
            </a:pPr>
            <a:r>
              <a:rPr lang="en-US" sz="2200" dirty="0"/>
              <a:t>The cost is essentially stable in the cases of the 75 and 125 series sets but increases significantly in the case of the 175 </a:t>
            </a:r>
            <a:r>
              <a:rPr lang="en-US" sz="2200" dirty="0" err="1"/>
              <a:t>boostset</a:t>
            </a:r>
            <a:r>
              <a:rPr lang="en-US" sz="2200" dirty="0"/>
              <a:t>.</a:t>
            </a:r>
          </a:p>
          <a:p>
            <a:pPr algn="l">
              <a:spcBef>
                <a:spcPts val="1200"/>
              </a:spcBef>
            </a:pPr>
            <a:r>
              <a:rPr lang="en-US" sz="2200" dirty="0"/>
              <a:t>This is due to some extreme scenarios appearing in the forecasts. </a:t>
            </a:r>
          </a:p>
          <a:p>
            <a:pPr algn="l">
              <a:spcBef>
                <a:spcPts val="1200"/>
              </a:spcBef>
            </a:pPr>
            <a:r>
              <a:rPr lang="en-US" sz="2200" dirty="0">
                <a:solidFill>
                  <a:srgbClr val="C00000"/>
                </a:solidFill>
              </a:rPr>
              <a:t>All instances were feasible</a:t>
            </a:r>
            <a:r>
              <a:rPr lang="en-US" sz="2200" dirty="0"/>
              <a:t>, but 7 out of 35 tests still had a gap between lower and upper bound after 600 seconds of CPU time.</a:t>
            </a:r>
            <a:endParaRPr lang="it-IT" sz="2200" dirty="0"/>
          </a:p>
        </p:txBody>
      </p:sp>
      <p:pic>
        <p:nvPicPr>
          <p:cNvPr id="10" name="Content Placeholder 9">
            <a:extLst>
              <a:ext uri="{FF2B5EF4-FFF2-40B4-BE49-F238E27FC236}">
                <a16:creationId xmlns:a16="http://schemas.microsoft.com/office/drawing/2014/main" id="{9557FCC9-B63E-4CB4-B116-79F9E763FC78}"/>
              </a:ext>
            </a:extLst>
          </p:cNvPr>
          <p:cNvPicPr>
            <a:picLocks noGrp="1" noChangeAspect="1"/>
          </p:cNvPicPr>
          <p:nvPr>
            <p:ph idx="1"/>
          </p:nvPr>
        </p:nvPicPr>
        <p:blipFill>
          <a:blip r:embed="rId2"/>
          <a:stretch>
            <a:fillRect/>
          </a:stretch>
        </p:blipFill>
        <p:spPr>
          <a:xfrm>
            <a:off x="1580509" y="1032044"/>
            <a:ext cx="5380952" cy="3219048"/>
          </a:xfrm>
        </p:spPr>
      </p:pic>
    </p:spTree>
    <p:extLst>
      <p:ext uri="{BB962C8B-B14F-4D97-AF65-F5344CB8AC3E}">
        <p14:creationId xmlns:p14="http://schemas.microsoft.com/office/powerpoint/2010/main" val="31090330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7D1E3A-B58A-4312-90C6-7F77FBE77691}"/>
              </a:ext>
            </a:extLst>
          </p:cNvPr>
          <p:cNvSpPr>
            <a:spLocks noGrp="1"/>
          </p:cNvSpPr>
          <p:nvPr>
            <p:ph type="title"/>
          </p:nvPr>
        </p:nvSpPr>
        <p:spPr/>
        <p:txBody>
          <a:bodyPr/>
          <a:lstStyle/>
          <a:p>
            <a:r>
              <a:rPr lang="en-US" dirty="0"/>
              <a:t>Results, comparison</a:t>
            </a:r>
          </a:p>
        </p:txBody>
      </p:sp>
      <p:sp>
        <p:nvSpPr>
          <p:cNvPr id="4" name="Footer Placeholder 3">
            <a:extLst>
              <a:ext uri="{FF2B5EF4-FFF2-40B4-BE49-F238E27FC236}">
                <a16:creationId xmlns:a16="http://schemas.microsoft.com/office/drawing/2014/main" id="{49059E4C-63C1-40C7-8F5C-681822FABE36}"/>
              </a:ext>
            </a:extLst>
          </p:cNvPr>
          <p:cNvSpPr>
            <a:spLocks noGrp="1"/>
          </p:cNvSpPr>
          <p:nvPr>
            <p:ph type="ftr" sz="quarter" idx="3"/>
          </p:nvPr>
        </p:nvSpPr>
        <p:spPr/>
        <p:txBody>
          <a:bodyPr/>
          <a:lstStyle/>
          <a:p>
            <a:pPr>
              <a:defRPr/>
            </a:pPr>
            <a:r>
              <a:rPr lang="it-IT"/>
              <a:t>Vittorio Maniezzo - University of Bologna</a:t>
            </a:r>
            <a:endParaRPr lang="it-IT" dirty="0"/>
          </a:p>
        </p:txBody>
      </p:sp>
      <p:sp>
        <p:nvSpPr>
          <p:cNvPr id="5" name="Slide Number Placeholder 4">
            <a:extLst>
              <a:ext uri="{FF2B5EF4-FFF2-40B4-BE49-F238E27FC236}">
                <a16:creationId xmlns:a16="http://schemas.microsoft.com/office/drawing/2014/main" id="{7D388ED5-F11D-4879-8EE8-AFB571873155}"/>
              </a:ext>
            </a:extLst>
          </p:cNvPr>
          <p:cNvSpPr>
            <a:spLocks noGrp="1"/>
          </p:cNvSpPr>
          <p:nvPr>
            <p:ph type="sldNum" sz="quarter" idx="4"/>
          </p:nvPr>
        </p:nvSpPr>
        <p:spPr/>
        <p:txBody>
          <a:bodyPr/>
          <a:lstStyle/>
          <a:p>
            <a:pPr>
              <a:defRPr/>
            </a:pPr>
            <a:fld id="{476DEB1C-3253-4C07-8F02-456B7B2AD41D}" type="slidenum">
              <a:rPr lang="it-IT" smtClean="0"/>
              <a:pPr>
                <a:defRPr/>
              </a:pPr>
              <a:t>21</a:t>
            </a:fld>
            <a:endParaRPr lang="it-IT" dirty="0"/>
          </a:p>
        </p:txBody>
      </p:sp>
      <p:sp>
        <p:nvSpPr>
          <p:cNvPr id="6" name="Content Placeholder 5">
            <a:extLst>
              <a:ext uri="{FF2B5EF4-FFF2-40B4-BE49-F238E27FC236}">
                <a16:creationId xmlns:a16="http://schemas.microsoft.com/office/drawing/2014/main" id="{9A967147-593B-47EB-8FAF-D5DF1EB28E67}"/>
              </a:ext>
            </a:extLst>
          </p:cNvPr>
          <p:cNvSpPr>
            <a:spLocks noGrp="1"/>
          </p:cNvSpPr>
          <p:nvPr>
            <p:ph idx="1"/>
          </p:nvPr>
        </p:nvSpPr>
        <p:spPr>
          <a:xfrm>
            <a:off x="298907" y="1173916"/>
            <a:ext cx="8546175" cy="947492"/>
          </a:xfrm>
        </p:spPr>
        <p:txBody>
          <a:bodyPr/>
          <a:lstStyle/>
          <a:p>
            <a:r>
              <a:rPr lang="en-US" dirty="0"/>
              <a:t>BESO vs. distribution-based, gaussian derived from confidence intervals of Holt-Winters ETS forecasts.</a:t>
            </a:r>
          </a:p>
        </p:txBody>
      </p:sp>
      <p:pic>
        <p:nvPicPr>
          <p:cNvPr id="9" name="Picture 8">
            <a:extLst>
              <a:ext uri="{FF2B5EF4-FFF2-40B4-BE49-F238E27FC236}">
                <a16:creationId xmlns:a16="http://schemas.microsoft.com/office/drawing/2014/main" id="{6F9C6B21-3200-4B8B-AE33-BFC4E4E10EF8}"/>
              </a:ext>
            </a:extLst>
          </p:cNvPr>
          <p:cNvPicPr>
            <a:picLocks noChangeAspect="1"/>
          </p:cNvPicPr>
          <p:nvPr/>
        </p:nvPicPr>
        <p:blipFill>
          <a:blip r:embed="rId2"/>
          <a:stretch>
            <a:fillRect/>
          </a:stretch>
        </p:blipFill>
        <p:spPr>
          <a:xfrm>
            <a:off x="445978" y="2304613"/>
            <a:ext cx="8110728" cy="3379471"/>
          </a:xfrm>
          <a:prstGeom prst="rect">
            <a:avLst/>
          </a:prstGeom>
        </p:spPr>
      </p:pic>
    </p:spTree>
    <p:extLst>
      <p:ext uri="{BB962C8B-B14F-4D97-AF65-F5344CB8AC3E}">
        <p14:creationId xmlns:p14="http://schemas.microsoft.com/office/powerpoint/2010/main" val="22965779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591610-0BBB-D224-221E-E0F3426240F1}"/>
              </a:ext>
            </a:extLst>
          </p:cNvPr>
          <p:cNvSpPr>
            <a:spLocks noGrp="1"/>
          </p:cNvSpPr>
          <p:nvPr>
            <p:ph idx="1"/>
          </p:nvPr>
        </p:nvSpPr>
        <p:spPr>
          <a:xfrm>
            <a:off x="298907" y="1062602"/>
            <a:ext cx="8546175" cy="5406668"/>
          </a:xfrm>
        </p:spPr>
        <p:txBody>
          <a:bodyPr>
            <a:noAutofit/>
          </a:bodyPr>
          <a:lstStyle/>
          <a:p>
            <a:r>
              <a:rPr lang="it-IT" dirty="0" err="1"/>
              <a:t>Comparing</a:t>
            </a:r>
            <a:r>
              <a:rPr lang="it-IT" dirty="0"/>
              <a:t> </a:t>
            </a:r>
            <a:r>
              <a:rPr lang="it-IT" dirty="0" err="1"/>
              <a:t>against</a:t>
            </a:r>
            <a:r>
              <a:rPr lang="it-IT" dirty="0"/>
              <a:t> a </a:t>
            </a:r>
            <a:r>
              <a:rPr lang="it-IT" dirty="0" err="1"/>
              <a:t>distribution-based</a:t>
            </a:r>
            <a:r>
              <a:rPr lang="it-IT" dirty="0"/>
              <a:t> </a:t>
            </a:r>
            <a:r>
              <a:rPr lang="it-IT" dirty="0" err="1"/>
              <a:t>optimization</a:t>
            </a:r>
            <a:r>
              <a:rPr lang="it-IT" dirty="0"/>
              <a:t> (Holt-Winters, confidence </a:t>
            </a:r>
            <a:r>
              <a:rPr lang="it-IT" dirty="0" err="1"/>
              <a:t>intervals</a:t>
            </a:r>
            <a:r>
              <a:rPr lang="it-IT" dirty="0"/>
              <a:t>)</a:t>
            </a:r>
          </a:p>
          <a:p>
            <a:pPr>
              <a:tabLst>
                <a:tab pos="2230438" algn="l"/>
                <a:tab pos="5715000" algn="l"/>
              </a:tabLst>
            </a:pPr>
            <a:r>
              <a:rPr lang="en-US" sz="2000" dirty="0"/>
              <a:t> 	</a:t>
            </a:r>
            <a:r>
              <a:rPr lang="en-US" sz="2000" i="1" dirty="0"/>
              <a:t>No rental cost	With rental cost</a:t>
            </a:r>
          </a:p>
          <a:p>
            <a:pPr>
              <a:spcBef>
                <a:spcPts val="1200"/>
              </a:spcBef>
              <a:tabLst>
                <a:tab pos="2514600" algn="r"/>
                <a:tab pos="4005263" algn="r"/>
                <a:tab pos="5999163" algn="r"/>
                <a:tab pos="7488238" algn="r"/>
              </a:tabLst>
            </a:pPr>
            <a:r>
              <a:rPr lang="en-US" sz="2000" dirty="0"/>
              <a:t> 	</a:t>
            </a:r>
            <a:r>
              <a:rPr lang="en-US" sz="2000" b="1" dirty="0"/>
              <a:t>BESO	ETS	BESO	ETS</a:t>
            </a:r>
          </a:p>
          <a:p>
            <a:pPr>
              <a:spcBef>
                <a:spcPts val="1200"/>
              </a:spcBef>
              <a:tabLst>
                <a:tab pos="2514600" algn="r"/>
                <a:tab pos="4005263" algn="r"/>
                <a:tab pos="5999163" algn="r"/>
                <a:tab pos="7488238" algn="r"/>
              </a:tabLst>
            </a:pPr>
            <a:r>
              <a:rPr lang="en-US" sz="2000" dirty="0"/>
              <a:t>Assign. Cost	17781	15423	5446720	4378380</a:t>
            </a:r>
          </a:p>
          <a:p>
            <a:pPr>
              <a:spcBef>
                <a:spcPts val="600"/>
              </a:spcBef>
              <a:tabLst>
                <a:tab pos="2514600" algn="r"/>
                <a:tab pos="4005263" algn="r"/>
                <a:tab pos="5999163" algn="r"/>
                <a:tab pos="7488238" algn="r"/>
              </a:tabLst>
            </a:pPr>
            <a:r>
              <a:rPr lang="en-US" sz="2000" dirty="0"/>
              <a:t>Optimality gap %	0	0	16.07	0.69</a:t>
            </a:r>
          </a:p>
          <a:p>
            <a:pPr>
              <a:spcBef>
                <a:spcPts val="600"/>
              </a:spcBef>
              <a:tabLst>
                <a:tab pos="2514600" algn="r"/>
                <a:tab pos="4005263" algn="r"/>
                <a:tab pos="5999163" algn="r"/>
                <a:tab pos="7488238" algn="r"/>
              </a:tabLst>
            </a:pPr>
            <a:r>
              <a:rPr lang="en-US" sz="2000" dirty="0">
                <a:solidFill>
                  <a:srgbClr val="C00000"/>
                </a:solidFill>
              </a:rPr>
              <a:t>Infeasibilities</a:t>
            </a:r>
            <a:r>
              <a:rPr lang="en-US" sz="2000" dirty="0"/>
              <a:t>	0	</a:t>
            </a:r>
            <a:r>
              <a:rPr lang="en-US" sz="2000" b="1" dirty="0">
                <a:solidFill>
                  <a:srgbClr val="FF0000"/>
                </a:solidFill>
              </a:rPr>
              <a:t>1</a:t>
            </a:r>
            <a:r>
              <a:rPr lang="en-US" sz="2000" dirty="0"/>
              <a:t>	0	</a:t>
            </a:r>
            <a:r>
              <a:rPr lang="en-US" sz="2000" b="1" dirty="0">
                <a:solidFill>
                  <a:srgbClr val="FF0000"/>
                </a:solidFill>
              </a:rPr>
              <a:t>1</a:t>
            </a:r>
          </a:p>
          <a:p>
            <a:pPr>
              <a:spcBef>
                <a:spcPts val="600"/>
              </a:spcBef>
              <a:tabLst>
                <a:tab pos="2514600" algn="r"/>
                <a:tab pos="4005263" algn="r"/>
                <a:tab pos="5999163" algn="r"/>
                <a:tab pos="7488238" algn="r"/>
              </a:tabLst>
            </a:pPr>
            <a:r>
              <a:rPr lang="en-US" sz="2000" dirty="0" err="1"/>
              <a:t>t.Cpu</a:t>
            </a:r>
            <a:r>
              <a:rPr lang="en-US" sz="2000" dirty="0"/>
              <a:t>	33	29	7200	7200</a:t>
            </a:r>
          </a:p>
          <a:p>
            <a:pPr>
              <a:spcBef>
                <a:spcPts val="1800"/>
              </a:spcBef>
              <a:tabLst>
                <a:tab pos="2514600" algn="r"/>
                <a:tab pos="4005263" algn="r"/>
                <a:tab pos="5999163" algn="r"/>
                <a:tab pos="7488238" algn="r"/>
              </a:tabLst>
            </a:pPr>
            <a:r>
              <a:rPr lang="en-US" sz="2000" dirty="0"/>
              <a:t>Allocated capacities:</a:t>
            </a:r>
          </a:p>
          <a:p>
            <a:pPr>
              <a:spcBef>
                <a:spcPts val="600"/>
              </a:spcBef>
              <a:tabLst>
                <a:tab pos="2514600" algn="r"/>
                <a:tab pos="4005263" algn="r"/>
                <a:tab pos="5999163" algn="r"/>
                <a:tab pos="7488238" algn="r"/>
              </a:tabLst>
            </a:pPr>
            <a:r>
              <a:rPr lang="en-US" sz="2000" dirty="0"/>
              <a:t>Server 0	67 / 120	119 / 120	82 / 120	116 / 120</a:t>
            </a:r>
          </a:p>
          <a:p>
            <a:pPr>
              <a:spcBef>
                <a:spcPts val="600"/>
              </a:spcBef>
              <a:tabLst>
                <a:tab pos="2514600" algn="r"/>
                <a:tab pos="4005263" algn="r"/>
                <a:tab pos="5999163" algn="r"/>
                <a:tab pos="7488238" algn="r"/>
              </a:tabLst>
            </a:pPr>
            <a:r>
              <a:rPr lang="en-US" sz="2000" dirty="0"/>
              <a:t>Server 1	571 / 1000	430 / 1000	532 / 1000	428 / 1000</a:t>
            </a:r>
          </a:p>
          <a:p>
            <a:pPr>
              <a:spcBef>
                <a:spcPts val="600"/>
              </a:spcBef>
              <a:tabLst>
                <a:tab pos="2514600" algn="r"/>
                <a:tab pos="4005263" algn="r"/>
                <a:tab pos="5999163" algn="r"/>
                <a:tab pos="7488238" algn="r"/>
              </a:tabLst>
            </a:pPr>
            <a:r>
              <a:rPr lang="en-US" sz="2000" dirty="0"/>
              <a:t>Server 2	257 / 300	</a:t>
            </a:r>
            <a:r>
              <a:rPr lang="en-US" sz="2000" b="1" dirty="0">
                <a:solidFill>
                  <a:srgbClr val="FF0000"/>
                </a:solidFill>
              </a:rPr>
              <a:t>301 / 300</a:t>
            </a:r>
            <a:r>
              <a:rPr lang="en-US" sz="2000" dirty="0"/>
              <a:t>	257 / 300	</a:t>
            </a:r>
            <a:r>
              <a:rPr lang="en-US" sz="2000" b="1" dirty="0">
                <a:solidFill>
                  <a:srgbClr val="FF0000"/>
                </a:solidFill>
              </a:rPr>
              <a:t>303 / 300</a:t>
            </a:r>
          </a:p>
          <a:p>
            <a:pPr>
              <a:spcBef>
                <a:spcPts val="600"/>
              </a:spcBef>
              <a:tabLst>
                <a:tab pos="2514600" algn="r"/>
                <a:tab pos="4005263" algn="r"/>
                <a:tab pos="5999163" algn="r"/>
                <a:tab pos="7488238" algn="r"/>
              </a:tabLst>
            </a:pPr>
            <a:r>
              <a:rPr lang="en-US" sz="2000" dirty="0"/>
              <a:t>Server 3	128 / 180	173 / 180	152 / 180	176 / 180</a:t>
            </a:r>
          </a:p>
        </p:txBody>
      </p:sp>
      <p:sp>
        <p:nvSpPr>
          <p:cNvPr id="3" name="Title 2">
            <a:extLst>
              <a:ext uri="{FF2B5EF4-FFF2-40B4-BE49-F238E27FC236}">
                <a16:creationId xmlns:a16="http://schemas.microsoft.com/office/drawing/2014/main" id="{841179C6-8DE9-937F-61D2-AA2D78DBA0D4}"/>
              </a:ext>
            </a:extLst>
          </p:cNvPr>
          <p:cNvSpPr>
            <a:spLocks noGrp="1"/>
          </p:cNvSpPr>
          <p:nvPr>
            <p:ph type="title"/>
          </p:nvPr>
        </p:nvSpPr>
        <p:spPr/>
        <p:txBody>
          <a:bodyPr/>
          <a:lstStyle/>
          <a:p>
            <a:r>
              <a:rPr lang="it-IT" dirty="0" err="1"/>
              <a:t>Results</a:t>
            </a:r>
            <a:r>
              <a:rPr lang="it-IT" dirty="0"/>
              <a:t>, </a:t>
            </a:r>
            <a:r>
              <a:rPr lang="it-IT" dirty="0" err="1"/>
              <a:t>comparison</a:t>
            </a:r>
            <a:endParaRPr lang="en-US" dirty="0"/>
          </a:p>
        </p:txBody>
      </p:sp>
      <p:sp>
        <p:nvSpPr>
          <p:cNvPr id="4" name="Footer Placeholder 3">
            <a:extLst>
              <a:ext uri="{FF2B5EF4-FFF2-40B4-BE49-F238E27FC236}">
                <a16:creationId xmlns:a16="http://schemas.microsoft.com/office/drawing/2014/main" id="{35665839-C3EC-B1E7-64EA-1D329B3E029B}"/>
              </a:ext>
            </a:extLst>
          </p:cNvPr>
          <p:cNvSpPr>
            <a:spLocks noGrp="1"/>
          </p:cNvSpPr>
          <p:nvPr>
            <p:ph type="ftr" sz="quarter" idx="3"/>
          </p:nvPr>
        </p:nvSpPr>
        <p:spPr/>
        <p:txBody>
          <a:bodyPr/>
          <a:lstStyle/>
          <a:p>
            <a:pPr>
              <a:defRPr/>
            </a:pPr>
            <a:r>
              <a:rPr lang="it-IT"/>
              <a:t>Vittorio Maniezzo - University of Bologna</a:t>
            </a:r>
            <a:endParaRPr lang="it-IT" dirty="0"/>
          </a:p>
        </p:txBody>
      </p:sp>
      <p:sp>
        <p:nvSpPr>
          <p:cNvPr id="5" name="Slide Number Placeholder 4">
            <a:extLst>
              <a:ext uri="{FF2B5EF4-FFF2-40B4-BE49-F238E27FC236}">
                <a16:creationId xmlns:a16="http://schemas.microsoft.com/office/drawing/2014/main" id="{060736A9-2FA8-4BDE-37C7-680BE7EAD63E}"/>
              </a:ext>
            </a:extLst>
          </p:cNvPr>
          <p:cNvSpPr>
            <a:spLocks noGrp="1"/>
          </p:cNvSpPr>
          <p:nvPr>
            <p:ph type="sldNum" sz="quarter" idx="4"/>
          </p:nvPr>
        </p:nvSpPr>
        <p:spPr/>
        <p:txBody>
          <a:bodyPr/>
          <a:lstStyle/>
          <a:p>
            <a:pPr>
              <a:defRPr/>
            </a:pPr>
            <a:fld id="{476DEB1C-3253-4C07-8F02-456B7B2AD41D}" type="slidenum">
              <a:rPr lang="it-IT" smtClean="0"/>
              <a:pPr>
                <a:defRPr/>
              </a:pPr>
              <a:t>22</a:t>
            </a:fld>
            <a:endParaRPr lang="it-IT" dirty="0"/>
          </a:p>
        </p:txBody>
      </p:sp>
    </p:spTree>
    <p:extLst>
      <p:ext uri="{BB962C8B-B14F-4D97-AF65-F5344CB8AC3E}">
        <p14:creationId xmlns:p14="http://schemas.microsoft.com/office/powerpoint/2010/main" val="38389623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4B4448-CAFD-B4E2-E62A-767CDB4D6C99}"/>
              </a:ext>
            </a:extLst>
          </p:cNvPr>
          <p:cNvSpPr>
            <a:spLocks noGrp="1"/>
          </p:cNvSpPr>
          <p:nvPr>
            <p:ph idx="1"/>
          </p:nvPr>
        </p:nvSpPr>
        <p:spPr>
          <a:xfrm>
            <a:off x="298912" y="1173916"/>
            <a:ext cx="8546175" cy="5259392"/>
          </a:xfrm>
        </p:spPr>
        <p:txBody>
          <a:bodyPr>
            <a:normAutofit/>
          </a:bodyPr>
          <a:lstStyle/>
          <a:p>
            <a:pPr>
              <a:spcBef>
                <a:spcPts val="1200"/>
              </a:spcBef>
            </a:pPr>
            <a:r>
              <a:rPr lang="en-US" sz="2400" dirty="0"/>
              <a:t>BESO is a framework for </a:t>
            </a:r>
            <a:r>
              <a:rPr lang="en-US" sz="2400" dirty="0">
                <a:solidFill>
                  <a:srgbClr val="C00000"/>
                </a:solidFill>
              </a:rPr>
              <a:t>deriving predictive prescriptions from relevant data series</a:t>
            </a:r>
            <a:r>
              <a:rPr lang="en-US" sz="2400" dirty="0"/>
              <a:t>. It integrates statistically grounded forecasting with scenario-based optimization by generating future scenarios via bootstrapped autoregressive time series, while </a:t>
            </a:r>
            <a:r>
              <a:rPr lang="en-US" sz="2400" dirty="0">
                <a:solidFill>
                  <a:srgbClr val="C00000"/>
                </a:solidFill>
              </a:rPr>
              <a:t>incorporating feedback from the optimization stage</a:t>
            </a:r>
            <a:r>
              <a:rPr lang="en-US" sz="2400" dirty="0"/>
              <a:t>.</a:t>
            </a:r>
          </a:p>
          <a:p>
            <a:pPr>
              <a:spcBef>
                <a:spcPts val="1200"/>
              </a:spcBef>
            </a:pPr>
            <a:r>
              <a:rPr lang="en-US" sz="2400" dirty="0">
                <a:solidFill>
                  <a:srgbClr val="C00000"/>
                </a:solidFill>
              </a:rPr>
              <a:t>Bootstrapped forecasting </a:t>
            </a:r>
            <a:r>
              <a:rPr lang="en-US" sz="2400" dirty="0"/>
              <a:t>identifies a probability distribution of future retailer requests, supporting </a:t>
            </a:r>
            <a:r>
              <a:rPr lang="en-US" sz="2400" dirty="0">
                <a:solidFill>
                  <a:srgbClr val="C00000"/>
                </a:solidFill>
              </a:rPr>
              <a:t>data-driven scenario generation </a:t>
            </a:r>
            <a:r>
              <a:rPr lang="en-US" sz="2400" dirty="0"/>
              <a:t>while considering both costs and forecast uncertainty.</a:t>
            </a:r>
          </a:p>
          <a:p>
            <a:pPr>
              <a:spcBef>
                <a:spcPts val="1200"/>
              </a:spcBef>
            </a:pPr>
            <a:r>
              <a:rPr lang="en-US" sz="2400" dirty="0"/>
              <a:t>The validity of the BESO approach </a:t>
            </a:r>
            <a:r>
              <a:rPr lang="en-US" dirty="0">
                <a:solidFill>
                  <a:srgbClr val="C00000"/>
                </a:solidFill>
              </a:rPr>
              <a:t>extends beyond the case study.</a:t>
            </a:r>
            <a:endParaRPr lang="en-US" sz="2400" dirty="0">
              <a:solidFill>
                <a:srgbClr val="C00000"/>
              </a:solidFill>
            </a:endParaRPr>
          </a:p>
          <a:p>
            <a:pPr>
              <a:spcBef>
                <a:spcPts val="1200"/>
              </a:spcBef>
            </a:pPr>
            <a:r>
              <a:rPr lang="en-US" sz="2400" dirty="0"/>
              <a:t>Integrating forecasting and optimization within a unified empirical loop enhances </a:t>
            </a:r>
            <a:r>
              <a:rPr lang="en-US" sz="2400" dirty="0">
                <a:solidFill>
                  <a:srgbClr val="C00000"/>
                </a:solidFill>
              </a:rPr>
              <a:t>stability</a:t>
            </a:r>
            <a:r>
              <a:rPr lang="en-US" sz="2400" dirty="0"/>
              <a:t>, operational </a:t>
            </a:r>
            <a:r>
              <a:rPr lang="en-US" sz="2400" dirty="0">
                <a:solidFill>
                  <a:srgbClr val="C00000"/>
                </a:solidFill>
              </a:rPr>
              <a:t>effectiveness</a:t>
            </a:r>
            <a:r>
              <a:rPr lang="en-US" sz="2400" dirty="0"/>
              <a:t> and result </a:t>
            </a:r>
            <a:r>
              <a:rPr lang="en-US" sz="2400" dirty="0">
                <a:solidFill>
                  <a:srgbClr val="C00000"/>
                </a:solidFill>
              </a:rPr>
              <a:t>justification</a:t>
            </a:r>
            <a:r>
              <a:rPr lang="en-US" sz="2400" dirty="0"/>
              <a:t>.</a:t>
            </a:r>
            <a:endParaRPr lang="it-IT" sz="2400" dirty="0"/>
          </a:p>
        </p:txBody>
      </p:sp>
      <p:sp>
        <p:nvSpPr>
          <p:cNvPr id="3" name="Title 2">
            <a:extLst>
              <a:ext uri="{FF2B5EF4-FFF2-40B4-BE49-F238E27FC236}">
                <a16:creationId xmlns:a16="http://schemas.microsoft.com/office/drawing/2014/main" id="{D04DAED7-D714-269C-7743-94197EFF4356}"/>
              </a:ext>
            </a:extLst>
          </p:cNvPr>
          <p:cNvSpPr>
            <a:spLocks noGrp="1"/>
          </p:cNvSpPr>
          <p:nvPr>
            <p:ph type="title"/>
          </p:nvPr>
        </p:nvSpPr>
        <p:spPr/>
        <p:txBody>
          <a:bodyPr/>
          <a:lstStyle/>
          <a:p>
            <a:r>
              <a:rPr lang="en-US" dirty="0"/>
              <a:t>Comments</a:t>
            </a:r>
            <a:endParaRPr lang="it-IT" dirty="0"/>
          </a:p>
        </p:txBody>
      </p:sp>
      <p:sp>
        <p:nvSpPr>
          <p:cNvPr id="4" name="Footer Placeholder 3">
            <a:extLst>
              <a:ext uri="{FF2B5EF4-FFF2-40B4-BE49-F238E27FC236}">
                <a16:creationId xmlns:a16="http://schemas.microsoft.com/office/drawing/2014/main" id="{FBD412EF-17C0-FCFB-E885-D4434F5F988E}"/>
              </a:ext>
            </a:extLst>
          </p:cNvPr>
          <p:cNvSpPr>
            <a:spLocks noGrp="1"/>
          </p:cNvSpPr>
          <p:nvPr>
            <p:ph type="ftr" sz="quarter" idx="3"/>
          </p:nvPr>
        </p:nvSpPr>
        <p:spPr/>
        <p:txBody>
          <a:bodyPr/>
          <a:lstStyle/>
          <a:p>
            <a:pPr>
              <a:defRPr/>
            </a:pPr>
            <a:r>
              <a:rPr lang="it-IT"/>
              <a:t>Vittorio Maniezzo - University of Bologna</a:t>
            </a:r>
            <a:endParaRPr lang="it-IT" dirty="0"/>
          </a:p>
        </p:txBody>
      </p:sp>
      <p:sp>
        <p:nvSpPr>
          <p:cNvPr id="5" name="Slide Number Placeholder 4">
            <a:extLst>
              <a:ext uri="{FF2B5EF4-FFF2-40B4-BE49-F238E27FC236}">
                <a16:creationId xmlns:a16="http://schemas.microsoft.com/office/drawing/2014/main" id="{29BD00F7-5AC9-C4A4-D1C3-39483C05977A}"/>
              </a:ext>
            </a:extLst>
          </p:cNvPr>
          <p:cNvSpPr>
            <a:spLocks noGrp="1"/>
          </p:cNvSpPr>
          <p:nvPr>
            <p:ph type="sldNum" sz="quarter" idx="4"/>
          </p:nvPr>
        </p:nvSpPr>
        <p:spPr/>
        <p:txBody>
          <a:bodyPr/>
          <a:lstStyle/>
          <a:p>
            <a:pPr>
              <a:defRPr/>
            </a:pPr>
            <a:fld id="{476DEB1C-3253-4C07-8F02-456B7B2AD41D}" type="slidenum">
              <a:rPr lang="it-IT" smtClean="0"/>
              <a:pPr>
                <a:defRPr/>
              </a:pPr>
              <a:t>23</a:t>
            </a:fld>
            <a:endParaRPr lang="it-IT" dirty="0"/>
          </a:p>
        </p:txBody>
      </p:sp>
    </p:spTree>
    <p:extLst>
      <p:ext uri="{BB962C8B-B14F-4D97-AF65-F5344CB8AC3E}">
        <p14:creationId xmlns:p14="http://schemas.microsoft.com/office/powerpoint/2010/main" val="23560176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197</TotalTime>
  <Words>2413</Words>
  <Application>Microsoft Office PowerPoint</Application>
  <PresentationFormat>On-screen Show (4:3)</PresentationFormat>
  <Paragraphs>204</Paragraphs>
  <Slides>23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Aptos</vt:lpstr>
      <vt:lpstr>Aptos Display</vt:lpstr>
      <vt:lpstr>Aptos Light</vt:lpstr>
      <vt:lpstr>Arial</vt:lpstr>
      <vt:lpstr>Cambria</vt:lpstr>
      <vt:lpstr>Cambria Math</vt:lpstr>
      <vt:lpstr>ManiezzoSlides</vt:lpstr>
      <vt:lpstr>Office</vt:lpstr>
      <vt:lpstr>Bootstrap Enhanced Scenario Optimization for Two-Echelon Logistics, a Case Study in Large-Scale Retail</vt:lpstr>
      <vt:lpstr>The case study</vt:lpstr>
      <vt:lpstr>The first case study</vt:lpstr>
      <vt:lpstr>DRO</vt:lpstr>
      <vt:lpstr>SAA and SPO</vt:lpstr>
      <vt:lpstr>Toward a formulation</vt:lpstr>
      <vt:lpstr>Deterministic allocation</vt:lpstr>
      <vt:lpstr>Stochastic allocation</vt:lpstr>
      <vt:lpstr>Scenario-based</vt:lpstr>
      <vt:lpstr>Prewhitening</vt:lpstr>
      <vt:lpstr>Recoloring</vt:lpstr>
      <vt:lpstr>Bootstrapping time series</vt:lpstr>
      <vt:lpstr>Bootstrapping</vt:lpstr>
      <vt:lpstr>Maximum entropy bootstrap</vt:lpstr>
      <vt:lpstr>Objective-Augmented Maximum Entropy Bootstrap (OA-MEB)</vt:lpstr>
      <vt:lpstr>BESO: Bootstrapped Enhanced Scenario Optimization</vt:lpstr>
      <vt:lpstr>Forecasts</vt:lpstr>
      <vt:lpstr>Results, forecasts</vt:lpstr>
      <vt:lpstr>Results, forecasts</vt:lpstr>
      <vt:lpstr>Results, optimization</vt:lpstr>
      <vt:lpstr>Results, comparison</vt:lpstr>
      <vt:lpstr>Results, comparison</vt:lpstr>
      <vt:lpstr>Comments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Caroline Tomanik</dc:creator>
  <cp:lastModifiedBy>Vittorio Maniezzo</cp:lastModifiedBy>
  <cp:revision>44</cp:revision>
  <dcterms:created xsi:type="dcterms:W3CDTF">2026-06-03T06:14:07Z</dcterms:created>
  <dcterms:modified xsi:type="dcterms:W3CDTF">2026-07-14T16:55:31Z</dcterms:modified>
</cp:coreProperties>
</file>
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309" r:id="rId3"/>
    <p:sldId id="269" r:id="rId4"/>
    <p:sldId id="316" r:id="rId5"/>
    <p:sldId id="270" r:id="rId6"/>
    <p:sldId id="257" r:id="rId7"/>
    <p:sldId id="319" r:id="rId8"/>
    <p:sldId id="267" r:id="rId9"/>
    <p:sldId id="273" r:id="rId10"/>
    <p:sldId id="274" r:id="rId11"/>
    <p:sldId id="322" r:id="rId12"/>
    <p:sldId id="323" r:id="rId13"/>
    <p:sldId id="271" r:id="rId14"/>
    <p:sldId id="275" r:id="rId15"/>
    <p:sldId id="276" r:id="rId16"/>
    <p:sldId id="324" r:id="rId17"/>
    <p:sldId id="278" r:id="rId18"/>
    <p:sldId id="277" r:id="rId19"/>
    <p:sldId id="259" r:id="rId20"/>
    <p:sldId id="265" r:id="rId21"/>
    <p:sldId id="266" r:id="rId22"/>
    <p:sldId id="280" r:id="rId23"/>
    <p:sldId id="279" r:id="rId24"/>
    <p:sldId id="260" r:id="rId25"/>
  </p:sldIdLst>
  <p:sldSz cx="9144000" cy="6858000" type="screen4x3"/>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107"/>
    <p:restoredTop sz="90629" autoAdjust="0"/>
  </p:normalViewPr>
  <p:slideViewPr>
    <p:cSldViewPr snapToGrid="0">
      <p:cViewPr varScale="1">
        <p:scale>
          <a:sx n="79" d="100"/>
          <a:sy n="79" d="100"/>
        </p:scale>
        <p:origin x="1147"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oleObject" Target="Book2"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Sales used cars</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0"/>
          <c:order val="0"/>
          <c:spPr>
            <a:ln w="28575" cap="rnd">
              <a:solidFill>
                <a:schemeClr val="accent1"/>
              </a:solidFill>
              <a:round/>
            </a:ln>
            <a:effectLst/>
          </c:spPr>
          <c:marker>
            <c:symbol val="none"/>
          </c:marker>
          <c:trendline>
            <c:spPr>
              <a:ln w="19050" cap="rnd">
                <a:solidFill>
                  <a:schemeClr val="accent1"/>
                </a:solidFill>
                <a:prstDash val="sysDot"/>
              </a:ln>
              <a:effectLst/>
            </c:spPr>
            <c:trendlineType val="linear"/>
            <c:dispRSqr val="0"/>
            <c:dispEq val="0"/>
          </c:trendline>
          <c:trendline>
            <c:spPr>
              <a:ln w="34925" cap="rnd">
                <a:solidFill>
                  <a:srgbClr val="FF0000"/>
                </a:solidFill>
                <a:prstDash val="sysDot"/>
              </a:ln>
              <a:effectLst/>
            </c:spPr>
            <c:trendlineType val="linear"/>
            <c:dispRSqr val="0"/>
            <c:dispEq val="0"/>
          </c:trendline>
          <c:val>
            <c:numRef>
              <c:f>Sheet1!$B$1:$B$84</c:f>
              <c:numCache>
                <c:formatCode>General</c:formatCode>
                <c:ptCount val="84"/>
                <c:pt idx="0">
                  <c:v>6766</c:v>
                </c:pt>
                <c:pt idx="1">
                  <c:v>8397</c:v>
                </c:pt>
                <c:pt idx="2">
                  <c:v>8250</c:v>
                </c:pt>
                <c:pt idx="3">
                  <c:v>7411</c:v>
                </c:pt>
                <c:pt idx="4">
                  <c:v>7190</c:v>
                </c:pt>
                <c:pt idx="5">
                  <c:v>6970</c:v>
                </c:pt>
                <c:pt idx="6">
                  <c:v>6963</c:v>
                </c:pt>
                <c:pt idx="7">
                  <c:v>7269</c:v>
                </c:pt>
                <c:pt idx="8">
                  <c:v>6243</c:v>
                </c:pt>
                <c:pt idx="9">
                  <c:v>6682</c:v>
                </c:pt>
                <c:pt idx="10">
                  <c:v>6183</c:v>
                </c:pt>
                <c:pt idx="11">
                  <c:v>5592</c:v>
                </c:pt>
                <c:pt idx="12">
                  <c:v>6065</c:v>
                </c:pt>
                <c:pt idx="13">
                  <c:v>8022</c:v>
                </c:pt>
                <c:pt idx="14">
                  <c:v>8564</c:v>
                </c:pt>
                <c:pt idx="15">
                  <c:v>7601</c:v>
                </c:pt>
                <c:pt idx="16">
                  <c:v>7695</c:v>
                </c:pt>
                <c:pt idx="17">
                  <c:v>7542</c:v>
                </c:pt>
                <c:pt idx="18">
                  <c:v>7657</c:v>
                </c:pt>
                <c:pt idx="19">
                  <c:v>7936</c:v>
                </c:pt>
                <c:pt idx="20">
                  <c:v>7584</c:v>
                </c:pt>
                <c:pt idx="21">
                  <c:v>7933</c:v>
                </c:pt>
                <c:pt idx="22">
                  <c:v>6822</c:v>
                </c:pt>
                <c:pt idx="23">
                  <c:v>7003</c:v>
                </c:pt>
                <c:pt idx="24">
                  <c:v>7435</c:v>
                </c:pt>
                <c:pt idx="25">
                  <c:v>9092</c:v>
                </c:pt>
                <c:pt idx="26">
                  <c:v>9331</c:v>
                </c:pt>
                <c:pt idx="27">
                  <c:v>8969</c:v>
                </c:pt>
                <c:pt idx="28">
                  <c:v>8544</c:v>
                </c:pt>
                <c:pt idx="29">
                  <c:v>8337</c:v>
                </c:pt>
                <c:pt idx="30">
                  <c:v>8377</c:v>
                </c:pt>
                <c:pt idx="31">
                  <c:v>8353</c:v>
                </c:pt>
                <c:pt idx="32">
                  <c:v>7689</c:v>
                </c:pt>
                <c:pt idx="33">
                  <c:v>7911</c:v>
                </c:pt>
                <c:pt idx="34">
                  <c:v>7193</c:v>
                </c:pt>
                <c:pt idx="35">
                  <c:v>7099</c:v>
                </c:pt>
                <c:pt idx="36">
                  <c:v>7638</c:v>
                </c:pt>
                <c:pt idx="37">
                  <c:v>10269</c:v>
                </c:pt>
                <c:pt idx="38">
                  <c:v>9947</c:v>
                </c:pt>
                <c:pt idx="39">
                  <c:v>9093</c:v>
                </c:pt>
                <c:pt idx="40">
                  <c:v>8490</c:v>
                </c:pt>
                <c:pt idx="41">
                  <c:v>8896</c:v>
                </c:pt>
                <c:pt idx="42">
                  <c:v>8743</c:v>
                </c:pt>
                <c:pt idx="43">
                  <c:v>9287</c:v>
                </c:pt>
                <c:pt idx="44">
                  <c:v>8421</c:v>
                </c:pt>
                <c:pt idx="45">
                  <c:v>8792</c:v>
                </c:pt>
                <c:pt idx="46">
                  <c:v>7864</c:v>
                </c:pt>
                <c:pt idx="47">
                  <c:v>8465</c:v>
                </c:pt>
                <c:pt idx="48">
                  <c:v>8497</c:v>
                </c:pt>
                <c:pt idx="49">
                  <c:v>9598</c:v>
                </c:pt>
                <c:pt idx="50">
                  <c:v>10955</c:v>
                </c:pt>
                <c:pt idx="51">
                  <c:v>9237</c:v>
                </c:pt>
                <c:pt idx="52">
                  <c:v>9726</c:v>
                </c:pt>
                <c:pt idx="53">
                  <c:v>9778</c:v>
                </c:pt>
                <c:pt idx="54">
                  <c:v>9527</c:v>
                </c:pt>
                <c:pt idx="55">
                  <c:v>9632</c:v>
                </c:pt>
                <c:pt idx="56">
                  <c:v>9265</c:v>
                </c:pt>
                <c:pt idx="57">
                  <c:v>9139</c:v>
                </c:pt>
                <c:pt idx="58">
                  <c:v>8594</c:v>
                </c:pt>
                <c:pt idx="59">
                  <c:v>8226</c:v>
                </c:pt>
                <c:pt idx="60">
                  <c:v>8836</c:v>
                </c:pt>
                <c:pt idx="61">
                  <c:v>9923</c:v>
                </c:pt>
                <c:pt idx="62">
                  <c:v>11259</c:v>
                </c:pt>
                <c:pt idx="63">
                  <c:v>9543</c:v>
                </c:pt>
                <c:pt idx="64">
                  <c:v>10096</c:v>
                </c:pt>
                <c:pt idx="65">
                  <c:v>9777</c:v>
                </c:pt>
                <c:pt idx="66">
                  <c:v>9788</c:v>
                </c:pt>
                <c:pt idx="67">
                  <c:v>10081</c:v>
                </c:pt>
                <c:pt idx="68">
                  <c:v>8951</c:v>
                </c:pt>
                <c:pt idx="69">
                  <c:v>9104</c:v>
                </c:pt>
                <c:pt idx="70">
                  <c:v>8656</c:v>
                </c:pt>
                <c:pt idx="71">
                  <c:v>8376</c:v>
                </c:pt>
                <c:pt idx="72">
                  <c:v>8828</c:v>
                </c:pt>
                <c:pt idx="73">
                  <c:v>9675</c:v>
                </c:pt>
                <c:pt idx="74">
                  <c:v>11856</c:v>
                </c:pt>
                <c:pt idx="75">
                  <c:v>10345</c:v>
                </c:pt>
                <c:pt idx="76">
                  <c:v>10549</c:v>
                </c:pt>
                <c:pt idx="77">
                  <c:v>10078</c:v>
                </c:pt>
                <c:pt idx="78">
                  <c:v>10255</c:v>
                </c:pt>
                <c:pt idx="79">
                  <c:v>10357</c:v>
                </c:pt>
                <c:pt idx="80">
                  <c:v>9404</c:v>
                </c:pt>
                <c:pt idx="81">
                  <c:v>9696</c:v>
                </c:pt>
                <c:pt idx="82">
                  <c:v>9355</c:v>
                </c:pt>
                <c:pt idx="83">
                  <c:v>8669</c:v>
                </c:pt>
              </c:numCache>
            </c:numRef>
          </c:val>
          <c:smooth val="0"/>
          <c:extLst>
            <c:ext xmlns:c16="http://schemas.microsoft.com/office/drawing/2014/chart" uri="{C3380CC4-5D6E-409C-BE32-E72D297353CC}">
              <c16:uniqueId val="{00000002-82A9-43B2-BECA-98F555A6ABD6}"/>
            </c:ext>
          </c:extLst>
        </c:ser>
        <c:dLbls>
          <c:showLegendKey val="0"/>
          <c:showVal val="0"/>
          <c:showCatName val="0"/>
          <c:showSerName val="0"/>
          <c:showPercent val="0"/>
          <c:showBubbleSize val="0"/>
        </c:dLbls>
        <c:smooth val="0"/>
        <c:axId val="1032261408"/>
        <c:axId val="1032265152"/>
      </c:lineChart>
      <c:catAx>
        <c:axId val="103226140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32265152"/>
        <c:crosses val="autoZero"/>
        <c:auto val="1"/>
        <c:lblAlgn val="ctr"/>
        <c:lblOffset val="100"/>
        <c:tickLblSkip val="6"/>
        <c:tickMarkSkip val="1"/>
        <c:noMultiLvlLbl val="0"/>
      </c:catAx>
      <c:valAx>
        <c:axId val="103226515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3226140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Detrended</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0"/>
          <c:order val="0"/>
          <c:spPr>
            <a:ln w="28575" cap="rnd">
              <a:solidFill>
                <a:schemeClr val="accent2"/>
              </a:solidFill>
              <a:round/>
            </a:ln>
            <a:effectLst/>
          </c:spPr>
          <c:marker>
            <c:symbol val="none"/>
          </c:marker>
          <c:val>
            <c:numRef>
              <c:f>Sheet1!$A$20:$A$103</c:f>
              <c:numCache>
                <c:formatCode>General</c:formatCode>
                <c:ptCount val="84"/>
                <c:pt idx="0">
                  <c:v>-252</c:v>
                </c:pt>
                <c:pt idx="1">
                  <c:v>1340</c:v>
                </c:pt>
                <c:pt idx="2">
                  <c:v>1155</c:v>
                </c:pt>
                <c:pt idx="3">
                  <c:v>277</c:v>
                </c:pt>
                <c:pt idx="4">
                  <c:v>17</c:v>
                </c:pt>
                <c:pt idx="5">
                  <c:v>-241</c:v>
                </c:pt>
                <c:pt idx="6">
                  <c:v>-287</c:v>
                </c:pt>
                <c:pt idx="7">
                  <c:v>180</c:v>
                </c:pt>
                <c:pt idx="8">
                  <c:v>-684</c:v>
                </c:pt>
                <c:pt idx="9">
                  <c:v>-284</c:v>
                </c:pt>
                <c:pt idx="10">
                  <c:v>-821</c:v>
                </c:pt>
                <c:pt idx="11">
                  <c:v>-1251</c:v>
                </c:pt>
                <c:pt idx="12">
                  <c:v>-817</c:v>
                </c:pt>
                <c:pt idx="13">
                  <c:v>502</c:v>
                </c:pt>
                <c:pt idx="14">
                  <c:v>1005</c:v>
                </c:pt>
                <c:pt idx="15">
                  <c:v>3</c:v>
                </c:pt>
                <c:pt idx="16">
                  <c:v>59</c:v>
                </c:pt>
                <c:pt idx="17">
                  <c:v>-133</c:v>
                </c:pt>
                <c:pt idx="18">
                  <c:v>-57</c:v>
                </c:pt>
                <c:pt idx="19">
                  <c:v>184</c:v>
                </c:pt>
                <c:pt idx="20">
                  <c:v>-207</c:v>
                </c:pt>
                <c:pt idx="21">
                  <c:v>104</c:v>
                </c:pt>
                <c:pt idx="22">
                  <c:v>-1046</c:v>
                </c:pt>
                <c:pt idx="23">
                  <c:v>-904</c:v>
                </c:pt>
                <c:pt idx="24">
                  <c:v>-510</c:v>
                </c:pt>
                <c:pt idx="25">
                  <c:v>1108</c:v>
                </c:pt>
                <c:pt idx="26">
                  <c:v>1308</c:v>
                </c:pt>
                <c:pt idx="27">
                  <c:v>908</c:v>
                </c:pt>
                <c:pt idx="28">
                  <c:v>444</c:v>
                </c:pt>
                <c:pt idx="29">
                  <c:v>198</c:v>
                </c:pt>
                <c:pt idx="30">
                  <c:v>200</c:v>
                </c:pt>
                <c:pt idx="31">
                  <c:v>137</c:v>
                </c:pt>
                <c:pt idx="32">
                  <c:v>-565</c:v>
                </c:pt>
                <c:pt idx="33">
                  <c:v>-382</c:v>
                </c:pt>
                <c:pt idx="34">
                  <c:v>-1139</c:v>
                </c:pt>
                <c:pt idx="35">
                  <c:v>-1271</c:v>
                </c:pt>
                <c:pt idx="36">
                  <c:v>-771</c:v>
                </c:pt>
                <c:pt idx="37">
                  <c:v>1821</c:v>
                </c:pt>
                <c:pt idx="38">
                  <c:v>1461</c:v>
                </c:pt>
                <c:pt idx="39">
                  <c:v>568</c:v>
                </c:pt>
                <c:pt idx="40">
                  <c:v>-74</c:v>
                </c:pt>
                <c:pt idx="41">
                  <c:v>294</c:v>
                </c:pt>
                <c:pt idx="42">
                  <c:v>102</c:v>
                </c:pt>
                <c:pt idx="43">
                  <c:v>608</c:v>
                </c:pt>
                <c:pt idx="44">
                  <c:v>-297</c:v>
                </c:pt>
                <c:pt idx="45">
                  <c:v>35</c:v>
                </c:pt>
                <c:pt idx="46">
                  <c:v>-931</c:v>
                </c:pt>
                <c:pt idx="47">
                  <c:v>-369</c:v>
                </c:pt>
                <c:pt idx="48">
                  <c:v>-376</c:v>
                </c:pt>
                <c:pt idx="49">
                  <c:v>687</c:v>
                </c:pt>
                <c:pt idx="50">
                  <c:v>2005</c:v>
                </c:pt>
                <c:pt idx="51">
                  <c:v>248</c:v>
                </c:pt>
                <c:pt idx="52">
                  <c:v>699</c:v>
                </c:pt>
                <c:pt idx="53">
                  <c:v>712</c:v>
                </c:pt>
                <c:pt idx="54">
                  <c:v>423</c:v>
                </c:pt>
                <c:pt idx="55">
                  <c:v>489</c:v>
                </c:pt>
                <c:pt idx="56">
                  <c:v>83</c:v>
                </c:pt>
                <c:pt idx="57">
                  <c:v>-81</c:v>
                </c:pt>
                <c:pt idx="58">
                  <c:v>-665</c:v>
                </c:pt>
                <c:pt idx="59">
                  <c:v>-1072</c:v>
                </c:pt>
                <c:pt idx="60">
                  <c:v>-500</c:v>
                </c:pt>
                <c:pt idx="61">
                  <c:v>548</c:v>
                </c:pt>
                <c:pt idx="62">
                  <c:v>1845</c:v>
                </c:pt>
                <c:pt idx="63">
                  <c:v>91</c:v>
                </c:pt>
                <c:pt idx="64">
                  <c:v>605</c:v>
                </c:pt>
                <c:pt idx="65">
                  <c:v>248</c:v>
                </c:pt>
                <c:pt idx="66">
                  <c:v>220</c:v>
                </c:pt>
                <c:pt idx="67">
                  <c:v>474</c:v>
                </c:pt>
                <c:pt idx="68">
                  <c:v>-694</c:v>
                </c:pt>
                <c:pt idx="69">
                  <c:v>-580</c:v>
                </c:pt>
                <c:pt idx="70">
                  <c:v>-1067</c:v>
                </c:pt>
                <c:pt idx="71">
                  <c:v>-1385</c:v>
                </c:pt>
                <c:pt idx="72">
                  <c:v>-972</c:v>
                </c:pt>
                <c:pt idx="73">
                  <c:v>-164</c:v>
                </c:pt>
                <c:pt idx="74">
                  <c:v>1979</c:v>
                </c:pt>
                <c:pt idx="75">
                  <c:v>429</c:v>
                </c:pt>
                <c:pt idx="76">
                  <c:v>595</c:v>
                </c:pt>
                <c:pt idx="77">
                  <c:v>85</c:v>
                </c:pt>
                <c:pt idx="78">
                  <c:v>223</c:v>
                </c:pt>
                <c:pt idx="79">
                  <c:v>287</c:v>
                </c:pt>
                <c:pt idx="80">
                  <c:v>-705</c:v>
                </c:pt>
                <c:pt idx="81">
                  <c:v>-452</c:v>
                </c:pt>
                <c:pt idx="82">
                  <c:v>-831</c:v>
                </c:pt>
                <c:pt idx="83">
                  <c:v>-1556</c:v>
                </c:pt>
              </c:numCache>
            </c:numRef>
          </c:val>
          <c:smooth val="0"/>
          <c:extLst>
            <c:ext xmlns:c16="http://schemas.microsoft.com/office/drawing/2014/chart" uri="{C3380CC4-5D6E-409C-BE32-E72D297353CC}">
              <c16:uniqueId val="{00000000-68A1-42A6-A815-9476985037F5}"/>
            </c:ext>
          </c:extLst>
        </c:ser>
        <c:dLbls>
          <c:showLegendKey val="0"/>
          <c:showVal val="0"/>
          <c:showCatName val="0"/>
          <c:showSerName val="0"/>
          <c:showPercent val="0"/>
          <c:showBubbleSize val="0"/>
        </c:dLbls>
        <c:smooth val="0"/>
        <c:axId val="1030017088"/>
        <c:axId val="1030013760"/>
      </c:lineChart>
      <c:catAx>
        <c:axId val="1030017088"/>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30013760"/>
        <c:crosses val="autoZero"/>
        <c:auto val="1"/>
        <c:lblAlgn val="ctr"/>
        <c:lblOffset val="100"/>
        <c:tickLblSkip val="6"/>
        <c:noMultiLvlLbl val="0"/>
      </c:catAx>
      <c:valAx>
        <c:axId val="103001376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3001708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w="9525" cap="flat" cmpd="sng" algn="ctr">
      <a:noFill/>
      <a:round/>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Deseasonalized</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0"/>
          <c:order val="0"/>
          <c:spPr>
            <a:ln w="28575" cap="rnd">
              <a:solidFill>
                <a:schemeClr val="accent4">
                  <a:lumMod val="75000"/>
                </a:schemeClr>
              </a:solidFill>
              <a:round/>
            </a:ln>
            <a:effectLst/>
          </c:spPr>
          <c:marker>
            <c:symbol val="none"/>
          </c:marker>
          <c:val>
            <c:numRef>
              <c:f>Sheet1!$E$23:$E$106</c:f>
              <c:numCache>
                <c:formatCode>General</c:formatCode>
                <c:ptCount val="84"/>
                <c:pt idx="0">
                  <c:v>433</c:v>
                </c:pt>
                <c:pt idx="1">
                  <c:v>506</c:v>
                </c:pt>
                <c:pt idx="2">
                  <c:v>-382</c:v>
                </c:pt>
                <c:pt idx="3">
                  <c:v>-84</c:v>
                </c:pt>
                <c:pt idx="4">
                  <c:v>-318</c:v>
                </c:pt>
                <c:pt idx="5">
                  <c:v>-407</c:v>
                </c:pt>
                <c:pt idx="6">
                  <c:v>-405</c:v>
                </c:pt>
                <c:pt idx="7">
                  <c:v>-128</c:v>
                </c:pt>
                <c:pt idx="8">
                  <c:v>-189</c:v>
                </c:pt>
                <c:pt idx="9">
                  <c:v>8</c:v>
                </c:pt>
                <c:pt idx="10">
                  <c:v>164</c:v>
                </c:pt>
                <c:pt idx="11">
                  <c:v>-50</c:v>
                </c:pt>
                <c:pt idx="12">
                  <c:v>-131</c:v>
                </c:pt>
                <c:pt idx="13">
                  <c:v>-333</c:v>
                </c:pt>
                <c:pt idx="14">
                  <c:v>-532</c:v>
                </c:pt>
                <c:pt idx="15">
                  <c:v>-357</c:v>
                </c:pt>
                <c:pt idx="16">
                  <c:v>-276</c:v>
                </c:pt>
                <c:pt idx="17">
                  <c:v>-299</c:v>
                </c:pt>
                <c:pt idx="18">
                  <c:v>-174</c:v>
                </c:pt>
                <c:pt idx="19">
                  <c:v>-125</c:v>
                </c:pt>
                <c:pt idx="20">
                  <c:v>289</c:v>
                </c:pt>
                <c:pt idx="21">
                  <c:v>395</c:v>
                </c:pt>
                <c:pt idx="22">
                  <c:v>-60</c:v>
                </c:pt>
                <c:pt idx="23">
                  <c:v>297</c:v>
                </c:pt>
                <c:pt idx="24">
                  <c:v>175</c:v>
                </c:pt>
                <c:pt idx="25">
                  <c:v>273</c:v>
                </c:pt>
                <c:pt idx="26">
                  <c:v>-229</c:v>
                </c:pt>
                <c:pt idx="27">
                  <c:v>547</c:v>
                </c:pt>
                <c:pt idx="28">
                  <c:v>109</c:v>
                </c:pt>
                <c:pt idx="29">
                  <c:v>32</c:v>
                </c:pt>
                <c:pt idx="30">
                  <c:v>82</c:v>
                </c:pt>
                <c:pt idx="31">
                  <c:v>-171</c:v>
                </c:pt>
                <c:pt idx="32">
                  <c:v>-70</c:v>
                </c:pt>
                <c:pt idx="33">
                  <c:v>-91</c:v>
                </c:pt>
                <c:pt idx="34">
                  <c:v>-153</c:v>
                </c:pt>
                <c:pt idx="35">
                  <c:v>-70</c:v>
                </c:pt>
                <c:pt idx="36">
                  <c:v>-86</c:v>
                </c:pt>
                <c:pt idx="37">
                  <c:v>987</c:v>
                </c:pt>
                <c:pt idx="38">
                  <c:v>-76</c:v>
                </c:pt>
                <c:pt idx="39">
                  <c:v>207</c:v>
                </c:pt>
                <c:pt idx="40">
                  <c:v>-409</c:v>
                </c:pt>
                <c:pt idx="41">
                  <c:v>128</c:v>
                </c:pt>
                <c:pt idx="42">
                  <c:v>-16</c:v>
                </c:pt>
                <c:pt idx="43">
                  <c:v>299</c:v>
                </c:pt>
                <c:pt idx="44">
                  <c:v>199</c:v>
                </c:pt>
                <c:pt idx="45">
                  <c:v>327</c:v>
                </c:pt>
                <c:pt idx="46">
                  <c:v>54</c:v>
                </c:pt>
                <c:pt idx="47">
                  <c:v>832</c:v>
                </c:pt>
                <c:pt idx="48">
                  <c:v>310</c:v>
                </c:pt>
                <c:pt idx="49">
                  <c:v>-148</c:v>
                </c:pt>
                <c:pt idx="50">
                  <c:v>468</c:v>
                </c:pt>
                <c:pt idx="51">
                  <c:v>-112</c:v>
                </c:pt>
                <c:pt idx="52">
                  <c:v>364</c:v>
                </c:pt>
                <c:pt idx="53">
                  <c:v>546</c:v>
                </c:pt>
                <c:pt idx="54">
                  <c:v>305</c:v>
                </c:pt>
                <c:pt idx="55">
                  <c:v>181</c:v>
                </c:pt>
                <c:pt idx="56">
                  <c:v>579</c:v>
                </c:pt>
                <c:pt idx="57">
                  <c:v>210</c:v>
                </c:pt>
                <c:pt idx="58">
                  <c:v>321</c:v>
                </c:pt>
                <c:pt idx="59">
                  <c:v>130</c:v>
                </c:pt>
                <c:pt idx="60">
                  <c:v>185</c:v>
                </c:pt>
                <c:pt idx="61">
                  <c:v>-287</c:v>
                </c:pt>
                <c:pt idx="62">
                  <c:v>309</c:v>
                </c:pt>
                <c:pt idx="63">
                  <c:v>-270</c:v>
                </c:pt>
                <c:pt idx="64">
                  <c:v>270</c:v>
                </c:pt>
                <c:pt idx="65">
                  <c:v>81</c:v>
                </c:pt>
                <c:pt idx="66">
                  <c:v>102</c:v>
                </c:pt>
                <c:pt idx="67">
                  <c:v>166</c:v>
                </c:pt>
                <c:pt idx="68">
                  <c:v>-199</c:v>
                </c:pt>
                <c:pt idx="69">
                  <c:v>-289</c:v>
                </c:pt>
                <c:pt idx="70">
                  <c:v>-81</c:v>
                </c:pt>
                <c:pt idx="71">
                  <c:v>-184</c:v>
                </c:pt>
                <c:pt idx="72">
                  <c:v>-286</c:v>
                </c:pt>
                <c:pt idx="73">
                  <c:v>-998</c:v>
                </c:pt>
                <c:pt idx="74">
                  <c:v>442</c:v>
                </c:pt>
                <c:pt idx="75">
                  <c:v>69</c:v>
                </c:pt>
                <c:pt idx="76">
                  <c:v>260</c:v>
                </c:pt>
                <c:pt idx="77">
                  <c:v>-81</c:v>
                </c:pt>
                <c:pt idx="78">
                  <c:v>106</c:v>
                </c:pt>
                <c:pt idx="79">
                  <c:v>-22</c:v>
                </c:pt>
                <c:pt idx="80">
                  <c:v>-209</c:v>
                </c:pt>
                <c:pt idx="81">
                  <c:v>-160</c:v>
                </c:pt>
                <c:pt idx="82">
                  <c:v>155</c:v>
                </c:pt>
                <c:pt idx="83">
                  <c:v>-355</c:v>
                </c:pt>
              </c:numCache>
            </c:numRef>
          </c:val>
          <c:smooth val="0"/>
          <c:extLst>
            <c:ext xmlns:c16="http://schemas.microsoft.com/office/drawing/2014/chart" uri="{C3380CC4-5D6E-409C-BE32-E72D297353CC}">
              <c16:uniqueId val="{00000000-866C-4F33-8D44-4AF0BA7AD9F7}"/>
            </c:ext>
          </c:extLst>
        </c:ser>
        <c:dLbls>
          <c:showLegendKey val="0"/>
          <c:showVal val="0"/>
          <c:showCatName val="0"/>
          <c:showSerName val="0"/>
          <c:showPercent val="0"/>
          <c:showBubbleSize val="0"/>
        </c:dLbls>
        <c:smooth val="0"/>
        <c:axId val="1158891040"/>
        <c:axId val="1158892288"/>
      </c:lineChart>
      <c:catAx>
        <c:axId val="1158891040"/>
        <c:scaling>
          <c:orientation val="minMax"/>
        </c:scaling>
        <c:delete val="0"/>
        <c:axPos val="b"/>
        <c:majorTickMark val="none"/>
        <c:minorTickMark val="none"/>
        <c:tickLblPos val="nextTo"/>
        <c:spPr>
          <a:noFill/>
          <a:ln w="9525" cap="flat" cmpd="sng" algn="ctr">
            <a:solidFill>
              <a:schemeClr val="accent4">
                <a:lumMod val="75000"/>
                <a:alpha val="97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58892288"/>
        <c:crosses val="autoZero"/>
        <c:auto val="1"/>
        <c:lblAlgn val="ctr"/>
        <c:lblOffset val="100"/>
        <c:tickLblSkip val="6"/>
        <c:noMultiLvlLbl val="0"/>
      </c:catAx>
      <c:valAx>
        <c:axId val="115889228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5889104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5DD9C5C-F734-49FB-9555-DBE4167895A5}" type="datetimeFigureOut">
              <a:rPr lang="en-US" smtClean="0"/>
              <a:t>7/11/2026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5461D91-AE8F-4064-8D61-C2DD71587563}" type="slidenum">
              <a:rPr lang="en-US" smtClean="0"/>
              <a:t>‹#›</a:t>
            </a:fld>
            <a:endParaRPr lang="en-US"/>
          </a:p>
        </p:txBody>
      </p:sp>
    </p:spTree>
    <p:extLst>
      <p:ext uri="{BB962C8B-B14F-4D97-AF65-F5344CB8AC3E}">
        <p14:creationId xmlns:p14="http://schemas.microsoft.com/office/powerpoint/2010/main" val="25831234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sz="1200" b="0" i="0" u="none" strike="noStrike" baseline="0" dirty="0"/>
              <a:t>Robust optimization proposes a deterministic reformulation considering worst-case outcomes within a defined uncertainty set. </a:t>
            </a:r>
          </a:p>
          <a:p>
            <a:pPr algn="l"/>
            <a:r>
              <a:rPr lang="en-US" sz="1200" b="0" i="0" u="none" strike="noStrike" baseline="0" dirty="0"/>
              <a:t>Distributionally Robust Optimization (DRO) seeks a solution most resilient against the worst-case probability distribution for uncertain parameters, typically within an ambiguity set.</a:t>
            </a:r>
          </a:p>
          <a:p>
            <a:pPr algn="l"/>
            <a:r>
              <a:rPr lang="en-US" sz="1200" b="0" i="0" u="none" strike="noStrike" baseline="0" dirty="0"/>
              <a:t>The ambiguity set (U) in DRO is a set of probability distributions that the true, unknown distribution of the uncertain parameters is assumed to belong to. </a:t>
            </a:r>
          </a:p>
          <a:p>
            <a:pPr algn="l"/>
            <a:r>
              <a:rPr lang="en-US" sz="1200" b="0" i="0" u="none" strike="noStrike" baseline="0" dirty="0"/>
              <a:t>The core of DRO is to optimize the worst-case performance over all distributions within this set.</a:t>
            </a:r>
          </a:p>
          <a:p>
            <a:pPr algn="l"/>
            <a:r>
              <a:rPr lang="en-US" sz="1200" b="0" i="0" u="none" strike="noStrike" baseline="0" dirty="0"/>
              <a:t>Mainstream DRO approaches define this ambiguity set in different ways. </a:t>
            </a:r>
          </a:p>
          <a:p>
            <a:r>
              <a:rPr lang="en-US" sz="1200" dirty="0"/>
              <a:t>Delage and Ye (2010) define the set based on known moment constraints (e.g., bounds on the mean and covariance) of the uncertain parameters. This methodology provides strong theoretical guarantees but requires the designer to make choices on the ambiguity set’s structure and size.</a:t>
            </a:r>
            <a:endParaRPr lang="en-US" dirty="0"/>
          </a:p>
          <a:p>
            <a:r>
              <a:rPr lang="en-US" sz="1200" dirty="0"/>
              <a:t>Ben-Tal et al. (2013) </a:t>
            </a:r>
            <a:r>
              <a:rPr lang="en-US" sz="1200" b="0" i="0" u="none" strike="noStrike" baseline="0" dirty="0"/>
              <a:t>utilize specific discrepancy measures to construct an ambiguity set centered around the empirical distribution, such as those based on the ϕ-divergence (or f-divergence).</a:t>
            </a:r>
          </a:p>
          <a:p>
            <a:pPr algn="l"/>
            <a:r>
              <a:rPr lang="en-US" sz="1200" b="0" i="0" u="none" strike="noStrike" baseline="0" dirty="0" err="1"/>
              <a:t>Esfahani</a:t>
            </a:r>
            <a:r>
              <a:rPr lang="en-US" sz="1200" b="0" i="0" u="none" strike="noStrike" baseline="0" dirty="0"/>
              <a:t> and Kuhn (2018) define the ambiguity set as a Wasserstein ball around the empirical distribution, yielding tractable convex (often linear) reformulations</a:t>
            </a:r>
          </a:p>
          <a:p>
            <a:endParaRPr lang="en-US" dirty="0"/>
          </a:p>
        </p:txBody>
      </p:sp>
      <p:sp>
        <p:nvSpPr>
          <p:cNvPr id="4" name="Slide Number Placeholder 3"/>
          <p:cNvSpPr>
            <a:spLocks noGrp="1"/>
          </p:cNvSpPr>
          <p:nvPr>
            <p:ph type="sldNum" sz="quarter" idx="5"/>
          </p:nvPr>
        </p:nvSpPr>
        <p:spPr/>
        <p:txBody>
          <a:bodyPr/>
          <a:lstStyle/>
          <a:p>
            <a:fld id="{25461D91-AE8F-4064-8D61-C2DD71587563}" type="slidenum">
              <a:rPr lang="en-US" smtClean="0"/>
              <a:t>4</a:t>
            </a:fld>
            <a:endParaRPr lang="en-US"/>
          </a:p>
        </p:txBody>
      </p:sp>
    </p:spTree>
    <p:extLst>
      <p:ext uri="{BB962C8B-B14F-4D97-AF65-F5344CB8AC3E}">
        <p14:creationId xmlns:p14="http://schemas.microsoft.com/office/powerpoint/2010/main" val="6725613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The identification of stochastic variable distributions is a critical challenge.</a:t>
            </a:r>
          </a:p>
          <a:p>
            <a:r>
              <a:rPr lang="en-US" sz="1200" dirty="0"/>
              <a:t>Scenario-Based Optimization associates a probability to each scenario, formulating an optimization problem to find decisions that perform well across this set of scenarios. Sample Average Approximation (SAA) is the special case where scenarios are independent and identically distributed realizations, each assigned equal weight 1/N. By replacing the true expectation with this sample mean, the original stochastic problem is transformed into a deterministic equivalent, solvable using standard techniques.</a:t>
            </a:r>
          </a:p>
          <a:p>
            <a:r>
              <a:rPr lang="en-US" sz="1200" dirty="0"/>
              <a:t>Bertsimas and Kallus (2020) generalize SAA by replacing uniform scenario weights with covariate-dependent weights (e.g., via k-nearest neighbors or kernel regression), yielding a conditional approximation of the distribution given observed side information, rather than an unconditional one.</a:t>
            </a:r>
          </a:p>
          <a:p>
            <a:r>
              <a:rPr lang="en-US" sz="1200" dirty="0"/>
              <a:t>A distinct line of work addresses the same underlying challenge — uncertain parameters estimated from data — from the learning side rather than the distributional side. </a:t>
            </a:r>
          </a:p>
          <a:p>
            <a:r>
              <a:rPr lang="en-US" sz="1200" dirty="0" err="1"/>
              <a:t>Elmachtoub</a:t>
            </a:r>
            <a:r>
              <a:rPr lang="en-US" sz="1200" dirty="0"/>
              <a:t> and </a:t>
            </a:r>
            <a:r>
              <a:rPr lang="en-US" sz="1200" dirty="0" err="1"/>
              <a:t>Grigas</a:t>
            </a:r>
            <a:r>
              <a:rPr lang="en-US" sz="1200" dirty="0"/>
              <a:t> (2022) propose Smart Predict-then-Optimize (SPO), training the prediction model with a loss function that measures the resulting decision error, rather than conventional prediction error, so that the model is trained to be useful for the downstream optimization problem rather than merely accurate.</a:t>
            </a:r>
          </a:p>
          <a:p>
            <a:endParaRPr lang="en-US" dirty="0"/>
          </a:p>
        </p:txBody>
      </p:sp>
      <p:sp>
        <p:nvSpPr>
          <p:cNvPr id="4" name="Slide Number Placeholder 3"/>
          <p:cNvSpPr>
            <a:spLocks noGrp="1"/>
          </p:cNvSpPr>
          <p:nvPr>
            <p:ph type="sldNum" sz="quarter" idx="5"/>
          </p:nvPr>
        </p:nvSpPr>
        <p:spPr/>
        <p:txBody>
          <a:bodyPr/>
          <a:lstStyle/>
          <a:p>
            <a:fld id="{25461D91-AE8F-4064-8D61-C2DD71587563}" type="slidenum">
              <a:rPr lang="en-US" smtClean="0"/>
              <a:t>5</a:t>
            </a:fld>
            <a:endParaRPr lang="en-US"/>
          </a:p>
        </p:txBody>
      </p:sp>
    </p:spTree>
    <p:extLst>
      <p:ext uri="{BB962C8B-B14F-4D97-AF65-F5344CB8AC3E}">
        <p14:creationId xmlns:p14="http://schemas.microsoft.com/office/powerpoint/2010/main" val="28366730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1FDBF04-F802-DE85-4C47-5EB8CE60C3DB}"/>
              </a:ext>
            </a:extLst>
          </p:cNvPr>
          <p:cNvSpPr>
            <a:spLocks noGrp="1"/>
          </p:cNvSpPr>
          <p:nvPr>
            <p:ph type="ctrTitle"/>
          </p:nvPr>
        </p:nvSpPr>
        <p:spPr>
          <a:xfrm>
            <a:off x="1143000" y="1122363"/>
            <a:ext cx="6858000" cy="2387600"/>
          </a:xfrm>
        </p:spPr>
        <p:txBody>
          <a:bodyPr anchor="b"/>
          <a:lstStyle>
            <a:lvl1pPr algn="ctr">
              <a:defRPr sz="4500"/>
            </a:lvl1pPr>
          </a:lstStyle>
          <a:p>
            <a:r>
              <a:rPr lang="de-DE"/>
              <a:t>Mastertitelformat bearbeiten</a:t>
            </a:r>
          </a:p>
        </p:txBody>
      </p:sp>
      <p:sp>
        <p:nvSpPr>
          <p:cNvPr id="3" name="Untertitel 2">
            <a:extLst>
              <a:ext uri="{FF2B5EF4-FFF2-40B4-BE49-F238E27FC236}">
                <a16:creationId xmlns:a16="http://schemas.microsoft.com/office/drawing/2014/main" id="{4CEEB636-0F24-F495-ECCC-D89885774297}"/>
              </a:ext>
            </a:extLst>
          </p:cNvPr>
          <p:cNvSpPr>
            <a:spLocks noGrp="1"/>
          </p:cNvSpPr>
          <p:nvPr>
            <p:ph type="subTitle" idx="1"/>
          </p:nvPr>
        </p:nvSpPr>
        <p:spPr>
          <a:xfrm>
            <a:off x="1143000" y="3602038"/>
            <a:ext cx="6858000" cy="1655762"/>
          </a:xfrm>
        </p:spPr>
        <p:txBody>
          <a:bodyPr/>
          <a:lstStyle>
            <a:lvl1pPr marL="0" indent="0" algn="ctr">
              <a:buNone/>
              <a:defRPr sz="1800"/>
            </a:lvl1pPr>
            <a:lvl2pPr marL="342892" indent="0" algn="ctr">
              <a:buNone/>
              <a:defRPr sz="1500"/>
            </a:lvl2pPr>
            <a:lvl3pPr marL="685783" indent="0" algn="ctr">
              <a:buNone/>
              <a:defRPr sz="1350"/>
            </a:lvl3pPr>
            <a:lvl4pPr marL="1028675" indent="0" algn="ctr">
              <a:buNone/>
              <a:defRPr sz="1200"/>
            </a:lvl4pPr>
            <a:lvl5pPr marL="1371566" indent="0" algn="ctr">
              <a:buNone/>
              <a:defRPr sz="1200"/>
            </a:lvl5pPr>
            <a:lvl6pPr marL="1714457" indent="0" algn="ctr">
              <a:buNone/>
              <a:defRPr sz="1200"/>
            </a:lvl6pPr>
            <a:lvl7pPr marL="2057348" indent="0" algn="ctr">
              <a:buNone/>
              <a:defRPr sz="1200"/>
            </a:lvl7pPr>
            <a:lvl8pPr marL="2400240" indent="0" algn="ctr">
              <a:buNone/>
              <a:defRPr sz="1200"/>
            </a:lvl8pPr>
            <a:lvl9pPr marL="2743132" indent="0" algn="ctr">
              <a:buNone/>
              <a:defRPr sz="1200"/>
            </a:lvl9pPr>
          </a:lstStyle>
          <a:p>
            <a:r>
              <a:rPr lang="de-DE"/>
              <a:t>Master-Untertitelformat bearbeiten</a:t>
            </a:r>
          </a:p>
        </p:txBody>
      </p:sp>
      <p:sp>
        <p:nvSpPr>
          <p:cNvPr id="5" name="Fußzeilenplatzhalter 4">
            <a:extLst>
              <a:ext uri="{FF2B5EF4-FFF2-40B4-BE49-F238E27FC236}">
                <a16:creationId xmlns:a16="http://schemas.microsoft.com/office/drawing/2014/main" id="{3928955E-152C-6531-8B3D-BBD6EED96EFD}"/>
              </a:ext>
            </a:extLst>
          </p:cNvPr>
          <p:cNvSpPr>
            <a:spLocks noGrp="1"/>
          </p:cNvSpPr>
          <p:nvPr>
            <p:ph type="ftr" sz="quarter" idx="11"/>
          </p:nvPr>
        </p:nvSpPr>
        <p:spPr/>
        <p:txBody>
          <a:bodyPr/>
          <a:lstStyle/>
          <a:p>
            <a:endParaRPr lang="de-DE" dirty="0"/>
          </a:p>
        </p:txBody>
      </p:sp>
      <p:sp>
        <p:nvSpPr>
          <p:cNvPr id="6" name="Foliennummernplatzhalter 5">
            <a:extLst>
              <a:ext uri="{FF2B5EF4-FFF2-40B4-BE49-F238E27FC236}">
                <a16:creationId xmlns:a16="http://schemas.microsoft.com/office/drawing/2014/main" id="{4260147A-1C45-14FB-D605-0A8B441B34A3}"/>
              </a:ext>
            </a:extLst>
          </p:cNvPr>
          <p:cNvSpPr>
            <a:spLocks noGrp="1"/>
          </p:cNvSpPr>
          <p:nvPr>
            <p:ph type="sldNum" sz="quarter" idx="12"/>
          </p:nvPr>
        </p:nvSpPr>
        <p:spPr/>
        <p:txBody>
          <a:bodyPr/>
          <a:lstStyle>
            <a:lvl1pPr>
              <a:defRPr>
                <a:solidFill>
                  <a:schemeClr val="bg1"/>
                </a:solidFill>
              </a:defRPr>
            </a:lvl1pPr>
          </a:lstStyle>
          <a:p>
            <a:fld id="{2B5D244F-5D5A-2A4A-8E50-FAD9E58F2EA1}" type="slidenum">
              <a:rPr lang="de-DE" smtClean="0"/>
              <a:pPr/>
              <a:t>‹#›</a:t>
            </a:fld>
            <a:endParaRPr lang="de-DE" dirty="0"/>
          </a:p>
        </p:txBody>
      </p:sp>
    </p:spTree>
    <p:extLst>
      <p:ext uri="{BB962C8B-B14F-4D97-AF65-F5344CB8AC3E}">
        <p14:creationId xmlns:p14="http://schemas.microsoft.com/office/powerpoint/2010/main" val="7338920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AE57093-D38A-6D72-5FF6-95E3915B6003}"/>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A137DF3D-89E9-2702-262D-08468A7FFC62}"/>
              </a:ext>
            </a:extLst>
          </p:cNvPr>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Fußzeilenplatzhalter 4">
            <a:extLst>
              <a:ext uri="{FF2B5EF4-FFF2-40B4-BE49-F238E27FC236}">
                <a16:creationId xmlns:a16="http://schemas.microsoft.com/office/drawing/2014/main" id="{C2309B64-7EBF-DA73-7CB9-6F04428F6841}"/>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F4B85912-3B29-D7B2-CBA3-564016B143CB}"/>
              </a:ext>
            </a:extLst>
          </p:cNvPr>
          <p:cNvSpPr>
            <a:spLocks noGrp="1"/>
          </p:cNvSpPr>
          <p:nvPr>
            <p:ph type="sldNum" sz="quarter" idx="12"/>
          </p:nvPr>
        </p:nvSpPr>
        <p:spPr/>
        <p:txBody>
          <a:bodyPr/>
          <a:lstStyle/>
          <a:p>
            <a:fld id="{2B5D244F-5D5A-2A4A-8E50-FAD9E58F2EA1}" type="slidenum">
              <a:rPr lang="de-DE" smtClean="0"/>
              <a:t>‹#›</a:t>
            </a:fld>
            <a:endParaRPr lang="de-DE"/>
          </a:p>
        </p:txBody>
      </p:sp>
    </p:spTree>
    <p:extLst>
      <p:ext uri="{BB962C8B-B14F-4D97-AF65-F5344CB8AC3E}">
        <p14:creationId xmlns:p14="http://schemas.microsoft.com/office/powerpoint/2010/main" val="29492703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4BCCDFB-66F2-09F6-0003-750CD520D881}"/>
              </a:ext>
            </a:extLst>
          </p:cNvPr>
          <p:cNvSpPr>
            <a:spLocks noGrp="1"/>
          </p:cNvSpPr>
          <p:nvPr>
            <p:ph type="title"/>
          </p:nvPr>
        </p:nvSpPr>
        <p:spPr>
          <a:xfrm>
            <a:off x="623888" y="1709743"/>
            <a:ext cx="7886700" cy="2852737"/>
          </a:xfrm>
        </p:spPr>
        <p:txBody>
          <a:bodyPr anchor="b"/>
          <a:lstStyle>
            <a:lvl1pPr>
              <a:defRPr sz="4500"/>
            </a:lvl1pPr>
          </a:lstStyle>
          <a:p>
            <a:r>
              <a:rPr lang="de-DE"/>
              <a:t>Mastertitelformat bearbeiten</a:t>
            </a:r>
          </a:p>
        </p:txBody>
      </p:sp>
      <p:sp>
        <p:nvSpPr>
          <p:cNvPr id="3" name="Textplatzhalter 2">
            <a:extLst>
              <a:ext uri="{FF2B5EF4-FFF2-40B4-BE49-F238E27FC236}">
                <a16:creationId xmlns:a16="http://schemas.microsoft.com/office/drawing/2014/main" id="{B56EF54D-F96D-3F93-AB21-82674926CAA7}"/>
              </a:ext>
            </a:extLst>
          </p:cNvPr>
          <p:cNvSpPr>
            <a:spLocks noGrp="1"/>
          </p:cNvSpPr>
          <p:nvPr>
            <p:ph type="body" idx="1"/>
          </p:nvPr>
        </p:nvSpPr>
        <p:spPr>
          <a:xfrm>
            <a:off x="623888" y="4589468"/>
            <a:ext cx="7886700" cy="1500187"/>
          </a:xfrm>
        </p:spPr>
        <p:txBody>
          <a:bodyPr/>
          <a:lstStyle>
            <a:lvl1pPr marL="0" indent="0">
              <a:buNone/>
              <a:defRPr sz="1800">
                <a:solidFill>
                  <a:schemeClr val="tx1">
                    <a:tint val="82000"/>
                  </a:schemeClr>
                </a:solidFill>
              </a:defRPr>
            </a:lvl1pPr>
            <a:lvl2pPr marL="342892" indent="0">
              <a:buNone/>
              <a:defRPr sz="1500">
                <a:solidFill>
                  <a:schemeClr val="tx1">
                    <a:tint val="82000"/>
                  </a:schemeClr>
                </a:solidFill>
              </a:defRPr>
            </a:lvl2pPr>
            <a:lvl3pPr marL="685783" indent="0">
              <a:buNone/>
              <a:defRPr sz="1350">
                <a:solidFill>
                  <a:schemeClr val="tx1">
                    <a:tint val="82000"/>
                  </a:schemeClr>
                </a:solidFill>
              </a:defRPr>
            </a:lvl3pPr>
            <a:lvl4pPr marL="1028675" indent="0">
              <a:buNone/>
              <a:defRPr sz="1200">
                <a:solidFill>
                  <a:schemeClr val="tx1">
                    <a:tint val="82000"/>
                  </a:schemeClr>
                </a:solidFill>
              </a:defRPr>
            </a:lvl4pPr>
            <a:lvl5pPr marL="1371566" indent="0">
              <a:buNone/>
              <a:defRPr sz="1200">
                <a:solidFill>
                  <a:schemeClr val="tx1">
                    <a:tint val="82000"/>
                  </a:schemeClr>
                </a:solidFill>
              </a:defRPr>
            </a:lvl5pPr>
            <a:lvl6pPr marL="1714457" indent="0">
              <a:buNone/>
              <a:defRPr sz="1200">
                <a:solidFill>
                  <a:schemeClr val="tx1">
                    <a:tint val="82000"/>
                  </a:schemeClr>
                </a:solidFill>
              </a:defRPr>
            </a:lvl6pPr>
            <a:lvl7pPr marL="2057348" indent="0">
              <a:buNone/>
              <a:defRPr sz="1200">
                <a:solidFill>
                  <a:schemeClr val="tx1">
                    <a:tint val="82000"/>
                  </a:schemeClr>
                </a:solidFill>
              </a:defRPr>
            </a:lvl7pPr>
            <a:lvl8pPr marL="2400240" indent="0">
              <a:buNone/>
              <a:defRPr sz="1200">
                <a:solidFill>
                  <a:schemeClr val="tx1">
                    <a:tint val="82000"/>
                  </a:schemeClr>
                </a:solidFill>
              </a:defRPr>
            </a:lvl8pPr>
            <a:lvl9pPr marL="2743132" indent="0">
              <a:buNone/>
              <a:defRPr sz="1200">
                <a:solidFill>
                  <a:schemeClr val="tx1">
                    <a:tint val="82000"/>
                  </a:schemeClr>
                </a:solidFill>
              </a:defRPr>
            </a:lvl9pPr>
          </a:lstStyle>
          <a:p>
            <a:pPr lvl="0"/>
            <a:r>
              <a:rPr lang="de-DE"/>
              <a:t>Mastertextformat bearbeiten</a:t>
            </a:r>
          </a:p>
        </p:txBody>
      </p:sp>
      <p:sp>
        <p:nvSpPr>
          <p:cNvPr id="5" name="Fußzeilenplatzhalter 4">
            <a:extLst>
              <a:ext uri="{FF2B5EF4-FFF2-40B4-BE49-F238E27FC236}">
                <a16:creationId xmlns:a16="http://schemas.microsoft.com/office/drawing/2014/main" id="{E2C9175A-C6A4-041C-244B-88A7DF1BE9BC}"/>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9C87F354-CC90-1F71-817C-29AC7DB722DA}"/>
              </a:ext>
            </a:extLst>
          </p:cNvPr>
          <p:cNvSpPr>
            <a:spLocks noGrp="1"/>
          </p:cNvSpPr>
          <p:nvPr>
            <p:ph type="sldNum" sz="quarter" idx="12"/>
          </p:nvPr>
        </p:nvSpPr>
        <p:spPr/>
        <p:txBody>
          <a:bodyPr/>
          <a:lstStyle/>
          <a:p>
            <a:fld id="{2B5D244F-5D5A-2A4A-8E50-FAD9E58F2EA1}" type="slidenum">
              <a:rPr lang="de-DE" smtClean="0"/>
              <a:t>‹#›</a:t>
            </a:fld>
            <a:endParaRPr lang="de-DE"/>
          </a:p>
        </p:txBody>
      </p:sp>
    </p:spTree>
    <p:extLst>
      <p:ext uri="{BB962C8B-B14F-4D97-AF65-F5344CB8AC3E}">
        <p14:creationId xmlns:p14="http://schemas.microsoft.com/office/powerpoint/2010/main" val="32208658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528CD18-9A1C-FDBC-E4D5-737725BA2A53}"/>
              </a:ext>
            </a:extLst>
          </p:cNvPr>
          <p:cNvSpPr>
            <a:spLocks noGrp="1"/>
          </p:cNvSpPr>
          <p:nvPr>
            <p:ph type="title"/>
          </p:nvPr>
        </p:nvSpPr>
        <p:spPr/>
        <p:txBody>
          <a:bodyPr/>
          <a:lstStyle/>
          <a:p>
            <a:r>
              <a:rPr lang="de-DE"/>
              <a:t>Mastertitelformat bearbeiten</a:t>
            </a:r>
          </a:p>
        </p:txBody>
      </p:sp>
      <p:sp>
        <p:nvSpPr>
          <p:cNvPr id="4" name="Fußzeilenplatzhalter 3">
            <a:extLst>
              <a:ext uri="{FF2B5EF4-FFF2-40B4-BE49-F238E27FC236}">
                <a16:creationId xmlns:a16="http://schemas.microsoft.com/office/drawing/2014/main" id="{9AEC40A8-6F1E-1B0D-2E67-6E6BFA59C120}"/>
              </a:ext>
            </a:extLst>
          </p:cNvPr>
          <p:cNvSpPr>
            <a:spLocks noGrp="1"/>
          </p:cNvSpPr>
          <p:nvPr>
            <p:ph type="ftr" sz="quarter" idx="11"/>
          </p:nvPr>
        </p:nvSpPr>
        <p:spPr/>
        <p:txBody>
          <a:bodyPr/>
          <a:lstStyle/>
          <a:p>
            <a:endParaRPr lang="de-DE"/>
          </a:p>
        </p:txBody>
      </p:sp>
      <p:sp>
        <p:nvSpPr>
          <p:cNvPr id="5" name="Foliennummernplatzhalter 4">
            <a:extLst>
              <a:ext uri="{FF2B5EF4-FFF2-40B4-BE49-F238E27FC236}">
                <a16:creationId xmlns:a16="http://schemas.microsoft.com/office/drawing/2014/main" id="{27C28527-27FC-9F2A-8210-82BD7EA2D4E2}"/>
              </a:ext>
            </a:extLst>
          </p:cNvPr>
          <p:cNvSpPr>
            <a:spLocks noGrp="1"/>
          </p:cNvSpPr>
          <p:nvPr>
            <p:ph type="sldNum" sz="quarter" idx="12"/>
          </p:nvPr>
        </p:nvSpPr>
        <p:spPr/>
        <p:txBody>
          <a:bodyPr/>
          <a:lstStyle/>
          <a:p>
            <a:fld id="{2B5D244F-5D5A-2A4A-8E50-FAD9E58F2EA1}" type="slidenum">
              <a:rPr lang="de-DE" smtClean="0"/>
              <a:t>‹#›</a:t>
            </a:fld>
            <a:endParaRPr lang="de-DE"/>
          </a:p>
        </p:txBody>
      </p:sp>
    </p:spTree>
    <p:extLst>
      <p:ext uri="{BB962C8B-B14F-4D97-AF65-F5344CB8AC3E}">
        <p14:creationId xmlns:p14="http://schemas.microsoft.com/office/powerpoint/2010/main" val="12208300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3" name="Fußzeilenplatzhalter 2">
            <a:extLst>
              <a:ext uri="{FF2B5EF4-FFF2-40B4-BE49-F238E27FC236}">
                <a16:creationId xmlns:a16="http://schemas.microsoft.com/office/drawing/2014/main" id="{E60C926F-9DB5-7435-9A4F-0748EF14057B}"/>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187AD2EC-0F60-3709-EC03-AD75D2A35F3E}"/>
              </a:ext>
            </a:extLst>
          </p:cNvPr>
          <p:cNvSpPr>
            <a:spLocks noGrp="1"/>
          </p:cNvSpPr>
          <p:nvPr>
            <p:ph type="sldNum" sz="quarter" idx="12"/>
          </p:nvPr>
        </p:nvSpPr>
        <p:spPr/>
        <p:txBody>
          <a:bodyPr/>
          <a:lstStyle/>
          <a:p>
            <a:fld id="{2B5D244F-5D5A-2A4A-8E50-FAD9E58F2EA1}" type="slidenum">
              <a:rPr lang="de-DE" smtClean="0"/>
              <a:t>‹#›</a:t>
            </a:fld>
            <a:endParaRPr lang="de-DE"/>
          </a:p>
        </p:txBody>
      </p:sp>
    </p:spTree>
    <p:extLst>
      <p:ext uri="{BB962C8B-B14F-4D97-AF65-F5344CB8AC3E}">
        <p14:creationId xmlns:p14="http://schemas.microsoft.com/office/powerpoint/2010/main" val="469814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a:buClrTx/>
              <a:defRPr/>
            </a:lvl1pPr>
            <a:lvl2pPr>
              <a:buClrTx/>
              <a:defRPr/>
            </a:lvl2pPr>
            <a:lvl3pPr>
              <a:buClrTx/>
              <a:defRPr/>
            </a:lvl3pPr>
            <a:lvl4pPr>
              <a:buClrTx/>
              <a:defRPr/>
            </a:lvl4pPr>
            <a:lvl5pPr>
              <a:buClrTx/>
              <a:defRPr/>
            </a:lvl5pPr>
            <a:lvl6pPr>
              <a:defRPr/>
            </a:lvl6pPr>
            <a:lvl7pPr>
              <a:defRPr/>
            </a:lvl7pPr>
            <a:lvl8pPr>
              <a:defRPr/>
            </a:lvl8pPr>
            <a:lvl9pPr>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dirty="0"/>
          </a:p>
        </p:txBody>
      </p:sp>
      <p:sp>
        <p:nvSpPr>
          <p:cNvPr id="7" name="Title 6"/>
          <p:cNvSpPr>
            <a:spLocks noGrp="1"/>
          </p:cNvSpPr>
          <p:nvPr>
            <p:ph type="title"/>
          </p:nvPr>
        </p:nvSpPr>
        <p:spPr>
          <a:xfrm>
            <a:off x="262890" y="62413"/>
            <a:ext cx="7886700" cy="1004387"/>
          </a:xfrm>
        </p:spPr>
        <p:txBody>
          <a:bodyPr>
            <a:normAutofit/>
          </a:bodyPr>
          <a:lstStyle>
            <a:lvl1pPr>
              <a:defRPr sz="3600"/>
            </a:lvl1pPr>
          </a:lstStyle>
          <a:p>
            <a:r>
              <a:rPr lang="en-US" dirty="0"/>
              <a:t>Click to edit Master title style</a:t>
            </a:r>
          </a:p>
        </p:txBody>
      </p:sp>
      <p:grpSp>
        <p:nvGrpSpPr>
          <p:cNvPr id="4" name="linea"/>
          <p:cNvGrpSpPr/>
          <p:nvPr/>
        </p:nvGrpSpPr>
        <p:grpSpPr bwMode="invGray">
          <a:xfrm>
            <a:off x="315162" y="840518"/>
            <a:ext cx="7929246" cy="64008"/>
            <a:chOff x="1522413" y="1514475"/>
            <a:chExt cx="10569575" cy="64008"/>
          </a:xfrm>
          <a:solidFill>
            <a:schemeClr val="accent2">
              <a:lumMod val="75000"/>
            </a:schemeClr>
          </a:solidFill>
        </p:grpSpPr>
        <p:sp>
          <p:nvSpPr>
            <p:cNvPr id="5" name="Figura a mano libera 10"/>
            <p:cNvSpPr>
              <a:spLocks/>
            </p:cNvSpPr>
            <p:nvPr/>
          </p:nvSpPr>
          <p:spPr bwMode="invGray">
            <a:xfrm>
              <a:off x="12028488" y="1525554"/>
              <a:ext cx="63500" cy="4924"/>
            </a:xfrm>
            <a:custGeom>
              <a:avLst/>
              <a:gdLst>
                <a:gd name="T0" fmla="*/ 30 w 67"/>
                <a:gd name="T1" fmla="*/ 6 h 6"/>
                <a:gd name="T2" fmla="*/ 30 w 67"/>
                <a:gd name="T3" fmla="*/ 6 h 6"/>
                <a:gd name="T4" fmla="*/ 67 w 67"/>
                <a:gd name="T5" fmla="*/ 3 h 6"/>
                <a:gd name="T6" fmla="*/ 39 w 67"/>
                <a:gd name="T7" fmla="*/ 0 h 6"/>
                <a:gd name="T8" fmla="*/ 30 w 67"/>
                <a:gd name="T9" fmla="*/ 6 h 6"/>
              </a:gdLst>
              <a:ahLst/>
              <a:cxnLst>
                <a:cxn ang="0">
                  <a:pos x="T0" y="T1"/>
                </a:cxn>
                <a:cxn ang="0">
                  <a:pos x="T2" y="T3"/>
                </a:cxn>
                <a:cxn ang="0">
                  <a:pos x="T4" y="T5"/>
                </a:cxn>
                <a:cxn ang="0">
                  <a:pos x="T6" y="T7"/>
                </a:cxn>
                <a:cxn ang="0">
                  <a:pos x="T8" y="T9"/>
                </a:cxn>
              </a:cxnLst>
              <a:rect l="0" t="0" r="r" b="b"/>
              <a:pathLst>
                <a:path w="67" h="6">
                  <a:moveTo>
                    <a:pt x="30" y="6"/>
                  </a:moveTo>
                  <a:lnTo>
                    <a:pt x="30" y="6"/>
                  </a:lnTo>
                  <a:lnTo>
                    <a:pt x="67" y="3"/>
                  </a:lnTo>
                  <a:cubicBezTo>
                    <a:pt x="60" y="2"/>
                    <a:pt x="26" y="1"/>
                    <a:pt x="39" y="0"/>
                  </a:cubicBezTo>
                  <a:cubicBezTo>
                    <a:pt x="0" y="1"/>
                    <a:pt x="8" y="3"/>
                    <a:pt x="30" y="6"/>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 name="Figura a mano libera 11"/>
            <p:cNvSpPr>
              <a:spLocks/>
            </p:cNvSpPr>
            <p:nvPr/>
          </p:nvSpPr>
          <p:spPr bwMode="invGray">
            <a:xfrm>
              <a:off x="12022138" y="1532939"/>
              <a:ext cx="19050" cy="1231"/>
            </a:xfrm>
            <a:custGeom>
              <a:avLst/>
              <a:gdLst>
                <a:gd name="T0" fmla="*/ 0 w 20"/>
                <a:gd name="T1" fmla="*/ 2 h 2"/>
                <a:gd name="T2" fmla="*/ 0 w 20"/>
                <a:gd name="T3" fmla="*/ 2 h 2"/>
                <a:gd name="T4" fmla="*/ 20 w 20"/>
                <a:gd name="T5" fmla="*/ 1 h 2"/>
                <a:gd name="T6" fmla="*/ 0 w 20"/>
                <a:gd name="T7" fmla="*/ 2 h 2"/>
              </a:gdLst>
              <a:ahLst/>
              <a:cxnLst>
                <a:cxn ang="0">
                  <a:pos x="T0" y="T1"/>
                </a:cxn>
                <a:cxn ang="0">
                  <a:pos x="T2" y="T3"/>
                </a:cxn>
                <a:cxn ang="0">
                  <a:pos x="T4" y="T5"/>
                </a:cxn>
                <a:cxn ang="0">
                  <a:pos x="T6" y="T7"/>
                </a:cxn>
              </a:cxnLst>
              <a:rect l="0" t="0" r="r" b="b"/>
              <a:pathLst>
                <a:path w="20" h="2">
                  <a:moveTo>
                    <a:pt x="0" y="2"/>
                  </a:moveTo>
                  <a:lnTo>
                    <a:pt x="0" y="2"/>
                  </a:lnTo>
                  <a:lnTo>
                    <a:pt x="20" y="1"/>
                  </a:lnTo>
                  <a:cubicBezTo>
                    <a:pt x="16" y="0"/>
                    <a:pt x="11" y="0"/>
                    <a:pt x="0" y="2"/>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8" name="Figura a mano libera 12"/>
            <p:cNvSpPr>
              <a:spLocks/>
            </p:cNvSpPr>
            <p:nvPr/>
          </p:nvSpPr>
          <p:spPr bwMode="invGray">
            <a:xfrm>
              <a:off x="12041188" y="1531708"/>
              <a:ext cx="39687" cy="6155"/>
            </a:xfrm>
            <a:custGeom>
              <a:avLst/>
              <a:gdLst>
                <a:gd name="T0" fmla="*/ 41 w 41"/>
                <a:gd name="T1" fmla="*/ 0 h 6"/>
                <a:gd name="T2" fmla="*/ 41 w 41"/>
                <a:gd name="T3" fmla="*/ 0 h 6"/>
                <a:gd name="T4" fmla="*/ 0 w 41"/>
                <a:gd name="T5" fmla="*/ 2 h 6"/>
                <a:gd name="T6" fmla="*/ 19 w 41"/>
                <a:gd name="T7" fmla="*/ 1 h 6"/>
                <a:gd name="T8" fmla="*/ 41 w 41"/>
                <a:gd name="T9" fmla="*/ 0 h 6"/>
              </a:gdLst>
              <a:ahLst/>
              <a:cxnLst>
                <a:cxn ang="0">
                  <a:pos x="T0" y="T1"/>
                </a:cxn>
                <a:cxn ang="0">
                  <a:pos x="T2" y="T3"/>
                </a:cxn>
                <a:cxn ang="0">
                  <a:pos x="T4" y="T5"/>
                </a:cxn>
                <a:cxn ang="0">
                  <a:pos x="T6" y="T7"/>
                </a:cxn>
                <a:cxn ang="0">
                  <a:pos x="T8" y="T9"/>
                </a:cxn>
              </a:cxnLst>
              <a:rect l="0" t="0" r="r" b="b"/>
              <a:pathLst>
                <a:path w="41" h="6">
                  <a:moveTo>
                    <a:pt x="41" y="0"/>
                  </a:moveTo>
                  <a:lnTo>
                    <a:pt x="41" y="0"/>
                  </a:lnTo>
                  <a:lnTo>
                    <a:pt x="0" y="2"/>
                  </a:lnTo>
                  <a:cubicBezTo>
                    <a:pt x="5" y="3"/>
                    <a:pt x="6" y="6"/>
                    <a:pt x="19" y="1"/>
                  </a:cubicBezTo>
                  <a:cubicBezTo>
                    <a:pt x="15" y="3"/>
                    <a:pt x="23" y="1"/>
                    <a:pt x="41"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9" name="Figura a mano libera 15"/>
            <p:cNvSpPr>
              <a:spLocks/>
            </p:cNvSpPr>
            <p:nvPr/>
          </p:nvSpPr>
          <p:spPr bwMode="invGray">
            <a:xfrm>
              <a:off x="11831638" y="1526784"/>
              <a:ext cx="42862" cy="4924"/>
            </a:xfrm>
            <a:custGeom>
              <a:avLst/>
              <a:gdLst>
                <a:gd name="T0" fmla="*/ 2 w 45"/>
                <a:gd name="T1" fmla="*/ 0 h 6"/>
                <a:gd name="T2" fmla="*/ 2 w 45"/>
                <a:gd name="T3" fmla="*/ 0 h 6"/>
                <a:gd name="T4" fmla="*/ 18 w 45"/>
                <a:gd name="T5" fmla="*/ 6 h 6"/>
                <a:gd name="T6" fmla="*/ 45 w 45"/>
                <a:gd name="T7" fmla="*/ 4 h 6"/>
                <a:gd name="T8" fmla="*/ 2 w 45"/>
                <a:gd name="T9" fmla="*/ 0 h 6"/>
              </a:gdLst>
              <a:ahLst/>
              <a:cxnLst>
                <a:cxn ang="0">
                  <a:pos x="T0" y="T1"/>
                </a:cxn>
                <a:cxn ang="0">
                  <a:pos x="T2" y="T3"/>
                </a:cxn>
                <a:cxn ang="0">
                  <a:pos x="T4" y="T5"/>
                </a:cxn>
                <a:cxn ang="0">
                  <a:pos x="T6" y="T7"/>
                </a:cxn>
                <a:cxn ang="0">
                  <a:pos x="T8" y="T9"/>
                </a:cxn>
              </a:cxnLst>
              <a:rect l="0" t="0" r="r" b="b"/>
              <a:pathLst>
                <a:path w="45" h="6">
                  <a:moveTo>
                    <a:pt x="2" y="0"/>
                  </a:moveTo>
                  <a:lnTo>
                    <a:pt x="2" y="0"/>
                  </a:lnTo>
                  <a:cubicBezTo>
                    <a:pt x="0" y="1"/>
                    <a:pt x="15" y="4"/>
                    <a:pt x="18" y="6"/>
                  </a:cubicBezTo>
                  <a:lnTo>
                    <a:pt x="45" y="4"/>
                  </a:lnTo>
                  <a:cubicBezTo>
                    <a:pt x="31" y="3"/>
                    <a:pt x="4" y="2"/>
                    <a:pt x="2"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0" name="Figura a mano libera 16"/>
            <p:cNvSpPr>
              <a:spLocks/>
            </p:cNvSpPr>
            <p:nvPr/>
          </p:nvSpPr>
          <p:spPr bwMode="invGray">
            <a:xfrm>
              <a:off x="11809413" y="1531708"/>
              <a:ext cx="41275" cy="2462"/>
            </a:xfrm>
            <a:custGeom>
              <a:avLst/>
              <a:gdLst>
                <a:gd name="T0" fmla="*/ 42 w 44"/>
                <a:gd name="T1" fmla="*/ 0 h 3"/>
                <a:gd name="T2" fmla="*/ 42 w 44"/>
                <a:gd name="T3" fmla="*/ 0 h 3"/>
                <a:gd name="T4" fmla="*/ 0 w 44"/>
                <a:gd name="T5" fmla="*/ 3 h 3"/>
                <a:gd name="T6" fmla="*/ 42 w 44"/>
                <a:gd name="T7" fmla="*/ 0 h 3"/>
              </a:gdLst>
              <a:ahLst/>
              <a:cxnLst>
                <a:cxn ang="0">
                  <a:pos x="T0" y="T1"/>
                </a:cxn>
                <a:cxn ang="0">
                  <a:pos x="T2" y="T3"/>
                </a:cxn>
                <a:cxn ang="0">
                  <a:pos x="T4" y="T5"/>
                </a:cxn>
                <a:cxn ang="0">
                  <a:pos x="T6" y="T7"/>
                </a:cxn>
              </a:cxnLst>
              <a:rect l="0" t="0" r="r" b="b"/>
              <a:pathLst>
                <a:path w="44" h="3">
                  <a:moveTo>
                    <a:pt x="42" y="0"/>
                  </a:moveTo>
                  <a:lnTo>
                    <a:pt x="42" y="0"/>
                  </a:lnTo>
                  <a:lnTo>
                    <a:pt x="0" y="3"/>
                  </a:lnTo>
                  <a:cubicBezTo>
                    <a:pt x="37" y="3"/>
                    <a:pt x="44" y="2"/>
                    <a:pt x="42"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1" name="Figura a mano libera 17"/>
            <p:cNvSpPr>
              <a:spLocks/>
            </p:cNvSpPr>
            <p:nvPr/>
          </p:nvSpPr>
          <p:spPr bwMode="invGray">
            <a:xfrm>
              <a:off x="12003088" y="1537863"/>
              <a:ext cx="77787" cy="3693"/>
            </a:xfrm>
            <a:custGeom>
              <a:avLst/>
              <a:gdLst>
                <a:gd name="T0" fmla="*/ 14 w 82"/>
                <a:gd name="T1" fmla="*/ 5 h 5"/>
                <a:gd name="T2" fmla="*/ 14 w 82"/>
                <a:gd name="T3" fmla="*/ 5 h 5"/>
                <a:gd name="T4" fmla="*/ 82 w 82"/>
                <a:gd name="T5" fmla="*/ 0 h 5"/>
                <a:gd name="T6" fmla="*/ 0 w 82"/>
                <a:gd name="T7" fmla="*/ 5 h 5"/>
                <a:gd name="T8" fmla="*/ 14 w 82"/>
                <a:gd name="T9" fmla="*/ 5 h 5"/>
              </a:gdLst>
              <a:ahLst/>
              <a:cxnLst>
                <a:cxn ang="0">
                  <a:pos x="T0" y="T1"/>
                </a:cxn>
                <a:cxn ang="0">
                  <a:pos x="T2" y="T3"/>
                </a:cxn>
                <a:cxn ang="0">
                  <a:pos x="T4" y="T5"/>
                </a:cxn>
                <a:cxn ang="0">
                  <a:pos x="T6" y="T7"/>
                </a:cxn>
                <a:cxn ang="0">
                  <a:pos x="T8" y="T9"/>
                </a:cxn>
              </a:cxnLst>
              <a:rect l="0" t="0" r="r" b="b"/>
              <a:pathLst>
                <a:path w="82" h="5">
                  <a:moveTo>
                    <a:pt x="14" y="5"/>
                  </a:moveTo>
                  <a:lnTo>
                    <a:pt x="14" y="5"/>
                  </a:lnTo>
                  <a:lnTo>
                    <a:pt x="82" y="0"/>
                  </a:lnTo>
                  <a:lnTo>
                    <a:pt x="0" y="5"/>
                  </a:lnTo>
                  <a:lnTo>
                    <a:pt x="14" y="5"/>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2" name="Figura a mano libera 18"/>
            <p:cNvSpPr>
              <a:spLocks/>
            </p:cNvSpPr>
            <p:nvPr/>
          </p:nvSpPr>
          <p:spPr bwMode="invGray">
            <a:xfrm>
              <a:off x="11664950" y="1523092"/>
              <a:ext cx="39687" cy="4924"/>
            </a:xfrm>
            <a:custGeom>
              <a:avLst/>
              <a:gdLst>
                <a:gd name="T0" fmla="*/ 19 w 42"/>
                <a:gd name="T1" fmla="*/ 4 h 5"/>
                <a:gd name="T2" fmla="*/ 19 w 42"/>
                <a:gd name="T3" fmla="*/ 4 h 5"/>
                <a:gd name="T4" fmla="*/ 42 w 42"/>
                <a:gd name="T5" fmla="*/ 0 h 5"/>
                <a:gd name="T6" fmla="*/ 0 w 42"/>
                <a:gd name="T7" fmla="*/ 5 h 5"/>
                <a:gd name="T8" fmla="*/ 19 w 42"/>
                <a:gd name="T9" fmla="*/ 4 h 5"/>
              </a:gdLst>
              <a:ahLst/>
              <a:cxnLst>
                <a:cxn ang="0">
                  <a:pos x="T0" y="T1"/>
                </a:cxn>
                <a:cxn ang="0">
                  <a:pos x="T2" y="T3"/>
                </a:cxn>
                <a:cxn ang="0">
                  <a:pos x="T4" y="T5"/>
                </a:cxn>
                <a:cxn ang="0">
                  <a:pos x="T6" y="T7"/>
                </a:cxn>
                <a:cxn ang="0">
                  <a:pos x="T8" y="T9"/>
                </a:cxn>
              </a:cxnLst>
              <a:rect l="0" t="0" r="r" b="b"/>
              <a:pathLst>
                <a:path w="42" h="5">
                  <a:moveTo>
                    <a:pt x="19" y="4"/>
                  </a:moveTo>
                  <a:lnTo>
                    <a:pt x="19" y="4"/>
                  </a:lnTo>
                  <a:lnTo>
                    <a:pt x="42" y="0"/>
                  </a:lnTo>
                  <a:lnTo>
                    <a:pt x="0" y="5"/>
                  </a:lnTo>
                  <a:lnTo>
                    <a:pt x="19" y="4"/>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3" name="Figura a mano libera 19"/>
            <p:cNvSpPr>
              <a:spLocks/>
            </p:cNvSpPr>
            <p:nvPr/>
          </p:nvSpPr>
          <p:spPr bwMode="invGray">
            <a:xfrm>
              <a:off x="11506200" y="1521861"/>
              <a:ext cx="92075" cy="4924"/>
            </a:xfrm>
            <a:custGeom>
              <a:avLst/>
              <a:gdLst>
                <a:gd name="T0" fmla="*/ 81 w 98"/>
                <a:gd name="T1" fmla="*/ 6 h 6"/>
                <a:gd name="T2" fmla="*/ 81 w 98"/>
                <a:gd name="T3" fmla="*/ 6 h 6"/>
                <a:gd name="T4" fmla="*/ 75 w 98"/>
                <a:gd name="T5" fmla="*/ 0 h 6"/>
                <a:gd name="T6" fmla="*/ 0 w 98"/>
                <a:gd name="T7" fmla="*/ 5 h 6"/>
                <a:gd name="T8" fmla="*/ 81 w 98"/>
                <a:gd name="T9" fmla="*/ 6 h 6"/>
              </a:gdLst>
              <a:ahLst/>
              <a:cxnLst>
                <a:cxn ang="0">
                  <a:pos x="T0" y="T1"/>
                </a:cxn>
                <a:cxn ang="0">
                  <a:pos x="T2" y="T3"/>
                </a:cxn>
                <a:cxn ang="0">
                  <a:pos x="T4" y="T5"/>
                </a:cxn>
                <a:cxn ang="0">
                  <a:pos x="T6" y="T7"/>
                </a:cxn>
                <a:cxn ang="0">
                  <a:pos x="T8" y="T9"/>
                </a:cxn>
              </a:cxnLst>
              <a:rect l="0" t="0" r="r" b="b"/>
              <a:pathLst>
                <a:path w="98" h="6">
                  <a:moveTo>
                    <a:pt x="81" y="6"/>
                  </a:moveTo>
                  <a:lnTo>
                    <a:pt x="81" y="6"/>
                  </a:lnTo>
                  <a:cubicBezTo>
                    <a:pt x="98" y="3"/>
                    <a:pt x="57" y="1"/>
                    <a:pt x="75" y="0"/>
                  </a:cubicBezTo>
                  <a:cubicBezTo>
                    <a:pt x="47" y="0"/>
                    <a:pt x="22" y="2"/>
                    <a:pt x="0" y="5"/>
                  </a:cubicBezTo>
                  <a:cubicBezTo>
                    <a:pt x="24" y="3"/>
                    <a:pt x="49" y="4"/>
                    <a:pt x="81" y="6"/>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4" name="Figura a mano libera 20"/>
            <p:cNvSpPr>
              <a:spLocks/>
            </p:cNvSpPr>
            <p:nvPr/>
          </p:nvSpPr>
          <p:spPr bwMode="invGray">
            <a:xfrm>
              <a:off x="11471275" y="1525554"/>
              <a:ext cx="34925" cy="3693"/>
            </a:xfrm>
            <a:custGeom>
              <a:avLst/>
              <a:gdLst>
                <a:gd name="T0" fmla="*/ 0 w 36"/>
                <a:gd name="T1" fmla="*/ 3 h 3"/>
                <a:gd name="T2" fmla="*/ 0 w 36"/>
                <a:gd name="T3" fmla="*/ 3 h 3"/>
                <a:gd name="T4" fmla="*/ 36 w 36"/>
                <a:gd name="T5" fmla="*/ 0 h 3"/>
                <a:gd name="T6" fmla="*/ 0 w 36"/>
                <a:gd name="T7" fmla="*/ 3 h 3"/>
              </a:gdLst>
              <a:ahLst/>
              <a:cxnLst>
                <a:cxn ang="0">
                  <a:pos x="T0" y="T1"/>
                </a:cxn>
                <a:cxn ang="0">
                  <a:pos x="T2" y="T3"/>
                </a:cxn>
                <a:cxn ang="0">
                  <a:pos x="T4" y="T5"/>
                </a:cxn>
                <a:cxn ang="0">
                  <a:pos x="T6" y="T7"/>
                </a:cxn>
              </a:cxnLst>
              <a:rect l="0" t="0" r="r" b="b"/>
              <a:pathLst>
                <a:path w="36" h="3">
                  <a:moveTo>
                    <a:pt x="0" y="3"/>
                  </a:moveTo>
                  <a:lnTo>
                    <a:pt x="0" y="3"/>
                  </a:lnTo>
                  <a:cubicBezTo>
                    <a:pt x="11" y="2"/>
                    <a:pt x="23" y="1"/>
                    <a:pt x="36" y="0"/>
                  </a:cubicBezTo>
                  <a:cubicBezTo>
                    <a:pt x="24" y="0"/>
                    <a:pt x="12" y="1"/>
                    <a:pt x="0"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5" name="Figura a mano libera 21"/>
            <p:cNvSpPr>
              <a:spLocks/>
            </p:cNvSpPr>
            <p:nvPr/>
          </p:nvSpPr>
          <p:spPr bwMode="invGray">
            <a:xfrm>
              <a:off x="11710988" y="1529246"/>
              <a:ext cx="30162" cy="4924"/>
            </a:xfrm>
            <a:custGeom>
              <a:avLst/>
              <a:gdLst>
                <a:gd name="T0" fmla="*/ 32 w 32"/>
                <a:gd name="T1" fmla="*/ 5 h 5"/>
                <a:gd name="T2" fmla="*/ 32 w 32"/>
                <a:gd name="T3" fmla="*/ 5 h 5"/>
                <a:gd name="T4" fmla="*/ 0 w 32"/>
                <a:gd name="T5" fmla="*/ 0 h 5"/>
                <a:gd name="T6" fmla="*/ 16 w 32"/>
                <a:gd name="T7" fmla="*/ 5 h 5"/>
                <a:gd name="T8" fmla="*/ 32 w 32"/>
                <a:gd name="T9" fmla="*/ 5 h 5"/>
              </a:gdLst>
              <a:ahLst/>
              <a:cxnLst>
                <a:cxn ang="0">
                  <a:pos x="T0" y="T1"/>
                </a:cxn>
                <a:cxn ang="0">
                  <a:pos x="T2" y="T3"/>
                </a:cxn>
                <a:cxn ang="0">
                  <a:pos x="T4" y="T5"/>
                </a:cxn>
                <a:cxn ang="0">
                  <a:pos x="T6" y="T7"/>
                </a:cxn>
                <a:cxn ang="0">
                  <a:pos x="T8" y="T9"/>
                </a:cxn>
              </a:cxnLst>
              <a:rect l="0" t="0" r="r" b="b"/>
              <a:pathLst>
                <a:path w="32" h="5">
                  <a:moveTo>
                    <a:pt x="32" y="5"/>
                  </a:moveTo>
                  <a:lnTo>
                    <a:pt x="32" y="5"/>
                  </a:lnTo>
                  <a:cubicBezTo>
                    <a:pt x="29" y="4"/>
                    <a:pt x="23" y="1"/>
                    <a:pt x="0" y="0"/>
                  </a:cubicBezTo>
                  <a:lnTo>
                    <a:pt x="16" y="5"/>
                  </a:lnTo>
                  <a:lnTo>
                    <a:pt x="32" y="5"/>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6" name="Figura a mano libera 22"/>
            <p:cNvSpPr>
              <a:spLocks/>
            </p:cNvSpPr>
            <p:nvPr/>
          </p:nvSpPr>
          <p:spPr bwMode="invGray">
            <a:xfrm>
              <a:off x="11691938" y="1532939"/>
              <a:ext cx="34925" cy="1231"/>
            </a:xfrm>
            <a:custGeom>
              <a:avLst/>
              <a:gdLst>
                <a:gd name="T0" fmla="*/ 36 w 36"/>
                <a:gd name="T1" fmla="*/ 1 h 1"/>
                <a:gd name="T2" fmla="*/ 36 w 36"/>
                <a:gd name="T3" fmla="*/ 1 h 1"/>
                <a:gd name="T4" fmla="*/ 35 w 36"/>
                <a:gd name="T5" fmla="*/ 1 h 1"/>
                <a:gd name="T6" fmla="*/ 0 w 36"/>
                <a:gd name="T7" fmla="*/ 0 h 1"/>
                <a:gd name="T8" fmla="*/ 36 w 36"/>
                <a:gd name="T9" fmla="*/ 1 h 1"/>
              </a:gdLst>
              <a:ahLst/>
              <a:cxnLst>
                <a:cxn ang="0">
                  <a:pos x="T0" y="T1"/>
                </a:cxn>
                <a:cxn ang="0">
                  <a:pos x="T2" y="T3"/>
                </a:cxn>
                <a:cxn ang="0">
                  <a:pos x="T4" y="T5"/>
                </a:cxn>
                <a:cxn ang="0">
                  <a:pos x="T6" y="T7"/>
                </a:cxn>
                <a:cxn ang="0">
                  <a:pos x="T8" y="T9"/>
                </a:cxn>
              </a:cxnLst>
              <a:rect l="0" t="0" r="r" b="b"/>
              <a:pathLst>
                <a:path w="36" h="1">
                  <a:moveTo>
                    <a:pt x="36" y="1"/>
                  </a:moveTo>
                  <a:lnTo>
                    <a:pt x="36" y="1"/>
                  </a:lnTo>
                  <a:lnTo>
                    <a:pt x="35" y="1"/>
                  </a:lnTo>
                  <a:lnTo>
                    <a:pt x="0" y="0"/>
                  </a:lnTo>
                  <a:lnTo>
                    <a:pt x="36" y="1"/>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7" name="Figura a mano libera 23"/>
            <p:cNvSpPr>
              <a:spLocks/>
            </p:cNvSpPr>
            <p:nvPr/>
          </p:nvSpPr>
          <p:spPr bwMode="invGray">
            <a:xfrm>
              <a:off x="11741150" y="1534170"/>
              <a:ext cx="4762" cy="0"/>
            </a:xfrm>
            <a:custGeom>
              <a:avLst/>
              <a:gdLst>
                <a:gd name="T0" fmla="*/ 5 w 5"/>
                <a:gd name="T1" fmla="*/ 5 w 5"/>
                <a:gd name="T2" fmla="*/ 0 w 5"/>
                <a:gd name="T3" fmla="*/ 5 w 5"/>
              </a:gdLst>
              <a:ahLst/>
              <a:cxnLst>
                <a:cxn ang="0">
                  <a:pos x="T0" y="0"/>
                </a:cxn>
                <a:cxn ang="0">
                  <a:pos x="T1" y="0"/>
                </a:cxn>
                <a:cxn ang="0">
                  <a:pos x="T2" y="0"/>
                </a:cxn>
                <a:cxn ang="0">
                  <a:pos x="T3" y="0"/>
                </a:cxn>
              </a:cxnLst>
              <a:rect l="0" t="0" r="r" b="b"/>
              <a:pathLst>
                <a:path w="5">
                  <a:moveTo>
                    <a:pt x="5" y="0"/>
                  </a:moveTo>
                  <a:lnTo>
                    <a:pt x="5" y="0"/>
                  </a:lnTo>
                  <a:lnTo>
                    <a:pt x="0" y="0"/>
                  </a:lnTo>
                  <a:cubicBezTo>
                    <a:pt x="2" y="0"/>
                    <a:pt x="3" y="0"/>
                    <a:pt x="5"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8" name="Figura a mano libera 24"/>
            <p:cNvSpPr>
              <a:spLocks/>
            </p:cNvSpPr>
            <p:nvPr/>
          </p:nvSpPr>
          <p:spPr bwMode="invGray">
            <a:xfrm>
              <a:off x="11841163" y="1537863"/>
              <a:ext cx="71437" cy="8617"/>
            </a:xfrm>
            <a:custGeom>
              <a:avLst/>
              <a:gdLst>
                <a:gd name="T0" fmla="*/ 75 w 75"/>
                <a:gd name="T1" fmla="*/ 0 h 9"/>
                <a:gd name="T2" fmla="*/ 75 w 75"/>
                <a:gd name="T3" fmla="*/ 0 h 9"/>
                <a:gd name="T4" fmla="*/ 49 w 75"/>
                <a:gd name="T5" fmla="*/ 9 h 9"/>
                <a:gd name="T6" fmla="*/ 75 w 75"/>
                <a:gd name="T7" fmla="*/ 0 h 9"/>
              </a:gdLst>
              <a:ahLst/>
              <a:cxnLst>
                <a:cxn ang="0">
                  <a:pos x="T0" y="T1"/>
                </a:cxn>
                <a:cxn ang="0">
                  <a:pos x="T2" y="T3"/>
                </a:cxn>
                <a:cxn ang="0">
                  <a:pos x="T4" y="T5"/>
                </a:cxn>
                <a:cxn ang="0">
                  <a:pos x="T6" y="T7"/>
                </a:cxn>
              </a:cxnLst>
              <a:rect l="0" t="0" r="r" b="b"/>
              <a:pathLst>
                <a:path w="75" h="9">
                  <a:moveTo>
                    <a:pt x="75" y="0"/>
                  </a:moveTo>
                  <a:lnTo>
                    <a:pt x="75" y="0"/>
                  </a:lnTo>
                  <a:cubicBezTo>
                    <a:pt x="51" y="3"/>
                    <a:pt x="0" y="5"/>
                    <a:pt x="49" y="9"/>
                  </a:cubicBezTo>
                  <a:cubicBezTo>
                    <a:pt x="66" y="6"/>
                    <a:pt x="38" y="4"/>
                    <a:pt x="75"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19" name="Figura a mano libera 25"/>
            <p:cNvSpPr>
              <a:spLocks/>
            </p:cNvSpPr>
            <p:nvPr/>
          </p:nvSpPr>
          <p:spPr bwMode="invGray">
            <a:xfrm>
              <a:off x="11764963" y="1535401"/>
              <a:ext cx="44450" cy="3693"/>
            </a:xfrm>
            <a:custGeom>
              <a:avLst/>
              <a:gdLst>
                <a:gd name="T0" fmla="*/ 0 w 47"/>
                <a:gd name="T1" fmla="*/ 3 h 4"/>
                <a:gd name="T2" fmla="*/ 0 w 47"/>
                <a:gd name="T3" fmla="*/ 3 h 4"/>
                <a:gd name="T4" fmla="*/ 44 w 47"/>
                <a:gd name="T5" fmla="*/ 4 h 4"/>
                <a:gd name="T6" fmla="*/ 47 w 47"/>
                <a:gd name="T7" fmla="*/ 0 h 4"/>
                <a:gd name="T8" fmla="*/ 0 w 47"/>
                <a:gd name="T9" fmla="*/ 3 h 4"/>
              </a:gdLst>
              <a:ahLst/>
              <a:cxnLst>
                <a:cxn ang="0">
                  <a:pos x="T0" y="T1"/>
                </a:cxn>
                <a:cxn ang="0">
                  <a:pos x="T2" y="T3"/>
                </a:cxn>
                <a:cxn ang="0">
                  <a:pos x="T4" y="T5"/>
                </a:cxn>
                <a:cxn ang="0">
                  <a:pos x="T6" y="T7"/>
                </a:cxn>
                <a:cxn ang="0">
                  <a:pos x="T8" y="T9"/>
                </a:cxn>
              </a:cxnLst>
              <a:rect l="0" t="0" r="r" b="b"/>
              <a:pathLst>
                <a:path w="47" h="4">
                  <a:moveTo>
                    <a:pt x="0" y="3"/>
                  </a:moveTo>
                  <a:lnTo>
                    <a:pt x="0" y="3"/>
                  </a:lnTo>
                  <a:lnTo>
                    <a:pt x="44" y="4"/>
                  </a:lnTo>
                  <a:cubicBezTo>
                    <a:pt x="43" y="3"/>
                    <a:pt x="35" y="1"/>
                    <a:pt x="47" y="0"/>
                  </a:cubicBezTo>
                  <a:lnTo>
                    <a:pt x="0" y="3"/>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0" name="Figura a mano libera 26"/>
            <p:cNvSpPr>
              <a:spLocks/>
            </p:cNvSpPr>
            <p:nvPr/>
          </p:nvSpPr>
          <p:spPr bwMode="invGray">
            <a:xfrm>
              <a:off x="11744325" y="1537863"/>
              <a:ext cx="20637" cy="2462"/>
            </a:xfrm>
            <a:custGeom>
              <a:avLst/>
              <a:gdLst>
                <a:gd name="T0" fmla="*/ 0 w 22"/>
                <a:gd name="T1" fmla="*/ 2 h 2"/>
                <a:gd name="T2" fmla="*/ 0 w 22"/>
                <a:gd name="T3" fmla="*/ 2 h 2"/>
                <a:gd name="T4" fmla="*/ 22 w 22"/>
                <a:gd name="T5" fmla="*/ 0 h 2"/>
                <a:gd name="T6" fmla="*/ 5 w 22"/>
                <a:gd name="T7" fmla="*/ 0 h 2"/>
                <a:gd name="T8" fmla="*/ 0 w 22"/>
                <a:gd name="T9" fmla="*/ 2 h 2"/>
              </a:gdLst>
              <a:ahLst/>
              <a:cxnLst>
                <a:cxn ang="0">
                  <a:pos x="T0" y="T1"/>
                </a:cxn>
                <a:cxn ang="0">
                  <a:pos x="T2" y="T3"/>
                </a:cxn>
                <a:cxn ang="0">
                  <a:pos x="T4" y="T5"/>
                </a:cxn>
                <a:cxn ang="0">
                  <a:pos x="T6" y="T7"/>
                </a:cxn>
                <a:cxn ang="0">
                  <a:pos x="T8" y="T9"/>
                </a:cxn>
              </a:cxnLst>
              <a:rect l="0" t="0" r="r" b="b"/>
              <a:pathLst>
                <a:path w="22" h="2">
                  <a:moveTo>
                    <a:pt x="0" y="2"/>
                  </a:moveTo>
                  <a:lnTo>
                    <a:pt x="0" y="2"/>
                  </a:lnTo>
                  <a:lnTo>
                    <a:pt x="22" y="0"/>
                  </a:lnTo>
                  <a:lnTo>
                    <a:pt x="5" y="0"/>
                  </a:lnTo>
                  <a:lnTo>
                    <a:pt x="0" y="2"/>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1" name="Figura a mano libera 27"/>
            <p:cNvSpPr>
              <a:spLocks/>
            </p:cNvSpPr>
            <p:nvPr/>
          </p:nvSpPr>
          <p:spPr bwMode="invGray">
            <a:xfrm>
              <a:off x="11482388" y="1531708"/>
              <a:ext cx="85725" cy="3693"/>
            </a:xfrm>
            <a:custGeom>
              <a:avLst/>
              <a:gdLst>
                <a:gd name="T0" fmla="*/ 63 w 90"/>
                <a:gd name="T1" fmla="*/ 0 h 4"/>
                <a:gd name="T2" fmla="*/ 63 w 90"/>
                <a:gd name="T3" fmla="*/ 0 h 4"/>
                <a:gd name="T4" fmla="*/ 0 w 90"/>
                <a:gd name="T5" fmla="*/ 2 h 4"/>
                <a:gd name="T6" fmla="*/ 76 w 90"/>
                <a:gd name="T7" fmla="*/ 4 h 4"/>
                <a:gd name="T8" fmla="*/ 63 w 90"/>
                <a:gd name="T9" fmla="*/ 0 h 4"/>
              </a:gdLst>
              <a:ahLst/>
              <a:cxnLst>
                <a:cxn ang="0">
                  <a:pos x="T0" y="T1"/>
                </a:cxn>
                <a:cxn ang="0">
                  <a:pos x="T2" y="T3"/>
                </a:cxn>
                <a:cxn ang="0">
                  <a:pos x="T4" y="T5"/>
                </a:cxn>
                <a:cxn ang="0">
                  <a:pos x="T6" y="T7"/>
                </a:cxn>
                <a:cxn ang="0">
                  <a:pos x="T8" y="T9"/>
                </a:cxn>
              </a:cxnLst>
              <a:rect l="0" t="0" r="r" b="b"/>
              <a:pathLst>
                <a:path w="90" h="4">
                  <a:moveTo>
                    <a:pt x="63" y="0"/>
                  </a:moveTo>
                  <a:lnTo>
                    <a:pt x="63" y="0"/>
                  </a:lnTo>
                  <a:cubicBezTo>
                    <a:pt x="44" y="2"/>
                    <a:pt x="23" y="2"/>
                    <a:pt x="0" y="2"/>
                  </a:cubicBezTo>
                  <a:cubicBezTo>
                    <a:pt x="25" y="3"/>
                    <a:pt x="51" y="4"/>
                    <a:pt x="76" y="4"/>
                  </a:cubicBezTo>
                  <a:cubicBezTo>
                    <a:pt x="79" y="2"/>
                    <a:pt x="90" y="0"/>
                    <a:pt x="6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2" name="Figura a mano libera 28"/>
            <p:cNvSpPr>
              <a:spLocks/>
            </p:cNvSpPr>
            <p:nvPr/>
          </p:nvSpPr>
          <p:spPr bwMode="invGray">
            <a:xfrm>
              <a:off x="11626850" y="1532939"/>
              <a:ext cx="4762" cy="1231"/>
            </a:xfrm>
            <a:custGeom>
              <a:avLst/>
              <a:gdLst>
                <a:gd name="T0" fmla="*/ 5 w 5"/>
                <a:gd name="T1" fmla="*/ 0 h 1"/>
                <a:gd name="T2" fmla="*/ 5 w 5"/>
                <a:gd name="T3" fmla="*/ 0 h 1"/>
                <a:gd name="T4" fmla="*/ 0 w 5"/>
                <a:gd name="T5" fmla="*/ 1 h 1"/>
                <a:gd name="T6" fmla="*/ 5 w 5"/>
                <a:gd name="T7" fmla="*/ 0 h 1"/>
              </a:gdLst>
              <a:ahLst/>
              <a:cxnLst>
                <a:cxn ang="0">
                  <a:pos x="T0" y="T1"/>
                </a:cxn>
                <a:cxn ang="0">
                  <a:pos x="T2" y="T3"/>
                </a:cxn>
                <a:cxn ang="0">
                  <a:pos x="T4" y="T5"/>
                </a:cxn>
                <a:cxn ang="0">
                  <a:pos x="T6" y="T7"/>
                </a:cxn>
              </a:cxnLst>
              <a:rect l="0" t="0" r="r" b="b"/>
              <a:pathLst>
                <a:path w="5" h="1">
                  <a:moveTo>
                    <a:pt x="5" y="0"/>
                  </a:moveTo>
                  <a:lnTo>
                    <a:pt x="5" y="0"/>
                  </a:lnTo>
                  <a:lnTo>
                    <a:pt x="0" y="1"/>
                  </a:lnTo>
                  <a:cubicBezTo>
                    <a:pt x="3" y="1"/>
                    <a:pt x="5" y="1"/>
                    <a:pt x="5"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3" name="Figura a mano libera 29"/>
            <p:cNvSpPr>
              <a:spLocks/>
            </p:cNvSpPr>
            <p:nvPr/>
          </p:nvSpPr>
          <p:spPr bwMode="invGray">
            <a:xfrm>
              <a:off x="11261725" y="1534170"/>
              <a:ext cx="4762" cy="0"/>
            </a:xfrm>
            <a:custGeom>
              <a:avLst/>
              <a:gdLst>
                <a:gd name="T0" fmla="*/ 0 w 5"/>
                <a:gd name="T1" fmla="*/ 0 h 1"/>
                <a:gd name="T2" fmla="*/ 0 w 5"/>
                <a:gd name="T3" fmla="*/ 0 h 1"/>
                <a:gd name="T4" fmla="*/ 4 w 5"/>
                <a:gd name="T5" fmla="*/ 1 h 1"/>
                <a:gd name="T6" fmla="*/ 5 w 5"/>
                <a:gd name="T7" fmla="*/ 0 h 1"/>
                <a:gd name="T8" fmla="*/ 0 w 5"/>
                <a:gd name="T9" fmla="*/ 0 h 1"/>
              </a:gdLst>
              <a:ahLst/>
              <a:cxnLst>
                <a:cxn ang="0">
                  <a:pos x="T0" y="T1"/>
                </a:cxn>
                <a:cxn ang="0">
                  <a:pos x="T2" y="T3"/>
                </a:cxn>
                <a:cxn ang="0">
                  <a:pos x="T4" y="T5"/>
                </a:cxn>
                <a:cxn ang="0">
                  <a:pos x="T6" y="T7"/>
                </a:cxn>
                <a:cxn ang="0">
                  <a:pos x="T8" y="T9"/>
                </a:cxn>
              </a:cxnLst>
              <a:rect l="0" t="0" r="r" b="b"/>
              <a:pathLst>
                <a:path w="5" h="1">
                  <a:moveTo>
                    <a:pt x="0" y="0"/>
                  </a:moveTo>
                  <a:lnTo>
                    <a:pt x="0" y="0"/>
                  </a:lnTo>
                  <a:lnTo>
                    <a:pt x="4" y="1"/>
                  </a:lnTo>
                  <a:cubicBezTo>
                    <a:pt x="4" y="1"/>
                    <a:pt x="4" y="0"/>
                    <a:pt x="5" y="0"/>
                  </a:cubicBezTo>
                  <a:lnTo>
                    <a:pt x="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4" name="Figura a mano libera 30"/>
            <p:cNvSpPr>
              <a:spLocks/>
            </p:cNvSpPr>
            <p:nvPr/>
          </p:nvSpPr>
          <p:spPr bwMode="invGray">
            <a:xfrm>
              <a:off x="11553825" y="1534170"/>
              <a:ext cx="44450" cy="2462"/>
            </a:xfrm>
            <a:custGeom>
              <a:avLst/>
              <a:gdLst>
                <a:gd name="T0" fmla="*/ 6 w 47"/>
                <a:gd name="T1" fmla="*/ 2 h 2"/>
                <a:gd name="T2" fmla="*/ 6 w 47"/>
                <a:gd name="T3" fmla="*/ 2 h 2"/>
                <a:gd name="T4" fmla="*/ 47 w 47"/>
                <a:gd name="T5" fmla="*/ 0 h 2"/>
                <a:gd name="T6" fmla="*/ 2 w 47"/>
                <a:gd name="T7" fmla="*/ 1 h 2"/>
                <a:gd name="T8" fmla="*/ 6 w 47"/>
                <a:gd name="T9" fmla="*/ 2 h 2"/>
              </a:gdLst>
              <a:ahLst/>
              <a:cxnLst>
                <a:cxn ang="0">
                  <a:pos x="T0" y="T1"/>
                </a:cxn>
                <a:cxn ang="0">
                  <a:pos x="T2" y="T3"/>
                </a:cxn>
                <a:cxn ang="0">
                  <a:pos x="T4" y="T5"/>
                </a:cxn>
                <a:cxn ang="0">
                  <a:pos x="T6" y="T7"/>
                </a:cxn>
                <a:cxn ang="0">
                  <a:pos x="T8" y="T9"/>
                </a:cxn>
              </a:cxnLst>
              <a:rect l="0" t="0" r="r" b="b"/>
              <a:pathLst>
                <a:path w="47" h="2">
                  <a:moveTo>
                    <a:pt x="6" y="2"/>
                  </a:moveTo>
                  <a:lnTo>
                    <a:pt x="6" y="2"/>
                  </a:lnTo>
                  <a:cubicBezTo>
                    <a:pt x="25" y="2"/>
                    <a:pt x="36" y="1"/>
                    <a:pt x="47" y="0"/>
                  </a:cubicBezTo>
                  <a:cubicBezTo>
                    <a:pt x="33" y="0"/>
                    <a:pt x="18" y="1"/>
                    <a:pt x="2" y="1"/>
                  </a:cubicBezTo>
                  <a:cubicBezTo>
                    <a:pt x="0" y="1"/>
                    <a:pt x="0" y="2"/>
                    <a:pt x="6" y="2"/>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5" name="Figura a mano libera 31"/>
            <p:cNvSpPr>
              <a:spLocks/>
            </p:cNvSpPr>
            <p:nvPr/>
          </p:nvSpPr>
          <p:spPr bwMode="invGray">
            <a:xfrm>
              <a:off x="11409363" y="1529246"/>
              <a:ext cx="31750" cy="2462"/>
            </a:xfrm>
            <a:custGeom>
              <a:avLst/>
              <a:gdLst>
                <a:gd name="T0" fmla="*/ 0 w 33"/>
                <a:gd name="T1" fmla="*/ 1 h 3"/>
                <a:gd name="T2" fmla="*/ 0 w 33"/>
                <a:gd name="T3" fmla="*/ 1 h 3"/>
                <a:gd name="T4" fmla="*/ 33 w 33"/>
                <a:gd name="T5" fmla="*/ 3 h 3"/>
                <a:gd name="T6" fmla="*/ 0 w 33"/>
                <a:gd name="T7" fmla="*/ 1 h 3"/>
              </a:gdLst>
              <a:ahLst/>
              <a:cxnLst>
                <a:cxn ang="0">
                  <a:pos x="T0" y="T1"/>
                </a:cxn>
                <a:cxn ang="0">
                  <a:pos x="T2" y="T3"/>
                </a:cxn>
                <a:cxn ang="0">
                  <a:pos x="T4" y="T5"/>
                </a:cxn>
                <a:cxn ang="0">
                  <a:pos x="T6" y="T7"/>
                </a:cxn>
              </a:cxnLst>
              <a:rect l="0" t="0" r="r" b="b"/>
              <a:pathLst>
                <a:path w="33" h="3">
                  <a:moveTo>
                    <a:pt x="0" y="1"/>
                  </a:moveTo>
                  <a:lnTo>
                    <a:pt x="0" y="1"/>
                  </a:lnTo>
                  <a:cubicBezTo>
                    <a:pt x="10" y="2"/>
                    <a:pt x="21" y="3"/>
                    <a:pt x="33" y="3"/>
                  </a:cubicBezTo>
                  <a:cubicBezTo>
                    <a:pt x="23" y="2"/>
                    <a:pt x="3" y="0"/>
                    <a:pt x="0"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6" name="Figura a mano libera 32"/>
            <p:cNvSpPr>
              <a:spLocks/>
            </p:cNvSpPr>
            <p:nvPr/>
          </p:nvSpPr>
          <p:spPr bwMode="invGray">
            <a:xfrm>
              <a:off x="11618913" y="1531708"/>
              <a:ext cx="6350" cy="0"/>
            </a:xfrm>
            <a:custGeom>
              <a:avLst/>
              <a:gdLst>
                <a:gd name="T0" fmla="*/ 3 w 6"/>
                <a:gd name="T1" fmla="*/ 1 h 1"/>
                <a:gd name="T2" fmla="*/ 3 w 6"/>
                <a:gd name="T3" fmla="*/ 1 h 1"/>
                <a:gd name="T4" fmla="*/ 6 w 6"/>
                <a:gd name="T5" fmla="*/ 1 h 1"/>
                <a:gd name="T6" fmla="*/ 3 w 6"/>
                <a:gd name="T7" fmla="*/ 1 h 1"/>
              </a:gdLst>
              <a:ahLst/>
              <a:cxnLst>
                <a:cxn ang="0">
                  <a:pos x="T0" y="T1"/>
                </a:cxn>
                <a:cxn ang="0">
                  <a:pos x="T2" y="T3"/>
                </a:cxn>
                <a:cxn ang="0">
                  <a:pos x="T4" y="T5"/>
                </a:cxn>
                <a:cxn ang="0">
                  <a:pos x="T6" y="T7"/>
                </a:cxn>
              </a:cxnLst>
              <a:rect l="0" t="0" r="r" b="b"/>
              <a:pathLst>
                <a:path w="6" h="1">
                  <a:moveTo>
                    <a:pt x="3" y="1"/>
                  </a:moveTo>
                  <a:lnTo>
                    <a:pt x="3" y="1"/>
                  </a:lnTo>
                  <a:lnTo>
                    <a:pt x="6" y="1"/>
                  </a:lnTo>
                  <a:cubicBezTo>
                    <a:pt x="0" y="0"/>
                    <a:pt x="0" y="1"/>
                    <a:pt x="3"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7" name="Figura a mano libera 33"/>
            <p:cNvSpPr>
              <a:spLocks/>
            </p:cNvSpPr>
            <p:nvPr/>
          </p:nvSpPr>
          <p:spPr bwMode="invGray">
            <a:xfrm>
              <a:off x="11598275" y="1531708"/>
              <a:ext cx="28575" cy="2462"/>
            </a:xfrm>
            <a:custGeom>
              <a:avLst/>
              <a:gdLst>
                <a:gd name="T0" fmla="*/ 25 w 31"/>
                <a:gd name="T1" fmla="*/ 0 h 3"/>
                <a:gd name="T2" fmla="*/ 25 w 31"/>
                <a:gd name="T3" fmla="*/ 0 h 3"/>
                <a:gd name="T4" fmla="*/ 0 w 31"/>
                <a:gd name="T5" fmla="*/ 3 h 3"/>
                <a:gd name="T6" fmla="*/ 31 w 31"/>
                <a:gd name="T7" fmla="*/ 2 h 3"/>
                <a:gd name="T8" fmla="*/ 25 w 31"/>
                <a:gd name="T9" fmla="*/ 0 h 3"/>
              </a:gdLst>
              <a:ahLst/>
              <a:cxnLst>
                <a:cxn ang="0">
                  <a:pos x="T0" y="T1"/>
                </a:cxn>
                <a:cxn ang="0">
                  <a:pos x="T2" y="T3"/>
                </a:cxn>
                <a:cxn ang="0">
                  <a:pos x="T4" y="T5"/>
                </a:cxn>
                <a:cxn ang="0">
                  <a:pos x="T6" y="T7"/>
                </a:cxn>
                <a:cxn ang="0">
                  <a:pos x="T8" y="T9"/>
                </a:cxn>
              </a:cxnLst>
              <a:rect l="0" t="0" r="r" b="b"/>
              <a:pathLst>
                <a:path w="31" h="3">
                  <a:moveTo>
                    <a:pt x="25" y="0"/>
                  </a:moveTo>
                  <a:lnTo>
                    <a:pt x="25" y="0"/>
                  </a:lnTo>
                  <a:cubicBezTo>
                    <a:pt x="15" y="1"/>
                    <a:pt x="8" y="2"/>
                    <a:pt x="0" y="3"/>
                  </a:cubicBezTo>
                  <a:cubicBezTo>
                    <a:pt x="11" y="3"/>
                    <a:pt x="22" y="2"/>
                    <a:pt x="31" y="2"/>
                  </a:cubicBezTo>
                  <a:cubicBezTo>
                    <a:pt x="29" y="1"/>
                    <a:pt x="27" y="1"/>
                    <a:pt x="25"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8" name="Figura a mano libera 34"/>
            <p:cNvSpPr>
              <a:spLocks/>
            </p:cNvSpPr>
            <p:nvPr/>
          </p:nvSpPr>
          <p:spPr bwMode="invGray">
            <a:xfrm>
              <a:off x="11137900" y="1534170"/>
              <a:ext cx="188912" cy="23388"/>
            </a:xfrm>
            <a:custGeom>
              <a:avLst/>
              <a:gdLst>
                <a:gd name="T0" fmla="*/ 60 w 198"/>
                <a:gd name="T1" fmla="*/ 27 h 27"/>
                <a:gd name="T2" fmla="*/ 60 w 198"/>
                <a:gd name="T3" fmla="*/ 27 h 27"/>
                <a:gd name="T4" fmla="*/ 156 w 198"/>
                <a:gd name="T5" fmla="*/ 24 h 27"/>
                <a:gd name="T6" fmla="*/ 134 w 198"/>
                <a:gd name="T7" fmla="*/ 0 h 27"/>
                <a:gd name="T8" fmla="*/ 89 w 198"/>
                <a:gd name="T9" fmla="*/ 6 h 27"/>
                <a:gd name="T10" fmla="*/ 149 w 198"/>
                <a:gd name="T11" fmla="*/ 14 h 27"/>
                <a:gd name="T12" fmla="*/ 74 w 198"/>
                <a:gd name="T13" fmla="*/ 11 h 27"/>
                <a:gd name="T14" fmla="*/ 13 w 198"/>
                <a:gd name="T15" fmla="*/ 25 h 27"/>
                <a:gd name="T16" fmla="*/ 63 w 198"/>
                <a:gd name="T17" fmla="*/ 23 h 27"/>
                <a:gd name="T18" fmla="*/ 60 w 198"/>
                <a:gd name="T19" fmla="*/ 27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8" h="27">
                  <a:moveTo>
                    <a:pt x="60" y="27"/>
                  </a:moveTo>
                  <a:lnTo>
                    <a:pt x="60" y="27"/>
                  </a:lnTo>
                  <a:cubicBezTo>
                    <a:pt x="63" y="23"/>
                    <a:pt x="113" y="19"/>
                    <a:pt x="156" y="24"/>
                  </a:cubicBezTo>
                  <a:cubicBezTo>
                    <a:pt x="198" y="21"/>
                    <a:pt x="171" y="7"/>
                    <a:pt x="134" y="0"/>
                  </a:cubicBezTo>
                  <a:cubicBezTo>
                    <a:pt x="133" y="2"/>
                    <a:pt x="133" y="3"/>
                    <a:pt x="89" y="6"/>
                  </a:cubicBezTo>
                  <a:cubicBezTo>
                    <a:pt x="104" y="8"/>
                    <a:pt x="186" y="11"/>
                    <a:pt x="149" y="14"/>
                  </a:cubicBezTo>
                  <a:cubicBezTo>
                    <a:pt x="91" y="16"/>
                    <a:pt x="102" y="13"/>
                    <a:pt x="74" y="11"/>
                  </a:cubicBezTo>
                  <a:cubicBezTo>
                    <a:pt x="97" y="16"/>
                    <a:pt x="0" y="18"/>
                    <a:pt x="13" y="25"/>
                  </a:cubicBezTo>
                  <a:lnTo>
                    <a:pt x="63" y="23"/>
                  </a:lnTo>
                  <a:cubicBezTo>
                    <a:pt x="64" y="24"/>
                    <a:pt x="46" y="26"/>
                    <a:pt x="60" y="27"/>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29" name="Figura a mano libera 35"/>
            <p:cNvSpPr>
              <a:spLocks/>
            </p:cNvSpPr>
            <p:nvPr/>
          </p:nvSpPr>
          <p:spPr bwMode="invGray">
            <a:xfrm>
              <a:off x="11266488" y="1529246"/>
              <a:ext cx="95250" cy="4924"/>
            </a:xfrm>
            <a:custGeom>
              <a:avLst/>
              <a:gdLst>
                <a:gd name="T0" fmla="*/ 82 w 100"/>
                <a:gd name="T1" fmla="*/ 6 h 6"/>
                <a:gd name="T2" fmla="*/ 82 w 100"/>
                <a:gd name="T3" fmla="*/ 6 h 6"/>
                <a:gd name="T4" fmla="*/ 100 w 100"/>
                <a:gd name="T5" fmla="*/ 6 h 6"/>
                <a:gd name="T6" fmla="*/ 38 w 100"/>
                <a:gd name="T7" fmla="*/ 0 h 6"/>
                <a:gd name="T8" fmla="*/ 0 w 100"/>
                <a:gd name="T9" fmla="*/ 5 h 6"/>
                <a:gd name="T10" fmla="*/ 88 w 100"/>
                <a:gd name="T11" fmla="*/ 6 h 6"/>
                <a:gd name="T12" fmla="*/ 82 w 100"/>
                <a:gd name="T13" fmla="*/ 6 h 6"/>
              </a:gdLst>
              <a:ahLst/>
              <a:cxnLst>
                <a:cxn ang="0">
                  <a:pos x="T0" y="T1"/>
                </a:cxn>
                <a:cxn ang="0">
                  <a:pos x="T2" y="T3"/>
                </a:cxn>
                <a:cxn ang="0">
                  <a:pos x="T4" y="T5"/>
                </a:cxn>
                <a:cxn ang="0">
                  <a:pos x="T6" y="T7"/>
                </a:cxn>
                <a:cxn ang="0">
                  <a:pos x="T8" y="T9"/>
                </a:cxn>
                <a:cxn ang="0">
                  <a:pos x="T10" y="T11"/>
                </a:cxn>
                <a:cxn ang="0">
                  <a:pos x="T12" y="T13"/>
                </a:cxn>
              </a:cxnLst>
              <a:rect l="0" t="0" r="r" b="b"/>
              <a:pathLst>
                <a:path w="100" h="6">
                  <a:moveTo>
                    <a:pt x="82" y="6"/>
                  </a:moveTo>
                  <a:lnTo>
                    <a:pt x="82" y="6"/>
                  </a:lnTo>
                  <a:lnTo>
                    <a:pt x="100" y="6"/>
                  </a:lnTo>
                  <a:cubicBezTo>
                    <a:pt x="79" y="5"/>
                    <a:pt x="65" y="4"/>
                    <a:pt x="38" y="0"/>
                  </a:cubicBezTo>
                  <a:cubicBezTo>
                    <a:pt x="8" y="2"/>
                    <a:pt x="2" y="4"/>
                    <a:pt x="0" y="5"/>
                  </a:cubicBezTo>
                  <a:lnTo>
                    <a:pt x="88" y="6"/>
                  </a:lnTo>
                  <a:lnTo>
                    <a:pt x="82"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0" name="Figura a mano libera 36"/>
            <p:cNvSpPr>
              <a:spLocks/>
            </p:cNvSpPr>
            <p:nvPr/>
          </p:nvSpPr>
          <p:spPr bwMode="invGray">
            <a:xfrm>
              <a:off x="11361738" y="1531708"/>
              <a:ext cx="134937" cy="12309"/>
            </a:xfrm>
            <a:custGeom>
              <a:avLst/>
              <a:gdLst>
                <a:gd name="T0" fmla="*/ 80 w 142"/>
                <a:gd name="T1" fmla="*/ 3 h 14"/>
                <a:gd name="T2" fmla="*/ 80 w 142"/>
                <a:gd name="T3" fmla="*/ 3 h 14"/>
                <a:gd name="T4" fmla="*/ 49 w 142"/>
                <a:gd name="T5" fmla="*/ 14 h 14"/>
                <a:gd name="T6" fmla="*/ 118 w 142"/>
                <a:gd name="T7" fmla="*/ 8 h 14"/>
                <a:gd name="T8" fmla="*/ 81 w 142"/>
                <a:gd name="T9" fmla="*/ 3 h 14"/>
                <a:gd name="T10" fmla="*/ 127 w 142"/>
                <a:gd name="T11" fmla="*/ 2 h 14"/>
                <a:gd name="T12" fmla="*/ 83 w 142"/>
                <a:gd name="T13" fmla="*/ 0 h 14"/>
                <a:gd name="T14" fmla="*/ 85 w 142"/>
                <a:gd name="T15" fmla="*/ 1 h 14"/>
                <a:gd name="T16" fmla="*/ 85 w 142"/>
                <a:gd name="T17" fmla="*/ 1 h 14"/>
                <a:gd name="T18" fmla="*/ 85 w 142"/>
                <a:gd name="T19" fmla="*/ 1 h 14"/>
                <a:gd name="T20" fmla="*/ 86 w 142"/>
                <a:gd name="T21" fmla="*/ 1 h 14"/>
                <a:gd name="T22" fmla="*/ 84 w 142"/>
                <a:gd name="T23" fmla="*/ 1 h 14"/>
                <a:gd name="T24" fmla="*/ 80 w 142"/>
                <a:gd name="T25" fmla="*/ 3 h 14"/>
                <a:gd name="T26" fmla="*/ 84 w 142"/>
                <a:gd name="T27" fmla="*/ 1 h 14"/>
                <a:gd name="T28" fmla="*/ 85 w 142"/>
                <a:gd name="T29" fmla="*/ 1 h 14"/>
                <a:gd name="T30" fmla="*/ 85 w 142"/>
                <a:gd name="T31" fmla="*/ 1 h 14"/>
                <a:gd name="T32" fmla="*/ 0 w 142"/>
                <a:gd name="T33" fmla="*/ 3 h 14"/>
                <a:gd name="T34" fmla="*/ 80 w 142"/>
                <a:gd name="T35" fmla="*/ 3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42" h="14">
                  <a:moveTo>
                    <a:pt x="80" y="3"/>
                  </a:moveTo>
                  <a:lnTo>
                    <a:pt x="80" y="3"/>
                  </a:lnTo>
                  <a:cubicBezTo>
                    <a:pt x="66" y="7"/>
                    <a:pt x="23" y="9"/>
                    <a:pt x="49" y="14"/>
                  </a:cubicBezTo>
                  <a:cubicBezTo>
                    <a:pt x="102" y="14"/>
                    <a:pt x="86" y="10"/>
                    <a:pt x="118" y="8"/>
                  </a:cubicBezTo>
                  <a:cubicBezTo>
                    <a:pt x="33" y="9"/>
                    <a:pt x="142" y="6"/>
                    <a:pt x="81" y="3"/>
                  </a:cubicBezTo>
                  <a:cubicBezTo>
                    <a:pt x="97" y="3"/>
                    <a:pt x="112" y="2"/>
                    <a:pt x="127" y="2"/>
                  </a:cubicBezTo>
                  <a:cubicBezTo>
                    <a:pt x="111" y="2"/>
                    <a:pt x="97" y="1"/>
                    <a:pt x="83" y="0"/>
                  </a:cubicBezTo>
                  <a:lnTo>
                    <a:pt x="85" y="1"/>
                  </a:lnTo>
                  <a:lnTo>
                    <a:pt x="85" y="1"/>
                  </a:lnTo>
                  <a:cubicBezTo>
                    <a:pt x="85" y="1"/>
                    <a:pt x="85" y="1"/>
                    <a:pt x="85" y="1"/>
                  </a:cubicBezTo>
                  <a:cubicBezTo>
                    <a:pt x="89" y="1"/>
                    <a:pt x="90" y="1"/>
                    <a:pt x="86" y="1"/>
                  </a:cubicBezTo>
                  <a:lnTo>
                    <a:pt x="84" y="1"/>
                  </a:lnTo>
                  <a:cubicBezTo>
                    <a:pt x="83" y="2"/>
                    <a:pt x="82" y="2"/>
                    <a:pt x="80" y="3"/>
                  </a:cubicBezTo>
                  <a:cubicBezTo>
                    <a:pt x="56" y="2"/>
                    <a:pt x="76" y="2"/>
                    <a:pt x="84" y="1"/>
                  </a:cubicBezTo>
                  <a:cubicBezTo>
                    <a:pt x="84" y="1"/>
                    <a:pt x="85" y="1"/>
                    <a:pt x="85" y="1"/>
                  </a:cubicBezTo>
                  <a:lnTo>
                    <a:pt x="85" y="1"/>
                  </a:lnTo>
                  <a:lnTo>
                    <a:pt x="0" y="3"/>
                  </a:lnTo>
                  <a:cubicBezTo>
                    <a:pt x="18" y="3"/>
                    <a:pt x="40" y="3"/>
                    <a:pt x="80"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1" name="Figura a mano libera 37"/>
            <p:cNvSpPr>
              <a:spLocks/>
            </p:cNvSpPr>
            <p:nvPr/>
          </p:nvSpPr>
          <p:spPr bwMode="invGray">
            <a:xfrm>
              <a:off x="11834813" y="1552634"/>
              <a:ext cx="9525" cy="1231"/>
            </a:xfrm>
            <a:custGeom>
              <a:avLst/>
              <a:gdLst>
                <a:gd name="T0" fmla="*/ 11 w 11"/>
                <a:gd name="T1" fmla="*/ 1 h 1"/>
                <a:gd name="T2" fmla="*/ 11 w 11"/>
                <a:gd name="T3" fmla="*/ 1 h 1"/>
                <a:gd name="T4" fmla="*/ 8 w 11"/>
                <a:gd name="T5" fmla="*/ 0 h 1"/>
                <a:gd name="T6" fmla="*/ 11 w 11"/>
                <a:gd name="T7" fmla="*/ 1 h 1"/>
              </a:gdLst>
              <a:ahLst/>
              <a:cxnLst>
                <a:cxn ang="0">
                  <a:pos x="T0" y="T1"/>
                </a:cxn>
                <a:cxn ang="0">
                  <a:pos x="T2" y="T3"/>
                </a:cxn>
                <a:cxn ang="0">
                  <a:pos x="T4" y="T5"/>
                </a:cxn>
                <a:cxn ang="0">
                  <a:pos x="T6" y="T7"/>
                </a:cxn>
              </a:cxnLst>
              <a:rect l="0" t="0" r="r" b="b"/>
              <a:pathLst>
                <a:path w="11" h="1">
                  <a:moveTo>
                    <a:pt x="11" y="1"/>
                  </a:moveTo>
                  <a:lnTo>
                    <a:pt x="11" y="1"/>
                  </a:lnTo>
                  <a:cubicBezTo>
                    <a:pt x="8" y="1"/>
                    <a:pt x="8" y="1"/>
                    <a:pt x="8" y="0"/>
                  </a:cubicBezTo>
                  <a:cubicBezTo>
                    <a:pt x="2" y="1"/>
                    <a:pt x="0" y="1"/>
                    <a:pt x="11"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2" name="Figura a mano libera 38"/>
            <p:cNvSpPr>
              <a:spLocks/>
            </p:cNvSpPr>
            <p:nvPr/>
          </p:nvSpPr>
          <p:spPr bwMode="invGray">
            <a:xfrm>
              <a:off x="11764963" y="1542787"/>
              <a:ext cx="117475" cy="9847"/>
            </a:xfrm>
            <a:custGeom>
              <a:avLst/>
              <a:gdLst>
                <a:gd name="T0" fmla="*/ 48 w 122"/>
                <a:gd name="T1" fmla="*/ 11 h 12"/>
                <a:gd name="T2" fmla="*/ 48 w 122"/>
                <a:gd name="T3" fmla="*/ 11 h 12"/>
                <a:gd name="T4" fmla="*/ 79 w 122"/>
                <a:gd name="T5" fmla="*/ 9 h 12"/>
                <a:gd name="T6" fmla="*/ 80 w 122"/>
                <a:gd name="T7" fmla="*/ 12 h 12"/>
                <a:gd name="T8" fmla="*/ 84 w 122"/>
                <a:gd name="T9" fmla="*/ 7 h 12"/>
                <a:gd name="T10" fmla="*/ 78 w 122"/>
                <a:gd name="T11" fmla="*/ 8 h 12"/>
                <a:gd name="T12" fmla="*/ 6 w 122"/>
                <a:gd name="T13" fmla="*/ 0 h 12"/>
                <a:gd name="T14" fmla="*/ 48 w 122"/>
                <a:gd name="T15" fmla="*/ 11 h 1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2" h="12">
                  <a:moveTo>
                    <a:pt x="48" y="11"/>
                  </a:moveTo>
                  <a:lnTo>
                    <a:pt x="48" y="11"/>
                  </a:lnTo>
                  <a:cubicBezTo>
                    <a:pt x="54" y="10"/>
                    <a:pt x="59" y="8"/>
                    <a:pt x="79" y="9"/>
                  </a:cubicBezTo>
                  <a:cubicBezTo>
                    <a:pt x="96" y="10"/>
                    <a:pt x="79" y="11"/>
                    <a:pt x="80" y="12"/>
                  </a:cubicBezTo>
                  <a:cubicBezTo>
                    <a:pt x="92" y="11"/>
                    <a:pt x="122" y="9"/>
                    <a:pt x="84" y="7"/>
                  </a:cubicBezTo>
                  <a:lnTo>
                    <a:pt x="78" y="8"/>
                  </a:lnTo>
                  <a:cubicBezTo>
                    <a:pt x="44" y="6"/>
                    <a:pt x="0" y="1"/>
                    <a:pt x="6" y="0"/>
                  </a:cubicBezTo>
                  <a:cubicBezTo>
                    <a:pt x="16" y="4"/>
                    <a:pt x="25" y="7"/>
                    <a:pt x="48" y="1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3" name="Figura a mano libera 39"/>
            <p:cNvSpPr>
              <a:spLocks/>
            </p:cNvSpPr>
            <p:nvPr/>
          </p:nvSpPr>
          <p:spPr bwMode="invGray">
            <a:xfrm>
              <a:off x="11555413" y="1544017"/>
              <a:ext cx="69850" cy="4924"/>
            </a:xfrm>
            <a:custGeom>
              <a:avLst/>
              <a:gdLst>
                <a:gd name="T0" fmla="*/ 70 w 74"/>
                <a:gd name="T1" fmla="*/ 0 h 6"/>
                <a:gd name="T2" fmla="*/ 70 w 74"/>
                <a:gd name="T3" fmla="*/ 0 h 6"/>
                <a:gd name="T4" fmla="*/ 0 w 74"/>
                <a:gd name="T5" fmla="*/ 2 h 6"/>
                <a:gd name="T6" fmla="*/ 36 w 74"/>
                <a:gd name="T7" fmla="*/ 6 h 6"/>
                <a:gd name="T8" fmla="*/ 34 w 74"/>
                <a:gd name="T9" fmla="*/ 4 h 6"/>
                <a:gd name="T10" fmla="*/ 70 w 74"/>
                <a:gd name="T11" fmla="*/ 0 h 6"/>
              </a:gdLst>
              <a:ahLst/>
              <a:cxnLst>
                <a:cxn ang="0">
                  <a:pos x="T0" y="T1"/>
                </a:cxn>
                <a:cxn ang="0">
                  <a:pos x="T2" y="T3"/>
                </a:cxn>
                <a:cxn ang="0">
                  <a:pos x="T4" y="T5"/>
                </a:cxn>
                <a:cxn ang="0">
                  <a:pos x="T6" y="T7"/>
                </a:cxn>
                <a:cxn ang="0">
                  <a:pos x="T8" y="T9"/>
                </a:cxn>
                <a:cxn ang="0">
                  <a:pos x="T10" y="T11"/>
                </a:cxn>
              </a:cxnLst>
              <a:rect l="0" t="0" r="r" b="b"/>
              <a:pathLst>
                <a:path w="74" h="6">
                  <a:moveTo>
                    <a:pt x="70" y="0"/>
                  </a:moveTo>
                  <a:lnTo>
                    <a:pt x="70" y="0"/>
                  </a:lnTo>
                  <a:lnTo>
                    <a:pt x="0" y="2"/>
                  </a:lnTo>
                  <a:lnTo>
                    <a:pt x="36" y="6"/>
                  </a:lnTo>
                  <a:lnTo>
                    <a:pt x="34" y="4"/>
                  </a:lnTo>
                  <a:cubicBezTo>
                    <a:pt x="74" y="4"/>
                    <a:pt x="65" y="2"/>
                    <a:pt x="70"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4" name="Figura a mano libera 40"/>
            <p:cNvSpPr>
              <a:spLocks/>
            </p:cNvSpPr>
            <p:nvPr/>
          </p:nvSpPr>
          <p:spPr bwMode="invGray">
            <a:xfrm>
              <a:off x="11223625" y="1528016"/>
              <a:ext cx="38100" cy="6155"/>
            </a:xfrm>
            <a:custGeom>
              <a:avLst/>
              <a:gdLst>
                <a:gd name="T0" fmla="*/ 31 w 40"/>
                <a:gd name="T1" fmla="*/ 5 h 7"/>
                <a:gd name="T2" fmla="*/ 31 w 40"/>
                <a:gd name="T3" fmla="*/ 5 h 7"/>
                <a:gd name="T4" fmla="*/ 40 w 40"/>
                <a:gd name="T5" fmla="*/ 0 h 7"/>
                <a:gd name="T6" fmla="*/ 0 w 40"/>
                <a:gd name="T7" fmla="*/ 7 h 7"/>
                <a:gd name="T8" fmla="*/ 31 w 40"/>
                <a:gd name="T9" fmla="*/ 5 h 7"/>
              </a:gdLst>
              <a:ahLst/>
              <a:cxnLst>
                <a:cxn ang="0">
                  <a:pos x="T0" y="T1"/>
                </a:cxn>
                <a:cxn ang="0">
                  <a:pos x="T2" y="T3"/>
                </a:cxn>
                <a:cxn ang="0">
                  <a:pos x="T4" y="T5"/>
                </a:cxn>
                <a:cxn ang="0">
                  <a:pos x="T6" y="T7"/>
                </a:cxn>
                <a:cxn ang="0">
                  <a:pos x="T8" y="T9"/>
                </a:cxn>
              </a:cxnLst>
              <a:rect l="0" t="0" r="r" b="b"/>
              <a:pathLst>
                <a:path w="40" h="7">
                  <a:moveTo>
                    <a:pt x="31" y="5"/>
                  </a:moveTo>
                  <a:lnTo>
                    <a:pt x="31" y="5"/>
                  </a:lnTo>
                  <a:lnTo>
                    <a:pt x="40" y="0"/>
                  </a:lnTo>
                  <a:lnTo>
                    <a:pt x="0" y="7"/>
                  </a:lnTo>
                  <a:lnTo>
                    <a:pt x="31" y="5"/>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5" name="Figura a mano libera 41"/>
            <p:cNvSpPr>
              <a:spLocks/>
            </p:cNvSpPr>
            <p:nvPr/>
          </p:nvSpPr>
          <p:spPr bwMode="invGray">
            <a:xfrm>
              <a:off x="11145838" y="1529246"/>
              <a:ext cx="22225" cy="2462"/>
            </a:xfrm>
            <a:custGeom>
              <a:avLst/>
              <a:gdLst>
                <a:gd name="T0" fmla="*/ 21 w 24"/>
                <a:gd name="T1" fmla="*/ 4 h 4"/>
                <a:gd name="T2" fmla="*/ 21 w 24"/>
                <a:gd name="T3" fmla="*/ 4 h 4"/>
                <a:gd name="T4" fmla="*/ 24 w 24"/>
                <a:gd name="T5" fmla="*/ 0 h 4"/>
                <a:gd name="T6" fmla="*/ 0 w 24"/>
                <a:gd name="T7" fmla="*/ 3 h 4"/>
                <a:gd name="T8" fmla="*/ 21 w 24"/>
                <a:gd name="T9" fmla="*/ 4 h 4"/>
              </a:gdLst>
              <a:ahLst/>
              <a:cxnLst>
                <a:cxn ang="0">
                  <a:pos x="T0" y="T1"/>
                </a:cxn>
                <a:cxn ang="0">
                  <a:pos x="T2" y="T3"/>
                </a:cxn>
                <a:cxn ang="0">
                  <a:pos x="T4" y="T5"/>
                </a:cxn>
                <a:cxn ang="0">
                  <a:pos x="T6" y="T7"/>
                </a:cxn>
                <a:cxn ang="0">
                  <a:pos x="T8" y="T9"/>
                </a:cxn>
              </a:cxnLst>
              <a:rect l="0" t="0" r="r" b="b"/>
              <a:pathLst>
                <a:path w="24" h="4">
                  <a:moveTo>
                    <a:pt x="21" y="4"/>
                  </a:moveTo>
                  <a:lnTo>
                    <a:pt x="21" y="4"/>
                  </a:lnTo>
                  <a:lnTo>
                    <a:pt x="24" y="0"/>
                  </a:lnTo>
                  <a:lnTo>
                    <a:pt x="0" y="3"/>
                  </a:lnTo>
                  <a:lnTo>
                    <a:pt x="21" y="4"/>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6" name="Figura a mano libera 42"/>
            <p:cNvSpPr>
              <a:spLocks/>
            </p:cNvSpPr>
            <p:nvPr/>
          </p:nvSpPr>
          <p:spPr bwMode="invGray">
            <a:xfrm>
              <a:off x="6197600" y="1566174"/>
              <a:ext cx="20637" cy="1231"/>
            </a:xfrm>
            <a:custGeom>
              <a:avLst/>
              <a:gdLst>
                <a:gd name="T0" fmla="*/ 21 w 21"/>
                <a:gd name="T1" fmla="*/ 0 h 1"/>
                <a:gd name="T2" fmla="*/ 21 w 21"/>
                <a:gd name="T3" fmla="*/ 0 h 1"/>
                <a:gd name="T4" fmla="*/ 0 w 21"/>
                <a:gd name="T5" fmla="*/ 1 h 1"/>
                <a:gd name="T6" fmla="*/ 21 w 21"/>
                <a:gd name="T7" fmla="*/ 0 h 1"/>
              </a:gdLst>
              <a:ahLst/>
              <a:cxnLst>
                <a:cxn ang="0">
                  <a:pos x="T0" y="T1"/>
                </a:cxn>
                <a:cxn ang="0">
                  <a:pos x="T2" y="T3"/>
                </a:cxn>
                <a:cxn ang="0">
                  <a:pos x="T4" y="T5"/>
                </a:cxn>
                <a:cxn ang="0">
                  <a:pos x="T6" y="T7"/>
                </a:cxn>
              </a:cxnLst>
              <a:rect l="0" t="0" r="r" b="b"/>
              <a:pathLst>
                <a:path w="21" h="1">
                  <a:moveTo>
                    <a:pt x="21" y="0"/>
                  </a:moveTo>
                  <a:lnTo>
                    <a:pt x="21" y="0"/>
                  </a:lnTo>
                  <a:lnTo>
                    <a:pt x="0" y="1"/>
                  </a:lnTo>
                  <a:cubicBezTo>
                    <a:pt x="10" y="0"/>
                    <a:pt x="16" y="0"/>
                    <a:pt x="21"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7" name="Figura a mano libera 43"/>
            <p:cNvSpPr>
              <a:spLocks/>
            </p:cNvSpPr>
            <p:nvPr/>
          </p:nvSpPr>
          <p:spPr bwMode="invGray">
            <a:xfrm>
              <a:off x="6356350" y="1564943"/>
              <a:ext cx="9525" cy="1231"/>
            </a:xfrm>
            <a:custGeom>
              <a:avLst/>
              <a:gdLst>
                <a:gd name="T0" fmla="*/ 6 w 10"/>
                <a:gd name="T1" fmla="*/ 2 h 2"/>
                <a:gd name="T2" fmla="*/ 6 w 10"/>
                <a:gd name="T3" fmla="*/ 2 h 2"/>
                <a:gd name="T4" fmla="*/ 10 w 10"/>
                <a:gd name="T5" fmla="*/ 0 h 2"/>
                <a:gd name="T6" fmla="*/ 6 w 10"/>
                <a:gd name="T7" fmla="*/ 2 h 2"/>
              </a:gdLst>
              <a:ahLst/>
              <a:cxnLst>
                <a:cxn ang="0">
                  <a:pos x="T0" y="T1"/>
                </a:cxn>
                <a:cxn ang="0">
                  <a:pos x="T2" y="T3"/>
                </a:cxn>
                <a:cxn ang="0">
                  <a:pos x="T4" y="T5"/>
                </a:cxn>
                <a:cxn ang="0">
                  <a:pos x="T6" y="T7"/>
                </a:cxn>
              </a:cxnLst>
              <a:rect l="0" t="0" r="r" b="b"/>
              <a:pathLst>
                <a:path w="10" h="2">
                  <a:moveTo>
                    <a:pt x="6" y="2"/>
                  </a:moveTo>
                  <a:lnTo>
                    <a:pt x="6" y="2"/>
                  </a:lnTo>
                  <a:lnTo>
                    <a:pt x="10" y="0"/>
                  </a:lnTo>
                  <a:cubicBezTo>
                    <a:pt x="3" y="1"/>
                    <a:pt x="0" y="2"/>
                    <a:pt x="6" y="2"/>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8" name="Figura a mano libera 44"/>
            <p:cNvSpPr>
              <a:spLocks/>
            </p:cNvSpPr>
            <p:nvPr/>
          </p:nvSpPr>
          <p:spPr bwMode="invGray">
            <a:xfrm>
              <a:off x="8950325" y="1521861"/>
              <a:ext cx="61912" cy="7386"/>
            </a:xfrm>
            <a:custGeom>
              <a:avLst/>
              <a:gdLst>
                <a:gd name="T0" fmla="*/ 65 w 65"/>
                <a:gd name="T1" fmla="*/ 9 h 9"/>
                <a:gd name="T2" fmla="*/ 65 w 65"/>
                <a:gd name="T3" fmla="*/ 9 h 9"/>
                <a:gd name="T4" fmla="*/ 4 w 65"/>
                <a:gd name="T5" fmla="*/ 4 h 9"/>
                <a:gd name="T6" fmla="*/ 13 w 65"/>
                <a:gd name="T7" fmla="*/ 8 h 9"/>
                <a:gd name="T8" fmla="*/ 65 w 65"/>
                <a:gd name="T9" fmla="*/ 9 h 9"/>
              </a:gdLst>
              <a:ahLst/>
              <a:cxnLst>
                <a:cxn ang="0">
                  <a:pos x="T0" y="T1"/>
                </a:cxn>
                <a:cxn ang="0">
                  <a:pos x="T2" y="T3"/>
                </a:cxn>
                <a:cxn ang="0">
                  <a:pos x="T4" y="T5"/>
                </a:cxn>
                <a:cxn ang="0">
                  <a:pos x="T6" y="T7"/>
                </a:cxn>
                <a:cxn ang="0">
                  <a:pos x="T8" y="T9"/>
                </a:cxn>
              </a:cxnLst>
              <a:rect l="0" t="0" r="r" b="b"/>
              <a:pathLst>
                <a:path w="65" h="9">
                  <a:moveTo>
                    <a:pt x="65" y="9"/>
                  </a:moveTo>
                  <a:lnTo>
                    <a:pt x="65" y="9"/>
                  </a:lnTo>
                  <a:cubicBezTo>
                    <a:pt x="34" y="5"/>
                    <a:pt x="0" y="0"/>
                    <a:pt x="4" y="4"/>
                  </a:cubicBezTo>
                  <a:lnTo>
                    <a:pt x="13" y="8"/>
                  </a:lnTo>
                  <a:cubicBezTo>
                    <a:pt x="35" y="7"/>
                    <a:pt x="51" y="8"/>
                    <a:pt x="65" y="9"/>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39" name="Figura a mano libera 45"/>
            <p:cNvSpPr>
              <a:spLocks/>
            </p:cNvSpPr>
            <p:nvPr/>
          </p:nvSpPr>
          <p:spPr bwMode="invGray">
            <a:xfrm>
              <a:off x="7537450" y="1546479"/>
              <a:ext cx="28575" cy="3693"/>
            </a:xfrm>
            <a:custGeom>
              <a:avLst/>
              <a:gdLst>
                <a:gd name="T0" fmla="*/ 0 w 29"/>
                <a:gd name="T1" fmla="*/ 3 h 4"/>
                <a:gd name="T2" fmla="*/ 0 w 29"/>
                <a:gd name="T3" fmla="*/ 3 h 4"/>
                <a:gd name="T4" fmla="*/ 9 w 29"/>
                <a:gd name="T5" fmla="*/ 4 h 4"/>
                <a:gd name="T6" fmla="*/ 29 w 29"/>
                <a:gd name="T7" fmla="*/ 0 h 4"/>
                <a:gd name="T8" fmla="*/ 0 w 29"/>
                <a:gd name="T9" fmla="*/ 3 h 4"/>
              </a:gdLst>
              <a:ahLst/>
              <a:cxnLst>
                <a:cxn ang="0">
                  <a:pos x="T0" y="T1"/>
                </a:cxn>
                <a:cxn ang="0">
                  <a:pos x="T2" y="T3"/>
                </a:cxn>
                <a:cxn ang="0">
                  <a:pos x="T4" y="T5"/>
                </a:cxn>
                <a:cxn ang="0">
                  <a:pos x="T6" y="T7"/>
                </a:cxn>
                <a:cxn ang="0">
                  <a:pos x="T8" y="T9"/>
                </a:cxn>
              </a:cxnLst>
              <a:rect l="0" t="0" r="r" b="b"/>
              <a:pathLst>
                <a:path w="29" h="4">
                  <a:moveTo>
                    <a:pt x="0" y="3"/>
                  </a:moveTo>
                  <a:lnTo>
                    <a:pt x="0" y="3"/>
                  </a:lnTo>
                  <a:lnTo>
                    <a:pt x="9" y="4"/>
                  </a:lnTo>
                  <a:lnTo>
                    <a:pt x="29" y="0"/>
                  </a:lnTo>
                  <a:lnTo>
                    <a:pt x="0" y="3"/>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0" name="Figura a mano libera 46"/>
            <p:cNvSpPr>
              <a:spLocks/>
            </p:cNvSpPr>
            <p:nvPr/>
          </p:nvSpPr>
          <p:spPr bwMode="invGray">
            <a:xfrm>
              <a:off x="7478713" y="1562481"/>
              <a:ext cx="38100" cy="2462"/>
            </a:xfrm>
            <a:custGeom>
              <a:avLst/>
              <a:gdLst>
                <a:gd name="T0" fmla="*/ 40 w 40"/>
                <a:gd name="T1" fmla="*/ 3 h 3"/>
                <a:gd name="T2" fmla="*/ 40 w 40"/>
                <a:gd name="T3" fmla="*/ 3 h 3"/>
                <a:gd name="T4" fmla="*/ 0 w 40"/>
                <a:gd name="T5" fmla="*/ 0 h 3"/>
                <a:gd name="T6" fmla="*/ 40 w 40"/>
                <a:gd name="T7" fmla="*/ 3 h 3"/>
              </a:gdLst>
              <a:ahLst/>
              <a:cxnLst>
                <a:cxn ang="0">
                  <a:pos x="T0" y="T1"/>
                </a:cxn>
                <a:cxn ang="0">
                  <a:pos x="T2" y="T3"/>
                </a:cxn>
                <a:cxn ang="0">
                  <a:pos x="T4" y="T5"/>
                </a:cxn>
                <a:cxn ang="0">
                  <a:pos x="T6" y="T7"/>
                </a:cxn>
              </a:cxnLst>
              <a:rect l="0" t="0" r="r" b="b"/>
              <a:pathLst>
                <a:path w="40" h="3">
                  <a:moveTo>
                    <a:pt x="40" y="3"/>
                  </a:moveTo>
                  <a:lnTo>
                    <a:pt x="40" y="3"/>
                  </a:lnTo>
                  <a:lnTo>
                    <a:pt x="0" y="0"/>
                  </a:lnTo>
                  <a:cubicBezTo>
                    <a:pt x="9" y="1"/>
                    <a:pt x="22" y="2"/>
                    <a:pt x="40"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1" name="Figura a mano libera 47"/>
            <p:cNvSpPr>
              <a:spLocks/>
            </p:cNvSpPr>
            <p:nvPr/>
          </p:nvSpPr>
          <p:spPr bwMode="invGray">
            <a:xfrm>
              <a:off x="5410200" y="1568636"/>
              <a:ext cx="36512" cy="3693"/>
            </a:xfrm>
            <a:custGeom>
              <a:avLst/>
              <a:gdLst>
                <a:gd name="T0" fmla="*/ 24 w 38"/>
                <a:gd name="T1" fmla="*/ 0 h 5"/>
                <a:gd name="T2" fmla="*/ 24 w 38"/>
                <a:gd name="T3" fmla="*/ 0 h 5"/>
                <a:gd name="T4" fmla="*/ 0 w 38"/>
                <a:gd name="T5" fmla="*/ 5 h 5"/>
                <a:gd name="T6" fmla="*/ 24 w 38"/>
                <a:gd name="T7" fmla="*/ 0 h 5"/>
              </a:gdLst>
              <a:ahLst/>
              <a:cxnLst>
                <a:cxn ang="0">
                  <a:pos x="T0" y="T1"/>
                </a:cxn>
                <a:cxn ang="0">
                  <a:pos x="T2" y="T3"/>
                </a:cxn>
                <a:cxn ang="0">
                  <a:pos x="T4" y="T5"/>
                </a:cxn>
                <a:cxn ang="0">
                  <a:pos x="T6" y="T7"/>
                </a:cxn>
              </a:cxnLst>
              <a:rect l="0" t="0" r="r" b="b"/>
              <a:pathLst>
                <a:path w="38" h="5">
                  <a:moveTo>
                    <a:pt x="24" y="0"/>
                  </a:moveTo>
                  <a:lnTo>
                    <a:pt x="24" y="0"/>
                  </a:lnTo>
                  <a:lnTo>
                    <a:pt x="0" y="5"/>
                  </a:lnTo>
                  <a:cubicBezTo>
                    <a:pt x="38" y="5"/>
                    <a:pt x="21" y="3"/>
                    <a:pt x="24"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2" name="Figura a mano libera 48"/>
            <p:cNvSpPr>
              <a:spLocks/>
            </p:cNvSpPr>
            <p:nvPr/>
          </p:nvSpPr>
          <p:spPr bwMode="invGray">
            <a:xfrm>
              <a:off x="10206038" y="1530477"/>
              <a:ext cx="61912" cy="4924"/>
            </a:xfrm>
            <a:custGeom>
              <a:avLst/>
              <a:gdLst>
                <a:gd name="T0" fmla="*/ 65 w 65"/>
                <a:gd name="T1" fmla="*/ 3 h 6"/>
                <a:gd name="T2" fmla="*/ 65 w 65"/>
                <a:gd name="T3" fmla="*/ 3 h 6"/>
                <a:gd name="T4" fmla="*/ 0 w 65"/>
                <a:gd name="T5" fmla="*/ 0 h 6"/>
                <a:gd name="T6" fmla="*/ 65 w 65"/>
                <a:gd name="T7" fmla="*/ 3 h 6"/>
              </a:gdLst>
              <a:ahLst/>
              <a:cxnLst>
                <a:cxn ang="0">
                  <a:pos x="T0" y="T1"/>
                </a:cxn>
                <a:cxn ang="0">
                  <a:pos x="T2" y="T3"/>
                </a:cxn>
                <a:cxn ang="0">
                  <a:pos x="T4" y="T5"/>
                </a:cxn>
                <a:cxn ang="0">
                  <a:pos x="T6" y="T7"/>
                </a:cxn>
              </a:cxnLst>
              <a:rect l="0" t="0" r="r" b="b"/>
              <a:pathLst>
                <a:path w="65" h="6">
                  <a:moveTo>
                    <a:pt x="65" y="3"/>
                  </a:moveTo>
                  <a:lnTo>
                    <a:pt x="65" y="3"/>
                  </a:lnTo>
                  <a:cubicBezTo>
                    <a:pt x="39" y="1"/>
                    <a:pt x="18" y="0"/>
                    <a:pt x="0" y="0"/>
                  </a:cubicBezTo>
                  <a:cubicBezTo>
                    <a:pt x="32" y="2"/>
                    <a:pt x="57" y="6"/>
                    <a:pt x="65"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3" name="Figura a mano libera 49"/>
            <p:cNvSpPr>
              <a:spLocks/>
            </p:cNvSpPr>
            <p:nvPr/>
          </p:nvSpPr>
          <p:spPr bwMode="invGray">
            <a:xfrm>
              <a:off x="6257925" y="1525554"/>
              <a:ext cx="19050" cy="2462"/>
            </a:xfrm>
            <a:custGeom>
              <a:avLst/>
              <a:gdLst>
                <a:gd name="T0" fmla="*/ 18 w 21"/>
                <a:gd name="T1" fmla="*/ 0 h 2"/>
                <a:gd name="T2" fmla="*/ 18 w 21"/>
                <a:gd name="T3" fmla="*/ 0 h 2"/>
                <a:gd name="T4" fmla="*/ 0 w 21"/>
                <a:gd name="T5" fmla="*/ 2 h 2"/>
                <a:gd name="T6" fmla="*/ 18 w 21"/>
                <a:gd name="T7" fmla="*/ 0 h 2"/>
              </a:gdLst>
              <a:ahLst/>
              <a:cxnLst>
                <a:cxn ang="0">
                  <a:pos x="T0" y="T1"/>
                </a:cxn>
                <a:cxn ang="0">
                  <a:pos x="T2" y="T3"/>
                </a:cxn>
                <a:cxn ang="0">
                  <a:pos x="T4" y="T5"/>
                </a:cxn>
                <a:cxn ang="0">
                  <a:pos x="T6" y="T7"/>
                </a:cxn>
              </a:cxnLst>
              <a:rect l="0" t="0" r="r" b="b"/>
              <a:pathLst>
                <a:path w="21" h="2">
                  <a:moveTo>
                    <a:pt x="18" y="0"/>
                  </a:moveTo>
                  <a:lnTo>
                    <a:pt x="18" y="0"/>
                  </a:lnTo>
                  <a:cubicBezTo>
                    <a:pt x="5" y="1"/>
                    <a:pt x="0" y="2"/>
                    <a:pt x="0" y="2"/>
                  </a:cubicBezTo>
                  <a:cubicBezTo>
                    <a:pt x="13" y="2"/>
                    <a:pt x="21" y="1"/>
                    <a:pt x="18"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4" name="Figura a mano libera 50"/>
            <p:cNvSpPr>
              <a:spLocks/>
            </p:cNvSpPr>
            <p:nvPr/>
          </p:nvSpPr>
          <p:spPr bwMode="invGray">
            <a:xfrm>
              <a:off x="10134600" y="1528016"/>
              <a:ext cx="71437" cy="3693"/>
            </a:xfrm>
            <a:custGeom>
              <a:avLst/>
              <a:gdLst>
                <a:gd name="T0" fmla="*/ 0 w 75"/>
                <a:gd name="T1" fmla="*/ 3 h 4"/>
                <a:gd name="T2" fmla="*/ 0 w 75"/>
                <a:gd name="T3" fmla="*/ 3 h 4"/>
                <a:gd name="T4" fmla="*/ 13 w 75"/>
                <a:gd name="T5" fmla="*/ 4 h 4"/>
                <a:gd name="T6" fmla="*/ 75 w 75"/>
                <a:gd name="T7" fmla="*/ 3 h 4"/>
                <a:gd name="T8" fmla="*/ 0 w 75"/>
                <a:gd name="T9" fmla="*/ 3 h 4"/>
              </a:gdLst>
              <a:ahLst/>
              <a:cxnLst>
                <a:cxn ang="0">
                  <a:pos x="T0" y="T1"/>
                </a:cxn>
                <a:cxn ang="0">
                  <a:pos x="T2" y="T3"/>
                </a:cxn>
                <a:cxn ang="0">
                  <a:pos x="T4" y="T5"/>
                </a:cxn>
                <a:cxn ang="0">
                  <a:pos x="T6" y="T7"/>
                </a:cxn>
                <a:cxn ang="0">
                  <a:pos x="T8" y="T9"/>
                </a:cxn>
              </a:cxnLst>
              <a:rect l="0" t="0" r="r" b="b"/>
              <a:pathLst>
                <a:path w="75" h="4">
                  <a:moveTo>
                    <a:pt x="0" y="3"/>
                  </a:moveTo>
                  <a:lnTo>
                    <a:pt x="0" y="3"/>
                  </a:lnTo>
                  <a:lnTo>
                    <a:pt x="13" y="4"/>
                  </a:lnTo>
                  <a:cubicBezTo>
                    <a:pt x="32" y="3"/>
                    <a:pt x="52" y="2"/>
                    <a:pt x="75" y="3"/>
                  </a:cubicBezTo>
                  <a:cubicBezTo>
                    <a:pt x="52" y="1"/>
                    <a:pt x="25" y="0"/>
                    <a:pt x="0"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5" name="Figura a mano libera 51"/>
            <p:cNvSpPr>
              <a:spLocks/>
            </p:cNvSpPr>
            <p:nvPr/>
          </p:nvSpPr>
          <p:spPr bwMode="invGray">
            <a:xfrm>
              <a:off x="2582863" y="1560020"/>
              <a:ext cx="7937" cy="1231"/>
            </a:xfrm>
            <a:custGeom>
              <a:avLst/>
              <a:gdLst>
                <a:gd name="T0" fmla="*/ 8 w 8"/>
                <a:gd name="T1" fmla="*/ 1 h 1"/>
                <a:gd name="T2" fmla="*/ 8 w 8"/>
                <a:gd name="T3" fmla="*/ 1 h 1"/>
                <a:gd name="T4" fmla="*/ 1 w 8"/>
                <a:gd name="T5" fmla="*/ 0 h 1"/>
                <a:gd name="T6" fmla="*/ 8 w 8"/>
                <a:gd name="T7" fmla="*/ 1 h 1"/>
              </a:gdLst>
              <a:ahLst/>
              <a:cxnLst>
                <a:cxn ang="0">
                  <a:pos x="T0" y="T1"/>
                </a:cxn>
                <a:cxn ang="0">
                  <a:pos x="T2" y="T3"/>
                </a:cxn>
                <a:cxn ang="0">
                  <a:pos x="T4" y="T5"/>
                </a:cxn>
                <a:cxn ang="0">
                  <a:pos x="T6" y="T7"/>
                </a:cxn>
              </a:cxnLst>
              <a:rect l="0" t="0" r="r" b="b"/>
              <a:pathLst>
                <a:path w="8" h="1">
                  <a:moveTo>
                    <a:pt x="8" y="1"/>
                  </a:moveTo>
                  <a:lnTo>
                    <a:pt x="8" y="1"/>
                  </a:lnTo>
                  <a:lnTo>
                    <a:pt x="1" y="0"/>
                  </a:lnTo>
                  <a:cubicBezTo>
                    <a:pt x="0" y="1"/>
                    <a:pt x="3" y="1"/>
                    <a:pt x="8"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6" name="Figura a mano libera 52"/>
            <p:cNvSpPr>
              <a:spLocks/>
            </p:cNvSpPr>
            <p:nvPr/>
          </p:nvSpPr>
          <p:spPr bwMode="invGray">
            <a:xfrm>
              <a:off x="1762125" y="1521861"/>
              <a:ext cx="34925" cy="1231"/>
            </a:xfrm>
            <a:custGeom>
              <a:avLst/>
              <a:gdLst>
                <a:gd name="T0" fmla="*/ 0 w 36"/>
                <a:gd name="T1" fmla="*/ 1 h 1"/>
                <a:gd name="T2" fmla="*/ 0 w 36"/>
                <a:gd name="T3" fmla="*/ 1 h 1"/>
                <a:gd name="T4" fmla="*/ 36 w 36"/>
                <a:gd name="T5" fmla="*/ 1 h 1"/>
                <a:gd name="T6" fmla="*/ 0 w 36"/>
                <a:gd name="T7" fmla="*/ 1 h 1"/>
              </a:gdLst>
              <a:ahLst/>
              <a:cxnLst>
                <a:cxn ang="0">
                  <a:pos x="T0" y="T1"/>
                </a:cxn>
                <a:cxn ang="0">
                  <a:pos x="T2" y="T3"/>
                </a:cxn>
                <a:cxn ang="0">
                  <a:pos x="T4" y="T5"/>
                </a:cxn>
                <a:cxn ang="0">
                  <a:pos x="T6" y="T7"/>
                </a:cxn>
              </a:cxnLst>
              <a:rect l="0" t="0" r="r" b="b"/>
              <a:pathLst>
                <a:path w="36" h="1">
                  <a:moveTo>
                    <a:pt x="0" y="1"/>
                  </a:moveTo>
                  <a:lnTo>
                    <a:pt x="0" y="1"/>
                  </a:lnTo>
                  <a:cubicBezTo>
                    <a:pt x="9" y="1"/>
                    <a:pt x="23" y="1"/>
                    <a:pt x="36" y="1"/>
                  </a:cubicBezTo>
                  <a:cubicBezTo>
                    <a:pt x="29" y="0"/>
                    <a:pt x="19" y="0"/>
                    <a:pt x="0"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7" name="Figura a mano libera 53"/>
            <p:cNvSpPr>
              <a:spLocks/>
            </p:cNvSpPr>
            <p:nvPr/>
          </p:nvSpPr>
          <p:spPr bwMode="invGray">
            <a:xfrm>
              <a:off x="10812463" y="1529246"/>
              <a:ext cx="19050" cy="1231"/>
            </a:xfrm>
            <a:custGeom>
              <a:avLst/>
              <a:gdLst>
                <a:gd name="T0" fmla="*/ 0 w 20"/>
                <a:gd name="T1" fmla="*/ 1 h 1"/>
                <a:gd name="T2" fmla="*/ 0 w 20"/>
                <a:gd name="T3" fmla="*/ 1 h 1"/>
                <a:gd name="T4" fmla="*/ 0 w 20"/>
                <a:gd name="T5" fmla="*/ 1 h 1"/>
              </a:gdLst>
              <a:ahLst/>
              <a:cxnLst>
                <a:cxn ang="0">
                  <a:pos x="T0" y="T1"/>
                </a:cxn>
                <a:cxn ang="0">
                  <a:pos x="T2" y="T3"/>
                </a:cxn>
                <a:cxn ang="0">
                  <a:pos x="T4" y="T5"/>
                </a:cxn>
              </a:cxnLst>
              <a:rect l="0" t="0" r="r" b="b"/>
              <a:pathLst>
                <a:path w="20" h="1">
                  <a:moveTo>
                    <a:pt x="0" y="1"/>
                  </a:moveTo>
                  <a:lnTo>
                    <a:pt x="0" y="1"/>
                  </a:lnTo>
                  <a:cubicBezTo>
                    <a:pt x="20" y="1"/>
                    <a:pt x="3" y="0"/>
                    <a:pt x="0"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8" name="Figura a mano libera 54"/>
            <p:cNvSpPr>
              <a:spLocks/>
            </p:cNvSpPr>
            <p:nvPr/>
          </p:nvSpPr>
          <p:spPr bwMode="invGray">
            <a:xfrm>
              <a:off x="10896600" y="1545248"/>
              <a:ext cx="7937" cy="2462"/>
            </a:xfrm>
            <a:custGeom>
              <a:avLst/>
              <a:gdLst>
                <a:gd name="T0" fmla="*/ 8 w 8"/>
                <a:gd name="T1" fmla="*/ 0 h 3"/>
                <a:gd name="T2" fmla="*/ 8 w 8"/>
                <a:gd name="T3" fmla="*/ 0 h 3"/>
                <a:gd name="T4" fmla="*/ 0 w 8"/>
                <a:gd name="T5" fmla="*/ 3 h 3"/>
                <a:gd name="T6" fmla="*/ 8 w 8"/>
                <a:gd name="T7" fmla="*/ 0 h 3"/>
              </a:gdLst>
              <a:ahLst/>
              <a:cxnLst>
                <a:cxn ang="0">
                  <a:pos x="T0" y="T1"/>
                </a:cxn>
                <a:cxn ang="0">
                  <a:pos x="T2" y="T3"/>
                </a:cxn>
                <a:cxn ang="0">
                  <a:pos x="T4" y="T5"/>
                </a:cxn>
                <a:cxn ang="0">
                  <a:pos x="T6" y="T7"/>
                </a:cxn>
              </a:cxnLst>
              <a:rect l="0" t="0" r="r" b="b"/>
              <a:pathLst>
                <a:path w="8" h="3">
                  <a:moveTo>
                    <a:pt x="8" y="0"/>
                  </a:moveTo>
                  <a:lnTo>
                    <a:pt x="8" y="0"/>
                  </a:lnTo>
                  <a:cubicBezTo>
                    <a:pt x="4" y="1"/>
                    <a:pt x="1" y="2"/>
                    <a:pt x="0" y="3"/>
                  </a:cubicBezTo>
                  <a:cubicBezTo>
                    <a:pt x="2" y="2"/>
                    <a:pt x="4" y="1"/>
                    <a:pt x="8"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49" name="Figura a mano libera 55"/>
            <p:cNvSpPr>
              <a:spLocks/>
            </p:cNvSpPr>
            <p:nvPr/>
          </p:nvSpPr>
          <p:spPr bwMode="invGray">
            <a:xfrm>
              <a:off x="9947275" y="1553865"/>
              <a:ext cx="4762" cy="1231"/>
            </a:xfrm>
            <a:custGeom>
              <a:avLst/>
              <a:gdLst>
                <a:gd name="T0" fmla="*/ 1 w 5"/>
                <a:gd name="T1" fmla="*/ 0 h 1"/>
                <a:gd name="T2" fmla="*/ 1 w 5"/>
                <a:gd name="T3" fmla="*/ 0 h 1"/>
                <a:gd name="T4" fmla="*/ 0 w 5"/>
                <a:gd name="T5" fmla="*/ 0 h 1"/>
                <a:gd name="T6" fmla="*/ 1 w 5"/>
                <a:gd name="T7" fmla="*/ 0 h 1"/>
              </a:gdLst>
              <a:ahLst/>
              <a:cxnLst>
                <a:cxn ang="0">
                  <a:pos x="T0" y="T1"/>
                </a:cxn>
                <a:cxn ang="0">
                  <a:pos x="T2" y="T3"/>
                </a:cxn>
                <a:cxn ang="0">
                  <a:pos x="T4" y="T5"/>
                </a:cxn>
                <a:cxn ang="0">
                  <a:pos x="T6" y="T7"/>
                </a:cxn>
              </a:cxnLst>
              <a:rect l="0" t="0" r="r" b="b"/>
              <a:pathLst>
                <a:path w="5" h="1">
                  <a:moveTo>
                    <a:pt x="1" y="0"/>
                  </a:moveTo>
                  <a:lnTo>
                    <a:pt x="1" y="0"/>
                  </a:lnTo>
                  <a:lnTo>
                    <a:pt x="0" y="0"/>
                  </a:lnTo>
                  <a:cubicBezTo>
                    <a:pt x="5" y="1"/>
                    <a:pt x="4" y="0"/>
                    <a:pt x="1"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0" name="Figura a mano libera 56"/>
            <p:cNvSpPr>
              <a:spLocks/>
            </p:cNvSpPr>
            <p:nvPr/>
          </p:nvSpPr>
          <p:spPr bwMode="invGray">
            <a:xfrm>
              <a:off x="10817225" y="1531708"/>
              <a:ext cx="23812" cy="0"/>
            </a:xfrm>
            <a:custGeom>
              <a:avLst/>
              <a:gdLst>
                <a:gd name="T0" fmla="*/ 25 w 25"/>
                <a:gd name="T1" fmla="*/ 1 h 1"/>
                <a:gd name="T2" fmla="*/ 25 w 25"/>
                <a:gd name="T3" fmla="*/ 1 h 1"/>
                <a:gd name="T4" fmla="*/ 0 w 25"/>
                <a:gd name="T5" fmla="*/ 0 h 1"/>
                <a:gd name="T6" fmla="*/ 25 w 25"/>
                <a:gd name="T7" fmla="*/ 1 h 1"/>
              </a:gdLst>
              <a:ahLst/>
              <a:cxnLst>
                <a:cxn ang="0">
                  <a:pos x="T0" y="T1"/>
                </a:cxn>
                <a:cxn ang="0">
                  <a:pos x="T2" y="T3"/>
                </a:cxn>
                <a:cxn ang="0">
                  <a:pos x="T4" y="T5"/>
                </a:cxn>
                <a:cxn ang="0">
                  <a:pos x="T6" y="T7"/>
                </a:cxn>
              </a:cxnLst>
              <a:rect l="0" t="0" r="r" b="b"/>
              <a:pathLst>
                <a:path w="25" h="1">
                  <a:moveTo>
                    <a:pt x="25" y="1"/>
                  </a:moveTo>
                  <a:lnTo>
                    <a:pt x="25" y="1"/>
                  </a:lnTo>
                  <a:cubicBezTo>
                    <a:pt x="18" y="0"/>
                    <a:pt x="10" y="0"/>
                    <a:pt x="0" y="0"/>
                  </a:cubicBezTo>
                  <a:cubicBezTo>
                    <a:pt x="5" y="0"/>
                    <a:pt x="12" y="0"/>
                    <a:pt x="25"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1" name="Figura a mano libera 57"/>
            <p:cNvSpPr>
              <a:spLocks/>
            </p:cNvSpPr>
            <p:nvPr/>
          </p:nvSpPr>
          <p:spPr bwMode="invGray">
            <a:xfrm>
              <a:off x="10836275" y="1529246"/>
              <a:ext cx="19050" cy="1231"/>
            </a:xfrm>
            <a:custGeom>
              <a:avLst/>
              <a:gdLst>
                <a:gd name="T0" fmla="*/ 0 w 20"/>
                <a:gd name="T1" fmla="*/ 1 h 1"/>
                <a:gd name="T2" fmla="*/ 0 w 20"/>
                <a:gd name="T3" fmla="*/ 1 h 1"/>
                <a:gd name="T4" fmla="*/ 18 w 20"/>
                <a:gd name="T5" fmla="*/ 1 h 1"/>
                <a:gd name="T6" fmla="*/ 0 w 20"/>
                <a:gd name="T7" fmla="*/ 1 h 1"/>
              </a:gdLst>
              <a:ahLst/>
              <a:cxnLst>
                <a:cxn ang="0">
                  <a:pos x="T0" y="T1"/>
                </a:cxn>
                <a:cxn ang="0">
                  <a:pos x="T2" y="T3"/>
                </a:cxn>
                <a:cxn ang="0">
                  <a:pos x="T4" y="T5"/>
                </a:cxn>
                <a:cxn ang="0">
                  <a:pos x="T6" y="T7"/>
                </a:cxn>
              </a:cxnLst>
              <a:rect l="0" t="0" r="r" b="b"/>
              <a:pathLst>
                <a:path w="20" h="1">
                  <a:moveTo>
                    <a:pt x="0" y="1"/>
                  </a:moveTo>
                  <a:lnTo>
                    <a:pt x="0" y="1"/>
                  </a:lnTo>
                  <a:lnTo>
                    <a:pt x="18" y="1"/>
                  </a:lnTo>
                  <a:cubicBezTo>
                    <a:pt x="20" y="1"/>
                    <a:pt x="18" y="0"/>
                    <a:pt x="0"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2" name="Figura a mano libera 58"/>
            <p:cNvSpPr>
              <a:spLocks/>
            </p:cNvSpPr>
            <p:nvPr/>
          </p:nvSpPr>
          <p:spPr bwMode="invGray">
            <a:xfrm>
              <a:off x="10787063" y="1530477"/>
              <a:ext cx="30162" cy="1231"/>
            </a:xfrm>
            <a:custGeom>
              <a:avLst/>
              <a:gdLst>
                <a:gd name="T0" fmla="*/ 0 w 31"/>
                <a:gd name="T1" fmla="*/ 0 h 1"/>
                <a:gd name="T2" fmla="*/ 0 w 31"/>
                <a:gd name="T3" fmla="*/ 0 h 1"/>
                <a:gd name="T4" fmla="*/ 31 w 31"/>
                <a:gd name="T5" fmla="*/ 1 h 1"/>
                <a:gd name="T6" fmla="*/ 27 w 31"/>
                <a:gd name="T7" fmla="*/ 0 h 1"/>
                <a:gd name="T8" fmla="*/ 0 w 31"/>
                <a:gd name="T9" fmla="*/ 0 h 1"/>
              </a:gdLst>
              <a:ahLst/>
              <a:cxnLst>
                <a:cxn ang="0">
                  <a:pos x="T0" y="T1"/>
                </a:cxn>
                <a:cxn ang="0">
                  <a:pos x="T2" y="T3"/>
                </a:cxn>
                <a:cxn ang="0">
                  <a:pos x="T4" y="T5"/>
                </a:cxn>
                <a:cxn ang="0">
                  <a:pos x="T6" y="T7"/>
                </a:cxn>
                <a:cxn ang="0">
                  <a:pos x="T8" y="T9"/>
                </a:cxn>
              </a:cxnLst>
              <a:rect l="0" t="0" r="r" b="b"/>
              <a:pathLst>
                <a:path w="31" h="1">
                  <a:moveTo>
                    <a:pt x="0" y="0"/>
                  </a:moveTo>
                  <a:lnTo>
                    <a:pt x="0" y="0"/>
                  </a:lnTo>
                  <a:cubicBezTo>
                    <a:pt x="11" y="0"/>
                    <a:pt x="21" y="0"/>
                    <a:pt x="31" y="1"/>
                  </a:cubicBezTo>
                  <a:cubicBezTo>
                    <a:pt x="28" y="0"/>
                    <a:pt x="26" y="0"/>
                    <a:pt x="27" y="0"/>
                  </a:cubicBezTo>
                  <a:lnTo>
                    <a:pt x="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3" name="Figura a mano libera 59"/>
            <p:cNvSpPr>
              <a:spLocks/>
            </p:cNvSpPr>
            <p:nvPr/>
          </p:nvSpPr>
          <p:spPr bwMode="invGray">
            <a:xfrm>
              <a:off x="4092575" y="1552634"/>
              <a:ext cx="20637" cy="2462"/>
            </a:xfrm>
            <a:custGeom>
              <a:avLst/>
              <a:gdLst>
                <a:gd name="T0" fmla="*/ 23 w 23"/>
                <a:gd name="T1" fmla="*/ 0 h 2"/>
                <a:gd name="T2" fmla="*/ 23 w 23"/>
                <a:gd name="T3" fmla="*/ 0 h 2"/>
                <a:gd name="T4" fmla="*/ 19 w 23"/>
                <a:gd name="T5" fmla="*/ 0 h 2"/>
                <a:gd name="T6" fmla="*/ 23 w 23"/>
                <a:gd name="T7" fmla="*/ 0 h 2"/>
              </a:gdLst>
              <a:ahLst/>
              <a:cxnLst>
                <a:cxn ang="0">
                  <a:pos x="T0" y="T1"/>
                </a:cxn>
                <a:cxn ang="0">
                  <a:pos x="T2" y="T3"/>
                </a:cxn>
                <a:cxn ang="0">
                  <a:pos x="T4" y="T5"/>
                </a:cxn>
                <a:cxn ang="0">
                  <a:pos x="T6" y="T7"/>
                </a:cxn>
              </a:cxnLst>
              <a:rect l="0" t="0" r="r" b="b"/>
              <a:pathLst>
                <a:path w="23" h="2">
                  <a:moveTo>
                    <a:pt x="23" y="0"/>
                  </a:moveTo>
                  <a:lnTo>
                    <a:pt x="23" y="0"/>
                  </a:lnTo>
                  <a:lnTo>
                    <a:pt x="19" y="0"/>
                  </a:lnTo>
                  <a:cubicBezTo>
                    <a:pt x="0" y="2"/>
                    <a:pt x="8" y="1"/>
                    <a:pt x="23"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4" name="Figura a mano libera 60"/>
            <p:cNvSpPr>
              <a:spLocks/>
            </p:cNvSpPr>
            <p:nvPr/>
          </p:nvSpPr>
          <p:spPr bwMode="invGray">
            <a:xfrm>
              <a:off x="8528050" y="1567405"/>
              <a:ext cx="3175" cy="1231"/>
            </a:xfrm>
            <a:custGeom>
              <a:avLst/>
              <a:gdLst>
                <a:gd name="T0" fmla="*/ 1 w 3"/>
                <a:gd name="T1" fmla="*/ 1 h 1"/>
                <a:gd name="T2" fmla="*/ 1 w 3"/>
                <a:gd name="T3" fmla="*/ 1 h 1"/>
                <a:gd name="T4" fmla="*/ 3 w 3"/>
                <a:gd name="T5" fmla="*/ 0 h 1"/>
                <a:gd name="T6" fmla="*/ 0 w 3"/>
                <a:gd name="T7" fmla="*/ 0 h 1"/>
                <a:gd name="T8" fmla="*/ 1 w 3"/>
                <a:gd name="T9" fmla="*/ 1 h 1"/>
              </a:gdLst>
              <a:ahLst/>
              <a:cxnLst>
                <a:cxn ang="0">
                  <a:pos x="T0" y="T1"/>
                </a:cxn>
                <a:cxn ang="0">
                  <a:pos x="T2" y="T3"/>
                </a:cxn>
                <a:cxn ang="0">
                  <a:pos x="T4" y="T5"/>
                </a:cxn>
                <a:cxn ang="0">
                  <a:pos x="T6" y="T7"/>
                </a:cxn>
                <a:cxn ang="0">
                  <a:pos x="T8" y="T9"/>
                </a:cxn>
              </a:cxnLst>
              <a:rect l="0" t="0" r="r" b="b"/>
              <a:pathLst>
                <a:path w="3" h="1">
                  <a:moveTo>
                    <a:pt x="1" y="1"/>
                  </a:moveTo>
                  <a:lnTo>
                    <a:pt x="1" y="1"/>
                  </a:lnTo>
                  <a:lnTo>
                    <a:pt x="3" y="0"/>
                  </a:lnTo>
                  <a:lnTo>
                    <a:pt x="0" y="0"/>
                  </a:lnTo>
                  <a:lnTo>
                    <a:pt x="1" y="1"/>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5" name="Figura a mano libera 61"/>
            <p:cNvSpPr>
              <a:spLocks/>
            </p:cNvSpPr>
            <p:nvPr/>
          </p:nvSpPr>
          <p:spPr bwMode="invGray">
            <a:xfrm>
              <a:off x="8461375" y="1556326"/>
              <a:ext cx="66675" cy="14771"/>
            </a:xfrm>
            <a:custGeom>
              <a:avLst/>
              <a:gdLst>
                <a:gd name="T0" fmla="*/ 0 w 69"/>
                <a:gd name="T1" fmla="*/ 17 h 17"/>
                <a:gd name="T2" fmla="*/ 0 w 69"/>
                <a:gd name="T3" fmla="*/ 17 h 17"/>
                <a:gd name="T4" fmla="*/ 69 w 69"/>
                <a:gd name="T5" fmla="*/ 13 h 17"/>
                <a:gd name="T6" fmla="*/ 46 w 69"/>
                <a:gd name="T7" fmla="*/ 0 h 17"/>
                <a:gd name="T8" fmla="*/ 0 w 69"/>
                <a:gd name="T9" fmla="*/ 17 h 17"/>
              </a:gdLst>
              <a:ahLst/>
              <a:cxnLst>
                <a:cxn ang="0">
                  <a:pos x="T0" y="T1"/>
                </a:cxn>
                <a:cxn ang="0">
                  <a:pos x="T2" y="T3"/>
                </a:cxn>
                <a:cxn ang="0">
                  <a:pos x="T4" y="T5"/>
                </a:cxn>
                <a:cxn ang="0">
                  <a:pos x="T6" y="T7"/>
                </a:cxn>
                <a:cxn ang="0">
                  <a:pos x="T8" y="T9"/>
                </a:cxn>
              </a:cxnLst>
              <a:rect l="0" t="0" r="r" b="b"/>
              <a:pathLst>
                <a:path w="69" h="17">
                  <a:moveTo>
                    <a:pt x="0" y="17"/>
                  </a:moveTo>
                  <a:lnTo>
                    <a:pt x="0" y="17"/>
                  </a:lnTo>
                  <a:cubicBezTo>
                    <a:pt x="30" y="11"/>
                    <a:pt x="47" y="12"/>
                    <a:pt x="69" y="13"/>
                  </a:cubicBezTo>
                  <a:lnTo>
                    <a:pt x="46" y="0"/>
                  </a:lnTo>
                  <a:lnTo>
                    <a:pt x="0" y="17"/>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6" name="Figura a mano libera 62"/>
            <p:cNvSpPr>
              <a:spLocks noEditPoints="1"/>
            </p:cNvSpPr>
            <p:nvPr/>
          </p:nvSpPr>
          <p:spPr bwMode="invGray">
            <a:xfrm>
              <a:off x="1562100" y="1514475"/>
              <a:ext cx="9563100" cy="64008"/>
            </a:xfrm>
            <a:custGeom>
              <a:avLst/>
              <a:gdLst>
                <a:gd name="T0" fmla="*/ 9555 w 10030"/>
                <a:gd name="T1" fmla="*/ 25 h 75"/>
                <a:gd name="T2" fmla="*/ 9488 w 10030"/>
                <a:gd name="T3" fmla="*/ 23 h 75"/>
                <a:gd name="T4" fmla="*/ 5258 w 10030"/>
                <a:gd name="T5" fmla="*/ 60 h 75"/>
                <a:gd name="T6" fmla="*/ 4572 w 10030"/>
                <a:gd name="T7" fmla="*/ 65 h 75"/>
                <a:gd name="T8" fmla="*/ 4884 w 10030"/>
                <a:gd name="T9" fmla="*/ 61 h 75"/>
                <a:gd name="T10" fmla="*/ 5092 w 10030"/>
                <a:gd name="T11" fmla="*/ 56 h 75"/>
                <a:gd name="T12" fmla="*/ 5260 w 10030"/>
                <a:gd name="T13" fmla="*/ 60 h 75"/>
                <a:gd name="T14" fmla="*/ 5560 w 10030"/>
                <a:gd name="T15" fmla="*/ 62 h 75"/>
                <a:gd name="T16" fmla="*/ 6006 w 10030"/>
                <a:gd name="T17" fmla="*/ 56 h 75"/>
                <a:gd name="T18" fmla="*/ 6308 w 10030"/>
                <a:gd name="T19" fmla="*/ 32 h 75"/>
                <a:gd name="T20" fmla="*/ 6269 w 10030"/>
                <a:gd name="T21" fmla="*/ 52 h 75"/>
                <a:gd name="T22" fmla="*/ 6665 w 10030"/>
                <a:gd name="T23" fmla="*/ 41 h 75"/>
                <a:gd name="T24" fmla="*/ 6806 w 10030"/>
                <a:gd name="T25" fmla="*/ 53 h 75"/>
                <a:gd name="T26" fmla="*/ 7204 w 10030"/>
                <a:gd name="T27" fmla="*/ 50 h 75"/>
                <a:gd name="T28" fmla="*/ 7485 w 10030"/>
                <a:gd name="T29" fmla="*/ 62 h 75"/>
                <a:gd name="T30" fmla="*/ 7667 w 10030"/>
                <a:gd name="T31" fmla="*/ 61 h 75"/>
                <a:gd name="T32" fmla="*/ 7919 w 10030"/>
                <a:gd name="T33" fmla="*/ 63 h 75"/>
                <a:gd name="T34" fmla="*/ 8179 w 10030"/>
                <a:gd name="T35" fmla="*/ 51 h 75"/>
                <a:gd name="T36" fmla="*/ 8401 w 10030"/>
                <a:gd name="T37" fmla="*/ 31 h 75"/>
                <a:gd name="T38" fmla="*/ 8692 w 10030"/>
                <a:gd name="T39" fmla="*/ 58 h 75"/>
                <a:gd name="T40" fmla="*/ 9084 w 10030"/>
                <a:gd name="T41" fmla="*/ 61 h 75"/>
                <a:gd name="T42" fmla="*/ 9498 w 10030"/>
                <a:gd name="T43" fmla="*/ 44 h 75"/>
                <a:gd name="T44" fmla="*/ 9670 w 10030"/>
                <a:gd name="T45" fmla="*/ 45 h 75"/>
                <a:gd name="T46" fmla="*/ 9877 w 10030"/>
                <a:gd name="T47" fmla="*/ 32 h 75"/>
                <a:gd name="T48" fmla="*/ 9735 w 10030"/>
                <a:gd name="T49" fmla="*/ 21 h 75"/>
                <a:gd name="T50" fmla="*/ 9636 w 10030"/>
                <a:gd name="T51" fmla="*/ 27 h 75"/>
                <a:gd name="T52" fmla="*/ 9290 w 10030"/>
                <a:gd name="T53" fmla="*/ 22 h 75"/>
                <a:gd name="T54" fmla="*/ 8498 w 10030"/>
                <a:gd name="T55" fmla="*/ 12 h 75"/>
                <a:gd name="T56" fmla="*/ 7899 w 10030"/>
                <a:gd name="T57" fmla="*/ 21 h 75"/>
                <a:gd name="T58" fmla="*/ 7774 w 10030"/>
                <a:gd name="T59" fmla="*/ 22 h 75"/>
                <a:gd name="T60" fmla="*/ 7493 w 10030"/>
                <a:gd name="T61" fmla="*/ 32 h 75"/>
                <a:gd name="T62" fmla="*/ 7190 w 10030"/>
                <a:gd name="T63" fmla="*/ 31 h 75"/>
                <a:gd name="T64" fmla="*/ 6418 w 10030"/>
                <a:gd name="T65" fmla="*/ 20 h 75"/>
                <a:gd name="T66" fmla="*/ 6248 w 10030"/>
                <a:gd name="T67" fmla="*/ 24 h 75"/>
                <a:gd name="T68" fmla="*/ 5823 w 10030"/>
                <a:gd name="T69" fmla="*/ 28 h 75"/>
                <a:gd name="T70" fmla="*/ 5422 w 10030"/>
                <a:gd name="T71" fmla="*/ 11 h 75"/>
                <a:gd name="T72" fmla="*/ 4925 w 10030"/>
                <a:gd name="T73" fmla="*/ 16 h 75"/>
                <a:gd name="T74" fmla="*/ 4310 w 10030"/>
                <a:gd name="T75" fmla="*/ 18 h 75"/>
                <a:gd name="T76" fmla="*/ 3439 w 10030"/>
                <a:gd name="T77" fmla="*/ 21 h 75"/>
                <a:gd name="T78" fmla="*/ 2740 w 10030"/>
                <a:gd name="T79" fmla="*/ 18 h 75"/>
                <a:gd name="T80" fmla="*/ 2597 w 10030"/>
                <a:gd name="T81" fmla="*/ 9 h 75"/>
                <a:gd name="T82" fmla="*/ 2367 w 10030"/>
                <a:gd name="T83" fmla="*/ 21 h 75"/>
                <a:gd name="T84" fmla="*/ 1566 w 10030"/>
                <a:gd name="T85" fmla="*/ 11 h 75"/>
                <a:gd name="T86" fmla="*/ 262 w 10030"/>
                <a:gd name="T87" fmla="*/ 7 h 75"/>
                <a:gd name="T88" fmla="*/ 104 w 10030"/>
                <a:gd name="T89" fmla="*/ 42 h 75"/>
                <a:gd name="T90" fmla="*/ 742 w 10030"/>
                <a:gd name="T91" fmla="*/ 47 h 75"/>
                <a:gd name="T92" fmla="*/ 1060 w 10030"/>
                <a:gd name="T93" fmla="*/ 47 h 75"/>
                <a:gd name="T94" fmla="*/ 1593 w 10030"/>
                <a:gd name="T95" fmla="*/ 46 h 75"/>
                <a:gd name="T96" fmla="*/ 2022 w 10030"/>
                <a:gd name="T97" fmla="*/ 45 h 75"/>
                <a:gd name="T98" fmla="*/ 2481 w 10030"/>
                <a:gd name="T99" fmla="*/ 51 h 75"/>
                <a:gd name="T100" fmla="*/ 2677 w 10030"/>
                <a:gd name="T101" fmla="*/ 45 h 75"/>
                <a:gd name="T102" fmla="*/ 2863 w 10030"/>
                <a:gd name="T103" fmla="*/ 52 h 75"/>
                <a:gd name="T104" fmla="*/ 3163 w 10030"/>
                <a:gd name="T105" fmla="*/ 62 h 75"/>
                <a:gd name="T106" fmla="*/ 3411 w 10030"/>
                <a:gd name="T107" fmla="*/ 54 h 75"/>
                <a:gd name="T108" fmla="*/ 3550 w 10030"/>
                <a:gd name="T109" fmla="*/ 60 h 75"/>
                <a:gd name="T110" fmla="*/ 3740 w 10030"/>
                <a:gd name="T111" fmla="*/ 65 h 75"/>
                <a:gd name="T112" fmla="*/ 4329 w 10030"/>
                <a:gd name="T113" fmla="*/ 68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10030" h="75">
                  <a:moveTo>
                    <a:pt x="2469" y="12"/>
                  </a:moveTo>
                  <a:lnTo>
                    <a:pt x="2469" y="12"/>
                  </a:lnTo>
                  <a:lnTo>
                    <a:pt x="2482" y="13"/>
                  </a:lnTo>
                  <a:cubicBezTo>
                    <a:pt x="2453" y="15"/>
                    <a:pt x="2461" y="13"/>
                    <a:pt x="2469" y="12"/>
                  </a:cubicBezTo>
                  <a:close/>
                  <a:moveTo>
                    <a:pt x="9555" y="25"/>
                  </a:moveTo>
                  <a:lnTo>
                    <a:pt x="9555" y="25"/>
                  </a:lnTo>
                  <a:cubicBezTo>
                    <a:pt x="9562" y="24"/>
                    <a:pt x="9561" y="23"/>
                    <a:pt x="9559" y="23"/>
                  </a:cubicBezTo>
                  <a:cubicBezTo>
                    <a:pt x="9554" y="24"/>
                    <a:pt x="9539" y="24"/>
                    <a:pt x="9522" y="24"/>
                  </a:cubicBezTo>
                  <a:cubicBezTo>
                    <a:pt x="9527" y="25"/>
                    <a:pt x="9536" y="26"/>
                    <a:pt x="9555" y="25"/>
                  </a:cubicBezTo>
                  <a:close/>
                  <a:moveTo>
                    <a:pt x="9489" y="23"/>
                  </a:moveTo>
                  <a:lnTo>
                    <a:pt x="9489" y="23"/>
                  </a:lnTo>
                  <a:lnTo>
                    <a:pt x="9488" y="23"/>
                  </a:lnTo>
                  <a:cubicBezTo>
                    <a:pt x="9456" y="21"/>
                    <a:pt x="9467" y="22"/>
                    <a:pt x="9489" y="23"/>
                  </a:cubicBezTo>
                  <a:close/>
                  <a:moveTo>
                    <a:pt x="6376" y="50"/>
                  </a:moveTo>
                  <a:lnTo>
                    <a:pt x="6376" y="50"/>
                  </a:lnTo>
                  <a:cubicBezTo>
                    <a:pt x="6365" y="52"/>
                    <a:pt x="6349" y="51"/>
                    <a:pt x="6330" y="49"/>
                  </a:cubicBezTo>
                  <a:cubicBezTo>
                    <a:pt x="6344" y="49"/>
                    <a:pt x="6359" y="49"/>
                    <a:pt x="6376" y="50"/>
                  </a:cubicBezTo>
                  <a:close/>
                  <a:moveTo>
                    <a:pt x="5258" y="60"/>
                  </a:moveTo>
                  <a:lnTo>
                    <a:pt x="5258" y="60"/>
                  </a:lnTo>
                  <a:cubicBezTo>
                    <a:pt x="5244" y="61"/>
                    <a:pt x="5216" y="64"/>
                    <a:pt x="5205" y="61"/>
                  </a:cubicBezTo>
                  <a:cubicBezTo>
                    <a:pt x="5222" y="55"/>
                    <a:pt x="5234" y="58"/>
                    <a:pt x="5258" y="60"/>
                  </a:cubicBezTo>
                  <a:close/>
                  <a:moveTo>
                    <a:pt x="4523" y="61"/>
                  </a:moveTo>
                  <a:lnTo>
                    <a:pt x="4523" y="61"/>
                  </a:lnTo>
                  <a:lnTo>
                    <a:pt x="4572" y="65"/>
                  </a:lnTo>
                  <a:cubicBezTo>
                    <a:pt x="4513" y="71"/>
                    <a:pt x="4470" y="69"/>
                    <a:pt x="4516" y="75"/>
                  </a:cubicBezTo>
                  <a:cubicBezTo>
                    <a:pt x="4523" y="61"/>
                    <a:pt x="4707" y="74"/>
                    <a:pt x="4714" y="60"/>
                  </a:cubicBezTo>
                  <a:lnTo>
                    <a:pt x="4747" y="63"/>
                  </a:lnTo>
                  <a:cubicBezTo>
                    <a:pt x="4737" y="63"/>
                    <a:pt x="4736" y="64"/>
                    <a:pt x="4727" y="64"/>
                  </a:cubicBezTo>
                  <a:cubicBezTo>
                    <a:pt x="4790" y="70"/>
                    <a:pt x="4774" y="54"/>
                    <a:pt x="4855" y="56"/>
                  </a:cubicBezTo>
                  <a:cubicBezTo>
                    <a:pt x="4883" y="57"/>
                    <a:pt x="4903" y="59"/>
                    <a:pt x="4884" y="61"/>
                  </a:cubicBezTo>
                  <a:lnTo>
                    <a:pt x="4947" y="57"/>
                  </a:lnTo>
                  <a:cubicBezTo>
                    <a:pt x="4965" y="58"/>
                    <a:pt x="4961" y="60"/>
                    <a:pt x="4942" y="60"/>
                  </a:cubicBezTo>
                  <a:lnTo>
                    <a:pt x="5039" y="59"/>
                  </a:lnTo>
                  <a:lnTo>
                    <a:pt x="5038" y="59"/>
                  </a:lnTo>
                  <a:cubicBezTo>
                    <a:pt x="5052" y="57"/>
                    <a:pt x="5083" y="54"/>
                    <a:pt x="5098" y="52"/>
                  </a:cubicBezTo>
                  <a:cubicBezTo>
                    <a:pt x="5122" y="54"/>
                    <a:pt x="5086" y="54"/>
                    <a:pt x="5092" y="56"/>
                  </a:cubicBezTo>
                  <a:lnTo>
                    <a:pt x="5145" y="52"/>
                  </a:lnTo>
                  <a:cubicBezTo>
                    <a:pt x="5167" y="56"/>
                    <a:pt x="5123" y="59"/>
                    <a:pt x="5086" y="59"/>
                  </a:cubicBezTo>
                  <a:cubicBezTo>
                    <a:pt x="5136" y="73"/>
                    <a:pt x="5130" y="55"/>
                    <a:pt x="5238" y="64"/>
                  </a:cubicBezTo>
                  <a:lnTo>
                    <a:pt x="5187" y="65"/>
                  </a:lnTo>
                  <a:cubicBezTo>
                    <a:pt x="5220" y="73"/>
                    <a:pt x="5259" y="70"/>
                    <a:pt x="5316" y="75"/>
                  </a:cubicBezTo>
                  <a:cubicBezTo>
                    <a:pt x="5302" y="73"/>
                    <a:pt x="5202" y="63"/>
                    <a:pt x="5260" y="60"/>
                  </a:cubicBezTo>
                  <a:cubicBezTo>
                    <a:pt x="5276" y="61"/>
                    <a:pt x="5298" y="61"/>
                    <a:pt x="5329" y="59"/>
                  </a:cubicBezTo>
                  <a:cubicBezTo>
                    <a:pt x="5329" y="63"/>
                    <a:pt x="5359" y="62"/>
                    <a:pt x="5398" y="62"/>
                  </a:cubicBezTo>
                  <a:lnTo>
                    <a:pt x="5395" y="69"/>
                  </a:lnTo>
                  <a:cubicBezTo>
                    <a:pt x="5436" y="67"/>
                    <a:pt x="5433" y="64"/>
                    <a:pt x="5457" y="61"/>
                  </a:cubicBezTo>
                  <a:cubicBezTo>
                    <a:pt x="5503" y="61"/>
                    <a:pt x="5513" y="66"/>
                    <a:pt x="5523" y="71"/>
                  </a:cubicBezTo>
                  <a:cubicBezTo>
                    <a:pt x="5597" y="72"/>
                    <a:pt x="5473" y="63"/>
                    <a:pt x="5560" y="62"/>
                  </a:cubicBezTo>
                  <a:cubicBezTo>
                    <a:pt x="5621" y="64"/>
                    <a:pt x="5664" y="62"/>
                    <a:pt x="5737" y="58"/>
                  </a:cubicBezTo>
                  <a:cubicBezTo>
                    <a:pt x="5780" y="60"/>
                    <a:pt x="5730" y="62"/>
                    <a:pt x="5745" y="64"/>
                  </a:cubicBezTo>
                  <a:lnTo>
                    <a:pt x="5783" y="59"/>
                  </a:lnTo>
                  <a:cubicBezTo>
                    <a:pt x="5792" y="59"/>
                    <a:pt x="5789" y="60"/>
                    <a:pt x="5788" y="61"/>
                  </a:cubicBezTo>
                  <a:cubicBezTo>
                    <a:pt x="5820" y="59"/>
                    <a:pt x="5790" y="55"/>
                    <a:pt x="5841" y="53"/>
                  </a:cubicBezTo>
                  <a:cubicBezTo>
                    <a:pt x="5854" y="46"/>
                    <a:pt x="5944" y="64"/>
                    <a:pt x="6006" y="56"/>
                  </a:cubicBezTo>
                  <a:cubicBezTo>
                    <a:pt x="6021" y="58"/>
                    <a:pt x="5999" y="60"/>
                    <a:pt x="6003" y="62"/>
                  </a:cubicBezTo>
                  <a:cubicBezTo>
                    <a:pt x="6089" y="57"/>
                    <a:pt x="6077" y="59"/>
                    <a:pt x="6147" y="52"/>
                  </a:cubicBezTo>
                  <a:lnTo>
                    <a:pt x="6206" y="56"/>
                  </a:lnTo>
                  <a:cubicBezTo>
                    <a:pt x="6163" y="51"/>
                    <a:pt x="6219" y="45"/>
                    <a:pt x="6268" y="41"/>
                  </a:cubicBezTo>
                  <a:cubicBezTo>
                    <a:pt x="6252" y="38"/>
                    <a:pt x="6239" y="36"/>
                    <a:pt x="6230" y="35"/>
                  </a:cubicBezTo>
                  <a:lnTo>
                    <a:pt x="6308" y="32"/>
                  </a:lnTo>
                  <a:cubicBezTo>
                    <a:pt x="6318" y="33"/>
                    <a:pt x="6310" y="35"/>
                    <a:pt x="6297" y="38"/>
                  </a:cubicBezTo>
                  <a:lnTo>
                    <a:pt x="6311" y="36"/>
                  </a:lnTo>
                  <a:cubicBezTo>
                    <a:pt x="6339" y="39"/>
                    <a:pt x="6325" y="43"/>
                    <a:pt x="6305" y="46"/>
                  </a:cubicBezTo>
                  <a:lnTo>
                    <a:pt x="6277" y="42"/>
                  </a:lnTo>
                  <a:cubicBezTo>
                    <a:pt x="6257" y="46"/>
                    <a:pt x="6239" y="50"/>
                    <a:pt x="6243" y="54"/>
                  </a:cubicBezTo>
                  <a:cubicBezTo>
                    <a:pt x="6248" y="53"/>
                    <a:pt x="6258" y="53"/>
                    <a:pt x="6269" y="52"/>
                  </a:cubicBezTo>
                  <a:cubicBezTo>
                    <a:pt x="6264" y="53"/>
                    <a:pt x="6261" y="54"/>
                    <a:pt x="6263" y="55"/>
                  </a:cubicBezTo>
                  <a:cubicBezTo>
                    <a:pt x="6266" y="56"/>
                    <a:pt x="6274" y="54"/>
                    <a:pt x="6287" y="53"/>
                  </a:cubicBezTo>
                  <a:lnTo>
                    <a:pt x="6304" y="60"/>
                  </a:lnTo>
                  <a:lnTo>
                    <a:pt x="6309" y="57"/>
                  </a:lnTo>
                  <a:lnTo>
                    <a:pt x="6411" y="62"/>
                  </a:lnTo>
                  <a:cubicBezTo>
                    <a:pt x="6485" y="55"/>
                    <a:pt x="6548" y="44"/>
                    <a:pt x="6665" y="41"/>
                  </a:cubicBezTo>
                  <a:cubicBezTo>
                    <a:pt x="6636" y="47"/>
                    <a:pt x="6659" y="50"/>
                    <a:pt x="6657" y="56"/>
                  </a:cubicBezTo>
                  <a:cubicBezTo>
                    <a:pt x="6625" y="50"/>
                    <a:pt x="6567" y="59"/>
                    <a:pt x="6507" y="58"/>
                  </a:cubicBezTo>
                  <a:cubicBezTo>
                    <a:pt x="6538" y="58"/>
                    <a:pt x="6531" y="61"/>
                    <a:pt x="6523" y="62"/>
                  </a:cubicBezTo>
                  <a:lnTo>
                    <a:pt x="6631" y="57"/>
                  </a:lnTo>
                  <a:cubicBezTo>
                    <a:pt x="6628" y="62"/>
                    <a:pt x="6654" y="60"/>
                    <a:pt x="6682" y="63"/>
                  </a:cubicBezTo>
                  <a:cubicBezTo>
                    <a:pt x="6660" y="52"/>
                    <a:pt x="6762" y="56"/>
                    <a:pt x="6806" y="53"/>
                  </a:cubicBezTo>
                  <a:cubicBezTo>
                    <a:pt x="6808" y="56"/>
                    <a:pt x="6798" y="60"/>
                    <a:pt x="6744" y="59"/>
                  </a:cubicBezTo>
                  <a:cubicBezTo>
                    <a:pt x="6803" y="67"/>
                    <a:pt x="6821" y="47"/>
                    <a:pt x="6879" y="54"/>
                  </a:cubicBezTo>
                  <a:cubicBezTo>
                    <a:pt x="6865" y="54"/>
                    <a:pt x="6858" y="53"/>
                    <a:pt x="6853" y="55"/>
                  </a:cubicBezTo>
                  <a:cubicBezTo>
                    <a:pt x="6884" y="52"/>
                    <a:pt x="6958" y="55"/>
                    <a:pt x="6941" y="58"/>
                  </a:cubicBezTo>
                  <a:lnTo>
                    <a:pt x="6928" y="58"/>
                  </a:lnTo>
                  <a:cubicBezTo>
                    <a:pt x="7014" y="59"/>
                    <a:pt x="7191" y="58"/>
                    <a:pt x="7204" y="50"/>
                  </a:cubicBezTo>
                  <a:cubicBezTo>
                    <a:pt x="7205" y="51"/>
                    <a:pt x="7193" y="60"/>
                    <a:pt x="7188" y="62"/>
                  </a:cubicBezTo>
                  <a:lnTo>
                    <a:pt x="7342" y="33"/>
                  </a:lnTo>
                  <a:cubicBezTo>
                    <a:pt x="7329" y="41"/>
                    <a:pt x="7381" y="58"/>
                    <a:pt x="7309" y="62"/>
                  </a:cubicBezTo>
                  <a:cubicBezTo>
                    <a:pt x="7330" y="63"/>
                    <a:pt x="7355" y="65"/>
                    <a:pt x="7399" y="62"/>
                  </a:cubicBezTo>
                  <a:cubicBezTo>
                    <a:pt x="7385" y="61"/>
                    <a:pt x="7364" y="51"/>
                    <a:pt x="7383" y="51"/>
                  </a:cubicBezTo>
                  <a:cubicBezTo>
                    <a:pt x="7436" y="59"/>
                    <a:pt x="7420" y="55"/>
                    <a:pt x="7485" y="62"/>
                  </a:cubicBezTo>
                  <a:cubicBezTo>
                    <a:pt x="7463" y="61"/>
                    <a:pt x="7487" y="49"/>
                    <a:pt x="7520" y="50"/>
                  </a:cubicBezTo>
                  <a:cubicBezTo>
                    <a:pt x="7515" y="51"/>
                    <a:pt x="7523" y="61"/>
                    <a:pt x="7511" y="62"/>
                  </a:cubicBezTo>
                  <a:lnTo>
                    <a:pt x="7594" y="51"/>
                  </a:lnTo>
                  <a:cubicBezTo>
                    <a:pt x="7573" y="53"/>
                    <a:pt x="7590" y="61"/>
                    <a:pt x="7609" y="64"/>
                  </a:cubicBezTo>
                  <a:cubicBezTo>
                    <a:pt x="7600" y="62"/>
                    <a:pt x="7680" y="64"/>
                    <a:pt x="7702" y="63"/>
                  </a:cubicBezTo>
                  <a:lnTo>
                    <a:pt x="7667" y="61"/>
                  </a:lnTo>
                  <a:cubicBezTo>
                    <a:pt x="7761" y="63"/>
                    <a:pt x="7760" y="45"/>
                    <a:pt x="7853" y="46"/>
                  </a:cubicBezTo>
                  <a:cubicBezTo>
                    <a:pt x="7842" y="48"/>
                    <a:pt x="7825" y="60"/>
                    <a:pt x="7872" y="62"/>
                  </a:cubicBezTo>
                  <a:cubicBezTo>
                    <a:pt x="7894" y="56"/>
                    <a:pt x="7968" y="34"/>
                    <a:pt x="8050" y="29"/>
                  </a:cubicBezTo>
                  <a:lnTo>
                    <a:pt x="8066" y="33"/>
                  </a:lnTo>
                  <a:lnTo>
                    <a:pt x="8129" y="29"/>
                  </a:lnTo>
                  <a:cubicBezTo>
                    <a:pt x="8090" y="38"/>
                    <a:pt x="7980" y="56"/>
                    <a:pt x="7919" y="63"/>
                  </a:cubicBezTo>
                  <a:cubicBezTo>
                    <a:pt x="7954" y="66"/>
                    <a:pt x="7929" y="67"/>
                    <a:pt x="7982" y="67"/>
                  </a:cubicBezTo>
                  <a:cubicBezTo>
                    <a:pt x="8000" y="70"/>
                    <a:pt x="7953" y="72"/>
                    <a:pt x="7938" y="72"/>
                  </a:cubicBezTo>
                  <a:lnTo>
                    <a:pt x="8060" y="74"/>
                  </a:lnTo>
                  <a:cubicBezTo>
                    <a:pt x="8054" y="67"/>
                    <a:pt x="8153" y="67"/>
                    <a:pt x="8149" y="62"/>
                  </a:cubicBezTo>
                  <a:lnTo>
                    <a:pt x="8016" y="68"/>
                  </a:lnTo>
                  <a:cubicBezTo>
                    <a:pt x="8011" y="62"/>
                    <a:pt x="8093" y="49"/>
                    <a:pt x="8179" y="51"/>
                  </a:cubicBezTo>
                  <a:cubicBezTo>
                    <a:pt x="8201" y="53"/>
                    <a:pt x="8163" y="63"/>
                    <a:pt x="8165" y="65"/>
                  </a:cubicBezTo>
                  <a:cubicBezTo>
                    <a:pt x="8176" y="63"/>
                    <a:pt x="8247" y="61"/>
                    <a:pt x="8255" y="62"/>
                  </a:cubicBezTo>
                  <a:lnTo>
                    <a:pt x="8218" y="66"/>
                  </a:lnTo>
                  <a:cubicBezTo>
                    <a:pt x="8266" y="69"/>
                    <a:pt x="8297" y="57"/>
                    <a:pt x="8355" y="64"/>
                  </a:cubicBezTo>
                  <a:cubicBezTo>
                    <a:pt x="8375" y="64"/>
                    <a:pt x="8414" y="73"/>
                    <a:pt x="8418" y="69"/>
                  </a:cubicBezTo>
                  <a:cubicBezTo>
                    <a:pt x="8385" y="61"/>
                    <a:pt x="8379" y="37"/>
                    <a:pt x="8401" y="31"/>
                  </a:cubicBezTo>
                  <a:cubicBezTo>
                    <a:pt x="8408" y="31"/>
                    <a:pt x="8505" y="38"/>
                    <a:pt x="8528" y="42"/>
                  </a:cubicBezTo>
                  <a:cubicBezTo>
                    <a:pt x="8561" y="48"/>
                    <a:pt x="8479" y="57"/>
                    <a:pt x="8507" y="62"/>
                  </a:cubicBezTo>
                  <a:cubicBezTo>
                    <a:pt x="8508" y="60"/>
                    <a:pt x="8526" y="58"/>
                    <a:pt x="8534" y="57"/>
                  </a:cubicBezTo>
                  <a:cubicBezTo>
                    <a:pt x="8555" y="59"/>
                    <a:pt x="8525" y="63"/>
                    <a:pt x="8571" y="62"/>
                  </a:cubicBezTo>
                  <a:cubicBezTo>
                    <a:pt x="8578" y="55"/>
                    <a:pt x="8664" y="63"/>
                    <a:pt x="8592" y="56"/>
                  </a:cubicBezTo>
                  <a:cubicBezTo>
                    <a:pt x="8637" y="55"/>
                    <a:pt x="8640" y="58"/>
                    <a:pt x="8692" y="58"/>
                  </a:cubicBezTo>
                  <a:cubicBezTo>
                    <a:pt x="8675" y="53"/>
                    <a:pt x="8739" y="43"/>
                    <a:pt x="8784" y="41"/>
                  </a:cubicBezTo>
                  <a:cubicBezTo>
                    <a:pt x="8781" y="42"/>
                    <a:pt x="8791" y="45"/>
                    <a:pt x="8796" y="46"/>
                  </a:cubicBezTo>
                  <a:cubicBezTo>
                    <a:pt x="8888" y="47"/>
                    <a:pt x="8937" y="50"/>
                    <a:pt x="9022" y="50"/>
                  </a:cubicBezTo>
                  <a:cubicBezTo>
                    <a:pt x="9030" y="52"/>
                    <a:pt x="9071" y="54"/>
                    <a:pt x="9054" y="57"/>
                  </a:cubicBezTo>
                  <a:cubicBezTo>
                    <a:pt x="9066" y="56"/>
                    <a:pt x="9077" y="53"/>
                    <a:pt x="9103" y="53"/>
                  </a:cubicBezTo>
                  <a:cubicBezTo>
                    <a:pt x="9154" y="59"/>
                    <a:pt x="9045" y="54"/>
                    <a:pt x="9084" y="61"/>
                  </a:cubicBezTo>
                  <a:cubicBezTo>
                    <a:pt x="9087" y="57"/>
                    <a:pt x="9152" y="56"/>
                    <a:pt x="9189" y="53"/>
                  </a:cubicBezTo>
                  <a:cubicBezTo>
                    <a:pt x="9178" y="47"/>
                    <a:pt x="9103" y="52"/>
                    <a:pt x="9065" y="54"/>
                  </a:cubicBezTo>
                  <a:cubicBezTo>
                    <a:pt x="9065" y="46"/>
                    <a:pt x="9130" y="37"/>
                    <a:pt x="9219" y="33"/>
                  </a:cubicBezTo>
                  <a:cubicBezTo>
                    <a:pt x="9290" y="31"/>
                    <a:pt x="9250" y="39"/>
                    <a:pt x="9262" y="38"/>
                  </a:cubicBezTo>
                  <a:cubicBezTo>
                    <a:pt x="9395" y="39"/>
                    <a:pt x="9376" y="23"/>
                    <a:pt x="9486" y="29"/>
                  </a:cubicBezTo>
                  <a:cubicBezTo>
                    <a:pt x="9530" y="35"/>
                    <a:pt x="9488" y="40"/>
                    <a:pt x="9498" y="44"/>
                  </a:cubicBezTo>
                  <a:cubicBezTo>
                    <a:pt x="9440" y="46"/>
                    <a:pt x="9409" y="40"/>
                    <a:pt x="9370" y="40"/>
                  </a:cubicBezTo>
                  <a:lnTo>
                    <a:pt x="9418" y="43"/>
                  </a:lnTo>
                  <a:cubicBezTo>
                    <a:pt x="9400" y="45"/>
                    <a:pt x="9361" y="46"/>
                    <a:pt x="9340" y="45"/>
                  </a:cubicBezTo>
                  <a:cubicBezTo>
                    <a:pt x="9377" y="50"/>
                    <a:pt x="9565" y="46"/>
                    <a:pt x="9668" y="51"/>
                  </a:cubicBezTo>
                  <a:cubicBezTo>
                    <a:pt x="9686" y="49"/>
                    <a:pt x="9718" y="47"/>
                    <a:pt x="9703" y="45"/>
                  </a:cubicBezTo>
                  <a:lnTo>
                    <a:pt x="9670" y="45"/>
                  </a:lnTo>
                  <a:cubicBezTo>
                    <a:pt x="9640" y="41"/>
                    <a:pt x="9732" y="39"/>
                    <a:pt x="9690" y="37"/>
                  </a:cubicBezTo>
                  <a:cubicBezTo>
                    <a:pt x="9734" y="34"/>
                    <a:pt x="9783" y="29"/>
                    <a:pt x="9844" y="32"/>
                  </a:cubicBezTo>
                  <a:lnTo>
                    <a:pt x="9856" y="38"/>
                  </a:lnTo>
                  <a:cubicBezTo>
                    <a:pt x="9854" y="36"/>
                    <a:pt x="9816" y="35"/>
                    <a:pt x="9798" y="36"/>
                  </a:cubicBezTo>
                  <a:cubicBezTo>
                    <a:pt x="9824" y="34"/>
                    <a:pt x="9892" y="45"/>
                    <a:pt x="9920" y="37"/>
                  </a:cubicBezTo>
                  <a:lnTo>
                    <a:pt x="9877" y="32"/>
                  </a:lnTo>
                  <a:cubicBezTo>
                    <a:pt x="9921" y="29"/>
                    <a:pt x="9975" y="23"/>
                    <a:pt x="10030" y="25"/>
                  </a:cubicBezTo>
                  <a:cubicBezTo>
                    <a:pt x="10005" y="19"/>
                    <a:pt x="10017" y="26"/>
                    <a:pt x="9979" y="18"/>
                  </a:cubicBezTo>
                  <a:cubicBezTo>
                    <a:pt x="10012" y="27"/>
                    <a:pt x="9839" y="18"/>
                    <a:pt x="9893" y="27"/>
                  </a:cubicBezTo>
                  <a:cubicBezTo>
                    <a:pt x="9854" y="19"/>
                    <a:pt x="9825" y="24"/>
                    <a:pt x="9773" y="16"/>
                  </a:cubicBezTo>
                  <a:cubicBezTo>
                    <a:pt x="9774" y="18"/>
                    <a:pt x="9791" y="20"/>
                    <a:pt x="9746" y="19"/>
                  </a:cubicBezTo>
                  <a:cubicBezTo>
                    <a:pt x="9743" y="20"/>
                    <a:pt x="9739" y="21"/>
                    <a:pt x="9735" y="21"/>
                  </a:cubicBezTo>
                  <a:lnTo>
                    <a:pt x="9732" y="21"/>
                  </a:lnTo>
                  <a:lnTo>
                    <a:pt x="9735" y="21"/>
                  </a:lnTo>
                  <a:cubicBezTo>
                    <a:pt x="9733" y="21"/>
                    <a:pt x="9733" y="22"/>
                    <a:pt x="9736" y="21"/>
                  </a:cubicBezTo>
                  <a:cubicBezTo>
                    <a:pt x="9747" y="22"/>
                    <a:pt x="9756" y="23"/>
                    <a:pt x="9759" y="24"/>
                  </a:cubicBezTo>
                  <a:cubicBezTo>
                    <a:pt x="9736" y="29"/>
                    <a:pt x="9664" y="29"/>
                    <a:pt x="9639" y="31"/>
                  </a:cubicBezTo>
                  <a:cubicBezTo>
                    <a:pt x="9612" y="30"/>
                    <a:pt x="9651" y="29"/>
                    <a:pt x="9636" y="27"/>
                  </a:cubicBezTo>
                  <a:lnTo>
                    <a:pt x="9599" y="30"/>
                  </a:lnTo>
                  <a:cubicBezTo>
                    <a:pt x="9596" y="26"/>
                    <a:pt x="9527" y="23"/>
                    <a:pt x="9591" y="20"/>
                  </a:cubicBezTo>
                  <a:lnTo>
                    <a:pt x="9534" y="20"/>
                  </a:lnTo>
                  <a:cubicBezTo>
                    <a:pt x="9500" y="17"/>
                    <a:pt x="9453" y="16"/>
                    <a:pt x="9425" y="18"/>
                  </a:cubicBezTo>
                  <a:cubicBezTo>
                    <a:pt x="9398" y="17"/>
                    <a:pt x="9356" y="23"/>
                    <a:pt x="9380" y="19"/>
                  </a:cubicBezTo>
                  <a:lnTo>
                    <a:pt x="9290" y="22"/>
                  </a:lnTo>
                  <a:lnTo>
                    <a:pt x="9289" y="21"/>
                  </a:lnTo>
                  <a:cubicBezTo>
                    <a:pt x="9200" y="20"/>
                    <a:pt x="9106" y="28"/>
                    <a:pt x="9004" y="20"/>
                  </a:cubicBezTo>
                  <a:cubicBezTo>
                    <a:pt x="8974" y="21"/>
                    <a:pt x="8944" y="22"/>
                    <a:pt x="8893" y="21"/>
                  </a:cubicBezTo>
                  <a:lnTo>
                    <a:pt x="8884" y="17"/>
                  </a:lnTo>
                  <a:cubicBezTo>
                    <a:pt x="8845" y="18"/>
                    <a:pt x="8768" y="13"/>
                    <a:pt x="8752" y="17"/>
                  </a:cubicBezTo>
                  <a:cubicBezTo>
                    <a:pt x="8710" y="7"/>
                    <a:pt x="8565" y="14"/>
                    <a:pt x="8498" y="12"/>
                  </a:cubicBezTo>
                  <a:lnTo>
                    <a:pt x="8495" y="17"/>
                  </a:lnTo>
                  <a:cubicBezTo>
                    <a:pt x="8449" y="17"/>
                    <a:pt x="8404" y="18"/>
                    <a:pt x="8346" y="20"/>
                  </a:cubicBezTo>
                  <a:lnTo>
                    <a:pt x="8350" y="25"/>
                  </a:lnTo>
                  <a:cubicBezTo>
                    <a:pt x="8300" y="28"/>
                    <a:pt x="8222" y="21"/>
                    <a:pt x="8143" y="22"/>
                  </a:cubicBezTo>
                  <a:cubicBezTo>
                    <a:pt x="8149" y="20"/>
                    <a:pt x="8169" y="20"/>
                    <a:pt x="8183" y="21"/>
                  </a:cubicBezTo>
                  <a:cubicBezTo>
                    <a:pt x="8089" y="11"/>
                    <a:pt x="7984" y="28"/>
                    <a:pt x="7899" y="21"/>
                  </a:cubicBezTo>
                  <a:cubicBezTo>
                    <a:pt x="7878" y="22"/>
                    <a:pt x="7862" y="22"/>
                    <a:pt x="7848" y="21"/>
                  </a:cubicBezTo>
                  <a:cubicBezTo>
                    <a:pt x="7850" y="21"/>
                    <a:pt x="7851" y="21"/>
                    <a:pt x="7853" y="20"/>
                  </a:cubicBezTo>
                  <a:lnTo>
                    <a:pt x="7844" y="20"/>
                  </a:lnTo>
                  <a:lnTo>
                    <a:pt x="7815" y="18"/>
                  </a:lnTo>
                  <a:cubicBezTo>
                    <a:pt x="7823" y="19"/>
                    <a:pt x="7832" y="20"/>
                    <a:pt x="7839" y="20"/>
                  </a:cubicBezTo>
                  <a:cubicBezTo>
                    <a:pt x="7823" y="20"/>
                    <a:pt x="7798" y="21"/>
                    <a:pt x="7774" y="22"/>
                  </a:cubicBezTo>
                  <a:lnTo>
                    <a:pt x="7763" y="17"/>
                  </a:lnTo>
                  <a:lnTo>
                    <a:pt x="7758" y="17"/>
                  </a:lnTo>
                  <a:cubicBezTo>
                    <a:pt x="7734" y="15"/>
                    <a:pt x="7739" y="19"/>
                    <a:pt x="7751" y="23"/>
                  </a:cubicBezTo>
                  <a:cubicBezTo>
                    <a:pt x="7739" y="24"/>
                    <a:pt x="7728" y="25"/>
                    <a:pt x="7719" y="26"/>
                  </a:cubicBezTo>
                  <a:cubicBezTo>
                    <a:pt x="7700" y="18"/>
                    <a:pt x="7655" y="29"/>
                    <a:pt x="7629" y="20"/>
                  </a:cubicBezTo>
                  <a:cubicBezTo>
                    <a:pt x="7612" y="24"/>
                    <a:pt x="7506" y="23"/>
                    <a:pt x="7493" y="32"/>
                  </a:cubicBezTo>
                  <a:cubicBezTo>
                    <a:pt x="7492" y="30"/>
                    <a:pt x="7485" y="30"/>
                    <a:pt x="7498" y="30"/>
                  </a:cubicBezTo>
                  <a:cubicBezTo>
                    <a:pt x="7471" y="29"/>
                    <a:pt x="7444" y="28"/>
                    <a:pt x="7420" y="30"/>
                  </a:cubicBezTo>
                  <a:lnTo>
                    <a:pt x="7408" y="24"/>
                  </a:lnTo>
                  <a:lnTo>
                    <a:pt x="7349" y="32"/>
                  </a:lnTo>
                  <a:cubicBezTo>
                    <a:pt x="7313" y="28"/>
                    <a:pt x="7298" y="26"/>
                    <a:pt x="7334" y="21"/>
                  </a:cubicBezTo>
                  <a:cubicBezTo>
                    <a:pt x="7247" y="28"/>
                    <a:pt x="7263" y="24"/>
                    <a:pt x="7190" y="31"/>
                  </a:cubicBezTo>
                  <a:lnTo>
                    <a:pt x="7194" y="27"/>
                  </a:lnTo>
                  <a:cubicBezTo>
                    <a:pt x="7167" y="27"/>
                    <a:pt x="7125" y="32"/>
                    <a:pt x="7109" y="29"/>
                  </a:cubicBezTo>
                  <a:cubicBezTo>
                    <a:pt x="7051" y="21"/>
                    <a:pt x="6819" y="27"/>
                    <a:pt x="6668" y="20"/>
                  </a:cubicBezTo>
                  <a:cubicBezTo>
                    <a:pt x="6697" y="32"/>
                    <a:pt x="6598" y="14"/>
                    <a:pt x="6592" y="24"/>
                  </a:cubicBezTo>
                  <a:cubicBezTo>
                    <a:pt x="6583" y="21"/>
                    <a:pt x="6562" y="19"/>
                    <a:pt x="6586" y="17"/>
                  </a:cubicBezTo>
                  <a:cubicBezTo>
                    <a:pt x="6509" y="19"/>
                    <a:pt x="6471" y="12"/>
                    <a:pt x="6418" y="20"/>
                  </a:cubicBezTo>
                  <a:cubicBezTo>
                    <a:pt x="6409" y="17"/>
                    <a:pt x="6434" y="16"/>
                    <a:pt x="6426" y="14"/>
                  </a:cubicBezTo>
                  <a:cubicBezTo>
                    <a:pt x="6420" y="14"/>
                    <a:pt x="6402" y="16"/>
                    <a:pt x="6394" y="15"/>
                  </a:cubicBezTo>
                  <a:cubicBezTo>
                    <a:pt x="6386" y="13"/>
                    <a:pt x="6405" y="12"/>
                    <a:pt x="6417" y="11"/>
                  </a:cubicBezTo>
                  <a:cubicBezTo>
                    <a:pt x="6339" y="11"/>
                    <a:pt x="6331" y="20"/>
                    <a:pt x="6325" y="28"/>
                  </a:cubicBezTo>
                  <a:cubicBezTo>
                    <a:pt x="6285" y="24"/>
                    <a:pt x="6265" y="25"/>
                    <a:pt x="6236" y="30"/>
                  </a:cubicBezTo>
                  <a:cubicBezTo>
                    <a:pt x="6223" y="27"/>
                    <a:pt x="6199" y="24"/>
                    <a:pt x="6248" y="24"/>
                  </a:cubicBezTo>
                  <a:cubicBezTo>
                    <a:pt x="6221" y="23"/>
                    <a:pt x="6080" y="19"/>
                    <a:pt x="6078" y="26"/>
                  </a:cubicBezTo>
                  <a:cubicBezTo>
                    <a:pt x="6069" y="24"/>
                    <a:pt x="6039" y="25"/>
                    <a:pt x="6032" y="26"/>
                  </a:cubicBezTo>
                  <a:cubicBezTo>
                    <a:pt x="5970" y="25"/>
                    <a:pt x="5965" y="25"/>
                    <a:pt x="5904" y="25"/>
                  </a:cubicBezTo>
                  <a:lnTo>
                    <a:pt x="5921" y="26"/>
                  </a:lnTo>
                  <a:cubicBezTo>
                    <a:pt x="5897" y="34"/>
                    <a:pt x="5871" y="28"/>
                    <a:pt x="5822" y="29"/>
                  </a:cubicBezTo>
                  <a:lnTo>
                    <a:pt x="5823" y="28"/>
                  </a:lnTo>
                  <a:cubicBezTo>
                    <a:pt x="5711" y="22"/>
                    <a:pt x="5775" y="31"/>
                    <a:pt x="5665" y="24"/>
                  </a:cubicBezTo>
                  <a:lnTo>
                    <a:pt x="5671" y="29"/>
                  </a:lnTo>
                  <a:cubicBezTo>
                    <a:pt x="5660" y="39"/>
                    <a:pt x="5573" y="22"/>
                    <a:pt x="5509" y="26"/>
                  </a:cubicBezTo>
                  <a:lnTo>
                    <a:pt x="5532" y="29"/>
                  </a:lnTo>
                  <a:cubicBezTo>
                    <a:pt x="5497" y="33"/>
                    <a:pt x="5434" y="15"/>
                    <a:pt x="5399" y="13"/>
                  </a:cubicBezTo>
                  <a:cubicBezTo>
                    <a:pt x="5391" y="12"/>
                    <a:pt x="5411" y="12"/>
                    <a:pt x="5422" y="11"/>
                  </a:cubicBezTo>
                  <a:cubicBezTo>
                    <a:pt x="5330" y="6"/>
                    <a:pt x="5410" y="17"/>
                    <a:pt x="5341" y="19"/>
                  </a:cubicBezTo>
                  <a:cubicBezTo>
                    <a:pt x="5328" y="15"/>
                    <a:pt x="5357" y="10"/>
                    <a:pt x="5311" y="9"/>
                  </a:cubicBezTo>
                  <a:cubicBezTo>
                    <a:pt x="5288" y="7"/>
                    <a:pt x="5177" y="20"/>
                    <a:pt x="5114" y="13"/>
                  </a:cubicBezTo>
                  <a:cubicBezTo>
                    <a:pt x="5128" y="16"/>
                    <a:pt x="5142" y="19"/>
                    <a:pt x="5110" y="21"/>
                  </a:cubicBezTo>
                  <a:cubicBezTo>
                    <a:pt x="5061" y="21"/>
                    <a:pt x="4978" y="10"/>
                    <a:pt x="4934" y="19"/>
                  </a:cubicBezTo>
                  <a:cubicBezTo>
                    <a:pt x="4928" y="18"/>
                    <a:pt x="4925" y="17"/>
                    <a:pt x="4925" y="16"/>
                  </a:cubicBezTo>
                  <a:cubicBezTo>
                    <a:pt x="4888" y="19"/>
                    <a:pt x="4804" y="20"/>
                    <a:pt x="4781" y="24"/>
                  </a:cubicBezTo>
                  <a:cubicBezTo>
                    <a:pt x="4747" y="8"/>
                    <a:pt x="4549" y="32"/>
                    <a:pt x="4550" y="16"/>
                  </a:cubicBezTo>
                  <a:lnTo>
                    <a:pt x="4435" y="17"/>
                  </a:lnTo>
                  <a:lnTo>
                    <a:pt x="4438" y="15"/>
                  </a:lnTo>
                  <a:cubicBezTo>
                    <a:pt x="4365" y="14"/>
                    <a:pt x="4339" y="18"/>
                    <a:pt x="4313" y="22"/>
                  </a:cubicBezTo>
                  <a:cubicBezTo>
                    <a:pt x="4296" y="20"/>
                    <a:pt x="4309" y="19"/>
                    <a:pt x="4310" y="18"/>
                  </a:cubicBezTo>
                  <a:cubicBezTo>
                    <a:pt x="4203" y="15"/>
                    <a:pt x="4192" y="15"/>
                    <a:pt x="4102" y="23"/>
                  </a:cubicBezTo>
                  <a:lnTo>
                    <a:pt x="4093" y="18"/>
                  </a:lnTo>
                  <a:cubicBezTo>
                    <a:pt x="4068" y="21"/>
                    <a:pt x="3938" y="10"/>
                    <a:pt x="3833" y="15"/>
                  </a:cubicBezTo>
                  <a:cubicBezTo>
                    <a:pt x="3834" y="15"/>
                    <a:pt x="3836" y="14"/>
                    <a:pt x="3844" y="13"/>
                  </a:cubicBezTo>
                  <a:cubicBezTo>
                    <a:pt x="3726" y="19"/>
                    <a:pt x="3561" y="0"/>
                    <a:pt x="3518" y="17"/>
                  </a:cubicBezTo>
                  <a:lnTo>
                    <a:pt x="3439" y="21"/>
                  </a:lnTo>
                  <a:cubicBezTo>
                    <a:pt x="3540" y="23"/>
                    <a:pt x="3424" y="29"/>
                    <a:pt x="3466" y="32"/>
                  </a:cubicBezTo>
                  <a:cubicBezTo>
                    <a:pt x="3426" y="33"/>
                    <a:pt x="3363" y="27"/>
                    <a:pt x="3412" y="26"/>
                  </a:cubicBezTo>
                  <a:lnTo>
                    <a:pt x="3420" y="27"/>
                  </a:lnTo>
                  <a:cubicBezTo>
                    <a:pt x="3438" y="17"/>
                    <a:pt x="3294" y="23"/>
                    <a:pt x="3297" y="16"/>
                  </a:cubicBezTo>
                  <a:cubicBezTo>
                    <a:pt x="3098" y="17"/>
                    <a:pt x="2904" y="11"/>
                    <a:pt x="2718" y="10"/>
                  </a:cubicBezTo>
                  <a:lnTo>
                    <a:pt x="2740" y="18"/>
                  </a:lnTo>
                  <a:lnTo>
                    <a:pt x="2675" y="17"/>
                  </a:lnTo>
                  <a:cubicBezTo>
                    <a:pt x="2658" y="15"/>
                    <a:pt x="2652" y="11"/>
                    <a:pt x="2698" y="12"/>
                  </a:cubicBezTo>
                  <a:cubicBezTo>
                    <a:pt x="2674" y="8"/>
                    <a:pt x="2620" y="15"/>
                    <a:pt x="2619" y="17"/>
                  </a:cubicBezTo>
                  <a:cubicBezTo>
                    <a:pt x="2528" y="14"/>
                    <a:pt x="2655" y="9"/>
                    <a:pt x="2627" y="9"/>
                  </a:cubicBezTo>
                  <a:lnTo>
                    <a:pt x="2589" y="9"/>
                  </a:lnTo>
                  <a:lnTo>
                    <a:pt x="2597" y="9"/>
                  </a:lnTo>
                  <a:cubicBezTo>
                    <a:pt x="2567" y="12"/>
                    <a:pt x="2564" y="15"/>
                    <a:pt x="2508" y="15"/>
                  </a:cubicBezTo>
                  <a:cubicBezTo>
                    <a:pt x="2473" y="13"/>
                    <a:pt x="2490" y="10"/>
                    <a:pt x="2476" y="10"/>
                  </a:cubicBezTo>
                  <a:cubicBezTo>
                    <a:pt x="2477" y="10"/>
                    <a:pt x="2472" y="9"/>
                    <a:pt x="2455" y="10"/>
                  </a:cubicBezTo>
                  <a:lnTo>
                    <a:pt x="2373" y="9"/>
                  </a:lnTo>
                  <a:lnTo>
                    <a:pt x="2406" y="15"/>
                  </a:lnTo>
                  <a:cubicBezTo>
                    <a:pt x="2370" y="18"/>
                    <a:pt x="2329" y="15"/>
                    <a:pt x="2367" y="21"/>
                  </a:cubicBezTo>
                  <a:cubicBezTo>
                    <a:pt x="2311" y="11"/>
                    <a:pt x="2062" y="17"/>
                    <a:pt x="2028" y="14"/>
                  </a:cubicBezTo>
                  <a:cubicBezTo>
                    <a:pt x="1977" y="18"/>
                    <a:pt x="1927" y="18"/>
                    <a:pt x="1864" y="17"/>
                  </a:cubicBezTo>
                  <a:cubicBezTo>
                    <a:pt x="1880" y="19"/>
                    <a:pt x="1889" y="25"/>
                    <a:pt x="1836" y="24"/>
                  </a:cubicBezTo>
                  <a:cubicBezTo>
                    <a:pt x="1855" y="11"/>
                    <a:pt x="1737" y="18"/>
                    <a:pt x="1694" y="9"/>
                  </a:cubicBezTo>
                  <a:cubicBezTo>
                    <a:pt x="1733" y="15"/>
                    <a:pt x="1542" y="10"/>
                    <a:pt x="1603" y="19"/>
                  </a:cubicBezTo>
                  <a:cubicBezTo>
                    <a:pt x="1558" y="18"/>
                    <a:pt x="1600" y="14"/>
                    <a:pt x="1566" y="11"/>
                  </a:cubicBezTo>
                  <a:cubicBezTo>
                    <a:pt x="1460" y="16"/>
                    <a:pt x="1331" y="8"/>
                    <a:pt x="1200" y="9"/>
                  </a:cubicBezTo>
                  <a:cubicBezTo>
                    <a:pt x="1198" y="11"/>
                    <a:pt x="1220" y="13"/>
                    <a:pt x="1192" y="16"/>
                  </a:cubicBezTo>
                  <a:lnTo>
                    <a:pt x="1122" y="8"/>
                  </a:lnTo>
                  <a:cubicBezTo>
                    <a:pt x="1096" y="9"/>
                    <a:pt x="1098" y="17"/>
                    <a:pt x="1051" y="11"/>
                  </a:cubicBezTo>
                  <a:cubicBezTo>
                    <a:pt x="1058" y="13"/>
                    <a:pt x="1068" y="15"/>
                    <a:pt x="1050" y="15"/>
                  </a:cubicBezTo>
                  <a:cubicBezTo>
                    <a:pt x="792" y="7"/>
                    <a:pt x="524" y="22"/>
                    <a:pt x="262" y="7"/>
                  </a:cubicBezTo>
                  <a:cubicBezTo>
                    <a:pt x="297" y="9"/>
                    <a:pt x="274" y="10"/>
                    <a:pt x="247" y="10"/>
                  </a:cubicBezTo>
                  <a:cubicBezTo>
                    <a:pt x="264" y="11"/>
                    <a:pt x="246" y="14"/>
                    <a:pt x="250" y="17"/>
                  </a:cubicBezTo>
                  <a:lnTo>
                    <a:pt x="140" y="10"/>
                  </a:lnTo>
                  <a:cubicBezTo>
                    <a:pt x="120" y="17"/>
                    <a:pt x="23" y="10"/>
                    <a:pt x="11" y="17"/>
                  </a:cubicBezTo>
                  <a:lnTo>
                    <a:pt x="46" y="15"/>
                  </a:lnTo>
                  <a:cubicBezTo>
                    <a:pt x="0" y="23"/>
                    <a:pt x="111" y="32"/>
                    <a:pt x="104" y="42"/>
                  </a:cubicBezTo>
                  <a:cubicBezTo>
                    <a:pt x="156" y="33"/>
                    <a:pt x="240" y="55"/>
                    <a:pt x="325" y="43"/>
                  </a:cubicBezTo>
                  <a:cubicBezTo>
                    <a:pt x="344" y="45"/>
                    <a:pt x="309" y="46"/>
                    <a:pt x="319" y="48"/>
                  </a:cubicBezTo>
                  <a:cubicBezTo>
                    <a:pt x="340" y="44"/>
                    <a:pt x="366" y="43"/>
                    <a:pt x="414" y="45"/>
                  </a:cubicBezTo>
                  <a:lnTo>
                    <a:pt x="409" y="46"/>
                  </a:lnTo>
                  <a:cubicBezTo>
                    <a:pt x="544" y="45"/>
                    <a:pt x="602" y="49"/>
                    <a:pt x="754" y="52"/>
                  </a:cubicBezTo>
                  <a:lnTo>
                    <a:pt x="742" y="47"/>
                  </a:lnTo>
                  <a:cubicBezTo>
                    <a:pt x="775" y="48"/>
                    <a:pt x="782" y="49"/>
                    <a:pt x="797" y="50"/>
                  </a:cubicBezTo>
                  <a:cubicBezTo>
                    <a:pt x="835" y="43"/>
                    <a:pt x="706" y="50"/>
                    <a:pt x="740" y="42"/>
                  </a:cubicBezTo>
                  <a:cubicBezTo>
                    <a:pt x="783" y="52"/>
                    <a:pt x="970" y="42"/>
                    <a:pt x="999" y="53"/>
                  </a:cubicBezTo>
                  <a:cubicBezTo>
                    <a:pt x="1049" y="54"/>
                    <a:pt x="984" y="48"/>
                    <a:pt x="1034" y="48"/>
                  </a:cubicBezTo>
                  <a:lnTo>
                    <a:pt x="1048" y="51"/>
                  </a:lnTo>
                  <a:lnTo>
                    <a:pt x="1060" y="47"/>
                  </a:lnTo>
                  <a:cubicBezTo>
                    <a:pt x="1093" y="48"/>
                    <a:pt x="1110" y="52"/>
                    <a:pt x="1111" y="54"/>
                  </a:cubicBezTo>
                  <a:cubicBezTo>
                    <a:pt x="1103" y="54"/>
                    <a:pt x="1088" y="55"/>
                    <a:pt x="1080" y="55"/>
                  </a:cubicBezTo>
                  <a:cubicBezTo>
                    <a:pt x="1122" y="59"/>
                    <a:pt x="1200" y="54"/>
                    <a:pt x="1215" y="55"/>
                  </a:cubicBezTo>
                  <a:lnTo>
                    <a:pt x="1166" y="53"/>
                  </a:lnTo>
                  <a:cubicBezTo>
                    <a:pt x="1303" y="50"/>
                    <a:pt x="1470" y="55"/>
                    <a:pt x="1603" y="49"/>
                  </a:cubicBezTo>
                  <a:lnTo>
                    <a:pt x="1593" y="46"/>
                  </a:lnTo>
                  <a:cubicBezTo>
                    <a:pt x="1694" y="42"/>
                    <a:pt x="1674" y="49"/>
                    <a:pt x="1784" y="47"/>
                  </a:cubicBezTo>
                  <a:lnTo>
                    <a:pt x="1780" y="48"/>
                  </a:lnTo>
                  <a:cubicBezTo>
                    <a:pt x="1803" y="45"/>
                    <a:pt x="1832" y="44"/>
                    <a:pt x="1863" y="45"/>
                  </a:cubicBezTo>
                  <a:cubicBezTo>
                    <a:pt x="1835" y="47"/>
                    <a:pt x="1915" y="50"/>
                    <a:pt x="1879" y="53"/>
                  </a:cubicBezTo>
                  <a:cubicBezTo>
                    <a:pt x="1988" y="48"/>
                    <a:pt x="1933" y="49"/>
                    <a:pt x="2005" y="41"/>
                  </a:cubicBezTo>
                  <a:lnTo>
                    <a:pt x="2022" y="45"/>
                  </a:lnTo>
                  <a:cubicBezTo>
                    <a:pt x="2046" y="41"/>
                    <a:pt x="2048" y="40"/>
                    <a:pt x="2104" y="39"/>
                  </a:cubicBezTo>
                  <a:cubicBezTo>
                    <a:pt x="2058" y="42"/>
                    <a:pt x="2139" y="44"/>
                    <a:pt x="2088" y="49"/>
                  </a:cubicBezTo>
                  <a:cubicBezTo>
                    <a:pt x="2205" y="57"/>
                    <a:pt x="2261" y="41"/>
                    <a:pt x="2314" y="53"/>
                  </a:cubicBezTo>
                  <a:cubicBezTo>
                    <a:pt x="2368" y="42"/>
                    <a:pt x="2214" y="47"/>
                    <a:pt x="2244" y="45"/>
                  </a:cubicBezTo>
                  <a:cubicBezTo>
                    <a:pt x="2219" y="41"/>
                    <a:pt x="2288" y="37"/>
                    <a:pt x="2324" y="38"/>
                  </a:cubicBezTo>
                  <a:cubicBezTo>
                    <a:pt x="2361" y="38"/>
                    <a:pt x="2387" y="51"/>
                    <a:pt x="2481" y="51"/>
                  </a:cubicBezTo>
                  <a:cubicBezTo>
                    <a:pt x="2471" y="51"/>
                    <a:pt x="2471" y="52"/>
                    <a:pt x="2461" y="52"/>
                  </a:cubicBezTo>
                  <a:cubicBezTo>
                    <a:pt x="2496" y="55"/>
                    <a:pt x="2530" y="48"/>
                    <a:pt x="2573" y="53"/>
                  </a:cubicBezTo>
                  <a:cubicBezTo>
                    <a:pt x="2597" y="47"/>
                    <a:pt x="2628" y="53"/>
                    <a:pt x="2635" y="45"/>
                  </a:cubicBezTo>
                  <a:lnTo>
                    <a:pt x="2550" y="47"/>
                  </a:lnTo>
                  <a:cubicBezTo>
                    <a:pt x="2598" y="45"/>
                    <a:pt x="2644" y="36"/>
                    <a:pt x="2724" y="40"/>
                  </a:cubicBezTo>
                  <a:cubicBezTo>
                    <a:pt x="2718" y="42"/>
                    <a:pt x="2694" y="44"/>
                    <a:pt x="2677" y="45"/>
                  </a:cubicBezTo>
                  <a:cubicBezTo>
                    <a:pt x="2701" y="48"/>
                    <a:pt x="2722" y="44"/>
                    <a:pt x="2747" y="46"/>
                  </a:cubicBezTo>
                  <a:cubicBezTo>
                    <a:pt x="2740" y="54"/>
                    <a:pt x="2643" y="48"/>
                    <a:pt x="2591" y="54"/>
                  </a:cubicBezTo>
                  <a:cubicBezTo>
                    <a:pt x="2616" y="57"/>
                    <a:pt x="2689" y="48"/>
                    <a:pt x="2663" y="57"/>
                  </a:cubicBezTo>
                  <a:cubicBezTo>
                    <a:pt x="2700" y="46"/>
                    <a:pt x="2755" y="58"/>
                    <a:pt x="2818" y="50"/>
                  </a:cubicBezTo>
                  <a:lnTo>
                    <a:pt x="2814" y="55"/>
                  </a:lnTo>
                  <a:cubicBezTo>
                    <a:pt x="2824" y="54"/>
                    <a:pt x="2845" y="52"/>
                    <a:pt x="2863" y="52"/>
                  </a:cubicBezTo>
                  <a:lnTo>
                    <a:pt x="2830" y="58"/>
                  </a:lnTo>
                  <a:cubicBezTo>
                    <a:pt x="2881" y="53"/>
                    <a:pt x="2928" y="63"/>
                    <a:pt x="2977" y="60"/>
                  </a:cubicBezTo>
                  <a:cubicBezTo>
                    <a:pt x="2875" y="60"/>
                    <a:pt x="2954" y="54"/>
                    <a:pt x="2911" y="51"/>
                  </a:cubicBezTo>
                  <a:cubicBezTo>
                    <a:pt x="3038" y="45"/>
                    <a:pt x="2984" y="64"/>
                    <a:pt x="3126" y="62"/>
                  </a:cubicBezTo>
                  <a:cubicBezTo>
                    <a:pt x="3107" y="62"/>
                    <a:pt x="3054" y="58"/>
                    <a:pt x="3084" y="56"/>
                  </a:cubicBezTo>
                  <a:cubicBezTo>
                    <a:pt x="3111" y="57"/>
                    <a:pt x="3146" y="59"/>
                    <a:pt x="3163" y="62"/>
                  </a:cubicBezTo>
                  <a:cubicBezTo>
                    <a:pt x="3257" y="61"/>
                    <a:pt x="3149" y="57"/>
                    <a:pt x="3189" y="54"/>
                  </a:cubicBezTo>
                  <a:cubicBezTo>
                    <a:pt x="3221" y="60"/>
                    <a:pt x="3235" y="52"/>
                    <a:pt x="3276" y="50"/>
                  </a:cubicBezTo>
                  <a:lnTo>
                    <a:pt x="3276" y="55"/>
                  </a:lnTo>
                  <a:cubicBezTo>
                    <a:pt x="3384" y="58"/>
                    <a:pt x="3305" y="45"/>
                    <a:pt x="3401" y="49"/>
                  </a:cubicBezTo>
                  <a:lnTo>
                    <a:pt x="3361" y="55"/>
                  </a:lnTo>
                  <a:lnTo>
                    <a:pt x="3411" y="54"/>
                  </a:lnTo>
                  <a:lnTo>
                    <a:pt x="3400" y="59"/>
                  </a:lnTo>
                  <a:cubicBezTo>
                    <a:pt x="3455" y="55"/>
                    <a:pt x="3472" y="56"/>
                    <a:pt x="3526" y="58"/>
                  </a:cubicBezTo>
                  <a:cubicBezTo>
                    <a:pt x="3513" y="54"/>
                    <a:pt x="3533" y="49"/>
                    <a:pt x="3580" y="49"/>
                  </a:cubicBezTo>
                  <a:cubicBezTo>
                    <a:pt x="3613" y="52"/>
                    <a:pt x="3562" y="54"/>
                    <a:pt x="3630" y="53"/>
                  </a:cubicBezTo>
                  <a:cubicBezTo>
                    <a:pt x="3614" y="56"/>
                    <a:pt x="3598" y="60"/>
                    <a:pt x="3568" y="55"/>
                  </a:cubicBezTo>
                  <a:cubicBezTo>
                    <a:pt x="3565" y="57"/>
                    <a:pt x="3553" y="58"/>
                    <a:pt x="3550" y="60"/>
                  </a:cubicBezTo>
                  <a:cubicBezTo>
                    <a:pt x="3585" y="63"/>
                    <a:pt x="3638" y="61"/>
                    <a:pt x="3662" y="61"/>
                  </a:cubicBezTo>
                  <a:cubicBezTo>
                    <a:pt x="3653" y="61"/>
                    <a:pt x="3642" y="60"/>
                    <a:pt x="3636" y="60"/>
                  </a:cubicBezTo>
                  <a:lnTo>
                    <a:pt x="3734" y="53"/>
                  </a:lnTo>
                  <a:cubicBezTo>
                    <a:pt x="3749" y="55"/>
                    <a:pt x="3737" y="56"/>
                    <a:pt x="3725" y="58"/>
                  </a:cubicBezTo>
                  <a:cubicBezTo>
                    <a:pt x="3744" y="57"/>
                    <a:pt x="3758" y="55"/>
                    <a:pt x="3787" y="55"/>
                  </a:cubicBezTo>
                  <a:cubicBezTo>
                    <a:pt x="3780" y="59"/>
                    <a:pt x="3781" y="63"/>
                    <a:pt x="3740" y="65"/>
                  </a:cubicBezTo>
                  <a:lnTo>
                    <a:pt x="3833" y="60"/>
                  </a:lnTo>
                  <a:cubicBezTo>
                    <a:pt x="3839" y="62"/>
                    <a:pt x="3881" y="65"/>
                    <a:pt x="3869" y="67"/>
                  </a:cubicBezTo>
                  <a:cubicBezTo>
                    <a:pt x="3920" y="69"/>
                    <a:pt x="3995" y="59"/>
                    <a:pt x="4064" y="62"/>
                  </a:cubicBezTo>
                  <a:cubicBezTo>
                    <a:pt x="4067" y="62"/>
                    <a:pt x="4074" y="61"/>
                    <a:pt x="4089" y="60"/>
                  </a:cubicBezTo>
                  <a:cubicBezTo>
                    <a:pt x="4153" y="62"/>
                    <a:pt x="4210" y="67"/>
                    <a:pt x="4286" y="61"/>
                  </a:cubicBezTo>
                  <a:lnTo>
                    <a:pt x="4329" y="68"/>
                  </a:lnTo>
                  <a:cubicBezTo>
                    <a:pt x="4389" y="67"/>
                    <a:pt x="4271" y="59"/>
                    <a:pt x="4370" y="57"/>
                  </a:cubicBezTo>
                  <a:cubicBezTo>
                    <a:pt x="4440" y="55"/>
                    <a:pt x="4396" y="63"/>
                    <a:pt x="4421" y="65"/>
                  </a:cubicBezTo>
                  <a:cubicBezTo>
                    <a:pt x="4456" y="62"/>
                    <a:pt x="4517" y="54"/>
                    <a:pt x="4581" y="60"/>
                  </a:cubicBezTo>
                  <a:cubicBezTo>
                    <a:pt x="4560" y="62"/>
                    <a:pt x="4543" y="60"/>
                    <a:pt x="4523" y="6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7" name="Figura a mano libera 63"/>
            <p:cNvSpPr>
              <a:spLocks/>
            </p:cNvSpPr>
            <p:nvPr/>
          </p:nvSpPr>
          <p:spPr bwMode="invGray">
            <a:xfrm>
              <a:off x="7508875" y="1560020"/>
              <a:ext cx="11112" cy="3693"/>
            </a:xfrm>
            <a:custGeom>
              <a:avLst/>
              <a:gdLst>
                <a:gd name="T0" fmla="*/ 12 w 12"/>
                <a:gd name="T1" fmla="*/ 3 h 3"/>
                <a:gd name="T2" fmla="*/ 12 w 12"/>
                <a:gd name="T3" fmla="*/ 3 h 3"/>
                <a:gd name="T4" fmla="*/ 6 w 12"/>
                <a:gd name="T5" fmla="*/ 0 h 3"/>
                <a:gd name="T6" fmla="*/ 12 w 12"/>
                <a:gd name="T7" fmla="*/ 3 h 3"/>
              </a:gdLst>
              <a:ahLst/>
              <a:cxnLst>
                <a:cxn ang="0">
                  <a:pos x="T0" y="T1"/>
                </a:cxn>
                <a:cxn ang="0">
                  <a:pos x="T2" y="T3"/>
                </a:cxn>
                <a:cxn ang="0">
                  <a:pos x="T4" y="T5"/>
                </a:cxn>
                <a:cxn ang="0">
                  <a:pos x="T6" y="T7"/>
                </a:cxn>
              </a:cxnLst>
              <a:rect l="0" t="0" r="r" b="b"/>
              <a:pathLst>
                <a:path w="12" h="3">
                  <a:moveTo>
                    <a:pt x="12" y="3"/>
                  </a:moveTo>
                  <a:lnTo>
                    <a:pt x="12" y="3"/>
                  </a:lnTo>
                  <a:cubicBezTo>
                    <a:pt x="8" y="2"/>
                    <a:pt x="7" y="1"/>
                    <a:pt x="6" y="0"/>
                  </a:cubicBezTo>
                  <a:cubicBezTo>
                    <a:pt x="1" y="1"/>
                    <a:pt x="0" y="2"/>
                    <a:pt x="12"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8" name="Figura a mano libera 64"/>
            <p:cNvSpPr>
              <a:spLocks/>
            </p:cNvSpPr>
            <p:nvPr/>
          </p:nvSpPr>
          <p:spPr bwMode="invGray">
            <a:xfrm>
              <a:off x="5434013" y="1567405"/>
              <a:ext cx="4762" cy="1231"/>
            </a:xfrm>
            <a:custGeom>
              <a:avLst/>
              <a:gdLst>
                <a:gd name="T0" fmla="*/ 5 w 5"/>
                <a:gd name="T1" fmla="*/ 1 h 1"/>
                <a:gd name="T2" fmla="*/ 5 w 5"/>
                <a:gd name="T3" fmla="*/ 1 h 1"/>
                <a:gd name="T4" fmla="*/ 3 w 5"/>
                <a:gd name="T5" fmla="*/ 0 h 1"/>
                <a:gd name="T6" fmla="*/ 0 w 5"/>
                <a:gd name="T7" fmla="*/ 1 h 1"/>
                <a:gd name="T8" fmla="*/ 5 w 5"/>
                <a:gd name="T9" fmla="*/ 1 h 1"/>
              </a:gdLst>
              <a:ahLst/>
              <a:cxnLst>
                <a:cxn ang="0">
                  <a:pos x="T0" y="T1"/>
                </a:cxn>
                <a:cxn ang="0">
                  <a:pos x="T2" y="T3"/>
                </a:cxn>
                <a:cxn ang="0">
                  <a:pos x="T4" y="T5"/>
                </a:cxn>
                <a:cxn ang="0">
                  <a:pos x="T6" y="T7"/>
                </a:cxn>
                <a:cxn ang="0">
                  <a:pos x="T8" y="T9"/>
                </a:cxn>
              </a:cxnLst>
              <a:rect l="0" t="0" r="r" b="b"/>
              <a:pathLst>
                <a:path w="5" h="1">
                  <a:moveTo>
                    <a:pt x="5" y="1"/>
                  </a:moveTo>
                  <a:lnTo>
                    <a:pt x="5" y="1"/>
                  </a:lnTo>
                  <a:lnTo>
                    <a:pt x="3" y="0"/>
                  </a:lnTo>
                  <a:cubicBezTo>
                    <a:pt x="1" y="1"/>
                    <a:pt x="1" y="1"/>
                    <a:pt x="0" y="1"/>
                  </a:cubicBezTo>
                  <a:lnTo>
                    <a:pt x="5" y="1"/>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59" name="Figura a mano libera 65"/>
            <p:cNvSpPr>
              <a:spLocks/>
            </p:cNvSpPr>
            <p:nvPr/>
          </p:nvSpPr>
          <p:spPr bwMode="invGray">
            <a:xfrm>
              <a:off x="9672638" y="1567405"/>
              <a:ext cx="25400" cy="2462"/>
            </a:xfrm>
            <a:custGeom>
              <a:avLst/>
              <a:gdLst>
                <a:gd name="T0" fmla="*/ 27 w 27"/>
                <a:gd name="T1" fmla="*/ 3 h 3"/>
                <a:gd name="T2" fmla="*/ 27 w 27"/>
                <a:gd name="T3" fmla="*/ 3 h 3"/>
                <a:gd name="T4" fmla="*/ 1 w 27"/>
                <a:gd name="T5" fmla="*/ 0 h 3"/>
                <a:gd name="T6" fmla="*/ 27 w 27"/>
                <a:gd name="T7" fmla="*/ 3 h 3"/>
              </a:gdLst>
              <a:ahLst/>
              <a:cxnLst>
                <a:cxn ang="0">
                  <a:pos x="T0" y="T1"/>
                </a:cxn>
                <a:cxn ang="0">
                  <a:pos x="T2" y="T3"/>
                </a:cxn>
                <a:cxn ang="0">
                  <a:pos x="T4" y="T5"/>
                </a:cxn>
                <a:cxn ang="0">
                  <a:pos x="T6" y="T7"/>
                </a:cxn>
              </a:cxnLst>
              <a:rect l="0" t="0" r="r" b="b"/>
              <a:pathLst>
                <a:path w="27" h="3">
                  <a:moveTo>
                    <a:pt x="27" y="3"/>
                  </a:moveTo>
                  <a:lnTo>
                    <a:pt x="27" y="3"/>
                  </a:lnTo>
                  <a:cubicBezTo>
                    <a:pt x="13" y="2"/>
                    <a:pt x="6" y="1"/>
                    <a:pt x="1" y="0"/>
                  </a:cubicBezTo>
                  <a:cubicBezTo>
                    <a:pt x="0" y="1"/>
                    <a:pt x="6" y="2"/>
                    <a:pt x="27"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0" name="Figura a mano libera 66"/>
            <p:cNvSpPr>
              <a:spLocks/>
            </p:cNvSpPr>
            <p:nvPr/>
          </p:nvSpPr>
          <p:spPr bwMode="invGray">
            <a:xfrm>
              <a:off x="10966450" y="1529246"/>
              <a:ext cx="39687" cy="2462"/>
            </a:xfrm>
            <a:custGeom>
              <a:avLst/>
              <a:gdLst>
                <a:gd name="T0" fmla="*/ 42 w 42"/>
                <a:gd name="T1" fmla="*/ 0 h 3"/>
                <a:gd name="T2" fmla="*/ 42 w 42"/>
                <a:gd name="T3" fmla="*/ 0 h 3"/>
                <a:gd name="T4" fmla="*/ 0 w 42"/>
                <a:gd name="T5" fmla="*/ 1 h 3"/>
                <a:gd name="T6" fmla="*/ 38 w 42"/>
                <a:gd name="T7" fmla="*/ 3 h 3"/>
                <a:gd name="T8" fmla="*/ 42 w 42"/>
                <a:gd name="T9" fmla="*/ 0 h 3"/>
              </a:gdLst>
              <a:ahLst/>
              <a:cxnLst>
                <a:cxn ang="0">
                  <a:pos x="T0" y="T1"/>
                </a:cxn>
                <a:cxn ang="0">
                  <a:pos x="T2" y="T3"/>
                </a:cxn>
                <a:cxn ang="0">
                  <a:pos x="T4" y="T5"/>
                </a:cxn>
                <a:cxn ang="0">
                  <a:pos x="T6" y="T7"/>
                </a:cxn>
                <a:cxn ang="0">
                  <a:pos x="T8" y="T9"/>
                </a:cxn>
              </a:cxnLst>
              <a:rect l="0" t="0" r="r" b="b"/>
              <a:pathLst>
                <a:path w="42" h="3">
                  <a:moveTo>
                    <a:pt x="42" y="0"/>
                  </a:moveTo>
                  <a:lnTo>
                    <a:pt x="42" y="0"/>
                  </a:lnTo>
                  <a:lnTo>
                    <a:pt x="0" y="1"/>
                  </a:lnTo>
                  <a:cubicBezTo>
                    <a:pt x="20" y="1"/>
                    <a:pt x="27" y="2"/>
                    <a:pt x="38" y="3"/>
                  </a:cubicBezTo>
                  <a:cubicBezTo>
                    <a:pt x="37" y="2"/>
                    <a:pt x="29" y="0"/>
                    <a:pt x="42"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1" name="Figura a mano libera 67"/>
            <p:cNvSpPr>
              <a:spLocks/>
            </p:cNvSpPr>
            <p:nvPr/>
          </p:nvSpPr>
          <p:spPr bwMode="invGray">
            <a:xfrm>
              <a:off x="11329988" y="1552634"/>
              <a:ext cx="44450" cy="2462"/>
            </a:xfrm>
            <a:custGeom>
              <a:avLst/>
              <a:gdLst>
                <a:gd name="T0" fmla="*/ 27 w 46"/>
                <a:gd name="T1" fmla="*/ 3 h 3"/>
                <a:gd name="T2" fmla="*/ 27 w 46"/>
                <a:gd name="T3" fmla="*/ 3 h 3"/>
                <a:gd name="T4" fmla="*/ 46 w 46"/>
                <a:gd name="T5" fmla="*/ 2 h 3"/>
                <a:gd name="T6" fmla="*/ 44 w 46"/>
                <a:gd name="T7" fmla="*/ 0 h 3"/>
                <a:gd name="T8" fmla="*/ 27 w 46"/>
                <a:gd name="T9" fmla="*/ 3 h 3"/>
              </a:gdLst>
              <a:ahLst/>
              <a:cxnLst>
                <a:cxn ang="0">
                  <a:pos x="T0" y="T1"/>
                </a:cxn>
                <a:cxn ang="0">
                  <a:pos x="T2" y="T3"/>
                </a:cxn>
                <a:cxn ang="0">
                  <a:pos x="T4" y="T5"/>
                </a:cxn>
                <a:cxn ang="0">
                  <a:pos x="T6" y="T7"/>
                </a:cxn>
                <a:cxn ang="0">
                  <a:pos x="T8" y="T9"/>
                </a:cxn>
              </a:cxnLst>
              <a:rect l="0" t="0" r="r" b="b"/>
              <a:pathLst>
                <a:path w="46" h="3">
                  <a:moveTo>
                    <a:pt x="27" y="3"/>
                  </a:moveTo>
                  <a:lnTo>
                    <a:pt x="27" y="3"/>
                  </a:lnTo>
                  <a:cubicBezTo>
                    <a:pt x="33" y="2"/>
                    <a:pt x="40" y="3"/>
                    <a:pt x="46" y="2"/>
                  </a:cubicBezTo>
                  <a:lnTo>
                    <a:pt x="44" y="0"/>
                  </a:lnTo>
                  <a:cubicBezTo>
                    <a:pt x="18" y="0"/>
                    <a:pt x="0" y="2"/>
                    <a:pt x="27"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2" name="Figura a mano libera 68"/>
            <p:cNvSpPr>
              <a:spLocks/>
            </p:cNvSpPr>
            <p:nvPr/>
          </p:nvSpPr>
          <p:spPr bwMode="invGray">
            <a:xfrm>
              <a:off x="11042650" y="1540325"/>
              <a:ext cx="60325" cy="6155"/>
            </a:xfrm>
            <a:custGeom>
              <a:avLst/>
              <a:gdLst>
                <a:gd name="T0" fmla="*/ 0 w 63"/>
                <a:gd name="T1" fmla="*/ 3 h 7"/>
                <a:gd name="T2" fmla="*/ 0 w 63"/>
                <a:gd name="T3" fmla="*/ 3 h 7"/>
                <a:gd name="T4" fmla="*/ 60 w 63"/>
                <a:gd name="T5" fmla="*/ 5 h 7"/>
                <a:gd name="T6" fmla="*/ 54 w 63"/>
                <a:gd name="T7" fmla="*/ 5 h 7"/>
                <a:gd name="T8" fmla="*/ 0 w 63"/>
                <a:gd name="T9" fmla="*/ 3 h 7"/>
              </a:gdLst>
              <a:ahLst/>
              <a:cxnLst>
                <a:cxn ang="0">
                  <a:pos x="T0" y="T1"/>
                </a:cxn>
                <a:cxn ang="0">
                  <a:pos x="T2" y="T3"/>
                </a:cxn>
                <a:cxn ang="0">
                  <a:pos x="T4" y="T5"/>
                </a:cxn>
                <a:cxn ang="0">
                  <a:pos x="T6" y="T7"/>
                </a:cxn>
                <a:cxn ang="0">
                  <a:pos x="T8" y="T9"/>
                </a:cxn>
              </a:cxnLst>
              <a:rect l="0" t="0" r="r" b="b"/>
              <a:pathLst>
                <a:path w="63" h="7">
                  <a:moveTo>
                    <a:pt x="0" y="3"/>
                  </a:moveTo>
                  <a:lnTo>
                    <a:pt x="0" y="3"/>
                  </a:lnTo>
                  <a:cubicBezTo>
                    <a:pt x="3" y="7"/>
                    <a:pt x="30" y="6"/>
                    <a:pt x="60" y="5"/>
                  </a:cubicBezTo>
                  <a:lnTo>
                    <a:pt x="54" y="5"/>
                  </a:lnTo>
                  <a:cubicBezTo>
                    <a:pt x="63" y="0"/>
                    <a:pt x="31" y="1"/>
                    <a:pt x="0" y="3"/>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3" name="Figura a mano libera 69"/>
            <p:cNvSpPr>
              <a:spLocks/>
            </p:cNvSpPr>
            <p:nvPr/>
          </p:nvSpPr>
          <p:spPr bwMode="invGray">
            <a:xfrm>
              <a:off x="11106150" y="1542787"/>
              <a:ext cx="28575" cy="1231"/>
            </a:xfrm>
            <a:custGeom>
              <a:avLst/>
              <a:gdLst>
                <a:gd name="T0" fmla="*/ 0 w 31"/>
                <a:gd name="T1" fmla="*/ 2 h 2"/>
                <a:gd name="T2" fmla="*/ 0 w 31"/>
                <a:gd name="T3" fmla="*/ 2 h 2"/>
                <a:gd name="T4" fmla="*/ 28 w 31"/>
                <a:gd name="T5" fmla="*/ 2 h 2"/>
                <a:gd name="T6" fmla="*/ 0 w 31"/>
                <a:gd name="T7" fmla="*/ 2 h 2"/>
              </a:gdLst>
              <a:ahLst/>
              <a:cxnLst>
                <a:cxn ang="0">
                  <a:pos x="T0" y="T1"/>
                </a:cxn>
                <a:cxn ang="0">
                  <a:pos x="T2" y="T3"/>
                </a:cxn>
                <a:cxn ang="0">
                  <a:pos x="T4" y="T5"/>
                </a:cxn>
                <a:cxn ang="0">
                  <a:pos x="T6" y="T7"/>
                </a:cxn>
              </a:cxnLst>
              <a:rect l="0" t="0" r="r" b="b"/>
              <a:pathLst>
                <a:path w="31" h="2">
                  <a:moveTo>
                    <a:pt x="0" y="2"/>
                  </a:moveTo>
                  <a:lnTo>
                    <a:pt x="0" y="2"/>
                  </a:lnTo>
                  <a:cubicBezTo>
                    <a:pt x="10" y="2"/>
                    <a:pt x="19" y="2"/>
                    <a:pt x="28" y="2"/>
                  </a:cubicBezTo>
                  <a:cubicBezTo>
                    <a:pt x="31" y="0"/>
                    <a:pt x="17" y="2"/>
                    <a:pt x="0" y="2"/>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4" name="Figura a mano libera 70"/>
            <p:cNvSpPr>
              <a:spLocks/>
            </p:cNvSpPr>
            <p:nvPr/>
          </p:nvSpPr>
          <p:spPr bwMode="invGray">
            <a:xfrm>
              <a:off x="10679113" y="1525554"/>
              <a:ext cx="103187" cy="9847"/>
            </a:xfrm>
            <a:custGeom>
              <a:avLst/>
              <a:gdLst>
                <a:gd name="T0" fmla="*/ 77 w 109"/>
                <a:gd name="T1" fmla="*/ 9 h 12"/>
                <a:gd name="T2" fmla="*/ 77 w 109"/>
                <a:gd name="T3" fmla="*/ 9 h 12"/>
                <a:gd name="T4" fmla="*/ 94 w 109"/>
                <a:gd name="T5" fmla="*/ 6 h 12"/>
                <a:gd name="T6" fmla="*/ 77 w 109"/>
                <a:gd name="T7" fmla="*/ 9 h 12"/>
              </a:gdLst>
              <a:ahLst/>
              <a:cxnLst>
                <a:cxn ang="0">
                  <a:pos x="T0" y="T1"/>
                </a:cxn>
                <a:cxn ang="0">
                  <a:pos x="T2" y="T3"/>
                </a:cxn>
                <a:cxn ang="0">
                  <a:pos x="T4" y="T5"/>
                </a:cxn>
                <a:cxn ang="0">
                  <a:pos x="T6" y="T7"/>
                </a:cxn>
              </a:cxnLst>
              <a:rect l="0" t="0" r="r" b="b"/>
              <a:pathLst>
                <a:path w="109" h="12">
                  <a:moveTo>
                    <a:pt x="77" y="9"/>
                  </a:moveTo>
                  <a:lnTo>
                    <a:pt x="77" y="9"/>
                  </a:lnTo>
                  <a:cubicBezTo>
                    <a:pt x="91" y="10"/>
                    <a:pt x="86" y="4"/>
                    <a:pt x="94" y="6"/>
                  </a:cubicBezTo>
                  <a:cubicBezTo>
                    <a:pt x="109" y="0"/>
                    <a:pt x="0" y="12"/>
                    <a:pt x="77" y="9"/>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5" name="Figura a mano libera 71"/>
            <p:cNvSpPr>
              <a:spLocks/>
            </p:cNvSpPr>
            <p:nvPr/>
          </p:nvSpPr>
          <p:spPr bwMode="invGray">
            <a:xfrm>
              <a:off x="11039475" y="1550172"/>
              <a:ext cx="26987" cy="4924"/>
            </a:xfrm>
            <a:custGeom>
              <a:avLst/>
              <a:gdLst>
                <a:gd name="T0" fmla="*/ 27 w 27"/>
                <a:gd name="T1" fmla="*/ 5 h 5"/>
                <a:gd name="T2" fmla="*/ 27 w 27"/>
                <a:gd name="T3" fmla="*/ 5 h 5"/>
                <a:gd name="T4" fmla="*/ 16 w 27"/>
                <a:gd name="T5" fmla="*/ 0 h 5"/>
                <a:gd name="T6" fmla="*/ 0 w 27"/>
                <a:gd name="T7" fmla="*/ 4 h 5"/>
                <a:gd name="T8" fmla="*/ 27 w 27"/>
                <a:gd name="T9" fmla="*/ 5 h 5"/>
              </a:gdLst>
              <a:ahLst/>
              <a:cxnLst>
                <a:cxn ang="0">
                  <a:pos x="T0" y="T1"/>
                </a:cxn>
                <a:cxn ang="0">
                  <a:pos x="T2" y="T3"/>
                </a:cxn>
                <a:cxn ang="0">
                  <a:pos x="T4" y="T5"/>
                </a:cxn>
                <a:cxn ang="0">
                  <a:pos x="T6" y="T7"/>
                </a:cxn>
                <a:cxn ang="0">
                  <a:pos x="T8" y="T9"/>
                </a:cxn>
              </a:cxnLst>
              <a:rect l="0" t="0" r="r" b="b"/>
              <a:pathLst>
                <a:path w="27" h="5">
                  <a:moveTo>
                    <a:pt x="27" y="5"/>
                  </a:moveTo>
                  <a:lnTo>
                    <a:pt x="27" y="5"/>
                  </a:lnTo>
                  <a:lnTo>
                    <a:pt x="16" y="0"/>
                  </a:lnTo>
                  <a:lnTo>
                    <a:pt x="0" y="4"/>
                  </a:lnTo>
                  <a:lnTo>
                    <a:pt x="27" y="5"/>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6" name="Figura a mano libera 72"/>
            <p:cNvSpPr>
              <a:spLocks/>
            </p:cNvSpPr>
            <p:nvPr/>
          </p:nvSpPr>
          <p:spPr bwMode="invGray">
            <a:xfrm>
              <a:off x="10841038" y="1548941"/>
              <a:ext cx="58737" cy="2462"/>
            </a:xfrm>
            <a:custGeom>
              <a:avLst/>
              <a:gdLst>
                <a:gd name="T0" fmla="*/ 1 w 61"/>
                <a:gd name="T1" fmla="*/ 2 h 3"/>
                <a:gd name="T2" fmla="*/ 1 w 61"/>
                <a:gd name="T3" fmla="*/ 2 h 3"/>
                <a:gd name="T4" fmla="*/ 49 w 61"/>
                <a:gd name="T5" fmla="*/ 3 h 3"/>
                <a:gd name="T6" fmla="*/ 61 w 61"/>
                <a:gd name="T7" fmla="*/ 2 h 3"/>
                <a:gd name="T8" fmla="*/ 1 w 61"/>
                <a:gd name="T9" fmla="*/ 2 h 3"/>
              </a:gdLst>
              <a:ahLst/>
              <a:cxnLst>
                <a:cxn ang="0">
                  <a:pos x="T0" y="T1"/>
                </a:cxn>
                <a:cxn ang="0">
                  <a:pos x="T2" y="T3"/>
                </a:cxn>
                <a:cxn ang="0">
                  <a:pos x="T4" y="T5"/>
                </a:cxn>
                <a:cxn ang="0">
                  <a:pos x="T6" y="T7"/>
                </a:cxn>
                <a:cxn ang="0">
                  <a:pos x="T8" y="T9"/>
                </a:cxn>
              </a:cxnLst>
              <a:rect l="0" t="0" r="r" b="b"/>
              <a:pathLst>
                <a:path w="61" h="3">
                  <a:moveTo>
                    <a:pt x="1" y="2"/>
                  </a:moveTo>
                  <a:lnTo>
                    <a:pt x="1" y="2"/>
                  </a:lnTo>
                  <a:lnTo>
                    <a:pt x="49" y="3"/>
                  </a:lnTo>
                  <a:cubicBezTo>
                    <a:pt x="48" y="2"/>
                    <a:pt x="54" y="2"/>
                    <a:pt x="61" y="2"/>
                  </a:cubicBezTo>
                  <a:cubicBezTo>
                    <a:pt x="32" y="1"/>
                    <a:pt x="0" y="0"/>
                    <a:pt x="1" y="2"/>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7" name="Figura a mano libera 73"/>
            <p:cNvSpPr>
              <a:spLocks/>
            </p:cNvSpPr>
            <p:nvPr/>
          </p:nvSpPr>
          <p:spPr bwMode="invGray">
            <a:xfrm>
              <a:off x="10899775" y="1550172"/>
              <a:ext cx="36512" cy="1231"/>
            </a:xfrm>
            <a:custGeom>
              <a:avLst/>
              <a:gdLst>
                <a:gd name="T0" fmla="*/ 0 w 38"/>
                <a:gd name="T1" fmla="*/ 1 h 1"/>
                <a:gd name="T2" fmla="*/ 0 w 38"/>
                <a:gd name="T3" fmla="*/ 1 h 1"/>
                <a:gd name="T4" fmla="*/ 38 w 38"/>
                <a:gd name="T5" fmla="*/ 0 h 1"/>
                <a:gd name="T6" fmla="*/ 0 w 38"/>
                <a:gd name="T7" fmla="*/ 1 h 1"/>
              </a:gdLst>
              <a:ahLst/>
              <a:cxnLst>
                <a:cxn ang="0">
                  <a:pos x="T0" y="T1"/>
                </a:cxn>
                <a:cxn ang="0">
                  <a:pos x="T2" y="T3"/>
                </a:cxn>
                <a:cxn ang="0">
                  <a:pos x="T4" y="T5"/>
                </a:cxn>
                <a:cxn ang="0">
                  <a:pos x="T6" y="T7"/>
                </a:cxn>
              </a:cxnLst>
              <a:rect l="0" t="0" r="r" b="b"/>
              <a:pathLst>
                <a:path w="38" h="1">
                  <a:moveTo>
                    <a:pt x="0" y="1"/>
                  </a:moveTo>
                  <a:lnTo>
                    <a:pt x="0" y="1"/>
                  </a:lnTo>
                  <a:cubicBezTo>
                    <a:pt x="15" y="1"/>
                    <a:pt x="30" y="1"/>
                    <a:pt x="38" y="0"/>
                  </a:cubicBezTo>
                  <a:cubicBezTo>
                    <a:pt x="30" y="0"/>
                    <a:pt x="12" y="0"/>
                    <a:pt x="0" y="1"/>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8" name="Figura a mano libera 74"/>
            <p:cNvSpPr>
              <a:spLocks/>
            </p:cNvSpPr>
            <p:nvPr/>
          </p:nvSpPr>
          <p:spPr bwMode="invGray">
            <a:xfrm>
              <a:off x="10958513" y="1555096"/>
              <a:ext cx="46037" cy="0"/>
            </a:xfrm>
            <a:custGeom>
              <a:avLst/>
              <a:gdLst>
                <a:gd name="T0" fmla="*/ 47 w 47"/>
                <a:gd name="T1" fmla="*/ 1 h 1"/>
                <a:gd name="T2" fmla="*/ 47 w 47"/>
                <a:gd name="T3" fmla="*/ 1 h 1"/>
                <a:gd name="T4" fmla="*/ 33 w 47"/>
                <a:gd name="T5" fmla="*/ 0 h 1"/>
                <a:gd name="T6" fmla="*/ 0 w 47"/>
                <a:gd name="T7" fmla="*/ 0 h 1"/>
                <a:gd name="T8" fmla="*/ 47 w 47"/>
                <a:gd name="T9" fmla="*/ 1 h 1"/>
              </a:gdLst>
              <a:ahLst/>
              <a:cxnLst>
                <a:cxn ang="0">
                  <a:pos x="T0" y="T1"/>
                </a:cxn>
                <a:cxn ang="0">
                  <a:pos x="T2" y="T3"/>
                </a:cxn>
                <a:cxn ang="0">
                  <a:pos x="T4" y="T5"/>
                </a:cxn>
                <a:cxn ang="0">
                  <a:pos x="T6" y="T7"/>
                </a:cxn>
                <a:cxn ang="0">
                  <a:pos x="T8" y="T9"/>
                </a:cxn>
              </a:cxnLst>
              <a:rect l="0" t="0" r="r" b="b"/>
              <a:pathLst>
                <a:path w="47" h="1">
                  <a:moveTo>
                    <a:pt x="47" y="1"/>
                  </a:moveTo>
                  <a:lnTo>
                    <a:pt x="47" y="1"/>
                  </a:lnTo>
                  <a:lnTo>
                    <a:pt x="33" y="0"/>
                  </a:lnTo>
                  <a:lnTo>
                    <a:pt x="0" y="0"/>
                  </a:lnTo>
                  <a:lnTo>
                    <a:pt x="47" y="1"/>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69" name="Figura a mano libera 75"/>
            <p:cNvSpPr>
              <a:spLocks/>
            </p:cNvSpPr>
            <p:nvPr/>
          </p:nvSpPr>
          <p:spPr bwMode="invGray">
            <a:xfrm>
              <a:off x="10304463" y="1548941"/>
              <a:ext cx="61912" cy="3693"/>
            </a:xfrm>
            <a:custGeom>
              <a:avLst/>
              <a:gdLst>
                <a:gd name="T0" fmla="*/ 57 w 65"/>
                <a:gd name="T1" fmla="*/ 0 h 4"/>
                <a:gd name="T2" fmla="*/ 57 w 65"/>
                <a:gd name="T3" fmla="*/ 0 h 4"/>
                <a:gd name="T4" fmla="*/ 5 w 65"/>
                <a:gd name="T5" fmla="*/ 1 h 4"/>
                <a:gd name="T6" fmla="*/ 33 w 65"/>
                <a:gd name="T7" fmla="*/ 4 h 4"/>
                <a:gd name="T8" fmla="*/ 57 w 65"/>
                <a:gd name="T9" fmla="*/ 0 h 4"/>
              </a:gdLst>
              <a:ahLst/>
              <a:cxnLst>
                <a:cxn ang="0">
                  <a:pos x="T0" y="T1"/>
                </a:cxn>
                <a:cxn ang="0">
                  <a:pos x="T2" y="T3"/>
                </a:cxn>
                <a:cxn ang="0">
                  <a:pos x="T4" y="T5"/>
                </a:cxn>
                <a:cxn ang="0">
                  <a:pos x="T6" y="T7"/>
                </a:cxn>
                <a:cxn ang="0">
                  <a:pos x="T8" y="T9"/>
                </a:cxn>
              </a:cxnLst>
              <a:rect l="0" t="0" r="r" b="b"/>
              <a:pathLst>
                <a:path w="65" h="4">
                  <a:moveTo>
                    <a:pt x="57" y="0"/>
                  </a:moveTo>
                  <a:lnTo>
                    <a:pt x="57" y="0"/>
                  </a:lnTo>
                  <a:lnTo>
                    <a:pt x="5" y="1"/>
                  </a:lnTo>
                  <a:cubicBezTo>
                    <a:pt x="0" y="3"/>
                    <a:pt x="14" y="4"/>
                    <a:pt x="33" y="4"/>
                  </a:cubicBezTo>
                  <a:cubicBezTo>
                    <a:pt x="45" y="2"/>
                    <a:pt x="65" y="2"/>
                    <a:pt x="57"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0" name="Figura a mano libera 76"/>
            <p:cNvSpPr>
              <a:spLocks/>
            </p:cNvSpPr>
            <p:nvPr/>
          </p:nvSpPr>
          <p:spPr bwMode="invGray">
            <a:xfrm>
              <a:off x="10483850" y="1557558"/>
              <a:ext cx="23812" cy="6155"/>
            </a:xfrm>
            <a:custGeom>
              <a:avLst/>
              <a:gdLst>
                <a:gd name="T0" fmla="*/ 25 w 25"/>
                <a:gd name="T1" fmla="*/ 4 h 7"/>
                <a:gd name="T2" fmla="*/ 25 w 25"/>
                <a:gd name="T3" fmla="*/ 4 h 7"/>
                <a:gd name="T4" fmla="*/ 2 w 25"/>
                <a:gd name="T5" fmla="*/ 0 h 7"/>
                <a:gd name="T6" fmla="*/ 0 w 25"/>
                <a:gd name="T7" fmla="*/ 7 h 7"/>
                <a:gd name="T8" fmla="*/ 25 w 25"/>
                <a:gd name="T9" fmla="*/ 4 h 7"/>
              </a:gdLst>
              <a:ahLst/>
              <a:cxnLst>
                <a:cxn ang="0">
                  <a:pos x="T0" y="T1"/>
                </a:cxn>
                <a:cxn ang="0">
                  <a:pos x="T2" y="T3"/>
                </a:cxn>
                <a:cxn ang="0">
                  <a:pos x="T4" y="T5"/>
                </a:cxn>
                <a:cxn ang="0">
                  <a:pos x="T6" y="T7"/>
                </a:cxn>
                <a:cxn ang="0">
                  <a:pos x="T8" y="T9"/>
                </a:cxn>
              </a:cxnLst>
              <a:rect l="0" t="0" r="r" b="b"/>
              <a:pathLst>
                <a:path w="25" h="7">
                  <a:moveTo>
                    <a:pt x="25" y="4"/>
                  </a:moveTo>
                  <a:lnTo>
                    <a:pt x="25" y="4"/>
                  </a:lnTo>
                  <a:cubicBezTo>
                    <a:pt x="11" y="3"/>
                    <a:pt x="10" y="2"/>
                    <a:pt x="2" y="0"/>
                  </a:cubicBezTo>
                  <a:lnTo>
                    <a:pt x="0" y="7"/>
                  </a:lnTo>
                  <a:lnTo>
                    <a:pt x="25" y="4"/>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1" name="Figura a mano libera 77"/>
            <p:cNvSpPr>
              <a:spLocks/>
            </p:cNvSpPr>
            <p:nvPr/>
          </p:nvSpPr>
          <p:spPr bwMode="invGray">
            <a:xfrm>
              <a:off x="10291763" y="1563712"/>
              <a:ext cx="117475" cy="2462"/>
            </a:xfrm>
            <a:custGeom>
              <a:avLst/>
              <a:gdLst>
                <a:gd name="T0" fmla="*/ 75 w 123"/>
                <a:gd name="T1" fmla="*/ 0 h 4"/>
                <a:gd name="T2" fmla="*/ 75 w 123"/>
                <a:gd name="T3" fmla="*/ 0 h 4"/>
                <a:gd name="T4" fmla="*/ 66 w 123"/>
                <a:gd name="T5" fmla="*/ 4 h 4"/>
                <a:gd name="T6" fmla="*/ 75 w 123"/>
                <a:gd name="T7" fmla="*/ 0 h 4"/>
              </a:gdLst>
              <a:ahLst/>
              <a:cxnLst>
                <a:cxn ang="0">
                  <a:pos x="T0" y="T1"/>
                </a:cxn>
                <a:cxn ang="0">
                  <a:pos x="T2" y="T3"/>
                </a:cxn>
                <a:cxn ang="0">
                  <a:pos x="T4" y="T5"/>
                </a:cxn>
                <a:cxn ang="0">
                  <a:pos x="T6" y="T7"/>
                </a:cxn>
              </a:cxnLst>
              <a:rect l="0" t="0" r="r" b="b"/>
              <a:pathLst>
                <a:path w="123" h="4">
                  <a:moveTo>
                    <a:pt x="75" y="0"/>
                  </a:moveTo>
                  <a:lnTo>
                    <a:pt x="75" y="0"/>
                  </a:lnTo>
                  <a:cubicBezTo>
                    <a:pt x="70" y="1"/>
                    <a:pt x="0" y="4"/>
                    <a:pt x="66" y="4"/>
                  </a:cubicBezTo>
                  <a:cubicBezTo>
                    <a:pt x="71" y="2"/>
                    <a:pt x="123" y="1"/>
                    <a:pt x="75" y="0"/>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2" name="Figura a mano libera 78"/>
            <p:cNvSpPr>
              <a:spLocks/>
            </p:cNvSpPr>
            <p:nvPr/>
          </p:nvSpPr>
          <p:spPr bwMode="invGray">
            <a:xfrm>
              <a:off x="9621838" y="1546479"/>
              <a:ext cx="11112" cy="8617"/>
            </a:xfrm>
            <a:custGeom>
              <a:avLst/>
              <a:gdLst>
                <a:gd name="T0" fmla="*/ 0 w 13"/>
                <a:gd name="T1" fmla="*/ 10 h 10"/>
                <a:gd name="T2" fmla="*/ 0 w 13"/>
                <a:gd name="T3" fmla="*/ 10 h 10"/>
                <a:gd name="T4" fmla="*/ 13 w 13"/>
                <a:gd name="T5" fmla="*/ 10 h 10"/>
                <a:gd name="T6" fmla="*/ 12 w 13"/>
                <a:gd name="T7" fmla="*/ 0 h 10"/>
                <a:gd name="T8" fmla="*/ 0 w 13"/>
                <a:gd name="T9" fmla="*/ 10 h 10"/>
              </a:gdLst>
              <a:ahLst/>
              <a:cxnLst>
                <a:cxn ang="0">
                  <a:pos x="T0" y="T1"/>
                </a:cxn>
                <a:cxn ang="0">
                  <a:pos x="T2" y="T3"/>
                </a:cxn>
                <a:cxn ang="0">
                  <a:pos x="T4" y="T5"/>
                </a:cxn>
                <a:cxn ang="0">
                  <a:pos x="T6" y="T7"/>
                </a:cxn>
                <a:cxn ang="0">
                  <a:pos x="T8" y="T9"/>
                </a:cxn>
              </a:cxnLst>
              <a:rect l="0" t="0" r="r" b="b"/>
              <a:pathLst>
                <a:path w="13" h="10">
                  <a:moveTo>
                    <a:pt x="0" y="10"/>
                  </a:moveTo>
                  <a:lnTo>
                    <a:pt x="0" y="10"/>
                  </a:lnTo>
                  <a:lnTo>
                    <a:pt x="13" y="10"/>
                  </a:lnTo>
                  <a:lnTo>
                    <a:pt x="12" y="0"/>
                  </a:lnTo>
                  <a:lnTo>
                    <a:pt x="0" y="1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3" name="Figura a mano libera 79"/>
            <p:cNvSpPr>
              <a:spLocks/>
            </p:cNvSpPr>
            <p:nvPr/>
          </p:nvSpPr>
          <p:spPr bwMode="invGray">
            <a:xfrm>
              <a:off x="8951913" y="1568636"/>
              <a:ext cx="96837" cy="8617"/>
            </a:xfrm>
            <a:custGeom>
              <a:avLst/>
              <a:gdLst>
                <a:gd name="T0" fmla="*/ 16 w 101"/>
                <a:gd name="T1" fmla="*/ 8 h 10"/>
                <a:gd name="T2" fmla="*/ 16 w 101"/>
                <a:gd name="T3" fmla="*/ 8 h 10"/>
                <a:gd name="T4" fmla="*/ 86 w 101"/>
                <a:gd name="T5" fmla="*/ 4 h 10"/>
                <a:gd name="T6" fmla="*/ 56 w 101"/>
                <a:gd name="T7" fmla="*/ 0 h 10"/>
                <a:gd name="T8" fmla="*/ 16 w 101"/>
                <a:gd name="T9" fmla="*/ 8 h 10"/>
              </a:gdLst>
              <a:ahLst/>
              <a:cxnLst>
                <a:cxn ang="0">
                  <a:pos x="T0" y="T1"/>
                </a:cxn>
                <a:cxn ang="0">
                  <a:pos x="T2" y="T3"/>
                </a:cxn>
                <a:cxn ang="0">
                  <a:pos x="T4" y="T5"/>
                </a:cxn>
                <a:cxn ang="0">
                  <a:pos x="T6" y="T7"/>
                </a:cxn>
                <a:cxn ang="0">
                  <a:pos x="T8" y="T9"/>
                </a:cxn>
              </a:cxnLst>
              <a:rect l="0" t="0" r="r" b="b"/>
              <a:pathLst>
                <a:path w="101" h="10">
                  <a:moveTo>
                    <a:pt x="16" y="8"/>
                  </a:moveTo>
                  <a:lnTo>
                    <a:pt x="16" y="8"/>
                  </a:lnTo>
                  <a:cubicBezTo>
                    <a:pt x="78" y="10"/>
                    <a:pt x="31" y="1"/>
                    <a:pt x="86" y="4"/>
                  </a:cubicBezTo>
                  <a:cubicBezTo>
                    <a:pt x="101" y="2"/>
                    <a:pt x="41" y="2"/>
                    <a:pt x="56" y="0"/>
                  </a:cubicBezTo>
                  <a:cubicBezTo>
                    <a:pt x="19" y="2"/>
                    <a:pt x="0" y="1"/>
                    <a:pt x="16" y="8"/>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4" name="Figura a mano libera 80"/>
            <p:cNvSpPr>
              <a:spLocks/>
            </p:cNvSpPr>
            <p:nvPr/>
          </p:nvSpPr>
          <p:spPr bwMode="invGray">
            <a:xfrm>
              <a:off x="9005888" y="1566174"/>
              <a:ext cx="17462" cy="2462"/>
            </a:xfrm>
            <a:custGeom>
              <a:avLst/>
              <a:gdLst>
                <a:gd name="T0" fmla="*/ 0 w 19"/>
                <a:gd name="T1" fmla="*/ 2 h 2"/>
                <a:gd name="T2" fmla="*/ 0 w 19"/>
                <a:gd name="T3" fmla="*/ 2 h 2"/>
                <a:gd name="T4" fmla="*/ 19 w 19"/>
                <a:gd name="T5" fmla="*/ 0 h 2"/>
                <a:gd name="T6" fmla="*/ 0 w 19"/>
                <a:gd name="T7" fmla="*/ 2 h 2"/>
              </a:gdLst>
              <a:ahLst/>
              <a:cxnLst>
                <a:cxn ang="0">
                  <a:pos x="T0" y="T1"/>
                </a:cxn>
                <a:cxn ang="0">
                  <a:pos x="T2" y="T3"/>
                </a:cxn>
                <a:cxn ang="0">
                  <a:pos x="T4" y="T5"/>
                </a:cxn>
                <a:cxn ang="0">
                  <a:pos x="T6" y="T7"/>
                </a:cxn>
              </a:cxnLst>
              <a:rect l="0" t="0" r="r" b="b"/>
              <a:pathLst>
                <a:path w="19" h="2">
                  <a:moveTo>
                    <a:pt x="0" y="2"/>
                  </a:moveTo>
                  <a:lnTo>
                    <a:pt x="0" y="2"/>
                  </a:lnTo>
                  <a:lnTo>
                    <a:pt x="19" y="0"/>
                  </a:lnTo>
                  <a:cubicBezTo>
                    <a:pt x="8" y="1"/>
                    <a:pt x="3" y="1"/>
                    <a:pt x="0" y="2"/>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5" name="Figura a mano libera 81"/>
            <p:cNvSpPr>
              <a:spLocks/>
            </p:cNvSpPr>
            <p:nvPr/>
          </p:nvSpPr>
          <p:spPr bwMode="invGray">
            <a:xfrm>
              <a:off x="1587500" y="1516937"/>
              <a:ext cx="38100" cy="3693"/>
            </a:xfrm>
            <a:custGeom>
              <a:avLst/>
              <a:gdLst>
                <a:gd name="T0" fmla="*/ 39 w 39"/>
                <a:gd name="T1" fmla="*/ 2 h 4"/>
                <a:gd name="T2" fmla="*/ 39 w 39"/>
                <a:gd name="T3" fmla="*/ 2 h 4"/>
                <a:gd name="T4" fmla="*/ 0 w 39"/>
                <a:gd name="T5" fmla="*/ 0 h 4"/>
                <a:gd name="T6" fmla="*/ 25 w 39"/>
                <a:gd name="T7" fmla="*/ 4 h 4"/>
                <a:gd name="T8" fmla="*/ 39 w 39"/>
                <a:gd name="T9" fmla="*/ 2 h 4"/>
              </a:gdLst>
              <a:ahLst/>
              <a:cxnLst>
                <a:cxn ang="0">
                  <a:pos x="T0" y="T1"/>
                </a:cxn>
                <a:cxn ang="0">
                  <a:pos x="T2" y="T3"/>
                </a:cxn>
                <a:cxn ang="0">
                  <a:pos x="T4" y="T5"/>
                </a:cxn>
                <a:cxn ang="0">
                  <a:pos x="T6" y="T7"/>
                </a:cxn>
                <a:cxn ang="0">
                  <a:pos x="T8" y="T9"/>
                </a:cxn>
              </a:cxnLst>
              <a:rect l="0" t="0" r="r" b="b"/>
              <a:pathLst>
                <a:path w="39" h="4">
                  <a:moveTo>
                    <a:pt x="39" y="2"/>
                  </a:moveTo>
                  <a:lnTo>
                    <a:pt x="39" y="2"/>
                  </a:lnTo>
                  <a:lnTo>
                    <a:pt x="0" y="0"/>
                  </a:lnTo>
                  <a:lnTo>
                    <a:pt x="25" y="4"/>
                  </a:lnTo>
                  <a:lnTo>
                    <a:pt x="39" y="2"/>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6" name="Figura a mano libera 82"/>
            <p:cNvSpPr>
              <a:spLocks/>
            </p:cNvSpPr>
            <p:nvPr/>
          </p:nvSpPr>
          <p:spPr bwMode="invGray">
            <a:xfrm>
              <a:off x="1522413" y="1519399"/>
              <a:ext cx="30162" cy="4924"/>
            </a:xfrm>
            <a:custGeom>
              <a:avLst/>
              <a:gdLst>
                <a:gd name="T0" fmla="*/ 32 w 32"/>
                <a:gd name="T1" fmla="*/ 6 h 6"/>
                <a:gd name="T2" fmla="*/ 32 w 32"/>
                <a:gd name="T3" fmla="*/ 6 h 6"/>
                <a:gd name="T4" fmla="*/ 23 w 32"/>
                <a:gd name="T5" fmla="*/ 0 h 6"/>
                <a:gd name="T6" fmla="*/ 0 w 32"/>
                <a:gd name="T7" fmla="*/ 5 h 6"/>
                <a:gd name="T8" fmla="*/ 32 w 32"/>
                <a:gd name="T9" fmla="*/ 6 h 6"/>
              </a:gdLst>
              <a:ahLst/>
              <a:cxnLst>
                <a:cxn ang="0">
                  <a:pos x="T0" y="T1"/>
                </a:cxn>
                <a:cxn ang="0">
                  <a:pos x="T2" y="T3"/>
                </a:cxn>
                <a:cxn ang="0">
                  <a:pos x="T4" y="T5"/>
                </a:cxn>
                <a:cxn ang="0">
                  <a:pos x="T6" y="T7"/>
                </a:cxn>
                <a:cxn ang="0">
                  <a:pos x="T8" y="T9"/>
                </a:cxn>
              </a:cxnLst>
              <a:rect l="0" t="0" r="r" b="b"/>
              <a:pathLst>
                <a:path w="32" h="6">
                  <a:moveTo>
                    <a:pt x="32" y="6"/>
                  </a:moveTo>
                  <a:lnTo>
                    <a:pt x="32" y="6"/>
                  </a:lnTo>
                  <a:lnTo>
                    <a:pt x="23" y="0"/>
                  </a:lnTo>
                  <a:lnTo>
                    <a:pt x="0" y="5"/>
                  </a:lnTo>
                  <a:cubicBezTo>
                    <a:pt x="8" y="5"/>
                    <a:pt x="26" y="5"/>
                    <a:pt x="32" y="6"/>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7" name="Figura a mano libera 83"/>
            <p:cNvSpPr>
              <a:spLocks/>
            </p:cNvSpPr>
            <p:nvPr/>
          </p:nvSpPr>
          <p:spPr bwMode="invGray">
            <a:xfrm>
              <a:off x="6650038" y="1573559"/>
              <a:ext cx="33337" cy="3693"/>
            </a:xfrm>
            <a:custGeom>
              <a:avLst/>
              <a:gdLst>
                <a:gd name="T0" fmla="*/ 31 w 34"/>
                <a:gd name="T1" fmla="*/ 4 h 4"/>
                <a:gd name="T2" fmla="*/ 31 w 34"/>
                <a:gd name="T3" fmla="*/ 4 h 4"/>
                <a:gd name="T4" fmla="*/ 34 w 34"/>
                <a:gd name="T5" fmla="*/ 2 h 4"/>
                <a:gd name="T6" fmla="*/ 0 w 34"/>
                <a:gd name="T7" fmla="*/ 0 h 4"/>
                <a:gd name="T8" fmla="*/ 31 w 34"/>
                <a:gd name="T9" fmla="*/ 4 h 4"/>
              </a:gdLst>
              <a:ahLst/>
              <a:cxnLst>
                <a:cxn ang="0">
                  <a:pos x="T0" y="T1"/>
                </a:cxn>
                <a:cxn ang="0">
                  <a:pos x="T2" y="T3"/>
                </a:cxn>
                <a:cxn ang="0">
                  <a:pos x="T4" y="T5"/>
                </a:cxn>
                <a:cxn ang="0">
                  <a:pos x="T6" y="T7"/>
                </a:cxn>
                <a:cxn ang="0">
                  <a:pos x="T8" y="T9"/>
                </a:cxn>
              </a:cxnLst>
              <a:rect l="0" t="0" r="r" b="b"/>
              <a:pathLst>
                <a:path w="34" h="4">
                  <a:moveTo>
                    <a:pt x="31" y="4"/>
                  </a:moveTo>
                  <a:lnTo>
                    <a:pt x="31" y="4"/>
                  </a:lnTo>
                  <a:lnTo>
                    <a:pt x="34" y="2"/>
                  </a:lnTo>
                  <a:cubicBezTo>
                    <a:pt x="28" y="1"/>
                    <a:pt x="18" y="1"/>
                    <a:pt x="0" y="0"/>
                  </a:cubicBezTo>
                  <a:lnTo>
                    <a:pt x="31" y="4"/>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8" name="Figura a mano libera 84"/>
            <p:cNvSpPr>
              <a:spLocks/>
            </p:cNvSpPr>
            <p:nvPr/>
          </p:nvSpPr>
          <p:spPr bwMode="invGray">
            <a:xfrm>
              <a:off x="6162675" y="1566174"/>
              <a:ext cx="15875" cy="4924"/>
            </a:xfrm>
            <a:custGeom>
              <a:avLst/>
              <a:gdLst>
                <a:gd name="T0" fmla="*/ 8 w 17"/>
                <a:gd name="T1" fmla="*/ 6 h 6"/>
                <a:gd name="T2" fmla="*/ 8 w 17"/>
                <a:gd name="T3" fmla="*/ 6 h 6"/>
                <a:gd name="T4" fmla="*/ 17 w 17"/>
                <a:gd name="T5" fmla="*/ 6 h 6"/>
                <a:gd name="T6" fmla="*/ 0 w 17"/>
                <a:gd name="T7" fmla="*/ 0 h 6"/>
                <a:gd name="T8" fmla="*/ 8 w 17"/>
                <a:gd name="T9" fmla="*/ 6 h 6"/>
              </a:gdLst>
              <a:ahLst/>
              <a:cxnLst>
                <a:cxn ang="0">
                  <a:pos x="T0" y="T1"/>
                </a:cxn>
                <a:cxn ang="0">
                  <a:pos x="T2" y="T3"/>
                </a:cxn>
                <a:cxn ang="0">
                  <a:pos x="T4" y="T5"/>
                </a:cxn>
                <a:cxn ang="0">
                  <a:pos x="T6" y="T7"/>
                </a:cxn>
                <a:cxn ang="0">
                  <a:pos x="T8" y="T9"/>
                </a:cxn>
              </a:cxnLst>
              <a:rect l="0" t="0" r="r" b="b"/>
              <a:pathLst>
                <a:path w="17" h="6">
                  <a:moveTo>
                    <a:pt x="8" y="6"/>
                  </a:moveTo>
                  <a:lnTo>
                    <a:pt x="8" y="6"/>
                  </a:lnTo>
                  <a:lnTo>
                    <a:pt x="17" y="6"/>
                  </a:lnTo>
                  <a:lnTo>
                    <a:pt x="0" y="0"/>
                  </a:lnTo>
                  <a:lnTo>
                    <a:pt x="8" y="6"/>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sp>
          <p:nvSpPr>
            <p:cNvPr id="79" name="Figura a mano libera 85"/>
            <p:cNvSpPr>
              <a:spLocks/>
            </p:cNvSpPr>
            <p:nvPr/>
          </p:nvSpPr>
          <p:spPr bwMode="invGray">
            <a:xfrm>
              <a:off x="5738813" y="1571097"/>
              <a:ext cx="60325" cy="6155"/>
            </a:xfrm>
            <a:custGeom>
              <a:avLst/>
              <a:gdLst>
                <a:gd name="T0" fmla="*/ 5 w 63"/>
                <a:gd name="T1" fmla="*/ 7 h 8"/>
                <a:gd name="T2" fmla="*/ 5 w 63"/>
                <a:gd name="T3" fmla="*/ 7 h 8"/>
                <a:gd name="T4" fmla="*/ 63 w 63"/>
                <a:gd name="T5" fmla="*/ 7 h 8"/>
                <a:gd name="T6" fmla="*/ 5 w 63"/>
                <a:gd name="T7" fmla="*/ 7 h 8"/>
              </a:gdLst>
              <a:ahLst/>
              <a:cxnLst>
                <a:cxn ang="0">
                  <a:pos x="T0" y="T1"/>
                </a:cxn>
                <a:cxn ang="0">
                  <a:pos x="T2" y="T3"/>
                </a:cxn>
                <a:cxn ang="0">
                  <a:pos x="T4" y="T5"/>
                </a:cxn>
                <a:cxn ang="0">
                  <a:pos x="T6" y="T7"/>
                </a:cxn>
              </a:cxnLst>
              <a:rect l="0" t="0" r="r" b="b"/>
              <a:pathLst>
                <a:path w="63" h="8">
                  <a:moveTo>
                    <a:pt x="5" y="7"/>
                  </a:moveTo>
                  <a:lnTo>
                    <a:pt x="5" y="7"/>
                  </a:lnTo>
                  <a:cubicBezTo>
                    <a:pt x="23" y="8"/>
                    <a:pt x="45" y="6"/>
                    <a:pt x="63" y="7"/>
                  </a:cubicBezTo>
                  <a:cubicBezTo>
                    <a:pt x="23" y="8"/>
                    <a:pt x="0" y="0"/>
                    <a:pt x="5" y="7"/>
                  </a:cubicBez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it-IT" sz="1800">
                <a:ln>
                  <a:noFill/>
                </a:ln>
              </a:endParaRPr>
            </a:p>
          </p:txBody>
        </p:sp>
      </p:grpSp>
      <p:sp>
        <p:nvSpPr>
          <p:cNvPr id="80" name="Footer Placeholder 4">
            <a:extLst>
              <a:ext uri="{FF2B5EF4-FFF2-40B4-BE49-F238E27FC236}">
                <a16:creationId xmlns:a16="http://schemas.microsoft.com/office/drawing/2014/main" id="{E4BE8164-996A-474C-978A-F0A76F8C91BF}"/>
              </a:ext>
            </a:extLst>
          </p:cNvPr>
          <p:cNvSpPr>
            <a:spLocks noGrp="1"/>
          </p:cNvSpPr>
          <p:nvPr>
            <p:ph type="ftr" sz="quarter" idx="3"/>
          </p:nvPr>
        </p:nvSpPr>
        <p:spPr>
          <a:xfrm>
            <a:off x="29185" y="6580584"/>
            <a:ext cx="3102649" cy="304800"/>
          </a:xfrm>
          <a:prstGeom prst="rect">
            <a:avLst/>
          </a:prstGeom>
        </p:spPr>
        <p:txBody>
          <a:bodyPr vert="horz" lIns="91440" tIns="45720" rIns="91440" bIns="45720" rtlCol="0" anchor="ctr"/>
          <a:lstStyle>
            <a:lvl1pPr algn="l">
              <a:defRPr sz="1200" b="1" i="0">
                <a:solidFill>
                  <a:schemeClr val="tx1"/>
                </a:solidFill>
                <a:latin typeface="ManiezzoSlides" pitchFamily="2" charset="0"/>
                <a:ea typeface="Microsoft YaHei" panose="020B0503020204020204" pitchFamily="34" charset="-122"/>
              </a:defRPr>
            </a:lvl1pPr>
          </a:lstStyle>
          <a:p>
            <a:pPr>
              <a:defRPr/>
            </a:pPr>
            <a:r>
              <a:rPr lang="it-IT"/>
              <a:t>Vittorio Maniezzo - University of Bologna</a:t>
            </a:r>
            <a:endParaRPr lang="it-IT" dirty="0"/>
          </a:p>
        </p:txBody>
      </p:sp>
      <p:sp>
        <p:nvSpPr>
          <p:cNvPr id="81" name="Slide Number Placeholder 5">
            <a:extLst>
              <a:ext uri="{FF2B5EF4-FFF2-40B4-BE49-F238E27FC236}">
                <a16:creationId xmlns:a16="http://schemas.microsoft.com/office/drawing/2014/main" id="{39CA8FFC-AF78-45E6-98A9-C8B0B8648A64}"/>
              </a:ext>
            </a:extLst>
          </p:cNvPr>
          <p:cNvSpPr>
            <a:spLocks noGrp="1"/>
          </p:cNvSpPr>
          <p:nvPr>
            <p:ph type="sldNum" sz="quarter" idx="4"/>
          </p:nvPr>
        </p:nvSpPr>
        <p:spPr>
          <a:xfrm>
            <a:off x="8556706" y="6588890"/>
            <a:ext cx="533400" cy="304800"/>
          </a:xfrm>
          <a:prstGeom prst="rect">
            <a:avLst/>
          </a:prstGeom>
        </p:spPr>
        <p:txBody>
          <a:bodyPr vert="horz" lIns="91440" tIns="45720" rIns="91440" bIns="45720" rtlCol="0" anchor="ctr"/>
          <a:lstStyle>
            <a:lvl1pPr algn="r">
              <a:defRPr sz="1100">
                <a:solidFill>
                  <a:schemeClr val="tx1"/>
                </a:solidFill>
              </a:defRPr>
            </a:lvl1pPr>
          </a:lstStyle>
          <a:p>
            <a:pPr>
              <a:defRPr/>
            </a:pPr>
            <a:fld id="{476DEB1C-3253-4C07-8F02-456B7B2AD41D}" type="slidenum">
              <a:rPr lang="it-IT" smtClean="0"/>
              <a:pPr>
                <a:defRPr/>
              </a:pPr>
              <a:t>‹#›</a:t>
            </a:fld>
            <a:endParaRPr lang="it-IT" dirty="0"/>
          </a:p>
        </p:txBody>
      </p:sp>
    </p:spTree>
    <p:extLst>
      <p:ext uri="{BB962C8B-B14F-4D97-AF65-F5344CB8AC3E}">
        <p14:creationId xmlns:p14="http://schemas.microsoft.com/office/powerpoint/2010/main" val="2002263564"/>
      </p:ext>
    </p:extLst>
  </p:cSld>
  <p:clrMapOvr>
    <a:masterClrMapping/>
  </p:clrMapOvr>
  <p:hf hdr="0" dt="0"/>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9F90525F-A14B-B260-E997-7FA5E090BC44}"/>
              </a:ext>
            </a:extLst>
          </p:cNvPr>
          <p:cNvSpPr>
            <a:spLocks noGrp="1"/>
          </p:cNvSpPr>
          <p:nvPr>
            <p:ph type="title"/>
          </p:nvPr>
        </p:nvSpPr>
        <p:spPr>
          <a:xfrm>
            <a:off x="293370" y="62413"/>
            <a:ext cx="7886700" cy="1004387"/>
          </a:xfrm>
          <a:prstGeom prst="rect">
            <a:avLst/>
          </a:prstGeom>
        </p:spPr>
        <p:txBody>
          <a:bodyPr vert="horz" lIns="91440" tIns="45720" rIns="91440" bIns="45720" rtlCol="0" anchor="ctr">
            <a:normAutofit/>
          </a:bodyPr>
          <a:lstStyle/>
          <a:p>
            <a:r>
              <a:rPr lang="de-DE" dirty="0"/>
              <a:t>Mastertitelformat bearbeiten</a:t>
            </a:r>
          </a:p>
        </p:txBody>
      </p:sp>
      <p:sp>
        <p:nvSpPr>
          <p:cNvPr id="3" name="Textplatzhalter 2">
            <a:extLst>
              <a:ext uri="{FF2B5EF4-FFF2-40B4-BE49-F238E27FC236}">
                <a16:creationId xmlns:a16="http://schemas.microsoft.com/office/drawing/2014/main" id="{DD0F6CA8-30CC-5072-219F-3D0A1DA5CE14}"/>
              </a:ext>
            </a:extLst>
          </p:cNvPr>
          <p:cNvSpPr>
            <a:spLocks noGrp="1"/>
          </p:cNvSpPr>
          <p:nvPr>
            <p:ph type="body" idx="1"/>
          </p:nvPr>
        </p:nvSpPr>
        <p:spPr>
          <a:xfrm>
            <a:off x="293370" y="1270000"/>
            <a:ext cx="8221980" cy="5077165"/>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Fußzeilenplatzhalter 4">
            <a:extLst>
              <a:ext uri="{FF2B5EF4-FFF2-40B4-BE49-F238E27FC236}">
                <a16:creationId xmlns:a16="http://schemas.microsoft.com/office/drawing/2014/main" id="{19A5F7D4-A3DC-16A2-08B4-0A5ADFFD51C7}"/>
              </a:ext>
            </a:extLst>
          </p:cNvPr>
          <p:cNvSpPr>
            <a:spLocks noGrp="1"/>
          </p:cNvSpPr>
          <p:nvPr>
            <p:ph type="ftr" sz="quarter" idx="3"/>
          </p:nvPr>
        </p:nvSpPr>
        <p:spPr>
          <a:xfrm>
            <a:off x="293370" y="6470841"/>
            <a:ext cx="5821680" cy="365125"/>
          </a:xfrm>
          <a:prstGeom prst="rect">
            <a:avLst/>
          </a:prstGeom>
          <a:noFill/>
        </p:spPr>
        <p:txBody>
          <a:bodyPr vert="horz" lIns="91440" tIns="45720" rIns="91440" bIns="45720" rtlCol="0" anchor="ctr"/>
          <a:lstStyle>
            <a:lvl1pPr algn="l">
              <a:defRPr sz="900">
                <a:ln>
                  <a:noFill/>
                </a:ln>
                <a:solidFill>
                  <a:schemeClr val="bg1"/>
                </a:solidFill>
              </a:defRPr>
            </a:lvl1pPr>
          </a:lstStyle>
          <a:p>
            <a:endParaRPr lang="de-DE" dirty="0"/>
          </a:p>
        </p:txBody>
      </p:sp>
      <p:sp>
        <p:nvSpPr>
          <p:cNvPr id="6" name="Foliennummernplatzhalter 5">
            <a:extLst>
              <a:ext uri="{FF2B5EF4-FFF2-40B4-BE49-F238E27FC236}">
                <a16:creationId xmlns:a16="http://schemas.microsoft.com/office/drawing/2014/main" id="{7B111AC3-B0EE-D2B1-AA04-098736116F7C}"/>
              </a:ext>
            </a:extLst>
          </p:cNvPr>
          <p:cNvSpPr>
            <a:spLocks noGrp="1"/>
          </p:cNvSpPr>
          <p:nvPr>
            <p:ph type="sldNum" sz="quarter" idx="4"/>
          </p:nvPr>
        </p:nvSpPr>
        <p:spPr>
          <a:xfrm>
            <a:off x="6912665" y="6471102"/>
            <a:ext cx="2057400" cy="365125"/>
          </a:xfrm>
          <a:prstGeom prst="rect">
            <a:avLst/>
          </a:prstGeom>
        </p:spPr>
        <p:txBody>
          <a:bodyPr vert="horz" lIns="91440" tIns="45720" rIns="91440" bIns="45720" rtlCol="0" anchor="ctr"/>
          <a:lstStyle>
            <a:lvl1pPr algn="r">
              <a:defRPr sz="900">
                <a:solidFill>
                  <a:schemeClr val="bg1"/>
                </a:solidFill>
              </a:defRPr>
            </a:lvl1pPr>
          </a:lstStyle>
          <a:p>
            <a:endParaRPr lang="de-DE" dirty="0">
              <a:solidFill>
                <a:schemeClr val="bg1"/>
              </a:solidFill>
            </a:endParaRPr>
          </a:p>
        </p:txBody>
      </p:sp>
      <p:pic>
        <p:nvPicPr>
          <p:cNvPr id="7" name="Grafik 9">
            <a:extLst>
              <a:ext uri="{FF2B5EF4-FFF2-40B4-BE49-F238E27FC236}">
                <a16:creationId xmlns:a16="http://schemas.microsoft.com/office/drawing/2014/main" id="{AF15EA35-9978-43E0-B669-2056940B93E1}"/>
              </a:ext>
            </a:extLst>
          </p:cNvPr>
          <p:cNvPicPr>
            <a:picLocks noChangeAspect="1"/>
          </p:cNvPicPr>
          <p:nvPr userDrawn="1"/>
        </p:nvPicPr>
        <p:blipFill>
          <a:blip r:embed="rId8"/>
          <a:stretch>
            <a:fillRect/>
          </a:stretch>
        </p:blipFill>
        <p:spPr>
          <a:xfrm>
            <a:off x="7128013" y="61697"/>
            <a:ext cx="1842052" cy="921806"/>
          </a:xfrm>
          <a:prstGeom prst="rect">
            <a:avLst/>
          </a:prstGeom>
        </p:spPr>
      </p:pic>
    </p:spTree>
    <p:extLst>
      <p:ext uri="{BB962C8B-B14F-4D97-AF65-F5344CB8AC3E}">
        <p14:creationId xmlns:p14="http://schemas.microsoft.com/office/powerpoint/2010/main" val="34709471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4" r:id="rId4"/>
    <p:sldLayoutId id="2147483655" r:id="rId5"/>
    <p:sldLayoutId id="2147483656" r:id="rId6"/>
  </p:sldLayoutIdLst>
  <p:txStyles>
    <p:titleStyle>
      <a:lvl1pPr algn="l" defTabSz="685783"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0" indent="0" algn="l" defTabSz="685783" rtl="0" eaLnBrk="1" latinLnBrk="0" hangingPunct="1">
        <a:lnSpc>
          <a:spcPct val="90000"/>
        </a:lnSpc>
        <a:spcBef>
          <a:spcPts val="750"/>
        </a:spcBef>
        <a:buFont typeface="Arial" panose="020B0604020202020204" pitchFamily="34" charset="0"/>
        <a:buNone/>
        <a:defRPr sz="2400" kern="1200">
          <a:solidFill>
            <a:schemeClr val="tx1"/>
          </a:solidFill>
          <a:latin typeface="+mn-lt"/>
          <a:ea typeface="+mn-ea"/>
          <a:cs typeface="+mn-cs"/>
        </a:defRPr>
      </a:lvl1pPr>
      <a:lvl2pPr marL="514337" indent="-171446" algn="l" defTabSz="685783" rtl="0" eaLnBrk="1" latinLnBrk="0" hangingPunct="1">
        <a:lnSpc>
          <a:spcPct val="90000"/>
        </a:lnSpc>
        <a:spcBef>
          <a:spcPts val="375"/>
        </a:spcBef>
        <a:buFont typeface="Arial" panose="020B0604020202020204" pitchFamily="34" charset="0"/>
        <a:buChar char="•"/>
        <a:defRPr sz="2200" kern="1200">
          <a:solidFill>
            <a:schemeClr val="tx1"/>
          </a:solidFill>
          <a:latin typeface="+mn-lt"/>
          <a:ea typeface="+mn-ea"/>
          <a:cs typeface="+mn-cs"/>
        </a:defRPr>
      </a:lvl2pPr>
      <a:lvl3pPr marL="857228" indent="-171446" algn="l" defTabSz="685783"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20"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12"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03"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77"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de-DE"/>
      </a:defPPr>
      <a:lvl1pPr marL="0" algn="l" defTabSz="685783" rtl="0" eaLnBrk="1" latinLnBrk="0" hangingPunct="1">
        <a:defRPr sz="1350" kern="1200">
          <a:solidFill>
            <a:schemeClr val="tx1"/>
          </a:solidFill>
          <a:latin typeface="+mn-lt"/>
          <a:ea typeface="+mn-ea"/>
          <a:cs typeface="+mn-cs"/>
        </a:defRPr>
      </a:lvl1pPr>
      <a:lvl2pPr marL="342892" algn="l" defTabSz="685783" rtl="0" eaLnBrk="1" latinLnBrk="0" hangingPunct="1">
        <a:defRPr sz="1350" kern="1200">
          <a:solidFill>
            <a:schemeClr val="tx1"/>
          </a:solidFill>
          <a:latin typeface="+mn-lt"/>
          <a:ea typeface="+mn-ea"/>
          <a:cs typeface="+mn-cs"/>
        </a:defRPr>
      </a:lvl2pPr>
      <a:lvl3pPr marL="685783" algn="l" defTabSz="685783" rtl="0" eaLnBrk="1" latinLnBrk="0" hangingPunct="1">
        <a:defRPr sz="1350" kern="1200">
          <a:solidFill>
            <a:schemeClr val="tx1"/>
          </a:solidFill>
          <a:latin typeface="+mn-lt"/>
          <a:ea typeface="+mn-ea"/>
          <a:cs typeface="+mn-cs"/>
        </a:defRPr>
      </a:lvl3pPr>
      <a:lvl4pPr marL="1028675" algn="l" defTabSz="685783" rtl="0" eaLnBrk="1" latinLnBrk="0" hangingPunct="1">
        <a:defRPr sz="1350" kern="1200">
          <a:solidFill>
            <a:schemeClr val="tx1"/>
          </a:solidFill>
          <a:latin typeface="+mn-lt"/>
          <a:ea typeface="+mn-ea"/>
          <a:cs typeface="+mn-cs"/>
        </a:defRPr>
      </a:lvl4pPr>
      <a:lvl5pPr marL="1371566" algn="l" defTabSz="685783" rtl="0" eaLnBrk="1" latinLnBrk="0" hangingPunct="1">
        <a:defRPr sz="1350" kern="1200">
          <a:solidFill>
            <a:schemeClr val="tx1"/>
          </a:solidFill>
          <a:latin typeface="+mn-lt"/>
          <a:ea typeface="+mn-ea"/>
          <a:cs typeface="+mn-cs"/>
        </a:defRPr>
      </a:lvl5pPr>
      <a:lvl6pPr marL="1714457" algn="l" defTabSz="685783" rtl="0" eaLnBrk="1" latinLnBrk="0" hangingPunct="1">
        <a:defRPr sz="1350" kern="1200">
          <a:solidFill>
            <a:schemeClr val="tx1"/>
          </a:solidFill>
          <a:latin typeface="+mn-lt"/>
          <a:ea typeface="+mn-ea"/>
          <a:cs typeface="+mn-cs"/>
        </a:defRPr>
      </a:lvl6pPr>
      <a:lvl7pPr marL="2057348" algn="l" defTabSz="685783" rtl="0" eaLnBrk="1" latinLnBrk="0" hangingPunct="1">
        <a:defRPr sz="1350" kern="1200">
          <a:solidFill>
            <a:schemeClr val="tx1"/>
          </a:solidFill>
          <a:latin typeface="+mn-lt"/>
          <a:ea typeface="+mn-ea"/>
          <a:cs typeface="+mn-cs"/>
        </a:defRPr>
      </a:lvl7pPr>
      <a:lvl8pPr marL="2400240" algn="l" defTabSz="685783" rtl="0" eaLnBrk="1" latinLnBrk="0" hangingPunct="1">
        <a:defRPr sz="1350" kern="1200">
          <a:solidFill>
            <a:schemeClr val="tx1"/>
          </a:solidFill>
          <a:latin typeface="+mn-lt"/>
          <a:ea typeface="+mn-ea"/>
          <a:cs typeface="+mn-cs"/>
        </a:defRPr>
      </a:lvl8pPr>
      <a:lvl9pPr marL="2743132" algn="l" defTabSz="685783"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emf"/><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6.xml"/><Relationship Id="rId4" Type="http://schemas.openxmlformats.org/officeDocument/2006/relationships/chart" Target="../charts/char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91.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6.xml"/><Relationship Id="rId4" Type="http://schemas.openxmlformats.org/officeDocument/2006/relationships/image" Target="../media/image10.png"/></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AEA886-3053-455E-B7C5-401215037356}"/>
              </a:ext>
            </a:extLst>
          </p:cNvPr>
          <p:cNvSpPr>
            <a:spLocks noGrp="1"/>
          </p:cNvSpPr>
          <p:nvPr>
            <p:ph type="title"/>
          </p:nvPr>
        </p:nvSpPr>
        <p:spPr/>
        <p:txBody>
          <a:bodyPr/>
          <a:lstStyle/>
          <a:p>
            <a:r>
              <a:rPr lang="en-US" dirty="0"/>
              <a:t>Bootstrap Enhanced Scenario Optimization for Two-Echelon Logistics, a Case Study in Large-Scale Retail</a:t>
            </a:r>
          </a:p>
        </p:txBody>
      </p:sp>
      <p:sp>
        <p:nvSpPr>
          <p:cNvPr id="5" name="Text Placeholder 4">
            <a:extLst>
              <a:ext uri="{FF2B5EF4-FFF2-40B4-BE49-F238E27FC236}">
                <a16:creationId xmlns:a16="http://schemas.microsoft.com/office/drawing/2014/main" id="{29208EEF-E298-419A-8616-E30120599FDE}"/>
              </a:ext>
            </a:extLst>
          </p:cNvPr>
          <p:cNvSpPr>
            <a:spLocks noGrp="1"/>
          </p:cNvSpPr>
          <p:nvPr>
            <p:ph type="body" idx="1"/>
          </p:nvPr>
        </p:nvSpPr>
        <p:spPr>
          <a:xfrm>
            <a:off x="623888" y="5282192"/>
            <a:ext cx="7886700" cy="1500187"/>
          </a:xfrm>
        </p:spPr>
        <p:txBody>
          <a:bodyPr>
            <a:normAutofit/>
          </a:bodyPr>
          <a:lstStyle/>
          <a:p>
            <a:r>
              <a:rPr lang="en-US" sz="2400" dirty="0"/>
              <a:t>Vittorio Maniezzo, </a:t>
            </a:r>
            <a:r>
              <a:rPr lang="en-US" sz="2400" i="1" dirty="0"/>
              <a:t>University of Bologna</a:t>
            </a:r>
          </a:p>
          <a:p>
            <a:r>
              <a:rPr lang="en-US" sz="2400" dirty="0" err="1"/>
              <a:t>Livio</a:t>
            </a:r>
            <a:r>
              <a:rPr lang="en-US" sz="2400" dirty="0"/>
              <a:t> </a:t>
            </a:r>
            <a:r>
              <a:rPr lang="en-US" sz="2400" dirty="0" err="1"/>
              <a:t>Fenga</a:t>
            </a:r>
            <a:r>
              <a:rPr lang="en-US" sz="2400" dirty="0"/>
              <a:t>, </a:t>
            </a:r>
            <a:r>
              <a:rPr lang="en-US" sz="2400" i="1" dirty="0"/>
              <a:t>University of Exeter </a:t>
            </a:r>
          </a:p>
          <a:p>
            <a:endParaRPr lang="en-US" dirty="0"/>
          </a:p>
        </p:txBody>
      </p:sp>
    </p:spTree>
    <p:extLst>
      <p:ext uri="{BB962C8B-B14F-4D97-AF65-F5344CB8AC3E}">
        <p14:creationId xmlns:p14="http://schemas.microsoft.com/office/powerpoint/2010/main" val="6732939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E0126CD0-0F1B-478E-7F9B-06F1979AEE5A}"/>
              </a:ext>
            </a:extLst>
          </p:cNvPr>
          <p:cNvPicPr>
            <a:picLocks noGrp="1" noChangeAspect="1"/>
          </p:cNvPicPr>
          <p:nvPr>
            <p:ph idx="1"/>
          </p:nvPr>
        </p:nvPicPr>
        <p:blipFill>
          <a:blip r:embed="rId2"/>
          <a:stretch>
            <a:fillRect/>
          </a:stretch>
        </p:blipFill>
        <p:spPr>
          <a:xfrm>
            <a:off x="809542" y="1214842"/>
            <a:ext cx="3483495" cy="3563636"/>
          </a:xfrm>
        </p:spPr>
      </p:pic>
      <p:sp>
        <p:nvSpPr>
          <p:cNvPr id="3" name="Title 2">
            <a:extLst>
              <a:ext uri="{FF2B5EF4-FFF2-40B4-BE49-F238E27FC236}">
                <a16:creationId xmlns:a16="http://schemas.microsoft.com/office/drawing/2014/main" id="{BB0E51CE-27A2-6633-74B6-9143988D0256}"/>
              </a:ext>
            </a:extLst>
          </p:cNvPr>
          <p:cNvSpPr>
            <a:spLocks noGrp="1"/>
          </p:cNvSpPr>
          <p:nvPr>
            <p:ph type="title"/>
          </p:nvPr>
        </p:nvSpPr>
        <p:spPr/>
        <p:txBody>
          <a:bodyPr/>
          <a:lstStyle/>
          <a:p>
            <a:r>
              <a:rPr lang="it-IT" dirty="0"/>
              <a:t>The case study</a:t>
            </a:r>
          </a:p>
        </p:txBody>
      </p:sp>
      <p:sp>
        <p:nvSpPr>
          <p:cNvPr id="4" name="Footer Placeholder 3">
            <a:extLst>
              <a:ext uri="{FF2B5EF4-FFF2-40B4-BE49-F238E27FC236}">
                <a16:creationId xmlns:a16="http://schemas.microsoft.com/office/drawing/2014/main" id="{9B161671-13D8-D261-8D60-A66FF1E1A76C}"/>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BF0EB88C-D1C2-6213-1C9A-73456ED45802}"/>
              </a:ext>
            </a:extLst>
          </p:cNvPr>
          <p:cNvSpPr>
            <a:spLocks noGrp="1"/>
          </p:cNvSpPr>
          <p:nvPr>
            <p:ph type="sldNum" sz="quarter" idx="4"/>
          </p:nvPr>
        </p:nvSpPr>
        <p:spPr/>
        <p:txBody>
          <a:bodyPr/>
          <a:lstStyle/>
          <a:p>
            <a:pPr>
              <a:defRPr/>
            </a:pPr>
            <a:fld id="{476DEB1C-3253-4C07-8F02-456B7B2AD41D}" type="slidenum">
              <a:rPr lang="it-IT" smtClean="0"/>
              <a:pPr>
                <a:defRPr/>
              </a:pPr>
              <a:t>2</a:t>
            </a:fld>
            <a:endParaRPr lang="it-IT" dirty="0"/>
          </a:p>
        </p:txBody>
      </p:sp>
      <p:pic>
        <p:nvPicPr>
          <p:cNvPr id="9" name="Picture 8">
            <a:extLst>
              <a:ext uri="{FF2B5EF4-FFF2-40B4-BE49-F238E27FC236}">
                <a16:creationId xmlns:a16="http://schemas.microsoft.com/office/drawing/2014/main" id="{AA3D0567-66EC-E53F-7623-9294D6E71152}"/>
              </a:ext>
            </a:extLst>
          </p:cNvPr>
          <p:cNvPicPr>
            <a:picLocks noChangeAspect="1"/>
          </p:cNvPicPr>
          <p:nvPr/>
        </p:nvPicPr>
        <p:blipFill>
          <a:blip r:embed="rId3"/>
          <a:stretch>
            <a:fillRect/>
          </a:stretch>
        </p:blipFill>
        <p:spPr>
          <a:xfrm>
            <a:off x="5062086" y="931635"/>
            <a:ext cx="3761320" cy="3825433"/>
          </a:xfrm>
          <a:prstGeom prst="rect">
            <a:avLst/>
          </a:prstGeom>
        </p:spPr>
      </p:pic>
      <p:sp>
        <p:nvSpPr>
          <p:cNvPr id="10" name="TextBox 9">
            <a:extLst>
              <a:ext uri="{FF2B5EF4-FFF2-40B4-BE49-F238E27FC236}">
                <a16:creationId xmlns:a16="http://schemas.microsoft.com/office/drawing/2014/main" id="{EE446776-D964-1763-59BC-1DD94DBCC7F7}"/>
              </a:ext>
            </a:extLst>
          </p:cNvPr>
          <p:cNvSpPr txBox="1"/>
          <p:nvPr/>
        </p:nvSpPr>
        <p:spPr>
          <a:xfrm>
            <a:off x="506940" y="4947313"/>
            <a:ext cx="8461569" cy="1723549"/>
          </a:xfrm>
          <a:prstGeom prst="rect">
            <a:avLst/>
          </a:prstGeom>
          <a:noFill/>
          <a:ln>
            <a:noFill/>
          </a:ln>
        </p:spPr>
        <p:txBody>
          <a:bodyPr wrap="square" rtlCol="0" anchor="t" anchorCtr="0">
            <a:spAutoFit/>
          </a:bodyPr>
          <a:lstStyle/>
          <a:p>
            <a:pPr marL="342900" indent="-342900">
              <a:buFont typeface="Arial" panose="020B0604020202020204" pitchFamily="34" charset="0"/>
              <a:buChar char="•"/>
            </a:pPr>
            <a:r>
              <a:rPr lang="it-IT" sz="2400" dirty="0"/>
              <a:t>52 retailer stores</a:t>
            </a:r>
          </a:p>
          <a:p>
            <a:pPr marL="342900" indent="-342900">
              <a:buFont typeface="Arial" panose="020B0604020202020204" pitchFamily="34" charset="0"/>
              <a:buChar char="•"/>
            </a:pPr>
            <a:r>
              <a:rPr lang="it-IT" sz="2400" dirty="0"/>
              <a:t>4 </a:t>
            </a:r>
            <a:r>
              <a:rPr lang="it-IT" sz="2400" dirty="0" err="1"/>
              <a:t>DCs</a:t>
            </a:r>
            <a:r>
              <a:rPr lang="it-IT" sz="2400" dirty="0"/>
              <a:t>: one big, one </a:t>
            </a:r>
            <a:r>
              <a:rPr lang="it-IT" sz="2400" dirty="0" err="1"/>
              <a:t>smaller</a:t>
            </a:r>
            <a:r>
              <a:rPr lang="it-IT" sz="2400" dirty="0"/>
              <a:t>, 2 </a:t>
            </a:r>
            <a:r>
              <a:rPr lang="it-IT" sz="2400" dirty="0" err="1"/>
              <a:t>satellites</a:t>
            </a:r>
            <a:r>
              <a:rPr lang="it-IT" sz="2400" dirty="0"/>
              <a:t> close to city center</a:t>
            </a:r>
          </a:p>
          <a:p>
            <a:pPr>
              <a:spcBef>
                <a:spcPts val="1200"/>
              </a:spcBef>
            </a:pPr>
            <a:r>
              <a:rPr lang="it-IT" sz="2400" dirty="0" err="1"/>
              <a:t>Allocation</a:t>
            </a:r>
            <a:r>
              <a:rPr lang="it-IT" sz="2400" dirty="0"/>
              <a:t> for Christmas season! Preliminary </a:t>
            </a:r>
            <a:r>
              <a:rPr lang="it-IT" sz="2400" dirty="0" err="1"/>
              <a:t>analysis</a:t>
            </a:r>
            <a:r>
              <a:rPr lang="it-IT" sz="2400" dirty="0"/>
              <a:t> </a:t>
            </a:r>
            <a:r>
              <a:rPr lang="it-IT" sz="2400" dirty="0" err="1"/>
              <a:t>during</a:t>
            </a:r>
            <a:r>
              <a:rPr lang="it-IT" sz="2400" dirty="0"/>
              <a:t> </a:t>
            </a:r>
            <a:r>
              <a:rPr lang="it-IT" sz="2400" dirty="0" err="1"/>
              <a:t>summer</a:t>
            </a:r>
            <a:r>
              <a:rPr lang="it-IT" sz="2400" dirty="0"/>
              <a:t>.</a:t>
            </a:r>
          </a:p>
        </p:txBody>
      </p:sp>
    </p:spTree>
    <p:extLst>
      <p:ext uri="{BB962C8B-B14F-4D97-AF65-F5344CB8AC3E}">
        <p14:creationId xmlns:p14="http://schemas.microsoft.com/office/powerpoint/2010/main" val="24576998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5885353-A361-46AB-8404-B36DBD5A77F1}"/>
              </a:ext>
            </a:extLst>
          </p:cNvPr>
          <p:cNvSpPr>
            <a:spLocks noGrp="1"/>
          </p:cNvSpPr>
          <p:nvPr>
            <p:ph idx="1"/>
          </p:nvPr>
        </p:nvSpPr>
        <p:spPr>
          <a:xfrm>
            <a:off x="548639" y="1232909"/>
            <a:ext cx="7278625" cy="4754936"/>
          </a:xfrm>
        </p:spPr>
        <p:txBody>
          <a:bodyPr>
            <a:normAutofit/>
          </a:bodyPr>
          <a:lstStyle/>
          <a:p>
            <a:pPr>
              <a:lnSpc>
                <a:spcPct val="110000"/>
              </a:lnSpc>
            </a:pPr>
            <a:r>
              <a:rPr lang="en-US" sz="2400" dirty="0">
                <a:solidFill>
                  <a:srgbClr val="C00000"/>
                </a:solidFill>
              </a:rPr>
              <a:t>Stochastic programming </a:t>
            </a:r>
            <a:r>
              <a:rPr lang="en-US" sz="2400" dirty="0"/>
              <a:t>optimizes decisions by explicitly modeling randomness through probability distributions, optimizing expected performance under uncertain conditions.</a:t>
            </a:r>
          </a:p>
          <a:p>
            <a:pPr>
              <a:lnSpc>
                <a:spcPct val="110000"/>
              </a:lnSpc>
            </a:pPr>
            <a:endParaRPr lang="en-US" dirty="0">
              <a:solidFill>
                <a:srgbClr val="C00000"/>
              </a:solidFill>
            </a:endParaRPr>
          </a:p>
          <a:p>
            <a:pPr>
              <a:lnSpc>
                <a:spcPct val="110000"/>
              </a:lnSpc>
            </a:pPr>
            <a:r>
              <a:rPr lang="en-US" dirty="0">
                <a:solidFill>
                  <a:srgbClr val="C00000"/>
                </a:solidFill>
              </a:rPr>
              <a:t>Robust optimization </a:t>
            </a:r>
            <a:r>
              <a:rPr lang="en-US" dirty="0"/>
              <a:t>finds decisions that are feasible no matter what the constraints turn out to be, and optimal for the worst-case objective function</a:t>
            </a:r>
          </a:p>
        </p:txBody>
      </p:sp>
      <p:sp>
        <p:nvSpPr>
          <p:cNvPr id="3" name="Title 2">
            <a:extLst>
              <a:ext uri="{FF2B5EF4-FFF2-40B4-BE49-F238E27FC236}">
                <a16:creationId xmlns:a16="http://schemas.microsoft.com/office/drawing/2014/main" id="{3C361CA4-6871-4743-9DA9-538D1DEB6578}"/>
              </a:ext>
            </a:extLst>
          </p:cNvPr>
          <p:cNvSpPr>
            <a:spLocks noGrp="1"/>
          </p:cNvSpPr>
          <p:nvPr>
            <p:ph type="title"/>
          </p:nvPr>
        </p:nvSpPr>
        <p:spPr/>
        <p:txBody>
          <a:bodyPr/>
          <a:lstStyle/>
          <a:p>
            <a:r>
              <a:rPr lang="en-US" dirty="0"/>
              <a:t>Stochastic Optimization</a:t>
            </a:r>
          </a:p>
        </p:txBody>
      </p:sp>
      <p:sp>
        <p:nvSpPr>
          <p:cNvPr id="4" name="Footer Placeholder 3">
            <a:extLst>
              <a:ext uri="{FF2B5EF4-FFF2-40B4-BE49-F238E27FC236}">
                <a16:creationId xmlns:a16="http://schemas.microsoft.com/office/drawing/2014/main" id="{B6FEC2F1-8310-4359-A54C-0DA958FB389F}"/>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DFB45AF6-D0AD-4031-9004-1C687EB4E118}"/>
              </a:ext>
            </a:extLst>
          </p:cNvPr>
          <p:cNvSpPr>
            <a:spLocks noGrp="1"/>
          </p:cNvSpPr>
          <p:nvPr>
            <p:ph type="sldNum" sz="quarter" idx="4"/>
          </p:nvPr>
        </p:nvSpPr>
        <p:spPr/>
        <p:txBody>
          <a:bodyPr/>
          <a:lstStyle/>
          <a:p>
            <a:pPr>
              <a:defRPr/>
            </a:pPr>
            <a:fld id="{476DEB1C-3253-4C07-8F02-456B7B2AD41D}" type="slidenum">
              <a:rPr lang="it-IT" smtClean="0"/>
              <a:pPr>
                <a:defRPr/>
              </a:pPr>
              <a:t>3</a:t>
            </a:fld>
            <a:endParaRPr lang="it-IT" dirty="0"/>
          </a:p>
        </p:txBody>
      </p:sp>
    </p:spTree>
    <p:extLst>
      <p:ext uri="{BB962C8B-B14F-4D97-AF65-F5344CB8AC3E}">
        <p14:creationId xmlns:p14="http://schemas.microsoft.com/office/powerpoint/2010/main" val="35147285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AAFA804-6B83-C1A0-976A-8039CB2A3AEE}"/>
              </a:ext>
            </a:extLst>
          </p:cNvPr>
          <p:cNvSpPr>
            <a:spLocks noGrp="1"/>
          </p:cNvSpPr>
          <p:nvPr>
            <p:ph idx="1"/>
          </p:nvPr>
        </p:nvSpPr>
        <p:spPr>
          <a:xfrm>
            <a:off x="293369" y="1270000"/>
            <a:ext cx="8527357" cy="5077165"/>
          </a:xfrm>
        </p:spPr>
        <p:txBody>
          <a:bodyPr>
            <a:normAutofit/>
          </a:bodyPr>
          <a:lstStyle/>
          <a:p>
            <a:pPr algn="l"/>
            <a:r>
              <a:rPr lang="en-US" sz="1900" b="0" i="0" u="none" strike="noStrike" baseline="0" dirty="0">
                <a:solidFill>
                  <a:srgbClr val="C00000"/>
                </a:solidFill>
              </a:rPr>
              <a:t>Robust optimization </a:t>
            </a:r>
            <a:r>
              <a:rPr lang="en-US" sz="1900" b="0" i="0" u="none" strike="noStrike" baseline="0" dirty="0"/>
              <a:t>proposes a deterministic reformulation considering worst-case outcomes within a defined uncertainty set. </a:t>
            </a:r>
          </a:p>
          <a:p>
            <a:r>
              <a:rPr lang="en-US" sz="1900" b="0" i="0" u="none" strike="noStrike" baseline="0" dirty="0">
                <a:solidFill>
                  <a:srgbClr val="C00000"/>
                </a:solidFill>
              </a:rPr>
              <a:t>Distributionally Robust Optimization </a:t>
            </a:r>
            <a:r>
              <a:rPr lang="en-US" sz="1900" b="0" i="0" u="none" strike="noStrike" baseline="0" dirty="0"/>
              <a:t>(DRO) seeks a solution most resilient against the worst-case probability distribution for uncertain parameters, typically within an </a:t>
            </a:r>
            <a:r>
              <a:rPr lang="en-US" sz="1900" b="0" i="0" u="none" strike="noStrike" baseline="0" dirty="0">
                <a:solidFill>
                  <a:srgbClr val="C00000"/>
                </a:solidFill>
              </a:rPr>
              <a:t>ambiguity set</a:t>
            </a:r>
            <a:r>
              <a:rPr lang="en-US" sz="1900" dirty="0"/>
              <a:t> (U):</a:t>
            </a:r>
            <a:r>
              <a:rPr lang="en-US" sz="1900" b="0" i="0" u="none" strike="noStrike" baseline="0" dirty="0"/>
              <a:t> a set of probability distributions that the true, unknown distribution of the uncertain parameters is assumed to belong to. </a:t>
            </a:r>
          </a:p>
          <a:p>
            <a:r>
              <a:rPr lang="en-US" sz="1900" b="0" i="0" u="none" strike="noStrike" baseline="0" dirty="0"/>
              <a:t>DRO </a:t>
            </a:r>
            <a:r>
              <a:rPr lang="en-US" sz="1900" b="0" i="0" u="none" strike="noStrike" baseline="0" dirty="0">
                <a:solidFill>
                  <a:srgbClr val="C00000"/>
                </a:solidFill>
              </a:rPr>
              <a:t>optimizes the worst-case performance </a:t>
            </a:r>
            <a:r>
              <a:rPr lang="en-US" sz="1900" b="0" i="0" u="none" strike="noStrike" baseline="0" dirty="0"/>
              <a:t>over all distributions within this set.</a:t>
            </a:r>
            <a:r>
              <a:rPr lang="en-US" sz="1900" dirty="0"/>
              <a:t> Mainstream DRO approaches define this ambiguity set in different ways. </a:t>
            </a:r>
          </a:p>
          <a:p>
            <a:pPr marL="176213" indent="-176213">
              <a:buFont typeface="Arial" panose="020B0604020202020204" pitchFamily="34" charset="0"/>
              <a:buChar char="•"/>
            </a:pPr>
            <a:r>
              <a:rPr lang="en-US" sz="1900" i="1" dirty="0"/>
              <a:t>Delage and Ye </a:t>
            </a:r>
            <a:r>
              <a:rPr lang="en-US" sz="1900" dirty="0"/>
              <a:t>(2010) define the set based on </a:t>
            </a:r>
            <a:r>
              <a:rPr lang="en-US" sz="1900" dirty="0">
                <a:solidFill>
                  <a:srgbClr val="C00000"/>
                </a:solidFill>
              </a:rPr>
              <a:t>known moment constraints </a:t>
            </a:r>
            <a:r>
              <a:rPr lang="en-US" sz="1900" dirty="0"/>
              <a:t>(e.g., bounds on the mean and covariance) of the uncertain parameters. </a:t>
            </a:r>
          </a:p>
          <a:p>
            <a:pPr marL="176213" indent="-176213">
              <a:buFont typeface="Arial" panose="020B0604020202020204" pitchFamily="34" charset="0"/>
              <a:buChar char="•"/>
            </a:pPr>
            <a:r>
              <a:rPr lang="en-US" sz="1900" i="1" dirty="0"/>
              <a:t>Ben-Tal et al. </a:t>
            </a:r>
            <a:r>
              <a:rPr lang="en-US" sz="1900" dirty="0"/>
              <a:t>(2013) </a:t>
            </a:r>
            <a:r>
              <a:rPr lang="en-US" sz="1900" b="0" i="0" u="none" strike="noStrike" baseline="0" dirty="0"/>
              <a:t>utilize specific </a:t>
            </a:r>
            <a:r>
              <a:rPr lang="en-US" sz="1900" b="0" i="0" u="none" strike="noStrike" baseline="0" dirty="0">
                <a:solidFill>
                  <a:srgbClr val="C00000"/>
                </a:solidFill>
              </a:rPr>
              <a:t>discrepancy measures </a:t>
            </a:r>
            <a:r>
              <a:rPr lang="en-US" sz="1900" b="0" i="0" u="none" strike="noStrike" baseline="0" dirty="0"/>
              <a:t>to construct an ambiguity set centered </a:t>
            </a:r>
            <a:r>
              <a:rPr lang="en-US" sz="1900" b="0" i="0" u="none" strike="noStrike" baseline="0" dirty="0">
                <a:solidFill>
                  <a:srgbClr val="C00000"/>
                </a:solidFill>
              </a:rPr>
              <a:t>around the empirical distribution</a:t>
            </a:r>
            <a:r>
              <a:rPr lang="en-US" sz="1900" b="0" i="0" u="none" strike="noStrike" baseline="0" dirty="0"/>
              <a:t>, such as those based on the ϕ-divergence (or f-divergence).</a:t>
            </a:r>
          </a:p>
          <a:p>
            <a:pPr marL="176213" indent="-176213" algn="l">
              <a:buFont typeface="Arial" panose="020B0604020202020204" pitchFamily="34" charset="0"/>
              <a:buChar char="•"/>
            </a:pPr>
            <a:r>
              <a:rPr lang="en-US" sz="1900" b="0" i="1" u="none" strike="noStrike" baseline="0" dirty="0" err="1"/>
              <a:t>Esfahani</a:t>
            </a:r>
            <a:r>
              <a:rPr lang="en-US" sz="1900" b="0" i="1" u="none" strike="noStrike" baseline="0" dirty="0"/>
              <a:t> and Kuhn </a:t>
            </a:r>
            <a:r>
              <a:rPr lang="en-US" sz="1900" b="0" i="0" u="none" strike="noStrike" baseline="0" dirty="0"/>
              <a:t>(2018) define the ambiguity set as a </a:t>
            </a:r>
            <a:r>
              <a:rPr lang="en-US" sz="1900" b="0" i="0" u="none" strike="noStrike" baseline="0" dirty="0">
                <a:solidFill>
                  <a:srgbClr val="C00000"/>
                </a:solidFill>
              </a:rPr>
              <a:t>Wasserstein ball around the empirical distribution</a:t>
            </a:r>
            <a:r>
              <a:rPr lang="en-US" sz="1900" b="0" i="0" u="none" strike="noStrike" baseline="0" dirty="0"/>
              <a:t>, yielding tractable convex (often linear) reformulations</a:t>
            </a:r>
          </a:p>
          <a:p>
            <a:endParaRPr lang="en-US" sz="1900" dirty="0"/>
          </a:p>
        </p:txBody>
      </p:sp>
      <p:sp>
        <p:nvSpPr>
          <p:cNvPr id="3" name="Title 2">
            <a:extLst>
              <a:ext uri="{FF2B5EF4-FFF2-40B4-BE49-F238E27FC236}">
                <a16:creationId xmlns:a16="http://schemas.microsoft.com/office/drawing/2014/main" id="{BE16623A-BD36-E103-B426-C5FB8EB8271B}"/>
              </a:ext>
            </a:extLst>
          </p:cNvPr>
          <p:cNvSpPr>
            <a:spLocks noGrp="1"/>
          </p:cNvSpPr>
          <p:nvPr>
            <p:ph type="title"/>
          </p:nvPr>
        </p:nvSpPr>
        <p:spPr/>
        <p:txBody>
          <a:bodyPr/>
          <a:lstStyle/>
          <a:p>
            <a:r>
              <a:rPr lang="it-IT" dirty="0"/>
              <a:t>DRO</a:t>
            </a:r>
            <a:endParaRPr lang="en-US" dirty="0"/>
          </a:p>
        </p:txBody>
      </p:sp>
      <p:sp>
        <p:nvSpPr>
          <p:cNvPr id="4" name="Footer Placeholder 3">
            <a:extLst>
              <a:ext uri="{FF2B5EF4-FFF2-40B4-BE49-F238E27FC236}">
                <a16:creationId xmlns:a16="http://schemas.microsoft.com/office/drawing/2014/main" id="{96695DD9-A3D0-B88F-562D-E621311EA8B7}"/>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B21A2BE3-C7BA-8456-5881-CE48590ED09B}"/>
              </a:ext>
            </a:extLst>
          </p:cNvPr>
          <p:cNvSpPr>
            <a:spLocks noGrp="1"/>
          </p:cNvSpPr>
          <p:nvPr>
            <p:ph type="sldNum" sz="quarter" idx="4"/>
          </p:nvPr>
        </p:nvSpPr>
        <p:spPr/>
        <p:txBody>
          <a:bodyPr/>
          <a:lstStyle/>
          <a:p>
            <a:pPr>
              <a:defRPr/>
            </a:pPr>
            <a:fld id="{476DEB1C-3253-4C07-8F02-456B7B2AD41D}" type="slidenum">
              <a:rPr lang="it-IT" smtClean="0"/>
              <a:pPr>
                <a:defRPr/>
              </a:pPr>
              <a:t>4</a:t>
            </a:fld>
            <a:endParaRPr lang="it-IT" dirty="0"/>
          </a:p>
        </p:txBody>
      </p:sp>
    </p:spTree>
    <p:extLst>
      <p:ext uri="{BB962C8B-B14F-4D97-AF65-F5344CB8AC3E}">
        <p14:creationId xmlns:p14="http://schemas.microsoft.com/office/powerpoint/2010/main" val="34571749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EC226D9-7D30-4960-8B19-5AB4CEE110A7}"/>
              </a:ext>
            </a:extLst>
          </p:cNvPr>
          <p:cNvSpPr>
            <a:spLocks noGrp="1"/>
          </p:cNvSpPr>
          <p:nvPr>
            <p:ph idx="1"/>
          </p:nvPr>
        </p:nvSpPr>
        <p:spPr>
          <a:xfrm>
            <a:off x="293369" y="1270000"/>
            <a:ext cx="8436973" cy="5310584"/>
          </a:xfrm>
        </p:spPr>
        <p:txBody>
          <a:bodyPr>
            <a:normAutofit fontScale="85000" lnSpcReduction="20000"/>
          </a:bodyPr>
          <a:lstStyle/>
          <a:p>
            <a:r>
              <a:rPr lang="en-US" sz="2400" dirty="0">
                <a:solidFill>
                  <a:srgbClr val="C00000"/>
                </a:solidFill>
              </a:rPr>
              <a:t>Scenario-Based Optimization </a:t>
            </a:r>
            <a:r>
              <a:rPr lang="en-US" sz="2400" dirty="0"/>
              <a:t>associates a probability to different parameter realizations (scenarios), formulating an optimization problem to find decisions that perform well across this set of scenarios. </a:t>
            </a:r>
          </a:p>
          <a:p>
            <a:r>
              <a:rPr lang="en-US" sz="2400" dirty="0">
                <a:solidFill>
                  <a:srgbClr val="C00000"/>
                </a:solidFill>
              </a:rPr>
              <a:t>Sample Average Approximation </a:t>
            </a:r>
            <a:r>
              <a:rPr lang="en-US" sz="2400" dirty="0"/>
              <a:t>(SAA) is the special case where scenarios are independent and identically distributed realizations, each assigned equal weight 1/N. By replacing the true expectation with this sample mean, the original stochastic problem is transformed into a deterministic equivalent, solvable using standard techniques.</a:t>
            </a:r>
          </a:p>
          <a:p>
            <a:r>
              <a:rPr lang="en-US" sz="2400" i="1" dirty="0"/>
              <a:t>Bertsimas and Kallus </a:t>
            </a:r>
            <a:r>
              <a:rPr lang="en-US" sz="2400" dirty="0"/>
              <a:t>(2020) generalize SAA by replacing uniform scenario weights with </a:t>
            </a:r>
            <a:r>
              <a:rPr lang="en-US" sz="2400" dirty="0">
                <a:solidFill>
                  <a:srgbClr val="C00000"/>
                </a:solidFill>
              </a:rPr>
              <a:t>covariate-dependent weights </a:t>
            </a:r>
            <a:r>
              <a:rPr lang="en-US" sz="2400" dirty="0"/>
              <a:t>(e.g., via k-nearest neighbors or kernel regression), yielding a conditional approximation of the distribution given observed side information.</a:t>
            </a:r>
          </a:p>
          <a:p>
            <a:r>
              <a:rPr lang="en-US" sz="2400" dirty="0"/>
              <a:t>A </a:t>
            </a:r>
            <a:r>
              <a:rPr lang="en-US" sz="2400" dirty="0">
                <a:solidFill>
                  <a:srgbClr val="C00000"/>
                </a:solidFill>
              </a:rPr>
              <a:t>distinct line of work </a:t>
            </a:r>
            <a:r>
              <a:rPr lang="en-US" sz="2400" dirty="0"/>
              <a:t>addresses the same underlying challenge — uncertain parameters estimated from data — from the learning side rather than the distributional side. </a:t>
            </a:r>
          </a:p>
          <a:p>
            <a:r>
              <a:rPr lang="en-US" sz="2400" i="1" dirty="0" err="1"/>
              <a:t>Elmachtoub</a:t>
            </a:r>
            <a:r>
              <a:rPr lang="en-US" sz="2400" i="1" dirty="0"/>
              <a:t> and </a:t>
            </a:r>
            <a:r>
              <a:rPr lang="en-US" sz="2400" i="1" dirty="0" err="1"/>
              <a:t>Grigas</a:t>
            </a:r>
            <a:r>
              <a:rPr lang="en-US" sz="2400" i="1" dirty="0"/>
              <a:t> </a:t>
            </a:r>
            <a:r>
              <a:rPr lang="en-US" sz="2400" dirty="0"/>
              <a:t>(2022) propose </a:t>
            </a:r>
            <a:r>
              <a:rPr lang="en-US" sz="2400" dirty="0">
                <a:solidFill>
                  <a:srgbClr val="C00000"/>
                </a:solidFill>
              </a:rPr>
              <a:t>Smart Predict-then-Optimize </a:t>
            </a:r>
            <a:r>
              <a:rPr lang="en-US" sz="2400" dirty="0"/>
              <a:t>(SPO), training a prediction model with a loss function that measures the resulting decision error, rather than conventional prediction error, so that the model is trained to be useful for the downstream optimization problem rather than merely accurate.</a:t>
            </a:r>
          </a:p>
        </p:txBody>
      </p:sp>
      <p:sp>
        <p:nvSpPr>
          <p:cNvPr id="3" name="Title 2">
            <a:extLst>
              <a:ext uri="{FF2B5EF4-FFF2-40B4-BE49-F238E27FC236}">
                <a16:creationId xmlns:a16="http://schemas.microsoft.com/office/drawing/2014/main" id="{396B71D4-CEF5-4596-A30D-D7ABD7B5717E}"/>
              </a:ext>
            </a:extLst>
          </p:cNvPr>
          <p:cNvSpPr>
            <a:spLocks noGrp="1"/>
          </p:cNvSpPr>
          <p:nvPr>
            <p:ph type="title"/>
          </p:nvPr>
        </p:nvSpPr>
        <p:spPr/>
        <p:txBody>
          <a:bodyPr/>
          <a:lstStyle/>
          <a:p>
            <a:r>
              <a:rPr lang="en-US" dirty="0"/>
              <a:t>SAA and SPO</a:t>
            </a:r>
          </a:p>
        </p:txBody>
      </p:sp>
      <p:sp>
        <p:nvSpPr>
          <p:cNvPr id="4" name="Footer Placeholder 3">
            <a:extLst>
              <a:ext uri="{FF2B5EF4-FFF2-40B4-BE49-F238E27FC236}">
                <a16:creationId xmlns:a16="http://schemas.microsoft.com/office/drawing/2014/main" id="{66B4FCC0-C236-4C9F-A9F4-D0A729FEB49C}"/>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CA31A41E-34DF-407A-B739-D1C8F009FFCA}"/>
              </a:ext>
            </a:extLst>
          </p:cNvPr>
          <p:cNvSpPr>
            <a:spLocks noGrp="1"/>
          </p:cNvSpPr>
          <p:nvPr>
            <p:ph type="sldNum" sz="quarter" idx="4"/>
          </p:nvPr>
        </p:nvSpPr>
        <p:spPr/>
        <p:txBody>
          <a:bodyPr/>
          <a:lstStyle/>
          <a:p>
            <a:pPr>
              <a:defRPr/>
            </a:pPr>
            <a:fld id="{476DEB1C-3253-4C07-8F02-456B7B2AD41D}" type="slidenum">
              <a:rPr lang="it-IT" smtClean="0"/>
              <a:pPr>
                <a:defRPr/>
              </a:pPr>
              <a:t>5</a:t>
            </a:fld>
            <a:endParaRPr lang="it-IT" dirty="0"/>
          </a:p>
        </p:txBody>
      </p:sp>
    </p:spTree>
    <p:extLst>
      <p:ext uri="{BB962C8B-B14F-4D97-AF65-F5344CB8AC3E}">
        <p14:creationId xmlns:p14="http://schemas.microsoft.com/office/powerpoint/2010/main" val="29643604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F4D8FC25-1931-1E5E-990D-CA89422BD342}"/>
              </a:ext>
            </a:extLst>
          </p:cNvPr>
          <p:cNvSpPr>
            <a:spLocks noGrp="1"/>
          </p:cNvSpPr>
          <p:nvPr>
            <p:ph idx="1"/>
          </p:nvPr>
        </p:nvSpPr>
        <p:spPr>
          <a:xfrm>
            <a:off x="298912" y="1072434"/>
            <a:ext cx="8546175" cy="5259392"/>
          </a:xfrm>
        </p:spPr>
        <p:txBody>
          <a:bodyPr>
            <a:noAutofit/>
          </a:bodyPr>
          <a:lstStyle/>
          <a:p>
            <a:r>
              <a:rPr lang="en-US" sz="2200" dirty="0">
                <a:solidFill>
                  <a:srgbClr val="C00000"/>
                </a:solidFill>
              </a:rPr>
              <a:t>Large-scale organized distribution </a:t>
            </a:r>
            <a:r>
              <a:rPr lang="en-US" sz="2200" dirty="0"/>
              <a:t>is often structured according to a </a:t>
            </a:r>
            <a:r>
              <a:rPr lang="en-US" sz="2200" dirty="0">
                <a:solidFill>
                  <a:srgbClr val="C00000"/>
                </a:solidFill>
              </a:rPr>
              <a:t>two-echelon</a:t>
            </a:r>
            <a:r>
              <a:rPr lang="en-US" sz="2200" dirty="0">
                <a:solidFill>
                  <a:schemeClr val="accent2"/>
                </a:solidFill>
              </a:rPr>
              <a:t> </a:t>
            </a:r>
            <a:r>
              <a:rPr lang="en-US" sz="2200" dirty="0"/>
              <a:t>model, in which </a:t>
            </a:r>
            <a:r>
              <a:rPr lang="en-US" sz="2200" dirty="0">
                <a:solidFill>
                  <a:srgbClr val="C00000"/>
                </a:solidFill>
              </a:rPr>
              <a:t>distribution centers </a:t>
            </a:r>
            <a:r>
              <a:rPr lang="en-US" sz="2200" dirty="0"/>
              <a:t>(DCs) are used to store and forward goods to replenish the inventories of the </a:t>
            </a:r>
            <a:r>
              <a:rPr lang="en-US" sz="2200" dirty="0">
                <a:solidFill>
                  <a:schemeClr val="accent2"/>
                </a:solidFill>
              </a:rPr>
              <a:t>final </a:t>
            </a:r>
            <a:r>
              <a:rPr lang="en-US" sz="2200" dirty="0">
                <a:solidFill>
                  <a:srgbClr val="C00000"/>
                </a:solidFill>
              </a:rPr>
              <a:t>retailer's stores</a:t>
            </a:r>
            <a:r>
              <a:rPr lang="en-US" sz="2200" dirty="0"/>
              <a:t>.</a:t>
            </a:r>
          </a:p>
          <a:p>
            <a:pPr>
              <a:spcBef>
                <a:spcPts val="1200"/>
              </a:spcBef>
            </a:pPr>
            <a:r>
              <a:rPr lang="en-US" sz="2200" dirty="0"/>
              <a:t>Stores are typically </a:t>
            </a:r>
            <a:r>
              <a:rPr lang="en-US" sz="2200" dirty="0">
                <a:solidFill>
                  <a:srgbClr val="C00000"/>
                </a:solidFill>
              </a:rPr>
              <a:t>uniquely allocated </a:t>
            </a:r>
            <a:r>
              <a:rPr lang="en-US" sz="2200" dirty="0"/>
              <a:t>to DCs for products of the same line, and predictive </a:t>
            </a:r>
            <a:r>
              <a:rPr lang="en-US" sz="2200" dirty="0">
                <a:solidFill>
                  <a:srgbClr val="C00000"/>
                </a:solidFill>
              </a:rPr>
              <a:t>knowledge of future demand </a:t>
            </a:r>
            <a:r>
              <a:rPr lang="en-US" sz="2200" dirty="0"/>
              <a:t>is essential to optimize the distribution process. </a:t>
            </a:r>
          </a:p>
          <a:p>
            <a:pPr>
              <a:spcBef>
                <a:spcPts val="1200"/>
              </a:spcBef>
            </a:pPr>
            <a:r>
              <a:rPr lang="en-US" sz="2200" dirty="0"/>
              <a:t>In the </a:t>
            </a:r>
            <a:r>
              <a:rPr lang="en-US" sz="2200" dirty="0">
                <a:solidFill>
                  <a:srgbClr val="C00000"/>
                </a:solidFill>
              </a:rPr>
              <a:t>real-world case study</a:t>
            </a:r>
            <a:r>
              <a:rPr lang="en-US" sz="2200" dirty="0"/>
              <a:t>:</a:t>
            </a:r>
          </a:p>
          <a:p>
            <a:pPr marL="457200" indent="-457200">
              <a:spcBef>
                <a:spcPts val="600"/>
              </a:spcBef>
              <a:buFont typeface="Arial" panose="020B0604020202020204" pitchFamily="34" charset="0"/>
              <a:buChar char="•"/>
            </a:pPr>
            <a:r>
              <a:rPr lang="en-US" sz="2200" dirty="0"/>
              <a:t>city retailer store </a:t>
            </a:r>
            <a:r>
              <a:rPr lang="en-US" sz="2200" dirty="0">
                <a:solidFill>
                  <a:srgbClr val="C00000"/>
                </a:solidFill>
              </a:rPr>
              <a:t>demands were predicted </a:t>
            </a:r>
            <a:r>
              <a:rPr lang="en-US" sz="2200" dirty="0"/>
              <a:t>based on individual sales time series and</a:t>
            </a:r>
          </a:p>
          <a:p>
            <a:pPr marL="457200" indent="-457200">
              <a:spcBef>
                <a:spcPts val="600"/>
              </a:spcBef>
              <a:buFont typeface="Arial" panose="020B0604020202020204" pitchFamily="34" charset="0"/>
              <a:buChar char="•"/>
            </a:pPr>
            <a:r>
              <a:rPr lang="en-US" sz="2200" dirty="0"/>
              <a:t>used to </a:t>
            </a:r>
            <a:r>
              <a:rPr lang="en-US" sz="2200" dirty="0">
                <a:solidFill>
                  <a:srgbClr val="C00000"/>
                </a:solidFill>
              </a:rPr>
              <a:t>optimize the allocation of stores </a:t>
            </a:r>
            <a:r>
              <a:rPr lang="en-US" sz="2200" dirty="0"/>
              <a:t>to DCs in a tactical planning context.</a:t>
            </a:r>
          </a:p>
          <a:p>
            <a:pPr>
              <a:spcBef>
                <a:spcPts val="600"/>
              </a:spcBef>
            </a:pPr>
            <a:r>
              <a:rPr lang="en-US" sz="2200" dirty="0"/>
              <a:t>Our problem required </a:t>
            </a:r>
            <a:r>
              <a:rPr lang="en-US" sz="2200" b="1" i="1" dirty="0">
                <a:solidFill>
                  <a:srgbClr val="C00000"/>
                </a:solidFill>
              </a:rPr>
              <a:t>dimensioning</a:t>
            </a:r>
            <a:r>
              <a:rPr lang="en-US" sz="2200" dirty="0">
                <a:solidFill>
                  <a:srgbClr val="C00000"/>
                </a:solidFill>
              </a:rPr>
              <a:t> multiple DCs </a:t>
            </a:r>
            <a:r>
              <a:rPr lang="en-US" sz="2200" dirty="0"/>
              <a:t>and </a:t>
            </a:r>
            <a:r>
              <a:rPr lang="en-US" sz="2200" dirty="0">
                <a:solidFill>
                  <a:srgbClr val="C00000"/>
                </a:solidFill>
              </a:rPr>
              <a:t>assigning stores </a:t>
            </a:r>
            <a:r>
              <a:rPr lang="en-US" sz="2200" dirty="0"/>
              <a:t>to them to meet </a:t>
            </a:r>
            <a:r>
              <a:rPr lang="en-US" sz="2200" dirty="0">
                <a:solidFill>
                  <a:srgbClr val="C00000"/>
                </a:solidFill>
              </a:rPr>
              <a:t>expected demand </a:t>
            </a:r>
            <a:r>
              <a:rPr lang="en-US" sz="2200" dirty="0"/>
              <a:t>during a critical period.</a:t>
            </a:r>
            <a:endParaRPr lang="it-IT" sz="2200" dirty="0"/>
          </a:p>
        </p:txBody>
      </p:sp>
      <p:sp>
        <p:nvSpPr>
          <p:cNvPr id="6" name="Title 5">
            <a:extLst>
              <a:ext uri="{FF2B5EF4-FFF2-40B4-BE49-F238E27FC236}">
                <a16:creationId xmlns:a16="http://schemas.microsoft.com/office/drawing/2014/main" id="{4C5398A1-5698-7E29-73AD-823E6AC5D0C8}"/>
              </a:ext>
            </a:extLst>
          </p:cNvPr>
          <p:cNvSpPr>
            <a:spLocks noGrp="1"/>
          </p:cNvSpPr>
          <p:nvPr>
            <p:ph type="title"/>
          </p:nvPr>
        </p:nvSpPr>
        <p:spPr/>
        <p:txBody>
          <a:bodyPr/>
          <a:lstStyle/>
          <a:p>
            <a:r>
              <a:rPr lang="en-US" dirty="0"/>
              <a:t>The first case study</a:t>
            </a:r>
            <a:endParaRPr lang="it-IT" dirty="0"/>
          </a:p>
        </p:txBody>
      </p:sp>
      <p:sp>
        <p:nvSpPr>
          <p:cNvPr id="4" name="Footer Placeholder 3">
            <a:extLst>
              <a:ext uri="{FF2B5EF4-FFF2-40B4-BE49-F238E27FC236}">
                <a16:creationId xmlns:a16="http://schemas.microsoft.com/office/drawing/2014/main" id="{06AED9A1-62D9-AEA4-A356-4502CB5D9EE8}"/>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D306B575-A6BA-D800-E032-B14334E80464}"/>
              </a:ext>
            </a:extLst>
          </p:cNvPr>
          <p:cNvSpPr>
            <a:spLocks noGrp="1"/>
          </p:cNvSpPr>
          <p:nvPr>
            <p:ph type="sldNum" sz="quarter" idx="4"/>
          </p:nvPr>
        </p:nvSpPr>
        <p:spPr/>
        <p:txBody>
          <a:bodyPr/>
          <a:lstStyle/>
          <a:p>
            <a:pPr>
              <a:defRPr/>
            </a:pPr>
            <a:fld id="{476DEB1C-3253-4C07-8F02-456B7B2AD41D}" type="slidenum">
              <a:rPr lang="it-IT" smtClean="0"/>
              <a:pPr>
                <a:defRPr/>
              </a:pPr>
              <a:t>6</a:t>
            </a:fld>
            <a:endParaRPr lang="it-IT" dirty="0"/>
          </a:p>
        </p:txBody>
      </p:sp>
    </p:spTree>
    <p:extLst>
      <p:ext uri="{BB962C8B-B14F-4D97-AF65-F5344CB8AC3E}">
        <p14:creationId xmlns:p14="http://schemas.microsoft.com/office/powerpoint/2010/main" val="6748530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99083F86-A46A-4536-ABCE-853D29FAD760}"/>
              </a:ext>
            </a:extLst>
          </p:cNvPr>
          <p:cNvSpPr>
            <a:spLocks noGrp="1"/>
          </p:cNvSpPr>
          <p:nvPr>
            <p:ph type="sldNum" sz="quarter" idx="12"/>
          </p:nvPr>
        </p:nvSpPr>
        <p:spPr/>
        <p:txBody>
          <a:bodyPr/>
          <a:lstStyle/>
          <a:p>
            <a:pPr>
              <a:defRPr/>
            </a:pPr>
            <a:fld id="{476DEB1C-3253-4C07-8F02-456B7B2AD41D}" type="slidenum">
              <a:rPr lang="it-IT" smtClean="0"/>
              <a:pPr>
                <a:defRPr/>
              </a:pPr>
              <a:t>7</a:t>
            </a:fld>
            <a:endParaRPr lang="it-IT" dirty="0"/>
          </a:p>
        </p:txBody>
      </p:sp>
      <p:sp>
        <p:nvSpPr>
          <p:cNvPr id="3" name="Title 2">
            <a:extLst>
              <a:ext uri="{FF2B5EF4-FFF2-40B4-BE49-F238E27FC236}">
                <a16:creationId xmlns:a16="http://schemas.microsoft.com/office/drawing/2014/main" id="{4B9036EB-2DC9-4B74-9A20-A9079686960F}"/>
              </a:ext>
            </a:extLst>
          </p:cNvPr>
          <p:cNvSpPr>
            <a:spLocks noGrp="1"/>
          </p:cNvSpPr>
          <p:nvPr>
            <p:ph type="title"/>
          </p:nvPr>
        </p:nvSpPr>
        <p:spPr/>
        <p:txBody>
          <a:bodyPr/>
          <a:lstStyle/>
          <a:p>
            <a:r>
              <a:rPr lang="en-US" dirty="0"/>
              <a:t>Toward a formulation</a:t>
            </a:r>
          </a:p>
        </p:txBody>
      </p:sp>
      <p:sp>
        <p:nvSpPr>
          <p:cNvPr id="4" name="Footer Placeholder 3">
            <a:extLst>
              <a:ext uri="{FF2B5EF4-FFF2-40B4-BE49-F238E27FC236}">
                <a16:creationId xmlns:a16="http://schemas.microsoft.com/office/drawing/2014/main" id="{0AB89389-3428-4908-9BE0-23F58A7DE996}"/>
              </a:ext>
            </a:extLst>
          </p:cNvPr>
          <p:cNvSpPr>
            <a:spLocks noGrp="1"/>
          </p:cNvSpPr>
          <p:nvPr>
            <p:ph type="ftr" sz="quarter" idx="3"/>
          </p:nvPr>
        </p:nvSpPr>
        <p:spPr>
          <a:xfrm>
            <a:off x="29185" y="6580584"/>
            <a:ext cx="3102649" cy="304800"/>
          </a:xfrm>
          <a:prstGeom prst="rect">
            <a:avLst/>
          </a:prstGeom>
        </p:spPr>
        <p:txBody>
          <a:bodyPr vert="horz" lIns="91440" tIns="45720" rIns="91440" bIns="45720" rtlCol="0" anchor="ctr"/>
          <a:lstStyle>
            <a:defPPr>
              <a:defRPr lang="en-US"/>
            </a:defPPr>
            <a:lvl1pPr marL="0" algn="l" defTabSz="914400" rtl="0" eaLnBrk="1" latinLnBrk="0" hangingPunct="1">
              <a:defRPr sz="1200" b="1" i="0" kern="1200">
                <a:solidFill>
                  <a:schemeClr val="tx1"/>
                </a:solidFill>
                <a:latin typeface="ManiezzoSlides" pitchFamily="2" charset="0"/>
                <a:ea typeface="Microsoft YaHei" panose="020B0503020204020204" pitchFamily="34" charset="-122"/>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r>
              <a:rPr lang="it-IT"/>
              <a:t>Vittorio Maniezzo - University of Bologna</a:t>
            </a:r>
            <a:endParaRPr lang="it-IT" dirty="0"/>
          </a:p>
        </p:txBody>
      </p:sp>
      <p:sp>
        <p:nvSpPr>
          <p:cNvPr id="6" name="Oval 5">
            <a:extLst>
              <a:ext uri="{FF2B5EF4-FFF2-40B4-BE49-F238E27FC236}">
                <a16:creationId xmlns:a16="http://schemas.microsoft.com/office/drawing/2014/main" id="{32B98C8A-3BF6-47A2-B3B9-7FA15F39B6BC}"/>
              </a:ext>
            </a:extLst>
          </p:cNvPr>
          <p:cNvSpPr/>
          <p:nvPr/>
        </p:nvSpPr>
        <p:spPr>
          <a:xfrm>
            <a:off x="2011680" y="2542032"/>
            <a:ext cx="429768" cy="448056"/>
          </a:xfrm>
          <a:prstGeom prst="ellipse">
            <a:avLst/>
          </a:prstGeom>
          <a:noFill/>
          <a:ln>
            <a:solidFill>
              <a:schemeClr val="tx1"/>
            </a:solid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i="1" dirty="0" err="1">
                <a:solidFill>
                  <a:schemeClr val="tx1"/>
                </a:solidFill>
                <a:latin typeface="Cambria" panose="02040503050406030204" pitchFamily="18" charset="0"/>
                <a:ea typeface="Cambria" panose="02040503050406030204" pitchFamily="18" charset="0"/>
              </a:rPr>
              <a:t>i</a:t>
            </a:r>
            <a:endParaRPr lang="en-US" i="1" dirty="0">
              <a:solidFill>
                <a:schemeClr val="tx1"/>
              </a:solidFill>
              <a:latin typeface="Cambria" panose="02040503050406030204" pitchFamily="18" charset="0"/>
              <a:ea typeface="Cambria" panose="02040503050406030204" pitchFamily="18" charset="0"/>
            </a:endParaRPr>
          </a:p>
        </p:txBody>
      </p:sp>
      <p:sp>
        <p:nvSpPr>
          <p:cNvPr id="7" name="Oval 6">
            <a:extLst>
              <a:ext uri="{FF2B5EF4-FFF2-40B4-BE49-F238E27FC236}">
                <a16:creationId xmlns:a16="http://schemas.microsoft.com/office/drawing/2014/main" id="{63A1B69A-A49D-4A92-8AD9-6A13E8235E81}"/>
              </a:ext>
            </a:extLst>
          </p:cNvPr>
          <p:cNvSpPr/>
          <p:nvPr/>
        </p:nvSpPr>
        <p:spPr>
          <a:xfrm>
            <a:off x="5421124" y="4312920"/>
            <a:ext cx="429768" cy="448056"/>
          </a:xfrm>
          <a:prstGeom prst="ellipse">
            <a:avLst/>
          </a:prstGeom>
          <a:noFill/>
          <a:ln>
            <a:solidFill>
              <a:schemeClr val="tx1"/>
            </a:solid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i="1" dirty="0">
                <a:solidFill>
                  <a:schemeClr val="tx1"/>
                </a:solidFill>
                <a:latin typeface="Cambria" panose="02040503050406030204" pitchFamily="18" charset="0"/>
                <a:ea typeface="Cambria" panose="02040503050406030204" pitchFamily="18" charset="0"/>
              </a:rPr>
              <a:t>j</a:t>
            </a:r>
          </a:p>
        </p:txBody>
      </p:sp>
      <p:cxnSp>
        <p:nvCxnSpPr>
          <p:cNvPr id="9" name="Straight Arrow Connector 8">
            <a:extLst>
              <a:ext uri="{FF2B5EF4-FFF2-40B4-BE49-F238E27FC236}">
                <a16:creationId xmlns:a16="http://schemas.microsoft.com/office/drawing/2014/main" id="{B6F8C743-2E2B-4EE3-91DE-D049A2418395}"/>
              </a:ext>
            </a:extLst>
          </p:cNvPr>
          <p:cNvCxnSpPr>
            <a:stCxn id="7" idx="2"/>
            <a:endCxn id="6" idx="6"/>
          </p:cNvCxnSpPr>
          <p:nvPr/>
        </p:nvCxnSpPr>
        <p:spPr>
          <a:xfrm flipH="1" flipV="1">
            <a:off x="2441448" y="2766060"/>
            <a:ext cx="2979676" cy="177088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72A84C6D-D5FD-478B-8DB2-B8676B97D4E0}"/>
              </a:ext>
            </a:extLst>
          </p:cNvPr>
          <p:cNvSpPr txBox="1"/>
          <p:nvPr/>
        </p:nvSpPr>
        <p:spPr>
          <a:xfrm>
            <a:off x="3670048" y="3107886"/>
            <a:ext cx="3502152" cy="448056"/>
          </a:xfrm>
          <a:prstGeom prst="rect">
            <a:avLst/>
          </a:prstGeom>
          <a:noFill/>
          <a:ln>
            <a:noFill/>
          </a:ln>
        </p:spPr>
        <p:txBody>
          <a:bodyPr wrap="none" rtlCol="0" anchor="t" anchorCtr="0">
            <a:noAutofit/>
          </a:bodyPr>
          <a:lstStyle/>
          <a:p>
            <a:pPr algn="l"/>
            <a:r>
              <a:rPr lang="en-US" sz="2000" dirty="0"/>
              <a:t>if </a:t>
            </a:r>
            <a:r>
              <a:rPr lang="en-US" sz="2000" i="1" dirty="0">
                <a:latin typeface="Cambria" panose="02040503050406030204" pitchFamily="18" charset="0"/>
                <a:ea typeface="Cambria" panose="02040503050406030204" pitchFamily="18" charset="0"/>
              </a:rPr>
              <a:t>j</a:t>
            </a:r>
            <a:r>
              <a:rPr lang="en-US" sz="2000" dirty="0"/>
              <a:t> is serviced from </a:t>
            </a:r>
            <a:r>
              <a:rPr lang="en-US" sz="2000" i="1" dirty="0" err="1">
                <a:latin typeface="Cambria" panose="02040503050406030204" pitchFamily="18" charset="0"/>
                <a:ea typeface="Cambria" panose="02040503050406030204" pitchFamily="18" charset="0"/>
              </a:rPr>
              <a:t>i</a:t>
            </a:r>
            <a:r>
              <a:rPr lang="en-US" sz="2000" dirty="0"/>
              <a:t>, then </a:t>
            </a:r>
            <a:r>
              <a:rPr lang="en-US" sz="2000" i="1" dirty="0" err="1">
                <a:solidFill>
                  <a:srgbClr val="C00000"/>
                </a:solidFill>
                <a:latin typeface="Cambria" panose="02040503050406030204" pitchFamily="18" charset="0"/>
                <a:ea typeface="Cambria" panose="02040503050406030204" pitchFamily="18" charset="0"/>
              </a:rPr>
              <a:t>x</a:t>
            </a:r>
            <a:r>
              <a:rPr lang="en-US" sz="2000" i="1" baseline="-25000" dirty="0" err="1">
                <a:solidFill>
                  <a:srgbClr val="C00000"/>
                </a:solidFill>
                <a:latin typeface="Cambria" panose="02040503050406030204" pitchFamily="18" charset="0"/>
                <a:ea typeface="Cambria" panose="02040503050406030204" pitchFamily="18" charset="0"/>
              </a:rPr>
              <a:t>ij</a:t>
            </a:r>
            <a:r>
              <a:rPr lang="en-US" sz="2000" i="1" dirty="0">
                <a:latin typeface="Cambria" panose="02040503050406030204" pitchFamily="18" charset="0"/>
                <a:ea typeface="Cambria" panose="02040503050406030204" pitchFamily="18" charset="0"/>
              </a:rPr>
              <a:t> = 1</a:t>
            </a:r>
          </a:p>
        </p:txBody>
      </p:sp>
      <p:sp>
        <p:nvSpPr>
          <p:cNvPr id="11" name="TextBox 10">
            <a:extLst>
              <a:ext uri="{FF2B5EF4-FFF2-40B4-BE49-F238E27FC236}">
                <a16:creationId xmlns:a16="http://schemas.microsoft.com/office/drawing/2014/main" id="{97A90013-B7E8-44DB-A78A-BC9E92598082}"/>
              </a:ext>
            </a:extLst>
          </p:cNvPr>
          <p:cNvSpPr txBox="1"/>
          <p:nvPr/>
        </p:nvSpPr>
        <p:spPr>
          <a:xfrm>
            <a:off x="845820" y="1270635"/>
            <a:ext cx="2674620" cy="1047369"/>
          </a:xfrm>
          <a:prstGeom prst="rect">
            <a:avLst/>
          </a:prstGeom>
          <a:noFill/>
          <a:ln>
            <a:noFill/>
          </a:ln>
        </p:spPr>
        <p:txBody>
          <a:bodyPr wrap="none" rtlCol="0" anchor="t" anchorCtr="0">
            <a:noAutofit/>
          </a:bodyPr>
          <a:lstStyle/>
          <a:p>
            <a:pPr algn="ctr"/>
            <a:r>
              <a:rPr lang="en-US" sz="2000" dirty="0">
                <a:latin typeface="Aptos Light" panose="020B0004020202020204" pitchFamily="34" charset="0"/>
              </a:rPr>
              <a:t>Server </a:t>
            </a:r>
            <a:r>
              <a:rPr lang="en-US" sz="2000" i="1" dirty="0" err="1">
                <a:solidFill>
                  <a:srgbClr val="C00000"/>
                </a:solidFill>
                <a:latin typeface="Cambria" panose="02040503050406030204" pitchFamily="18" charset="0"/>
                <a:ea typeface="Cambria" panose="02040503050406030204" pitchFamily="18" charset="0"/>
              </a:rPr>
              <a:t>i</a:t>
            </a:r>
            <a:endParaRPr lang="en-US" sz="2000" dirty="0">
              <a:solidFill>
                <a:srgbClr val="C00000"/>
              </a:solidFill>
              <a:latin typeface="Aptos Light" panose="020B0004020202020204" pitchFamily="34" charset="0"/>
            </a:endParaRPr>
          </a:p>
          <a:p>
            <a:pPr algn="ctr"/>
            <a:r>
              <a:rPr lang="en-US" sz="2000" dirty="0">
                <a:latin typeface="Aptos Light" panose="020B0004020202020204" pitchFamily="34" charset="0"/>
              </a:rPr>
              <a:t>Capacity </a:t>
            </a:r>
            <a:r>
              <a:rPr lang="en-US" sz="2000" i="1" dirty="0">
                <a:solidFill>
                  <a:srgbClr val="C00000"/>
                </a:solidFill>
                <a:latin typeface="Cambria" panose="02040503050406030204" pitchFamily="18" charset="0"/>
                <a:ea typeface="Cambria" panose="02040503050406030204" pitchFamily="18" charset="0"/>
              </a:rPr>
              <a:t>Q</a:t>
            </a:r>
            <a:r>
              <a:rPr lang="en-US" sz="2000" i="1" baseline="-25000" dirty="0">
                <a:solidFill>
                  <a:srgbClr val="C00000"/>
                </a:solidFill>
                <a:latin typeface="Cambria" panose="02040503050406030204" pitchFamily="18" charset="0"/>
                <a:ea typeface="Cambria" panose="02040503050406030204" pitchFamily="18" charset="0"/>
              </a:rPr>
              <a:t>i</a:t>
            </a:r>
          </a:p>
          <a:p>
            <a:pPr algn="ctr"/>
            <a:r>
              <a:rPr lang="en-US" sz="2000" dirty="0">
                <a:latin typeface="Aptos Light" panose="020B0004020202020204" pitchFamily="34" charset="0"/>
              </a:rPr>
              <a:t>Unitary storage cost </a:t>
            </a:r>
            <a:r>
              <a:rPr lang="en-US" sz="2000" i="1" dirty="0">
                <a:solidFill>
                  <a:srgbClr val="C00000"/>
                </a:solidFill>
                <a:latin typeface="Cambria" panose="02040503050406030204" pitchFamily="18" charset="0"/>
                <a:ea typeface="Cambria" panose="02040503050406030204" pitchFamily="18" charset="0"/>
              </a:rPr>
              <a:t>d</a:t>
            </a:r>
            <a:r>
              <a:rPr lang="en-US" sz="2000" i="1" baseline="-25000" dirty="0">
                <a:solidFill>
                  <a:srgbClr val="C00000"/>
                </a:solidFill>
                <a:latin typeface="Cambria" panose="02040503050406030204" pitchFamily="18" charset="0"/>
                <a:ea typeface="Cambria" panose="02040503050406030204" pitchFamily="18" charset="0"/>
              </a:rPr>
              <a:t>i</a:t>
            </a:r>
          </a:p>
        </p:txBody>
      </p:sp>
      <p:sp>
        <p:nvSpPr>
          <p:cNvPr id="12" name="TextBox 11">
            <a:extLst>
              <a:ext uri="{FF2B5EF4-FFF2-40B4-BE49-F238E27FC236}">
                <a16:creationId xmlns:a16="http://schemas.microsoft.com/office/drawing/2014/main" id="{744C906C-0A05-4451-A1E0-7A09F8AF712B}"/>
              </a:ext>
            </a:extLst>
          </p:cNvPr>
          <p:cNvSpPr txBox="1"/>
          <p:nvPr/>
        </p:nvSpPr>
        <p:spPr>
          <a:xfrm>
            <a:off x="4950208" y="4536948"/>
            <a:ext cx="3306824" cy="1424940"/>
          </a:xfrm>
          <a:prstGeom prst="rect">
            <a:avLst/>
          </a:prstGeom>
          <a:noFill/>
          <a:ln>
            <a:noFill/>
          </a:ln>
        </p:spPr>
        <p:txBody>
          <a:bodyPr wrap="none" rtlCol="0" anchor="t" anchorCtr="0">
            <a:noAutofit/>
          </a:bodyPr>
          <a:lstStyle/>
          <a:p>
            <a:pPr algn="ctr"/>
            <a:r>
              <a:rPr lang="en-US" sz="2000" dirty="0">
                <a:latin typeface="Aptos Light" panose="020B0004020202020204" pitchFamily="34" charset="0"/>
              </a:rPr>
              <a:t>Client </a:t>
            </a:r>
            <a:r>
              <a:rPr lang="en-US" sz="2000" i="1" dirty="0">
                <a:solidFill>
                  <a:srgbClr val="C00000"/>
                </a:solidFill>
                <a:latin typeface="Cambria" panose="02040503050406030204" pitchFamily="18" charset="0"/>
                <a:ea typeface="Cambria" panose="02040503050406030204" pitchFamily="18" charset="0"/>
              </a:rPr>
              <a:t>j</a:t>
            </a:r>
            <a:endParaRPr lang="en-US" sz="2000" dirty="0">
              <a:solidFill>
                <a:srgbClr val="C00000"/>
              </a:solidFill>
              <a:latin typeface="Aptos Light" panose="020B0004020202020204" pitchFamily="34" charset="0"/>
            </a:endParaRPr>
          </a:p>
          <a:p>
            <a:pPr algn="ctr"/>
            <a:r>
              <a:rPr lang="en-US" sz="2000" dirty="0">
                <a:latin typeface="Aptos Light" panose="020B0004020202020204" pitchFamily="34" charset="0"/>
              </a:rPr>
              <a:t>Total request </a:t>
            </a:r>
            <a:r>
              <a:rPr lang="en-US" sz="2000" i="1" dirty="0" err="1">
                <a:solidFill>
                  <a:srgbClr val="C00000"/>
                </a:solidFill>
                <a:latin typeface="Cambria" panose="02040503050406030204" pitchFamily="18" charset="0"/>
                <a:ea typeface="Cambria" panose="02040503050406030204" pitchFamily="18" charset="0"/>
              </a:rPr>
              <a:t>req</a:t>
            </a:r>
            <a:r>
              <a:rPr lang="en-US" sz="2000" i="1" baseline="-25000" dirty="0" err="1">
                <a:solidFill>
                  <a:srgbClr val="C00000"/>
                </a:solidFill>
                <a:latin typeface="Cambria" panose="02040503050406030204" pitchFamily="18" charset="0"/>
                <a:ea typeface="Cambria" panose="02040503050406030204" pitchFamily="18" charset="0"/>
              </a:rPr>
              <a:t>j</a:t>
            </a:r>
            <a:endParaRPr lang="en-US" sz="2000" i="1" baseline="-25000" dirty="0">
              <a:solidFill>
                <a:srgbClr val="C00000"/>
              </a:solidFill>
              <a:latin typeface="Cambria" panose="02040503050406030204" pitchFamily="18" charset="0"/>
              <a:ea typeface="Cambria" panose="02040503050406030204" pitchFamily="18" charset="0"/>
            </a:endParaRPr>
          </a:p>
          <a:p>
            <a:pPr algn="ctr"/>
            <a:r>
              <a:rPr lang="en-US" sz="2000" dirty="0">
                <a:latin typeface="Aptos Light" panose="020B0004020202020204" pitchFamily="34" charset="0"/>
              </a:rPr>
              <a:t>Allocation cost to </a:t>
            </a:r>
            <a:r>
              <a:rPr lang="en-US" sz="2000" i="1" dirty="0" err="1">
                <a:latin typeface="Cambria" panose="02040503050406030204" pitchFamily="18" charset="0"/>
                <a:ea typeface="Cambria" panose="02040503050406030204" pitchFamily="18" charset="0"/>
              </a:rPr>
              <a:t>i</a:t>
            </a:r>
            <a:r>
              <a:rPr lang="en-US" sz="2000" dirty="0">
                <a:latin typeface="Aptos Light" panose="020B0004020202020204" pitchFamily="34" charset="0"/>
              </a:rPr>
              <a:t> </a:t>
            </a:r>
            <a:r>
              <a:rPr lang="en-US" sz="2000" i="1" dirty="0" err="1">
                <a:solidFill>
                  <a:srgbClr val="C00000"/>
                </a:solidFill>
                <a:latin typeface="Cambria" panose="02040503050406030204" pitchFamily="18" charset="0"/>
                <a:ea typeface="Cambria" panose="02040503050406030204" pitchFamily="18" charset="0"/>
              </a:rPr>
              <a:t>c</a:t>
            </a:r>
            <a:r>
              <a:rPr lang="en-US" sz="2000" i="1" baseline="-25000" dirty="0" err="1">
                <a:solidFill>
                  <a:srgbClr val="C00000"/>
                </a:solidFill>
                <a:latin typeface="Cambria" panose="02040503050406030204" pitchFamily="18" charset="0"/>
                <a:ea typeface="Cambria" panose="02040503050406030204" pitchFamily="18" charset="0"/>
              </a:rPr>
              <a:t>ij</a:t>
            </a:r>
            <a:endParaRPr lang="en-US" sz="2000" i="1" baseline="-25000" dirty="0">
              <a:solidFill>
                <a:srgbClr val="C00000"/>
              </a:solidFill>
              <a:latin typeface="Cambria" panose="02040503050406030204" pitchFamily="18" charset="0"/>
              <a:ea typeface="Cambria" panose="02040503050406030204" pitchFamily="18" charset="0"/>
            </a:endParaRPr>
          </a:p>
          <a:p>
            <a:pPr algn="ctr"/>
            <a:r>
              <a:rPr lang="en-US" sz="2000" dirty="0">
                <a:latin typeface="Aptos Light" panose="020B0004020202020204" pitchFamily="34" charset="0"/>
              </a:rPr>
              <a:t>Amount serviced by </a:t>
            </a:r>
            <a:r>
              <a:rPr lang="en-US" sz="2000" i="1" dirty="0" err="1">
                <a:latin typeface="Cambria" panose="02040503050406030204" pitchFamily="18" charset="0"/>
                <a:ea typeface="Cambria" panose="02040503050406030204" pitchFamily="18" charset="0"/>
              </a:rPr>
              <a:t>i</a:t>
            </a:r>
            <a:r>
              <a:rPr lang="en-US" sz="2000" dirty="0">
                <a:latin typeface="Aptos Light" panose="020B0004020202020204" pitchFamily="34" charset="0"/>
              </a:rPr>
              <a:t> </a:t>
            </a:r>
            <a:r>
              <a:rPr lang="en-US" sz="2000" i="1" dirty="0" err="1">
                <a:solidFill>
                  <a:srgbClr val="C00000"/>
                </a:solidFill>
                <a:latin typeface="Cambria" panose="02040503050406030204" pitchFamily="18" charset="0"/>
                <a:ea typeface="Cambria" panose="02040503050406030204" pitchFamily="18" charset="0"/>
              </a:rPr>
              <a:t>q</a:t>
            </a:r>
            <a:r>
              <a:rPr lang="en-US" sz="2000" i="1" baseline="-25000" dirty="0" err="1">
                <a:solidFill>
                  <a:srgbClr val="C00000"/>
                </a:solidFill>
                <a:latin typeface="Cambria" panose="02040503050406030204" pitchFamily="18" charset="0"/>
                <a:ea typeface="Cambria" panose="02040503050406030204" pitchFamily="18" charset="0"/>
              </a:rPr>
              <a:t>ij</a:t>
            </a:r>
            <a:endParaRPr lang="en-US" sz="2000" i="1" baseline="-25000" dirty="0">
              <a:solidFill>
                <a:srgbClr val="C00000"/>
              </a:solidFill>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06368895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74A286D6-0507-C00A-C4FB-69619416EBA4}"/>
                  </a:ext>
                </a:extLst>
              </p:cNvPr>
              <p:cNvSpPr>
                <a:spLocks noGrp="1"/>
              </p:cNvSpPr>
              <p:nvPr>
                <p:ph idx="1"/>
              </p:nvPr>
            </p:nvSpPr>
            <p:spPr>
              <a:xfrm>
                <a:off x="298912" y="1173916"/>
                <a:ext cx="8546175" cy="5259392"/>
              </a:xfrm>
            </p:spPr>
            <p:txBody>
              <a:bodyPr>
                <a:normAutofit/>
              </a:bodyPr>
              <a:lstStyle/>
              <a:p>
                <a:pPr marL="0" rtl="0" eaLnBrk="1" fontAlgn="ctr" latinLnBrk="0" hangingPunct="1">
                  <a:lnSpc>
                    <a:spcPct val="150000"/>
                  </a:lnSpc>
                  <a:spcBef>
                    <a:spcPts val="0"/>
                  </a:spcBef>
                  <a:spcAft>
                    <a:spcPts val="0"/>
                  </a:spcAft>
                  <a:tabLst>
                    <a:tab pos="1789113" algn="l"/>
                    <a:tab pos="5024438" algn="l"/>
                    <a:tab pos="7177088" algn="l"/>
                  </a:tabLst>
                </a:pPr>
                <a:r>
                  <a:rPr lang="en-US" sz="2400" b="0" i="0" u="none" strike="noStrike" kern="1200" dirty="0">
                    <a:solidFill>
                      <a:schemeClr val="tx1"/>
                    </a:solidFill>
                    <a:effectLst/>
                    <a:latin typeface="Cambria Math" panose="02040503050406030204" pitchFamily="18" charset="0"/>
                    <a:ea typeface="Cambria Math" panose="02040503050406030204" pitchFamily="18" charset="0"/>
                  </a:rPr>
                  <a:t>z(D) = </a:t>
                </a:r>
                <a:r>
                  <a:rPr lang="en-US" sz="2400" b="1" i="1" u="none" strike="noStrike" kern="1200" dirty="0">
                    <a:solidFill>
                      <a:schemeClr val="tx1"/>
                    </a:solidFill>
                    <a:effectLst/>
                    <a:latin typeface="Cambria Math" panose="02040503050406030204" pitchFamily="18" charset="0"/>
                    <a:ea typeface="Cambria Math" panose="02040503050406030204" pitchFamily="18" charset="0"/>
                  </a:rPr>
                  <a:t>min</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14:m>
                  <m:oMath xmlns:m="http://schemas.openxmlformats.org/officeDocument/2006/math">
                    <m:nary>
                      <m:naryPr>
                        <m:chr m:val="∑"/>
                        <m:supHide m:val="on"/>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naryPr>
                      <m:sub>
                        <m:r>
                          <m:rPr>
                            <m:brk m:alnAt="7"/>
                          </m:rPr>
                          <a:rPr lang="en-US" sz="2400" b="0" i="0" u="none" strike="noStrike" kern="1200">
                            <a:solidFill>
                              <a:schemeClr val="tx1"/>
                            </a:solidFill>
                            <a:effectLst/>
                            <a:latin typeface="Cambria Math" panose="02040503050406030204" pitchFamily="18" charset="0"/>
                            <a:ea typeface="Cambria Math" panose="02040503050406030204" pitchFamily="18" charset="0"/>
                          </a:rPr>
                          <m:t>𝑖</m:t>
                        </m:r>
                        <m:r>
                          <a:rPr lang="en-US" sz="2400" b="0" i="0" u="none" strike="noStrike" kern="1200">
                            <a:solidFill>
                              <a:schemeClr val="tx1"/>
                            </a:solidFill>
                            <a:effectLst/>
                            <a:latin typeface="Cambria Math" panose="02040503050406030204" pitchFamily="18" charset="0"/>
                            <a:ea typeface="Cambria Math" panose="02040503050406030204" pitchFamily="18" charset="0"/>
                          </a:rPr>
                          <m:t>∈</m:t>
                        </m:r>
                        <m:r>
                          <a:rPr lang="it-IT" sz="2400" b="0" i="1" u="none" strike="noStrike" kern="1200">
                            <a:solidFill>
                              <a:schemeClr val="tx1"/>
                            </a:solidFill>
                            <a:effectLst/>
                            <a:latin typeface="Cambria Math" panose="02040503050406030204" pitchFamily="18" charset="0"/>
                            <a:ea typeface="Cambria Math" panose="02040503050406030204" pitchFamily="18" charset="0"/>
                          </a:rPr>
                          <m:t>𝐼</m:t>
                        </m:r>
                      </m:sub>
                      <m:sup/>
                      <m:e>
                        <m:nary>
                          <m:naryPr>
                            <m:chr m:val="∑"/>
                            <m:limLoc m:val="subSup"/>
                            <m:supHide m:val="on"/>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naryPr>
                          <m:sub>
                            <m:r>
                              <m:rPr>
                                <m:brk m:alnAt="9"/>
                              </m:rPr>
                              <a:rPr lang="en-US" sz="2400" b="0" i="0" u="none" strike="noStrike" kern="1200">
                                <a:solidFill>
                                  <a:schemeClr val="tx1"/>
                                </a:solidFill>
                                <a:effectLst/>
                                <a:latin typeface="Cambria Math" panose="02040503050406030204" pitchFamily="18" charset="0"/>
                                <a:ea typeface="Cambria Math" panose="02040503050406030204" pitchFamily="18" charset="0"/>
                              </a:rPr>
                              <m:t>𝑗</m:t>
                            </m:r>
                            <m:r>
                              <a:rPr lang="en-US" sz="2400" b="0" i="0" u="none" strike="noStrike" kern="1200">
                                <a:solidFill>
                                  <a:schemeClr val="tx1"/>
                                </a:solidFill>
                                <a:effectLst/>
                                <a:latin typeface="Cambria Math" panose="02040503050406030204" pitchFamily="18" charset="0"/>
                                <a:ea typeface="Cambria Math" panose="02040503050406030204" pitchFamily="18" charset="0"/>
                              </a:rPr>
                              <m:t>∈</m:t>
                            </m:r>
                            <m:r>
                              <a:rPr lang="it-IT" sz="2400" b="0" i="1" u="none" strike="noStrike" kern="1200">
                                <a:solidFill>
                                  <a:schemeClr val="tx1"/>
                                </a:solidFill>
                                <a:effectLst/>
                                <a:latin typeface="Cambria Math" panose="02040503050406030204" pitchFamily="18" charset="0"/>
                                <a:ea typeface="Cambria Math" panose="02040503050406030204" pitchFamily="18" charset="0"/>
                              </a:rPr>
                              <m:t>𝐽</m:t>
                            </m:r>
                          </m:sub>
                          <m:sup/>
                          <m:e>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it-IT" sz="2400" b="0" i="0" u="none" strike="noStrike" kern="1200" smtClean="0">
                                    <a:solidFill>
                                      <a:schemeClr val="tx1"/>
                                    </a:solidFill>
                                    <a:effectLst/>
                                    <a:latin typeface="Cambria Math" panose="02040503050406030204" pitchFamily="18" charset="0"/>
                                    <a:ea typeface="Cambria Math" panose="02040503050406030204" pitchFamily="18" charset="0"/>
                                  </a:rPr>
                                  <m:t>(</m:t>
                                </m:r>
                                <m:r>
                                  <m:rPr>
                                    <m:sty m:val="p"/>
                                  </m:rPr>
                                  <a:rPr lang="en-US" sz="2400" b="0" i="0" u="none" strike="noStrike" kern="1200">
                                    <a:solidFill>
                                      <a:schemeClr val="tx1"/>
                                    </a:solidFill>
                                    <a:effectLst/>
                                    <a:latin typeface="Cambria Math" panose="02040503050406030204" pitchFamily="18" charset="0"/>
                                    <a:ea typeface="Cambria Math" panose="02040503050406030204" pitchFamily="18" charset="0"/>
                                  </a:rPr>
                                  <m:t>c</m:t>
                                </m:r>
                              </m:e>
                              <m:sub>
                                <m:r>
                                  <m:rPr>
                                    <m:sty m:val="p"/>
                                  </m:rPr>
                                  <a:rPr lang="en-US" sz="2400" b="0" i="0" u="none" strike="noStrike" kern="1200">
                                    <a:solidFill>
                                      <a:schemeClr val="tx1"/>
                                    </a:solidFill>
                                    <a:effectLst/>
                                    <a:latin typeface="Cambria Math" panose="02040503050406030204" pitchFamily="18" charset="0"/>
                                    <a:ea typeface="Cambria Math" panose="02040503050406030204" pitchFamily="18" charset="0"/>
                                  </a:rPr>
                                  <m:t>ij</m:t>
                                </m:r>
                              </m:sub>
                            </m:sSub>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en-US" sz="2400" b="0" i="0" u="none" strike="noStrike" kern="1200">
                                    <a:solidFill>
                                      <a:schemeClr val="tx1"/>
                                    </a:solidFill>
                                    <a:effectLst/>
                                    <a:latin typeface="Cambria Math" panose="02040503050406030204" pitchFamily="18" charset="0"/>
                                    <a:ea typeface="Cambria Math" panose="02040503050406030204" pitchFamily="18" charset="0"/>
                                  </a:rPr>
                                  <m:t>𝑥</m:t>
                                </m:r>
                              </m:e>
                              <m:sub>
                                <m:r>
                                  <m:rPr>
                                    <m:sty m:val="p"/>
                                  </m:rPr>
                                  <a:rPr lang="en-US" sz="2400" b="0" i="0" u="none" strike="noStrike" kern="1200">
                                    <a:solidFill>
                                      <a:schemeClr val="tx1"/>
                                    </a:solidFill>
                                    <a:effectLst/>
                                    <a:latin typeface="Cambria Math" panose="02040503050406030204" pitchFamily="18" charset="0"/>
                                    <a:ea typeface="Cambria Math" panose="02040503050406030204" pitchFamily="18" charset="0"/>
                                  </a:rPr>
                                  <m:t>ij</m:t>
                                </m:r>
                              </m:sub>
                            </m:sSub>
                          </m:e>
                        </m:nary>
                      </m:e>
                    </m:nary>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m:t>
                    </m:r>
                    <m:sSub>
                      <m:sSubPr>
                        <m:ctrlPr>
                          <a:rPr lang="it-IT" sz="2400" b="0" i="1" u="none" strike="noStrike" kern="1200" smtClean="0">
                            <a:solidFill>
                              <a:schemeClr val="tx1"/>
                            </a:solidFill>
                            <a:effectLst/>
                            <a:latin typeface="Cambria Math" panose="02040503050406030204" pitchFamily="18" charset="0"/>
                            <a:ea typeface="Cambria Math" panose="02040503050406030204" pitchFamily="18" charset="0"/>
                          </a:rPr>
                        </m:ctrlPr>
                      </m:sSubPr>
                      <m:e>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𝑑</m:t>
                        </m:r>
                      </m:e>
                      <m: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𝑖</m:t>
                        </m:r>
                      </m:sub>
                    </m:sSub>
                    <m:sSub>
                      <m:sSubPr>
                        <m:ctrlPr>
                          <a:rPr lang="it-IT" sz="2400" b="0" i="1" u="none" strike="noStrike" kern="1200" smtClean="0">
                            <a:solidFill>
                              <a:schemeClr val="tx1"/>
                            </a:solidFill>
                            <a:effectLst/>
                            <a:latin typeface="Cambria Math" panose="02040503050406030204" pitchFamily="18" charset="0"/>
                            <a:ea typeface="Cambria Math" panose="02040503050406030204" pitchFamily="18" charset="0"/>
                          </a:rPr>
                        </m:ctrlPr>
                      </m:sSubPr>
                      <m:e>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𝑞</m:t>
                        </m:r>
                      </m:e>
                      <m: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𝑖𝑗</m:t>
                        </m:r>
                      </m:sub>
                    </m:s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m:t>
                    </m:r>
                  </m:oMath>
                </a14:m>
                <a:r>
                  <a:rPr lang="en-US" sz="2400" b="0" i="0" u="none" strike="noStrike" kern="1200" dirty="0">
                    <a:solidFill>
                      <a:schemeClr val="tx1"/>
                    </a:solidFill>
                    <a:effectLst/>
                    <a:latin typeface="Cambria Math" panose="02040503050406030204" pitchFamily="18" charset="0"/>
                    <a:ea typeface="Cambria Math" panose="02040503050406030204" pitchFamily="18" charset="0"/>
                  </a:rPr>
                  <a:t>		(1)</a:t>
                </a:r>
                <a:endParaRPr lang="en-US" sz="2400" b="0" i="0" u="none" strike="noStrike" dirty="0">
                  <a:solidFill>
                    <a:schemeClr val="tx1"/>
                  </a:solidFill>
                  <a:effectLst/>
                  <a:latin typeface="Arial" panose="020B0604020202020204" pitchFamily="34" charset="0"/>
                </a:endParaRPr>
              </a:p>
              <a:p>
                <a:pPr fontAlgn="ctr">
                  <a:lnSpc>
                    <a:spcPct val="150000"/>
                  </a:lnSpc>
                  <a:spcBef>
                    <a:spcPts val="0"/>
                  </a:spcBef>
                  <a:tabLst>
                    <a:tab pos="1789113" algn="l"/>
                    <a:tab pos="5024438" algn="l"/>
                    <a:tab pos="7177088" algn="l"/>
                  </a:tabLst>
                </a:pPr>
                <a:r>
                  <a:rPr lang="en-US" sz="2400" b="1" i="1" u="none" strike="noStrike" kern="1200" dirty="0">
                    <a:solidFill>
                      <a:schemeClr val="tx1"/>
                    </a:solidFill>
                    <a:effectLst/>
                    <a:latin typeface="Cambria Math" panose="02040503050406030204" pitchFamily="18" charset="0"/>
                    <a:ea typeface="Cambria Math" panose="02040503050406030204" pitchFamily="18" charset="0"/>
                  </a:rPr>
                  <a:t>subject to</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14:m>
                  <m:oMath xmlns:m="http://schemas.openxmlformats.org/officeDocument/2006/math">
                    <m:nary>
                      <m:naryPr>
                        <m:chr m:val="∑"/>
                        <m:supHide m:val="on"/>
                        <m:ctrlPr>
                          <a:rPr lang="en-US" i="1">
                            <a:latin typeface="Cambria Math" panose="02040503050406030204" pitchFamily="18" charset="0"/>
                            <a:ea typeface="Cambria Math" panose="02040503050406030204" pitchFamily="18" charset="0"/>
                          </a:rPr>
                        </m:ctrlPr>
                      </m:naryPr>
                      <m:sub>
                        <m:r>
                          <a:rPr lang="en-US" i="1">
                            <a:latin typeface="Cambria Math" panose="02040503050406030204" pitchFamily="18" charset="0"/>
                            <a:ea typeface="Cambria Math" panose="02040503050406030204" pitchFamily="18" charset="0"/>
                          </a:rPr>
                          <m:t>𝑖</m:t>
                        </m:r>
                        <m:r>
                          <a:rPr lang="en-US">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𝐼</m:t>
                        </m:r>
                      </m:sub>
                      <m:sup/>
                      <m:e>
                        <m:sSub>
                          <m:sSubPr>
                            <m:ctrlPr>
                              <a:rPr lang="en-US" i="1">
                                <a:latin typeface="Cambria Math" panose="02040503050406030204" pitchFamily="18" charset="0"/>
                                <a:ea typeface="Cambria Math" panose="02040503050406030204" pitchFamily="18" charset="0"/>
                              </a:rPr>
                            </m:ctrlPr>
                          </m:sSubPr>
                          <m:e>
                            <m:r>
                              <a:rPr lang="en-US">
                                <a:latin typeface="Cambria Math" panose="02040503050406030204" pitchFamily="18" charset="0"/>
                                <a:ea typeface="Cambria Math" panose="02040503050406030204" pitchFamily="18" charset="0"/>
                              </a:rPr>
                              <m:t>𝑞</m:t>
                            </m:r>
                          </m:e>
                          <m:sub>
                            <m:r>
                              <m:rPr>
                                <m:sty m:val="p"/>
                              </m:rPr>
                              <a:rPr lang="en-US">
                                <a:latin typeface="Cambria Math" panose="02040503050406030204" pitchFamily="18" charset="0"/>
                                <a:ea typeface="Cambria Math" panose="02040503050406030204" pitchFamily="18" charset="0"/>
                              </a:rPr>
                              <m:t>ij</m:t>
                            </m:r>
                          </m:sub>
                        </m:sSub>
                      </m:e>
                    </m:nary>
                    <m:r>
                      <a:rPr lang="en-US">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𝑟𝑒𝑞</m:t>
                        </m:r>
                      </m:e>
                      <m:sub>
                        <m:r>
                          <m:rPr>
                            <m:sty m:val="p"/>
                          </m:rPr>
                          <a:rPr lang="en-US">
                            <a:latin typeface="Cambria Math" panose="02040503050406030204" pitchFamily="18" charset="0"/>
                            <a:ea typeface="Cambria Math" panose="02040503050406030204" pitchFamily="18" charset="0"/>
                          </a:rPr>
                          <m:t>j</m:t>
                        </m:r>
                      </m:sub>
                    </m:sSub>
                  </m:oMath>
                </a14:m>
                <a:r>
                  <a:rPr lang="en-US" dirty="0">
                    <a:latin typeface="Arial" panose="020B0604020202020204" pitchFamily="34"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(2)</a:t>
                </a:r>
                <a:endParaRPr lang="en-US" sz="2400" dirty="0">
                  <a:latin typeface="Arial" panose="020B0604020202020204" pitchFamily="34" charset="0"/>
                </a:endParaRPr>
              </a:p>
              <a:p>
                <a:pPr marL="0" rtl="0" eaLnBrk="1" fontAlgn="ctr" latinLnBrk="0" hangingPunct="1">
                  <a:lnSpc>
                    <a:spcPct val="150000"/>
                  </a:lnSpc>
                  <a:spcBef>
                    <a:spcPts val="0"/>
                  </a:spcBef>
                  <a:spcAft>
                    <a:spcPts val="0"/>
                  </a:spcAft>
                  <a:tabLst>
                    <a:tab pos="1789113" algn="l"/>
                    <a:tab pos="5024438" algn="l"/>
                    <a:tab pos="7177088" algn="l"/>
                  </a:tabLst>
                </a:pPr>
                <a:r>
                  <a:rPr lang="en-US" sz="2400" b="0" u="none" strike="noStrike" kern="1200" dirty="0">
                    <a:solidFill>
                      <a:schemeClr val="tx1"/>
                    </a:solidFill>
                    <a:effectLst/>
                    <a:ea typeface="Cambria Math" panose="02040503050406030204" pitchFamily="18" charset="0"/>
                  </a:rPr>
                  <a:t>	</a:t>
                </a:r>
                <a14:m>
                  <m:oMath xmlns:m="http://schemas.openxmlformats.org/officeDocument/2006/math">
                    <m:nary>
                      <m:naryPr>
                        <m:chr m:val="∑"/>
                        <m:supHide m:val="on"/>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naryPr>
                      <m:sub>
                        <m:r>
                          <a:rPr lang="en-US" sz="2400" b="0" i="0" u="none" strike="noStrike" kern="1200">
                            <a:solidFill>
                              <a:schemeClr val="tx1"/>
                            </a:solidFill>
                            <a:effectLst/>
                            <a:latin typeface="Cambria Math" panose="02040503050406030204" pitchFamily="18" charset="0"/>
                            <a:ea typeface="Cambria Math" panose="02040503050406030204" pitchFamily="18" charset="0"/>
                          </a:rPr>
                          <m:t>𝑗</m:t>
                        </m:r>
                        <m:r>
                          <a:rPr lang="en-US" sz="2400" b="0" i="0" u="none" strike="noStrike" kern="1200">
                            <a:solidFill>
                              <a:schemeClr val="tx1"/>
                            </a:solidFill>
                            <a:effectLst/>
                            <a:latin typeface="Cambria Math" panose="02040503050406030204" pitchFamily="18" charset="0"/>
                            <a:ea typeface="Cambria Math" panose="02040503050406030204" pitchFamily="18" charset="0"/>
                          </a:rPr>
                          <m:t>∈</m:t>
                        </m:r>
                        <m:r>
                          <a:rPr lang="it-IT" sz="2400" b="0" i="1" u="none" strike="noStrike" kern="1200">
                            <a:solidFill>
                              <a:schemeClr val="tx1"/>
                            </a:solidFill>
                            <a:effectLst/>
                            <a:latin typeface="Cambria Math" panose="02040503050406030204" pitchFamily="18" charset="0"/>
                            <a:ea typeface="Cambria Math" panose="02040503050406030204" pitchFamily="18" charset="0"/>
                          </a:rPr>
                          <m:t>𝐽</m:t>
                        </m:r>
                      </m:sub>
                      <m:sup/>
                      <m:e>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en-US" sz="2400" b="0" i="0" u="none" strike="noStrike" kern="1200">
                                <a:solidFill>
                                  <a:schemeClr val="tx1"/>
                                </a:solidFill>
                                <a:effectLst/>
                                <a:latin typeface="Cambria Math" panose="02040503050406030204" pitchFamily="18" charset="0"/>
                                <a:ea typeface="Cambria Math" panose="02040503050406030204" pitchFamily="18" charset="0"/>
                              </a:rPr>
                              <m:t>𝑞</m:t>
                            </m:r>
                          </m:e>
                          <m:sub>
                            <m:r>
                              <m:rPr>
                                <m:sty m:val="p"/>
                              </m:rPr>
                              <a:rPr lang="en-US" sz="2400" b="0" i="0" u="none" strike="noStrike" kern="1200">
                                <a:solidFill>
                                  <a:schemeClr val="tx1"/>
                                </a:solidFill>
                                <a:effectLst/>
                                <a:latin typeface="Cambria Math" panose="02040503050406030204" pitchFamily="18" charset="0"/>
                                <a:ea typeface="Cambria Math" panose="02040503050406030204" pitchFamily="18" charset="0"/>
                              </a:rPr>
                              <m:t>ij</m:t>
                            </m:r>
                          </m:sub>
                        </m:sSub>
                      </m:e>
                    </m:nary>
                    <m:r>
                      <a:rPr lang="en-US" sz="2400" b="0" i="0" u="none" strike="noStrike" kern="1200">
                        <a:solidFill>
                          <a:schemeClr val="tx1"/>
                        </a:solidFill>
                        <a:effectLst/>
                        <a:latin typeface="Cambria Math" panose="02040503050406030204" pitchFamily="18" charset="0"/>
                        <a:ea typeface="Cambria Math" panose="02040503050406030204" pitchFamily="18" charset="0"/>
                      </a:rPr>
                      <m:t>≤</m:t>
                    </m:r>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en-US" sz="2400" b="0" i="0" u="none" strike="noStrike" kern="1200">
                            <a:solidFill>
                              <a:schemeClr val="tx1"/>
                            </a:solidFill>
                            <a:effectLst/>
                            <a:latin typeface="Cambria Math" panose="02040503050406030204" pitchFamily="18" charset="0"/>
                            <a:ea typeface="Cambria Math" panose="02040503050406030204" pitchFamily="18" charset="0"/>
                          </a:rPr>
                          <m:t>𝑄</m:t>
                        </m:r>
                      </m:e>
                      <m:sub>
                        <m:r>
                          <a:rPr lang="en-US" sz="2400" b="0" i="0" u="none" strike="noStrike" kern="1200">
                            <a:solidFill>
                              <a:schemeClr val="tx1"/>
                            </a:solidFill>
                            <a:effectLst/>
                            <a:latin typeface="Cambria Math" panose="02040503050406030204" pitchFamily="18" charset="0"/>
                            <a:ea typeface="Cambria Math" panose="02040503050406030204" pitchFamily="18" charset="0"/>
                          </a:rPr>
                          <m:t>𝑖</m:t>
                        </m:r>
                      </m:sub>
                    </m:sSub>
                  </m:oMath>
                </a14:m>
                <a:r>
                  <a:rPr lang="en-US" sz="2400" dirty="0">
                    <a:latin typeface="Arial" panose="020B0604020202020204" pitchFamily="34" charset="0"/>
                  </a:rPr>
                  <a:t> 	</a:t>
                </a:r>
                <a:r>
                  <a:rPr lang="en-US" sz="2400" b="0" i="1" u="none" strike="noStrike" kern="1200" dirty="0" err="1">
                    <a:solidFill>
                      <a:schemeClr val="tx1"/>
                    </a:solidFill>
                    <a:effectLst/>
                    <a:latin typeface="Cambria Math" panose="02040503050406030204" pitchFamily="18" charset="0"/>
                    <a:ea typeface="Cambria Math" panose="02040503050406030204" pitchFamily="18" charset="0"/>
                  </a:rPr>
                  <a:t>i</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I</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(3)</a:t>
                </a:r>
              </a:p>
              <a:p>
                <a:pPr marL="0" rtl="0" eaLnBrk="1" fontAlgn="ctr" latinLnBrk="0" hangingPunct="1">
                  <a:lnSpc>
                    <a:spcPct val="150000"/>
                  </a:lnSpc>
                  <a:spcBef>
                    <a:spcPts val="0"/>
                  </a:spcBef>
                  <a:spcAft>
                    <a:spcPts val="0"/>
                  </a:spcAft>
                  <a:tabLst>
                    <a:tab pos="1789113" algn="l"/>
                    <a:tab pos="5024438" algn="l"/>
                    <a:tab pos="7177088" algn="l"/>
                  </a:tabLst>
                </a:pPr>
                <a:r>
                  <a:rPr lang="en-US" sz="2400" b="0" u="none" strike="noStrike" kern="1200" dirty="0">
                    <a:solidFill>
                      <a:schemeClr val="tx1"/>
                    </a:solidFill>
                    <a:effectLst/>
                    <a:ea typeface="Cambria Math" panose="02040503050406030204" pitchFamily="18" charset="0"/>
                  </a:rPr>
                  <a:t>	</a:t>
                </a:r>
                <a14:m>
                  <m:oMath xmlns:m="http://schemas.openxmlformats.org/officeDocument/2006/math">
                    <m:nary>
                      <m:naryPr>
                        <m:chr m:val="∑"/>
                        <m:supHide m:val="on"/>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naryPr>
                      <m:sub>
                        <m:r>
                          <a:rPr lang="en-US" sz="2400" b="0" i="0" u="none" strike="noStrike" kern="1200">
                            <a:solidFill>
                              <a:schemeClr val="tx1"/>
                            </a:solidFill>
                            <a:effectLst/>
                            <a:latin typeface="Cambria Math" panose="02040503050406030204" pitchFamily="18" charset="0"/>
                            <a:ea typeface="Cambria Math" panose="02040503050406030204" pitchFamily="18" charset="0"/>
                          </a:rPr>
                          <m:t>𝑖</m:t>
                        </m:r>
                        <m:r>
                          <a:rPr lang="en-US" sz="2400" b="0" i="0" u="none" strike="noStrike" kern="1200">
                            <a:solidFill>
                              <a:schemeClr val="tx1"/>
                            </a:solidFill>
                            <a:effectLst/>
                            <a:latin typeface="Cambria Math" panose="02040503050406030204" pitchFamily="18" charset="0"/>
                            <a:ea typeface="Cambria Math" panose="02040503050406030204" pitchFamily="18" charset="0"/>
                          </a:rPr>
                          <m:t>∈</m:t>
                        </m:r>
                        <m:r>
                          <a:rPr lang="it-IT" sz="2400" b="0" i="1" u="none" strike="noStrike" kern="1200">
                            <a:solidFill>
                              <a:schemeClr val="tx1"/>
                            </a:solidFill>
                            <a:effectLst/>
                            <a:latin typeface="Cambria Math" panose="02040503050406030204" pitchFamily="18" charset="0"/>
                            <a:ea typeface="Cambria Math" panose="02040503050406030204" pitchFamily="18" charset="0"/>
                          </a:rPr>
                          <m:t>𝐼</m:t>
                        </m:r>
                      </m:sub>
                      <m:sup/>
                      <m:e>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en-US" sz="2400" b="0" i="0" u="none" strike="noStrike" kern="1200">
                                <a:solidFill>
                                  <a:schemeClr val="tx1"/>
                                </a:solidFill>
                                <a:effectLst/>
                                <a:latin typeface="Cambria Math" panose="02040503050406030204" pitchFamily="18" charset="0"/>
                                <a:ea typeface="Cambria Math" panose="02040503050406030204" pitchFamily="18" charset="0"/>
                              </a:rPr>
                              <m:t>𝑥</m:t>
                            </m:r>
                          </m:e>
                          <m:sub>
                            <m:r>
                              <m:rPr>
                                <m:sty m:val="p"/>
                              </m:rPr>
                              <a:rPr lang="en-US" sz="2400" b="0" i="0" u="none" strike="noStrike" kern="1200">
                                <a:solidFill>
                                  <a:schemeClr val="tx1"/>
                                </a:solidFill>
                                <a:effectLst/>
                                <a:latin typeface="Cambria Math" panose="02040503050406030204" pitchFamily="18" charset="0"/>
                                <a:ea typeface="Cambria Math" panose="02040503050406030204" pitchFamily="18" charset="0"/>
                              </a:rPr>
                              <m:t>ij</m:t>
                            </m:r>
                          </m:sub>
                        </m:sSub>
                      </m:e>
                    </m:nary>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m:t>
                    </m:r>
                    <m:sSub>
                      <m:sSubPr>
                        <m:ctrlPr>
                          <a:rPr lang="en-US" sz="2400" b="0" i="1" u="none" strike="noStrike" kern="1200" smtClean="0">
                            <a:solidFill>
                              <a:schemeClr val="tx1"/>
                            </a:solidFill>
                            <a:effectLst/>
                            <a:latin typeface="Cambria Math" panose="02040503050406030204" pitchFamily="18" charset="0"/>
                            <a:ea typeface="Cambria Math" panose="02040503050406030204" pitchFamily="18" charset="0"/>
                          </a:rPr>
                        </m:ctrlPr>
                      </m:sSubPr>
                      <m:e>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𝑏</m:t>
                        </m:r>
                      </m:e>
                      <m:sub>
                        <m:r>
                          <m:rPr>
                            <m:sty m:val="p"/>
                          </m:rPr>
                          <a:rPr lang="en-US" sz="2400" b="0" i="0" u="none" strike="noStrike" kern="1200" smtClean="0">
                            <a:solidFill>
                              <a:schemeClr val="tx1"/>
                            </a:solidFill>
                            <a:effectLst/>
                            <a:latin typeface="Cambria Math" panose="02040503050406030204" pitchFamily="18" charset="0"/>
                            <a:ea typeface="Cambria Math" panose="02040503050406030204" pitchFamily="18" charset="0"/>
                          </a:rPr>
                          <m:t>j</m:t>
                        </m:r>
                      </m:sub>
                    </m:sSub>
                  </m:oMath>
                </a14:m>
                <a:r>
                  <a:rPr lang="en-US" sz="2400" b="0" i="0" u="none" strike="noStrike" dirty="0">
                    <a:solidFill>
                      <a:schemeClr val="tx1"/>
                    </a:solidFill>
                    <a:effectLst/>
                    <a:latin typeface="Arial" panose="020B0604020202020204" pitchFamily="34"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J</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(4)</a:t>
                </a:r>
              </a:p>
              <a:p>
                <a:pPr fontAlgn="ctr">
                  <a:lnSpc>
                    <a:spcPct val="150000"/>
                  </a:lnSpc>
                  <a:spcBef>
                    <a:spcPts val="0"/>
                  </a:spcBef>
                  <a:tabLst>
                    <a:tab pos="1789113" algn="l"/>
                    <a:tab pos="5024438" algn="l"/>
                    <a:tab pos="7177088" algn="l"/>
                  </a:tabLst>
                </a:pPr>
                <a:r>
                  <a:rPr lang="en-US" sz="2400" dirty="0">
                    <a:ea typeface="Cambria Math" panose="02040503050406030204" pitchFamily="18" charset="0"/>
                  </a:rPr>
                  <a:t>	</a:t>
                </a:r>
                <a14:m>
                  <m:oMath xmlns:m="http://schemas.openxmlformats.org/officeDocument/2006/math">
                    <m:sSub>
                      <m:sSubPr>
                        <m:ctrlPr>
                          <a:rPr lang="en-US" sz="2400" i="1">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𝑞</m:t>
                        </m:r>
                      </m:e>
                      <m:sub>
                        <m:r>
                          <m:rPr>
                            <m:sty m:val="p"/>
                          </m:rPr>
                          <a:rPr lang="en-US" sz="2400">
                            <a:latin typeface="Cambria Math" panose="02040503050406030204" pitchFamily="18" charset="0"/>
                            <a:ea typeface="Cambria Math" panose="02040503050406030204" pitchFamily="18" charset="0"/>
                          </a:rPr>
                          <m:t>ij</m:t>
                        </m:r>
                      </m:sub>
                    </m:sSub>
                    <m:r>
                      <a:rPr lang="en-US" sz="2400" b="0" i="1" smtClean="0">
                        <a:latin typeface="Cambria Math" panose="02040503050406030204" pitchFamily="18" charset="0"/>
                        <a:ea typeface="Cambria Math" panose="02040503050406030204" pitchFamily="18" charset="0"/>
                      </a:rPr>
                      <m:t>≤</m:t>
                    </m:r>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𝑟𝑒𝑞</m:t>
                        </m:r>
                      </m:e>
                      <m:sub>
                        <m:r>
                          <m:rPr>
                            <m:sty m:val="p"/>
                          </m:rPr>
                          <a:rPr lang="en-US" sz="2400" b="0" i="0" smtClean="0">
                            <a:latin typeface="Cambria Math" panose="02040503050406030204" pitchFamily="18" charset="0"/>
                            <a:ea typeface="Cambria Math" panose="02040503050406030204" pitchFamily="18" charset="0"/>
                          </a:rPr>
                          <m:t>j</m:t>
                        </m:r>
                      </m:sub>
                    </m:sSub>
                    <m:sSub>
                      <m:sSubPr>
                        <m:ctrlPr>
                          <a:rPr lang="en-US" sz="2400" b="0" i="1" smtClean="0">
                            <a:latin typeface="Cambria Math" panose="02040503050406030204" pitchFamily="18" charset="0"/>
                            <a:ea typeface="Cambria Math" panose="02040503050406030204" pitchFamily="18" charset="0"/>
                          </a:rPr>
                        </m:ctrlPr>
                      </m:sSubPr>
                      <m:e>
                        <m:r>
                          <a:rPr lang="en-US" sz="2400" b="0" i="0" smtClean="0">
                            <a:latin typeface="Cambria Math" panose="02040503050406030204" pitchFamily="18" charset="0"/>
                            <a:ea typeface="Cambria Math" panose="02040503050406030204" pitchFamily="18" charset="0"/>
                          </a:rPr>
                          <m:t> </m:t>
                        </m:r>
                        <m:r>
                          <a:rPr lang="en-US" sz="2400" b="0" i="1" smtClean="0">
                            <a:latin typeface="Cambria Math" panose="02040503050406030204" pitchFamily="18" charset="0"/>
                            <a:ea typeface="Cambria Math" panose="02040503050406030204" pitchFamily="18" charset="0"/>
                          </a:rPr>
                          <m:t>𝑥</m:t>
                        </m:r>
                      </m:e>
                      <m:sub>
                        <m:r>
                          <m:rPr>
                            <m:sty m:val="p"/>
                          </m:rPr>
                          <a:rPr lang="en-US" sz="2400" b="0" i="0" smtClean="0">
                            <a:latin typeface="Cambria Math" panose="02040503050406030204" pitchFamily="18" charset="0"/>
                            <a:ea typeface="Cambria Math" panose="02040503050406030204" pitchFamily="18" charset="0"/>
                          </a:rPr>
                          <m:t>ij</m:t>
                        </m:r>
                      </m:sub>
                    </m:sSub>
                  </m:oMath>
                </a14:m>
                <a:r>
                  <a:rPr lang="en-US" sz="2400" dirty="0">
                    <a:latin typeface="Arial" panose="020B0604020202020204" pitchFamily="34" charset="0"/>
                  </a:rPr>
                  <a:t> 	</a:t>
                </a:r>
                <a:r>
                  <a:rPr lang="en-US" sz="2400" i="1" dirty="0" err="1">
                    <a:latin typeface="Cambria Math" panose="02040503050406030204" pitchFamily="18" charset="0"/>
                    <a:ea typeface="Cambria Math" panose="02040503050406030204" pitchFamily="18" charset="0"/>
                  </a:rPr>
                  <a:t>i</a:t>
                </a:r>
                <a:r>
                  <a:rPr lang="en-US" sz="2400" i="1" dirty="0">
                    <a:latin typeface="Cambria Math" panose="02040503050406030204" pitchFamily="18" charset="0"/>
                    <a:ea typeface="Cambria Math" panose="02040503050406030204" pitchFamily="18" charset="0"/>
                  </a:rPr>
                  <a:t>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dirty="0">
                    <a:latin typeface="Cambria Math" panose="02040503050406030204" pitchFamily="18" charset="0"/>
                    <a:ea typeface="Cambria Math" panose="02040503050406030204" pitchFamily="18" charset="0"/>
                  </a:rPr>
                  <a:t>I,</a:t>
                </a:r>
                <a:r>
                  <a:rPr lang="en-US" sz="2400" baseline="-25000" dirty="0">
                    <a:latin typeface="Cambria Math" panose="02040503050406030204" pitchFamily="18" charset="0"/>
                    <a:ea typeface="Cambria Math" panose="02040503050406030204" pitchFamily="18" charset="0"/>
                  </a:rPr>
                  <a:t> </a:t>
                </a:r>
                <a:r>
                  <a:rPr lang="en-US" sz="2400" i="1" dirty="0">
                    <a:latin typeface="Cambria Math" panose="02040503050406030204" pitchFamily="18" charset="0"/>
                    <a:ea typeface="Cambria Math" panose="02040503050406030204" pitchFamily="18" charset="0"/>
                  </a:rPr>
                  <a:t>j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dirty="0">
                    <a:latin typeface="Cambria Math" panose="02040503050406030204" pitchFamily="18" charset="0"/>
                    <a:ea typeface="Cambria Math" panose="02040503050406030204" pitchFamily="18" charset="0"/>
                  </a:rPr>
                  <a:t>J</a:t>
                </a:r>
                <a:r>
                  <a:rPr lang="en-US" sz="2400" baseline="-25000" dirty="0">
                    <a:latin typeface="Cambria Math" panose="02040503050406030204" pitchFamily="18" charset="0"/>
                    <a:ea typeface="Cambria Math" panose="02040503050406030204" pitchFamily="18" charset="0"/>
                  </a:rPr>
                  <a:t> </a:t>
                </a:r>
                <a:r>
                  <a:rPr lang="en-US" sz="2400" baseline="-25000" dirty="0">
                    <a:latin typeface="Arial" panose="020B0604020202020204" pitchFamily="34" charset="0"/>
                  </a:rPr>
                  <a:t> 	</a:t>
                </a:r>
                <a:r>
                  <a:rPr lang="it-IT" sz="2400" dirty="0">
                    <a:latin typeface="Cambria Math" panose="02040503050406030204" pitchFamily="18" charset="0"/>
                    <a:ea typeface="Cambria Math" panose="02040503050406030204" pitchFamily="18" charset="0"/>
                  </a:rPr>
                  <a:t>(5)</a:t>
                </a:r>
                <a:endParaRPr lang="en-US" sz="2400" dirty="0">
                  <a:latin typeface="Arial" panose="020B0604020202020204" pitchFamily="34" charset="0"/>
                </a:endParaRPr>
              </a:p>
              <a:p>
                <a:pPr fontAlgn="ctr">
                  <a:lnSpc>
                    <a:spcPct val="150000"/>
                  </a:lnSpc>
                  <a:spcBef>
                    <a:spcPts val="0"/>
                  </a:spcBef>
                  <a:tabLst>
                    <a:tab pos="1789113" algn="l"/>
                    <a:tab pos="5024438" algn="l"/>
                    <a:tab pos="7177088" algn="l"/>
                  </a:tabLst>
                </a:pPr>
                <a:r>
                  <a:rPr lang="en-US" sz="2400" dirty="0">
                    <a:latin typeface="Arial" panose="020B0604020202020204" pitchFamily="34" charset="0"/>
                    <a:ea typeface="Cambria Math" panose="02040503050406030204" pitchFamily="18" charset="0"/>
                  </a:rPr>
                  <a:t>	</a:t>
                </a:r>
                <a14:m>
                  <m:oMath xmlns:m="http://schemas.openxmlformats.org/officeDocument/2006/math">
                    <m:sSub>
                      <m:sSubPr>
                        <m:ctrlPr>
                          <a:rPr lang="en-US" sz="2400" i="1">
                            <a:latin typeface="Cambria Math" panose="02040503050406030204" pitchFamily="18" charset="0"/>
                            <a:ea typeface="Cambria Math" panose="02040503050406030204" pitchFamily="18" charset="0"/>
                          </a:rPr>
                        </m:ctrlPr>
                      </m:sSubPr>
                      <m:e>
                        <m:r>
                          <a:rPr lang="en-US" sz="2400">
                            <a:latin typeface="Cambria Math" panose="02040503050406030204" pitchFamily="18" charset="0"/>
                            <a:ea typeface="Cambria Math" panose="02040503050406030204" pitchFamily="18" charset="0"/>
                          </a:rPr>
                          <m:t>𝑥</m:t>
                        </m:r>
                      </m:e>
                      <m:sub>
                        <m:r>
                          <m:rPr>
                            <m:sty m:val="p"/>
                          </m:rPr>
                          <a:rPr lang="en-US" sz="2400">
                            <a:latin typeface="Cambria Math" panose="02040503050406030204" pitchFamily="18" charset="0"/>
                            <a:ea typeface="Cambria Math" panose="02040503050406030204" pitchFamily="18" charset="0"/>
                          </a:rPr>
                          <m:t>ij</m:t>
                        </m:r>
                      </m:sub>
                    </m:sSub>
                    <m:r>
                      <a:rPr lang="en-US" sz="2400" i="1">
                        <a:latin typeface="Cambria Math" panose="02040503050406030204" pitchFamily="18" charset="0"/>
                        <a:ea typeface="Cambria Math" panose="02040503050406030204" pitchFamily="18" charset="0"/>
                      </a:rPr>
                      <m:t>∈</m:t>
                    </m:r>
                    <m:r>
                      <a:rPr lang="en-US" sz="2400">
                        <a:latin typeface="Cambria Math" panose="02040503050406030204" pitchFamily="18" charset="0"/>
                        <a:ea typeface="Cambria Math" panose="02040503050406030204" pitchFamily="18" charset="0"/>
                      </a:rPr>
                      <m:t>{0,1}</m:t>
                    </m:r>
                  </m:oMath>
                </a14:m>
                <a:r>
                  <a:rPr lang="en-US" sz="2400" dirty="0">
                    <a:latin typeface="Arial" panose="020B0604020202020204" pitchFamily="34" charset="0"/>
                  </a:rPr>
                  <a:t> 	</a:t>
                </a:r>
                <a:r>
                  <a:rPr lang="en-US" sz="2400" i="1" dirty="0" err="1">
                    <a:latin typeface="Cambria Math" panose="02040503050406030204" pitchFamily="18" charset="0"/>
                    <a:ea typeface="Cambria Math" panose="02040503050406030204" pitchFamily="18" charset="0"/>
                  </a:rPr>
                  <a:t>i</a:t>
                </a:r>
                <a:r>
                  <a:rPr lang="en-US" sz="2400" i="1" dirty="0">
                    <a:latin typeface="Cambria Math" panose="02040503050406030204" pitchFamily="18" charset="0"/>
                    <a:ea typeface="Cambria Math" panose="02040503050406030204" pitchFamily="18" charset="0"/>
                  </a:rPr>
                  <a:t>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dirty="0">
                    <a:latin typeface="Cambria Math" panose="02040503050406030204" pitchFamily="18" charset="0"/>
                    <a:ea typeface="Cambria Math" panose="02040503050406030204" pitchFamily="18" charset="0"/>
                  </a:rPr>
                  <a:t>I,</a:t>
                </a:r>
                <a:r>
                  <a:rPr lang="en-US" sz="2400" baseline="-25000" dirty="0">
                    <a:latin typeface="Cambria Math" panose="02040503050406030204" pitchFamily="18" charset="0"/>
                    <a:ea typeface="Cambria Math" panose="02040503050406030204" pitchFamily="18" charset="0"/>
                  </a:rPr>
                  <a:t> </a:t>
                </a:r>
                <a:r>
                  <a:rPr lang="en-US" sz="2400" i="1" dirty="0">
                    <a:latin typeface="Cambria Math" panose="02040503050406030204" pitchFamily="18" charset="0"/>
                    <a:ea typeface="Cambria Math" panose="02040503050406030204" pitchFamily="18" charset="0"/>
                  </a:rPr>
                  <a:t>j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dirty="0">
                    <a:latin typeface="Cambria Math" panose="02040503050406030204" pitchFamily="18" charset="0"/>
                    <a:ea typeface="Cambria Math" panose="02040503050406030204" pitchFamily="18" charset="0"/>
                  </a:rPr>
                  <a:t>J</a:t>
                </a:r>
                <a:r>
                  <a:rPr lang="en-US" sz="2400" baseline="-25000" dirty="0">
                    <a:latin typeface="Cambria Math" panose="02040503050406030204" pitchFamily="18" charset="0"/>
                    <a:ea typeface="Cambria Math" panose="02040503050406030204" pitchFamily="18" charset="0"/>
                  </a:rPr>
                  <a:t> </a:t>
                </a:r>
                <a:r>
                  <a:rPr lang="en-US" sz="2400" baseline="-25000" dirty="0">
                    <a:latin typeface="Arial" panose="020B0604020202020204" pitchFamily="34" charset="0"/>
                  </a:rPr>
                  <a:t> 	</a:t>
                </a:r>
                <a:r>
                  <a:rPr lang="it-IT" sz="2400" dirty="0">
                    <a:latin typeface="Cambria Math" panose="02040503050406030204" pitchFamily="18" charset="0"/>
                    <a:ea typeface="Cambria Math" panose="02040503050406030204" pitchFamily="18" charset="0"/>
                  </a:rPr>
                  <a:t>(6)</a:t>
                </a:r>
                <a:endParaRPr lang="en-US" sz="2400" dirty="0">
                  <a:latin typeface="Arial" panose="020B0604020202020204" pitchFamily="34" charset="0"/>
                </a:endParaRPr>
              </a:p>
              <a:p>
                <a:pPr fontAlgn="ctr">
                  <a:lnSpc>
                    <a:spcPct val="150000"/>
                  </a:lnSpc>
                  <a:spcBef>
                    <a:spcPts val="0"/>
                  </a:spcBef>
                  <a:tabLst>
                    <a:tab pos="1789113" algn="l"/>
                    <a:tab pos="5024438" algn="l"/>
                    <a:tab pos="7177088" algn="l"/>
                  </a:tabLst>
                </a:pPr>
                <a:r>
                  <a:rPr lang="en-US" sz="2400" b="0" u="none" strike="noStrike" kern="1200" dirty="0">
                    <a:solidFill>
                      <a:schemeClr val="tx1"/>
                    </a:solidFill>
                    <a:effectLst/>
                    <a:latin typeface="Arial" panose="020B0604020202020204" pitchFamily="34" charset="0"/>
                    <a:ea typeface="Cambria Math" panose="02040503050406030204" pitchFamily="18" charset="0"/>
                  </a:rPr>
                  <a:t>	</a:t>
                </a:r>
                <a14:m>
                  <m:oMath xmlns:m="http://schemas.openxmlformats.org/officeDocument/2006/math">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𝑞</m:t>
                        </m:r>
                      </m:e>
                      <m:sub>
                        <m:r>
                          <m:rPr>
                            <m:sty m:val="p"/>
                          </m:rPr>
                          <a:rPr lang="en-US" sz="2400" b="0" i="0" u="none" strike="noStrike" kern="1200">
                            <a:solidFill>
                              <a:schemeClr val="tx1"/>
                            </a:solidFill>
                            <a:effectLst/>
                            <a:latin typeface="Cambria Math" panose="02040503050406030204" pitchFamily="18" charset="0"/>
                            <a:ea typeface="Cambria Math" panose="02040503050406030204" pitchFamily="18" charset="0"/>
                          </a:rPr>
                          <m:t>ij</m:t>
                        </m:r>
                      </m:sub>
                    </m:sSub>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m:t>
                    </m:r>
                    <m:sSubSup>
                      <m:sSubSupPr>
                        <m:ctrlPr>
                          <a:rPr lang="en-US" sz="2400" b="0" i="1" u="none" strike="noStrike" kern="1200" smtClean="0">
                            <a:solidFill>
                              <a:schemeClr val="tx1"/>
                            </a:solidFill>
                            <a:effectLst/>
                            <a:latin typeface="Cambria Math" panose="02040503050406030204" pitchFamily="18" charset="0"/>
                            <a:ea typeface="Cambria Math" panose="02040503050406030204" pitchFamily="18" charset="0"/>
                          </a:rPr>
                        </m:ctrlPr>
                      </m:sSubSupPr>
                      <m:e>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ℤ</m:t>
                        </m:r>
                      </m:e>
                      <m:sub>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0</m:t>
                        </m:r>
                      </m:sub>
                      <m:sup>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m:t>
                        </m:r>
                      </m:sup>
                    </m:sSubSup>
                  </m:oMath>
                </a14:m>
                <a:r>
                  <a:rPr lang="en-US" sz="2400" b="0" i="0" u="none" strike="noStrike" dirty="0">
                    <a:solidFill>
                      <a:schemeClr val="tx1"/>
                    </a:solidFill>
                    <a:effectLst/>
                    <a:latin typeface="Arial" panose="020B0604020202020204" pitchFamily="34" charset="0"/>
                  </a:rPr>
                  <a:t> 	</a:t>
                </a:r>
                <a:r>
                  <a:rPr lang="en-US" sz="2400" b="0" i="1" u="none" strike="noStrike" kern="1200" dirty="0" err="1">
                    <a:solidFill>
                      <a:schemeClr val="tx1"/>
                    </a:solidFill>
                    <a:effectLst/>
                    <a:latin typeface="Cambria Math" panose="02040503050406030204" pitchFamily="18" charset="0"/>
                    <a:ea typeface="Cambria Math" panose="02040503050406030204" pitchFamily="18" charset="0"/>
                  </a:rPr>
                  <a:t>i</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I</a:t>
                </a:r>
                <a:r>
                  <a:rPr lang="en-US" sz="2400" b="0" i="0" u="none" strike="noStrike" kern="1200" dirty="0">
                    <a:solidFill>
                      <a:schemeClr val="tx1"/>
                    </a:solidFill>
                    <a:effectLst/>
                    <a:latin typeface="Cambria Math" panose="02040503050406030204" pitchFamily="18" charset="0"/>
                    <a:ea typeface="Cambria Math" panose="02040503050406030204" pitchFamily="18" charset="0"/>
                  </a:rPr>
                  <a:t>,</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J</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en-US" sz="2400" baseline="-25000" dirty="0">
                    <a:latin typeface="Arial" panose="020B0604020202020204" pitchFamily="34"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a:t>
                </a:r>
                <a:r>
                  <a:rPr lang="it-IT" sz="2400" dirty="0">
                    <a:latin typeface="Cambria Math" panose="02040503050406030204" pitchFamily="18" charset="0"/>
                    <a:ea typeface="Cambria Math" panose="02040503050406030204" pitchFamily="18" charset="0"/>
                  </a:rPr>
                  <a:t>7</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a:t>
                </a:r>
                <a:endParaRPr lang="en-US" sz="2400" b="0" i="0" u="none" strike="noStrike" dirty="0">
                  <a:solidFill>
                    <a:schemeClr val="tx1"/>
                  </a:solidFill>
                  <a:effectLst/>
                  <a:latin typeface="Arial" panose="020B0604020202020204" pitchFamily="34" charset="0"/>
                </a:endParaRPr>
              </a:p>
              <a:p>
                <a:endParaRPr lang="en-US" sz="2400" dirty="0">
                  <a:solidFill>
                    <a:schemeClr val="tx1"/>
                  </a:solidFill>
                </a:endParaRPr>
              </a:p>
            </p:txBody>
          </p:sp>
        </mc:Choice>
        <mc:Fallback xmlns="">
          <p:sp>
            <p:nvSpPr>
              <p:cNvPr id="2" name="Content Placeholder 1">
                <a:extLst>
                  <a:ext uri="{FF2B5EF4-FFF2-40B4-BE49-F238E27FC236}">
                    <a16:creationId xmlns:a16="http://schemas.microsoft.com/office/drawing/2014/main" id="{74A286D6-0507-C00A-C4FB-69619416EBA4}"/>
                  </a:ext>
                </a:extLst>
              </p:cNvPr>
              <p:cNvSpPr>
                <a:spLocks noGrp="1" noRot="1" noChangeAspect="1" noMove="1" noResize="1" noEditPoints="1" noAdjustHandles="1" noChangeArrowheads="1" noChangeShapeType="1" noTextEdit="1"/>
              </p:cNvSpPr>
              <p:nvPr>
                <p:ph idx="1"/>
              </p:nvPr>
            </p:nvSpPr>
            <p:spPr>
              <a:xfrm>
                <a:off x="298912" y="1173916"/>
                <a:ext cx="8546175" cy="5259392"/>
              </a:xfrm>
              <a:blipFill>
                <a:blip r:embed="rId2"/>
                <a:stretch>
                  <a:fillRect l="-1070" t="-7541"/>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396A4349-66F5-6CE3-AFE4-E6CD7F87A5FE}"/>
              </a:ext>
            </a:extLst>
          </p:cNvPr>
          <p:cNvSpPr>
            <a:spLocks noGrp="1"/>
          </p:cNvSpPr>
          <p:nvPr>
            <p:ph type="title"/>
          </p:nvPr>
        </p:nvSpPr>
        <p:spPr>
          <a:xfrm>
            <a:off x="278767" y="27446"/>
            <a:ext cx="8791195" cy="766769"/>
          </a:xfrm>
        </p:spPr>
        <p:txBody>
          <a:bodyPr/>
          <a:lstStyle/>
          <a:p>
            <a:r>
              <a:rPr lang="it-IT" dirty="0" err="1"/>
              <a:t>Deterministic</a:t>
            </a:r>
            <a:r>
              <a:rPr lang="it-IT" dirty="0"/>
              <a:t> </a:t>
            </a:r>
            <a:r>
              <a:rPr lang="it-IT" dirty="0" err="1"/>
              <a:t>allocation</a:t>
            </a:r>
            <a:endParaRPr lang="en-US" dirty="0"/>
          </a:p>
        </p:txBody>
      </p:sp>
      <p:sp>
        <p:nvSpPr>
          <p:cNvPr id="4" name="Footer Placeholder 3">
            <a:extLst>
              <a:ext uri="{FF2B5EF4-FFF2-40B4-BE49-F238E27FC236}">
                <a16:creationId xmlns:a16="http://schemas.microsoft.com/office/drawing/2014/main" id="{EEA1227D-CD72-1F39-4841-05299173BDFF}"/>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B1CBC097-C49A-3EF3-F0C3-7737496C4B5A}"/>
              </a:ext>
            </a:extLst>
          </p:cNvPr>
          <p:cNvSpPr>
            <a:spLocks noGrp="1"/>
          </p:cNvSpPr>
          <p:nvPr>
            <p:ph type="sldNum" sz="quarter" idx="4"/>
          </p:nvPr>
        </p:nvSpPr>
        <p:spPr/>
        <p:txBody>
          <a:bodyPr/>
          <a:lstStyle/>
          <a:p>
            <a:pPr>
              <a:defRPr/>
            </a:pPr>
            <a:fld id="{476DEB1C-3253-4C07-8F02-456B7B2AD41D}" type="slidenum">
              <a:rPr lang="it-IT" smtClean="0"/>
              <a:pPr>
                <a:defRPr/>
              </a:pPr>
              <a:t>8</a:t>
            </a:fld>
            <a:endParaRPr lang="it-IT" dirty="0"/>
          </a:p>
        </p:txBody>
      </p:sp>
    </p:spTree>
    <p:extLst>
      <p:ext uri="{BB962C8B-B14F-4D97-AF65-F5344CB8AC3E}">
        <p14:creationId xmlns:p14="http://schemas.microsoft.com/office/powerpoint/2010/main" val="15572730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74A286D6-0507-C00A-C4FB-69619416EBA4}"/>
                  </a:ext>
                </a:extLst>
              </p:cNvPr>
              <p:cNvSpPr>
                <a:spLocks noGrp="1"/>
              </p:cNvSpPr>
              <p:nvPr>
                <p:ph idx="1"/>
              </p:nvPr>
            </p:nvSpPr>
            <p:spPr>
              <a:xfrm>
                <a:off x="298912" y="1173916"/>
                <a:ext cx="8546175" cy="5338202"/>
              </a:xfrm>
            </p:spPr>
            <p:txBody>
              <a:bodyPr>
                <a:normAutofit/>
              </a:bodyPr>
              <a:lstStyle/>
              <a:p>
                <a:pPr marL="0" rtl="0" eaLnBrk="1" fontAlgn="ctr" latinLnBrk="0" hangingPunct="1">
                  <a:lnSpc>
                    <a:spcPct val="150000"/>
                  </a:lnSpc>
                  <a:spcBef>
                    <a:spcPts val="0"/>
                  </a:spcBef>
                  <a:spcAft>
                    <a:spcPts val="0"/>
                  </a:spcAft>
                  <a:tabLst>
                    <a:tab pos="1789113" algn="l"/>
                    <a:tab pos="5024438" algn="l"/>
                    <a:tab pos="7177088" algn="l"/>
                  </a:tabLst>
                </a:pPr>
                <a:r>
                  <a:rPr lang="en-US" sz="2400" b="0" i="0" u="none" strike="noStrike" kern="1200" dirty="0">
                    <a:solidFill>
                      <a:schemeClr val="tx1"/>
                    </a:solidFill>
                    <a:effectLst/>
                    <a:latin typeface="Cambria Math" panose="02040503050406030204" pitchFamily="18" charset="0"/>
                    <a:ea typeface="Cambria Math" panose="02040503050406030204" pitchFamily="18" charset="0"/>
                  </a:rPr>
                  <a:t>z(H) = </a:t>
                </a:r>
                <a:r>
                  <a:rPr lang="en-US" sz="2400" b="1" i="1" u="none" strike="noStrike" kern="1200" dirty="0">
                    <a:solidFill>
                      <a:schemeClr val="tx1"/>
                    </a:solidFill>
                    <a:effectLst/>
                    <a:latin typeface="Cambria Math" panose="02040503050406030204" pitchFamily="18" charset="0"/>
                    <a:ea typeface="Cambria Math" panose="02040503050406030204" pitchFamily="18" charset="0"/>
                  </a:rPr>
                  <a:t>min</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14:m>
                  <m:oMath xmlns:m="http://schemas.openxmlformats.org/officeDocument/2006/math">
                    <m:nary>
                      <m:naryPr>
                        <m:chr m:val="∑"/>
                        <m:supHide m:val="on"/>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naryPr>
                      <m:sub>
                        <m:r>
                          <m:rPr>
                            <m:brk m:alnAt="7"/>
                          </m:rPr>
                          <a:rPr lang="en-US" sz="2400" b="0" i="0" u="none" strike="noStrike" kern="1200">
                            <a:solidFill>
                              <a:schemeClr val="tx1"/>
                            </a:solidFill>
                            <a:effectLst/>
                            <a:latin typeface="Cambria Math" panose="02040503050406030204" pitchFamily="18" charset="0"/>
                            <a:ea typeface="Cambria Math" panose="02040503050406030204" pitchFamily="18" charset="0"/>
                          </a:rPr>
                          <m:t>𝑖</m:t>
                        </m:r>
                        <m:r>
                          <a:rPr lang="en-US" sz="2400" b="0" i="0" u="none" strike="noStrike" kern="1200">
                            <a:solidFill>
                              <a:schemeClr val="tx1"/>
                            </a:solidFill>
                            <a:effectLst/>
                            <a:latin typeface="Cambria Math" panose="02040503050406030204" pitchFamily="18" charset="0"/>
                            <a:ea typeface="Cambria Math" panose="02040503050406030204" pitchFamily="18" charset="0"/>
                          </a:rPr>
                          <m:t>∈</m:t>
                        </m:r>
                        <m:r>
                          <a:rPr lang="it-IT" sz="2400" b="0" i="1" u="none" strike="noStrike" kern="1200">
                            <a:solidFill>
                              <a:schemeClr val="tx1"/>
                            </a:solidFill>
                            <a:effectLst/>
                            <a:latin typeface="Cambria Math" panose="02040503050406030204" pitchFamily="18" charset="0"/>
                            <a:ea typeface="Cambria Math" panose="02040503050406030204" pitchFamily="18" charset="0"/>
                          </a:rPr>
                          <m:t>𝐼</m:t>
                        </m:r>
                      </m:sub>
                      <m:sup/>
                      <m:e>
                        <m:nary>
                          <m:naryPr>
                            <m:chr m:val="∑"/>
                            <m:limLoc m:val="subSup"/>
                            <m:supHide m:val="on"/>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naryPr>
                          <m:sub>
                            <m:r>
                              <m:rPr>
                                <m:brk m:alnAt="9"/>
                              </m:rPr>
                              <a:rPr lang="en-US" sz="2400" b="0" i="0" u="none" strike="noStrike" kern="1200">
                                <a:solidFill>
                                  <a:schemeClr val="tx1"/>
                                </a:solidFill>
                                <a:effectLst/>
                                <a:latin typeface="Cambria Math" panose="02040503050406030204" pitchFamily="18" charset="0"/>
                                <a:ea typeface="Cambria Math" panose="02040503050406030204" pitchFamily="18" charset="0"/>
                              </a:rPr>
                              <m:t>𝑗</m:t>
                            </m:r>
                            <m:r>
                              <a:rPr lang="en-US" sz="2400" b="0" i="0" u="none" strike="noStrike" kern="1200">
                                <a:solidFill>
                                  <a:schemeClr val="tx1"/>
                                </a:solidFill>
                                <a:effectLst/>
                                <a:latin typeface="Cambria Math" panose="02040503050406030204" pitchFamily="18" charset="0"/>
                                <a:ea typeface="Cambria Math" panose="02040503050406030204" pitchFamily="18" charset="0"/>
                              </a:rPr>
                              <m:t>∈</m:t>
                            </m:r>
                            <m:r>
                              <a:rPr lang="it-IT" sz="2400" b="0" i="1" u="none" strike="noStrike" kern="1200">
                                <a:solidFill>
                                  <a:schemeClr val="tx1"/>
                                </a:solidFill>
                                <a:effectLst/>
                                <a:latin typeface="Cambria Math" panose="02040503050406030204" pitchFamily="18" charset="0"/>
                                <a:ea typeface="Cambria Math" panose="02040503050406030204" pitchFamily="18" charset="0"/>
                              </a:rPr>
                              <m:t>𝐽</m:t>
                            </m:r>
                          </m:sub>
                          <m:sup/>
                          <m:e>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it-IT" sz="2400" b="0" i="0" u="none" strike="noStrike" kern="1200" smtClean="0">
                                    <a:solidFill>
                                      <a:schemeClr val="tx1"/>
                                    </a:solidFill>
                                    <a:effectLst/>
                                    <a:latin typeface="Cambria Math" panose="02040503050406030204" pitchFamily="18" charset="0"/>
                                    <a:ea typeface="Cambria Math" panose="02040503050406030204" pitchFamily="18" charset="0"/>
                                  </a:rPr>
                                  <m:t>(</m:t>
                                </m:r>
                                <m:r>
                                  <m:rPr>
                                    <m:sty m:val="p"/>
                                  </m:rPr>
                                  <a:rPr lang="en-US" sz="2400" b="0" i="0" u="none" strike="noStrike" kern="1200">
                                    <a:solidFill>
                                      <a:schemeClr val="tx1"/>
                                    </a:solidFill>
                                    <a:effectLst/>
                                    <a:latin typeface="Cambria Math" panose="02040503050406030204" pitchFamily="18" charset="0"/>
                                    <a:ea typeface="Cambria Math" panose="02040503050406030204" pitchFamily="18" charset="0"/>
                                  </a:rPr>
                                  <m:t>c</m:t>
                                </m:r>
                              </m:e>
                              <m:sub>
                                <m:r>
                                  <m:rPr>
                                    <m:sty m:val="p"/>
                                  </m:rPr>
                                  <a:rPr lang="en-US" sz="2400" b="0" i="0" u="none" strike="noStrike" kern="1200">
                                    <a:solidFill>
                                      <a:schemeClr val="tx1"/>
                                    </a:solidFill>
                                    <a:effectLst/>
                                    <a:latin typeface="Cambria Math" panose="02040503050406030204" pitchFamily="18" charset="0"/>
                                    <a:ea typeface="Cambria Math" panose="02040503050406030204" pitchFamily="18" charset="0"/>
                                  </a:rPr>
                                  <m:t>ij</m:t>
                                </m:r>
                              </m:sub>
                            </m:sSub>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en-US" sz="2400" b="0" i="0" u="none" strike="noStrike" kern="1200">
                                    <a:solidFill>
                                      <a:schemeClr val="tx1"/>
                                    </a:solidFill>
                                    <a:effectLst/>
                                    <a:latin typeface="Cambria Math" panose="02040503050406030204" pitchFamily="18" charset="0"/>
                                    <a:ea typeface="Cambria Math" panose="02040503050406030204" pitchFamily="18" charset="0"/>
                                  </a:rPr>
                                  <m:t>𝑥</m:t>
                                </m:r>
                              </m:e>
                              <m:sub>
                                <m:r>
                                  <m:rPr>
                                    <m:sty m:val="p"/>
                                  </m:rPr>
                                  <a:rPr lang="en-US" sz="2400" b="0" i="0" u="none" strike="noStrike" kern="1200">
                                    <a:solidFill>
                                      <a:schemeClr val="tx1"/>
                                    </a:solidFill>
                                    <a:effectLst/>
                                    <a:latin typeface="Cambria Math" panose="02040503050406030204" pitchFamily="18" charset="0"/>
                                    <a:ea typeface="Cambria Math" panose="02040503050406030204" pitchFamily="18" charset="0"/>
                                  </a:rPr>
                                  <m:t>ij</m:t>
                                </m:r>
                              </m:sub>
                            </m:sSub>
                          </m:e>
                        </m:nary>
                      </m:e>
                    </m:nary>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m:t>
                    </m:r>
                    <m:sSub>
                      <m:sSubPr>
                        <m:ctrlPr>
                          <a:rPr lang="it-IT" sz="2400" b="0" i="1" u="none" strike="noStrike" kern="1200" smtClean="0">
                            <a:solidFill>
                              <a:schemeClr val="tx1"/>
                            </a:solidFill>
                            <a:effectLst/>
                            <a:latin typeface="Cambria Math" panose="02040503050406030204" pitchFamily="18" charset="0"/>
                            <a:ea typeface="Cambria Math" panose="02040503050406030204" pitchFamily="18" charset="0"/>
                          </a:rPr>
                        </m:ctrlPr>
                      </m:sSubPr>
                      <m:e>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𝑑</m:t>
                        </m:r>
                      </m:e>
                      <m: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𝑖</m:t>
                        </m:r>
                      </m:sub>
                    </m:sSub>
                    <m:sSub>
                      <m:sSubPr>
                        <m:ctrlPr>
                          <a:rPr lang="it-IT" sz="2400" b="0" i="1" u="none" strike="noStrike" kern="1200" smtClean="0">
                            <a:solidFill>
                              <a:schemeClr val="tx1"/>
                            </a:solidFill>
                            <a:effectLst/>
                            <a:latin typeface="Cambria Math" panose="02040503050406030204" pitchFamily="18" charset="0"/>
                            <a:ea typeface="Cambria Math" panose="02040503050406030204" pitchFamily="18" charset="0"/>
                          </a:rPr>
                        </m:ctrlPr>
                      </m:sSubPr>
                      <m:e>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𝑞</m:t>
                        </m:r>
                      </m:e>
                      <m: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𝑖𝑗</m:t>
                        </m:r>
                      </m:sub>
                    </m:s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m:t>
                    </m:r>
                  </m:oMath>
                </a14:m>
                <a:r>
                  <a:rPr lang="en-US" sz="2400" b="0" i="0" u="none" strike="noStrike" kern="1200" dirty="0">
                    <a:solidFill>
                      <a:schemeClr val="tx1"/>
                    </a:solidFill>
                    <a:effectLst/>
                    <a:latin typeface="Cambria Math" panose="02040503050406030204" pitchFamily="18" charset="0"/>
                    <a:ea typeface="Cambria Math" panose="02040503050406030204" pitchFamily="18" charset="0"/>
                  </a:rPr>
                  <a:t>		(1)</a:t>
                </a:r>
                <a:endParaRPr lang="en-US" sz="2400" b="0" i="0" u="none" strike="noStrike" dirty="0">
                  <a:solidFill>
                    <a:schemeClr val="tx1"/>
                  </a:solidFill>
                  <a:effectLst/>
                  <a:latin typeface="Arial" panose="020B0604020202020204" pitchFamily="34" charset="0"/>
                </a:endParaRPr>
              </a:p>
              <a:p>
                <a:pPr fontAlgn="ctr">
                  <a:lnSpc>
                    <a:spcPct val="150000"/>
                  </a:lnSpc>
                  <a:spcBef>
                    <a:spcPts val="0"/>
                  </a:spcBef>
                  <a:tabLst>
                    <a:tab pos="1789113" algn="l"/>
                    <a:tab pos="5024438" algn="l"/>
                    <a:tab pos="7177088" algn="l"/>
                  </a:tabLst>
                </a:pPr>
                <a:r>
                  <a:rPr lang="en-US" sz="2400" b="1" i="1" u="none" strike="noStrike" kern="1200" dirty="0">
                    <a:solidFill>
                      <a:schemeClr val="tx1"/>
                    </a:solidFill>
                    <a:effectLst/>
                    <a:latin typeface="Cambria Math" panose="02040503050406030204" pitchFamily="18" charset="0"/>
                    <a:ea typeface="Cambria Math" panose="02040503050406030204" pitchFamily="18" charset="0"/>
                  </a:rPr>
                  <a:t>subject to</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14:m>
                  <m:oMath xmlns:m="http://schemas.openxmlformats.org/officeDocument/2006/math">
                    <m:nary>
                      <m:naryPr>
                        <m:chr m:val="∑"/>
                        <m:supHide m:val="on"/>
                        <m:ctrlPr>
                          <a:rPr lang="en-US" i="1">
                            <a:latin typeface="Cambria Math" panose="02040503050406030204" pitchFamily="18" charset="0"/>
                            <a:ea typeface="Cambria Math" panose="02040503050406030204" pitchFamily="18" charset="0"/>
                          </a:rPr>
                        </m:ctrlPr>
                      </m:naryPr>
                      <m:sub>
                        <m:r>
                          <a:rPr lang="en-US" i="1">
                            <a:latin typeface="Cambria Math" panose="02040503050406030204" pitchFamily="18" charset="0"/>
                            <a:ea typeface="Cambria Math" panose="02040503050406030204" pitchFamily="18" charset="0"/>
                          </a:rPr>
                          <m:t>𝑖</m:t>
                        </m:r>
                        <m:r>
                          <a:rPr lang="en-US">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𝐼</m:t>
                        </m:r>
                      </m:sub>
                      <m:sup/>
                      <m:e>
                        <m:sSub>
                          <m:sSubPr>
                            <m:ctrlPr>
                              <a:rPr lang="en-US" i="1">
                                <a:latin typeface="Cambria Math" panose="02040503050406030204" pitchFamily="18" charset="0"/>
                                <a:ea typeface="Cambria Math" panose="02040503050406030204" pitchFamily="18" charset="0"/>
                              </a:rPr>
                            </m:ctrlPr>
                          </m:sSubPr>
                          <m:e>
                            <m:r>
                              <a:rPr lang="en-US">
                                <a:latin typeface="Cambria Math" panose="02040503050406030204" pitchFamily="18" charset="0"/>
                                <a:ea typeface="Cambria Math" panose="02040503050406030204" pitchFamily="18" charset="0"/>
                              </a:rPr>
                              <m:t>𝑞</m:t>
                            </m:r>
                          </m:e>
                          <m:sub>
                            <m:r>
                              <m:rPr>
                                <m:sty m:val="p"/>
                              </m:rPr>
                              <a:rPr lang="en-US">
                                <a:latin typeface="Cambria Math" panose="02040503050406030204" pitchFamily="18" charset="0"/>
                                <a:ea typeface="Cambria Math" panose="02040503050406030204" pitchFamily="18" charset="0"/>
                              </a:rPr>
                              <m:t>ij</m:t>
                            </m:r>
                          </m:sub>
                        </m:sSub>
                      </m:e>
                    </m:nary>
                    <m:r>
                      <a:rPr lang="en-US">
                        <a:latin typeface="Cambria Math" panose="02040503050406030204" pitchFamily="18" charset="0"/>
                        <a:ea typeface="Cambria Math" panose="02040503050406030204" pitchFamily="18" charset="0"/>
                      </a:rPr>
                      <m:t>=</m:t>
                    </m:r>
                    <m:sSub>
                      <m:sSubPr>
                        <m:ctrlPr>
                          <a:rPr lang="en-US" i="1" smtClean="0">
                            <a:solidFill>
                              <a:srgbClr val="FF0000"/>
                            </a:solidFill>
                            <a:latin typeface="Cambria Math" panose="02040503050406030204" pitchFamily="18" charset="0"/>
                            <a:ea typeface="Cambria Math" panose="02040503050406030204" pitchFamily="18" charset="0"/>
                          </a:rPr>
                        </m:ctrlPr>
                      </m:sSubPr>
                      <m:e>
                        <m:r>
                          <a:rPr lang="it-IT" b="0" i="1" smtClean="0">
                            <a:solidFill>
                              <a:srgbClr val="FF0000"/>
                            </a:solidFill>
                            <a:latin typeface="Cambria Math" panose="02040503050406030204" pitchFamily="18" charset="0"/>
                            <a:ea typeface="Cambria Math" panose="02040503050406030204" pitchFamily="18" charset="0"/>
                          </a:rPr>
                          <m:t>𝜌</m:t>
                        </m:r>
                      </m:e>
                      <m:sub>
                        <m:r>
                          <m:rPr>
                            <m:sty m:val="p"/>
                          </m:rPr>
                          <a:rPr lang="en-US">
                            <a:solidFill>
                              <a:srgbClr val="FF0000"/>
                            </a:solidFill>
                            <a:latin typeface="Cambria Math" panose="02040503050406030204" pitchFamily="18" charset="0"/>
                            <a:ea typeface="Cambria Math" panose="02040503050406030204" pitchFamily="18" charset="0"/>
                          </a:rPr>
                          <m:t>j</m:t>
                        </m:r>
                      </m:sub>
                    </m:sSub>
                  </m:oMath>
                </a14:m>
                <a:r>
                  <a:rPr lang="en-US" dirty="0">
                    <a:solidFill>
                      <a:srgbClr val="FF0000"/>
                    </a:solidFill>
                    <a:latin typeface="Arial" panose="020B0604020202020204" pitchFamily="34" charset="0"/>
                  </a:rPr>
                  <a:t> </a:t>
                </a:r>
                <a:r>
                  <a:rPr lang="en-US" dirty="0">
                    <a:latin typeface="Arial" panose="020B0604020202020204" pitchFamily="34"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(2)</a:t>
                </a:r>
                <a:endParaRPr lang="en-US" sz="2400" dirty="0">
                  <a:latin typeface="Arial" panose="020B0604020202020204" pitchFamily="34" charset="0"/>
                </a:endParaRPr>
              </a:p>
              <a:p>
                <a:pPr marL="0" rtl="0" eaLnBrk="1" fontAlgn="ctr" latinLnBrk="0" hangingPunct="1">
                  <a:lnSpc>
                    <a:spcPct val="150000"/>
                  </a:lnSpc>
                  <a:spcBef>
                    <a:spcPts val="0"/>
                  </a:spcBef>
                  <a:spcAft>
                    <a:spcPts val="0"/>
                  </a:spcAft>
                  <a:tabLst>
                    <a:tab pos="1789113" algn="l"/>
                    <a:tab pos="5024438" algn="l"/>
                    <a:tab pos="7177088" algn="l"/>
                  </a:tabLst>
                </a:pPr>
                <a:r>
                  <a:rPr lang="en-US" sz="2400" b="0" u="none" strike="noStrike" kern="1200" dirty="0">
                    <a:solidFill>
                      <a:schemeClr val="tx1"/>
                    </a:solidFill>
                    <a:effectLst/>
                    <a:ea typeface="Cambria Math" panose="02040503050406030204" pitchFamily="18" charset="0"/>
                  </a:rPr>
                  <a:t>	</a:t>
                </a:r>
                <a14:m>
                  <m:oMath xmlns:m="http://schemas.openxmlformats.org/officeDocument/2006/math">
                    <m:nary>
                      <m:naryPr>
                        <m:chr m:val="∑"/>
                        <m:supHide m:val="on"/>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naryPr>
                      <m:sub>
                        <m:r>
                          <a:rPr lang="en-US" sz="2400" b="0" i="0" u="none" strike="noStrike" kern="1200">
                            <a:solidFill>
                              <a:schemeClr val="tx1"/>
                            </a:solidFill>
                            <a:effectLst/>
                            <a:latin typeface="Cambria Math" panose="02040503050406030204" pitchFamily="18" charset="0"/>
                            <a:ea typeface="Cambria Math" panose="02040503050406030204" pitchFamily="18" charset="0"/>
                          </a:rPr>
                          <m:t>𝑗</m:t>
                        </m:r>
                        <m:r>
                          <a:rPr lang="en-US" sz="2400" b="0" i="0" u="none" strike="noStrike" kern="1200">
                            <a:solidFill>
                              <a:schemeClr val="tx1"/>
                            </a:solidFill>
                            <a:effectLst/>
                            <a:latin typeface="Cambria Math" panose="02040503050406030204" pitchFamily="18" charset="0"/>
                            <a:ea typeface="Cambria Math" panose="02040503050406030204" pitchFamily="18" charset="0"/>
                          </a:rPr>
                          <m:t>∈</m:t>
                        </m:r>
                        <m:r>
                          <a:rPr lang="it-IT" sz="2400" b="0" i="1" u="none" strike="noStrike" kern="1200">
                            <a:solidFill>
                              <a:schemeClr val="tx1"/>
                            </a:solidFill>
                            <a:effectLst/>
                            <a:latin typeface="Cambria Math" panose="02040503050406030204" pitchFamily="18" charset="0"/>
                            <a:ea typeface="Cambria Math" panose="02040503050406030204" pitchFamily="18" charset="0"/>
                          </a:rPr>
                          <m:t>𝐽</m:t>
                        </m:r>
                      </m:sub>
                      <m:sup/>
                      <m:e>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en-US" sz="2400" b="0" i="0" u="none" strike="noStrike" kern="1200">
                                <a:solidFill>
                                  <a:schemeClr val="tx1"/>
                                </a:solidFill>
                                <a:effectLst/>
                                <a:latin typeface="Cambria Math" panose="02040503050406030204" pitchFamily="18" charset="0"/>
                                <a:ea typeface="Cambria Math" panose="02040503050406030204" pitchFamily="18" charset="0"/>
                              </a:rPr>
                              <m:t>𝑞</m:t>
                            </m:r>
                          </m:e>
                          <m:sub>
                            <m:r>
                              <m:rPr>
                                <m:sty m:val="p"/>
                              </m:rPr>
                              <a:rPr lang="en-US" sz="2400" b="0" i="0" u="none" strike="noStrike" kern="1200">
                                <a:solidFill>
                                  <a:schemeClr val="tx1"/>
                                </a:solidFill>
                                <a:effectLst/>
                                <a:latin typeface="Cambria Math" panose="02040503050406030204" pitchFamily="18" charset="0"/>
                                <a:ea typeface="Cambria Math" panose="02040503050406030204" pitchFamily="18" charset="0"/>
                              </a:rPr>
                              <m:t>ij</m:t>
                            </m:r>
                          </m:sub>
                        </m:sSub>
                      </m:e>
                    </m:nary>
                    <m:r>
                      <a:rPr lang="en-US" sz="2400" b="0" i="0" u="none" strike="noStrike" kern="1200">
                        <a:solidFill>
                          <a:schemeClr val="tx1"/>
                        </a:solidFill>
                        <a:effectLst/>
                        <a:latin typeface="Cambria Math" panose="02040503050406030204" pitchFamily="18" charset="0"/>
                        <a:ea typeface="Cambria Math" panose="02040503050406030204" pitchFamily="18" charset="0"/>
                      </a:rPr>
                      <m:t>≤</m:t>
                    </m:r>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en-US" sz="2400" b="0" i="0" u="none" strike="noStrike" kern="1200">
                            <a:solidFill>
                              <a:schemeClr val="tx1"/>
                            </a:solidFill>
                            <a:effectLst/>
                            <a:latin typeface="Cambria Math" panose="02040503050406030204" pitchFamily="18" charset="0"/>
                            <a:ea typeface="Cambria Math" panose="02040503050406030204" pitchFamily="18" charset="0"/>
                          </a:rPr>
                          <m:t>𝑄</m:t>
                        </m:r>
                      </m:e>
                      <m:sub>
                        <m:r>
                          <a:rPr lang="en-US" sz="2400" b="0" i="0" u="none" strike="noStrike" kern="1200">
                            <a:solidFill>
                              <a:schemeClr val="tx1"/>
                            </a:solidFill>
                            <a:effectLst/>
                            <a:latin typeface="Cambria Math" panose="02040503050406030204" pitchFamily="18" charset="0"/>
                            <a:ea typeface="Cambria Math" panose="02040503050406030204" pitchFamily="18" charset="0"/>
                          </a:rPr>
                          <m:t>𝑖</m:t>
                        </m:r>
                      </m:sub>
                    </m:sSub>
                  </m:oMath>
                </a14:m>
                <a:r>
                  <a:rPr lang="en-US" sz="2400" dirty="0">
                    <a:latin typeface="Arial" panose="020B0604020202020204" pitchFamily="34" charset="0"/>
                  </a:rPr>
                  <a:t> 	</a:t>
                </a:r>
                <a:r>
                  <a:rPr lang="en-US" sz="2400" b="0" i="1" u="none" strike="noStrike" kern="1200" dirty="0" err="1">
                    <a:solidFill>
                      <a:schemeClr val="tx1"/>
                    </a:solidFill>
                    <a:effectLst/>
                    <a:latin typeface="Cambria Math" panose="02040503050406030204" pitchFamily="18" charset="0"/>
                    <a:ea typeface="Cambria Math" panose="02040503050406030204" pitchFamily="18" charset="0"/>
                  </a:rPr>
                  <a:t>i</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I</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(3)</a:t>
                </a:r>
              </a:p>
              <a:p>
                <a:pPr marL="0" rtl="0" eaLnBrk="1" fontAlgn="ctr" latinLnBrk="0" hangingPunct="1">
                  <a:lnSpc>
                    <a:spcPct val="150000"/>
                  </a:lnSpc>
                  <a:spcBef>
                    <a:spcPts val="0"/>
                  </a:spcBef>
                  <a:spcAft>
                    <a:spcPts val="0"/>
                  </a:spcAft>
                  <a:tabLst>
                    <a:tab pos="1789113" algn="l"/>
                    <a:tab pos="5024438" algn="l"/>
                    <a:tab pos="7177088" algn="l"/>
                  </a:tabLst>
                </a:pPr>
                <a:r>
                  <a:rPr lang="en-US" sz="2400" b="0" u="none" strike="noStrike" kern="1200" dirty="0">
                    <a:solidFill>
                      <a:schemeClr val="tx1"/>
                    </a:solidFill>
                    <a:effectLst/>
                    <a:ea typeface="Cambria Math" panose="02040503050406030204" pitchFamily="18" charset="0"/>
                  </a:rPr>
                  <a:t>	</a:t>
                </a:r>
                <a14:m>
                  <m:oMath xmlns:m="http://schemas.openxmlformats.org/officeDocument/2006/math">
                    <m:nary>
                      <m:naryPr>
                        <m:chr m:val="∑"/>
                        <m:supHide m:val="on"/>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naryPr>
                      <m:sub>
                        <m:r>
                          <a:rPr lang="en-US" sz="2400" b="0" i="0" u="none" strike="noStrike" kern="1200">
                            <a:solidFill>
                              <a:schemeClr val="tx1"/>
                            </a:solidFill>
                            <a:effectLst/>
                            <a:latin typeface="Cambria Math" panose="02040503050406030204" pitchFamily="18" charset="0"/>
                            <a:ea typeface="Cambria Math" panose="02040503050406030204" pitchFamily="18" charset="0"/>
                          </a:rPr>
                          <m:t>𝑖</m:t>
                        </m:r>
                        <m:r>
                          <a:rPr lang="en-US" sz="2400" b="0" i="0" u="none" strike="noStrike" kern="1200">
                            <a:solidFill>
                              <a:schemeClr val="tx1"/>
                            </a:solidFill>
                            <a:effectLst/>
                            <a:latin typeface="Cambria Math" panose="02040503050406030204" pitchFamily="18" charset="0"/>
                            <a:ea typeface="Cambria Math" panose="02040503050406030204" pitchFamily="18" charset="0"/>
                          </a:rPr>
                          <m:t>∈</m:t>
                        </m:r>
                        <m:r>
                          <a:rPr lang="it-IT" sz="2400" b="0" i="1" u="none" strike="noStrike" kern="1200">
                            <a:solidFill>
                              <a:schemeClr val="tx1"/>
                            </a:solidFill>
                            <a:effectLst/>
                            <a:latin typeface="Cambria Math" panose="02040503050406030204" pitchFamily="18" charset="0"/>
                            <a:ea typeface="Cambria Math" panose="02040503050406030204" pitchFamily="18" charset="0"/>
                          </a:rPr>
                          <m:t>𝐼</m:t>
                        </m:r>
                      </m:sub>
                      <m:sup/>
                      <m:e>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en-US" sz="2400" b="0" i="0" u="none" strike="noStrike" kern="1200">
                                <a:solidFill>
                                  <a:schemeClr val="tx1"/>
                                </a:solidFill>
                                <a:effectLst/>
                                <a:latin typeface="Cambria Math" panose="02040503050406030204" pitchFamily="18" charset="0"/>
                                <a:ea typeface="Cambria Math" panose="02040503050406030204" pitchFamily="18" charset="0"/>
                              </a:rPr>
                              <m:t>𝑥</m:t>
                            </m:r>
                          </m:e>
                          <m:sub>
                            <m:r>
                              <m:rPr>
                                <m:sty m:val="p"/>
                              </m:rPr>
                              <a:rPr lang="en-US" sz="2400" b="0" i="0" u="none" strike="noStrike" kern="1200">
                                <a:solidFill>
                                  <a:schemeClr val="tx1"/>
                                </a:solidFill>
                                <a:effectLst/>
                                <a:latin typeface="Cambria Math" panose="02040503050406030204" pitchFamily="18" charset="0"/>
                                <a:ea typeface="Cambria Math" panose="02040503050406030204" pitchFamily="18" charset="0"/>
                              </a:rPr>
                              <m:t>ij</m:t>
                            </m:r>
                          </m:sub>
                        </m:sSub>
                      </m:e>
                    </m:nary>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m:t>
                    </m:r>
                    <m:sSub>
                      <m:sSubPr>
                        <m:ctrlPr>
                          <a:rPr lang="en-US" sz="2400" b="0" i="1" u="none" strike="noStrike" kern="1200" smtClean="0">
                            <a:solidFill>
                              <a:schemeClr val="tx1"/>
                            </a:solidFill>
                            <a:effectLst/>
                            <a:latin typeface="Cambria Math" panose="02040503050406030204" pitchFamily="18" charset="0"/>
                            <a:ea typeface="Cambria Math" panose="02040503050406030204" pitchFamily="18" charset="0"/>
                          </a:rPr>
                        </m:ctrlPr>
                      </m:sSubPr>
                      <m:e>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𝑏</m:t>
                        </m:r>
                      </m:e>
                      <m:sub>
                        <m:r>
                          <m:rPr>
                            <m:sty m:val="p"/>
                          </m:rPr>
                          <a:rPr lang="en-US" sz="2400" b="0" i="0" u="none" strike="noStrike" kern="1200" smtClean="0">
                            <a:solidFill>
                              <a:schemeClr val="tx1"/>
                            </a:solidFill>
                            <a:effectLst/>
                            <a:latin typeface="Cambria Math" panose="02040503050406030204" pitchFamily="18" charset="0"/>
                            <a:ea typeface="Cambria Math" panose="02040503050406030204" pitchFamily="18" charset="0"/>
                          </a:rPr>
                          <m:t>j</m:t>
                        </m:r>
                      </m:sub>
                    </m:sSub>
                  </m:oMath>
                </a14:m>
                <a:r>
                  <a:rPr lang="en-US" sz="2400" b="0" i="0" u="none" strike="noStrike" dirty="0">
                    <a:solidFill>
                      <a:schemeClr val="tx1"/>
                    </a:solidFill>
                    <a:effectLst/>
                    <a:latin typeface="Arial" panose="020B0604020202020204" pitchFamily="34"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J</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(4)</a:t>
                </a:r>
              </a:p>
              <a:p>
                <a:pPr fontAlgn="ctr">
                  <a:lnSpc>
                    <a:spcPct val="150000"/>
                  </a:lnSpc>
                  <a:spcBef>
                    <a:spcPts val="0"/>
                  </a:spcBef>
                  <a:tabLst>
                    <a:tab pos="1789113" algn="l"/>
                    <a:tab pos="5024438" algn="l"/>
                    <a:tab pos="7177088" algn="l"/>
                  </a:tabLst>
                </a:pPr>
                <a:r>
                  <a:rPr lang="en-US" sz="2400" dirty="0">
                    <a:ea typeface="Cambria Math" panose="02040503050406030204" pitchFamily="18" charset="0"/>
                  </a:rPr>
                  <a:t>	</a:t>
                </a:r>
                <a14:m>
                  <m:oMath xmlns:m="http://schemas.openxmlformats.org/officeDocument/2006/math">
                    <m:sSub>
                      <m:sSubPr>
                        <m:ctrlPr>
                          <a:rPr lang="en-US" sz="2400" i="1">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𝑞</m:t>
                        </m:r>
                      </m:e>
                      <m:sub>
                        <m:r>
                          <m:rPr>
                            <m:sty m:val="p"/>
                          </m:rPr>
                          <a:rPr lang="en-US" sz="2400">
                            <a:latin typeface="Cambria Math" panose="02040503050406030204" pitchFamily="18" charset="0"/>
                            <a:ea typeface="Cambria Math" panose="02040503050406030204" pitchFamily="18" charset="0"/>
                          </a:rPr>
                          <m:t>ij</m:t>
                        </m:r>
                      </m:sub>
                    </m:sSub>
                    <m:r>
                      <a:rPr lang="en-US" sz="2400" b="0" i="1" smtClean="0">
                        <a:latin typeface="Cambria Math" panose="02040503050406030204" pitchFamily="18" charset="0"/>
                        <a:ea typeface="Cambria Math" panose="02040503050406030204" pitchFamily="18" charset="0"/>
                      </a:rPr>
                      <m:t>≤</m:t>
                    </m:r>
                    <m:sSub>
                      <m:sSubPr>
                        <m:ctrlPr>
                          <a:rPr lang="en-US" sz="2400" b="0" i="1" smtClean="0">
                            <a:solidFill>
                              <a:srgbClr val="FF0000"/>
                            </a:solidFill>
                            <a:latin typeface="Cambria Math" panose="02040503050406030204" pitchFamily="18" charset="0"/>
                            <a:ea typeface="Cambria Math" panose="02040503050406030204" pitchFamily="18" charset="0"/>
                          </a:rPr>
                        </m:ctrlPr>
                      </m:sSubPr>
                      <m:e>
                        <m:r>
                          <a:rPr lang="it-IT" sz="2400" b="0" i="1" smtClean="0">
                            <a:solidFill>
                              <a:srgbClr val="FF0000"/>
                            </a:solidFill>
                            <a:latin typeface="Cambria Math" panose="02040503050406030204" pitchFamily="18" charset="0"/>
                            <a:ea typeface="Cambria Math" panose="02040503050406030204" pitchFamily="18" charset="0"/>
                          </a:rPr>
                          <m:t>𝜌</m:t>
                        </m:r>
                      </m:e>
                      <m:sub>
                        <m:r>
                          <m:rPr>
                            <m:sty m:val="p"/>
                          </m:rPr>
                          <a:rPr lang="en-US" sz="2400" b="0" i="0" smtClean="0">
                            <a:solidFill>
                              <a:srgbClr val="FF0000"/>
                            </a:solidFill>
                            <a:latin typeface="Cambria Math" panose="02040503050406030204" pitchFamily="18" charset="0"/>
                            <a:ea typeface="Cambria Math" panose="02040503050406030204" pitchFamily="18" charset="0"/>
                          </a:rPr>
                          <m:t>j</m:t>
                        </m:r>
                      </m:sub>
                    </m:sSub>
                    <m:sSub>
                      <m:sSubPr>
                        <m:ctrlPr>
                          <a:rPr lang="en-US" sz="2400" b="0" i="1" smtClean="0">
                            <a:latin typeface="Cambria Math" panose="02040503050406030204" pitchFamily="18" charset="0"/>
                            <a:ea typeface="Cambria Math" panose="02040503050406030204" pitchFamily="18" charset="0"/>
                          </a:rPr>
                        </m:ctrlPr>
                      </m:sSubPr>
                      <m:e>
                        <m:r>
                          <a:rPr lang="en-US" sz="2400" b="0" i="0" smtClean="0">
                            <a:latin typeface="Cambria Math" panose="02040503050406030204" pitchFamily="18" charset="0"/>
                            <a:ea typeface="Cambria Math" panose="02040503050406030204" pitchFamily="18" charset="0"/>
                          </a:rPr>
                          <m:t> </m:t>
                        </m:r>
                        <m:r>
                          <a:rPr lang="en-US" sz="2400" b="0" i="1" smtClean="0">
                            <a:latin typeface="Cambria Math" panose="02040503050406030204" pitchFamily="18" charset="0"/>
                            <a:ea typeface="Cambria Math" panose="02040503050406030204" pitchFamily="18" charset="0"/>
                          </a:rPr>
                          <m:t>𝑥</m:t>
                        </m:r>
                      </m:e>
                      <m:sub>
                        <m:r>
                          <m:rPr>
                            <m:sty m:val="p"/>
                          </m:rPr>
                          <a:rPr lang="en-US" sz="2400" b="0" i="0" smtClean="0">
                            <a:latin typeface="Cambria Math" panose="02040503050406030204" pitchFamily="18" charset="0"/>
                            <a:ea typeface="Cambria Math" panose="02040503050406030204" pitchFamily="18" charset="0"/>
                          </a:rPr>
                          <m:t>ij</m:t>
                        </m:r>
                      </m:sub>
                    </m:sSub>
                  </m:oMath>
                </a14:m>
                <a:r>
                  <a:rPr lang="en-US" sz="2400" dirty="0">
                    <a:latin typeface="Arial" panose="020B0604020202020204" pitchFamily="34" charset="0"/>
                  </a:rPr>
                  <a:t> 	</a:t>
                </a:r>
                <a:r>
                  <a:rPr lang="en-US" sz="2400" i="1" dirty="0" err="1">
                    <a:latin typeface="Cambria Math" panose="02040503050406030204" pitchFamily="18" charset="0"/>
                    <a:ea typeface="Cambria Math" panose="02040503050406030204" pitchFamily="18" charset="0"/>
                  </a:rPr>
                  <a:t>i</a:t>
                </a:r>
                <a:r>
                  <a:rPr lang="en-US" sz="2400" i="1" dirty="0">
                    <a:latin typeface="Cambria Math" panose="02040503050406030204" pitchFamily="18" charset="0"/>
                    <a:ea typeface="Cambria Math" panose="02040503050406030204" pitchFamily="18" charset="0"/>
                  </a:rPr>
                  <a:t>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dirty="0">
                    <a:latin typeface="Cambria Math" panose="02040503050406030204" pitchFamily="18" charset="0"/>
                    <a:ea typeface="Cambria Math" panose="02040503050406030204" pitchFamily="18" charset="0"/>
                  </a:rPr>
                  <a:t>I,</a:t>
                </a:r>
                <a:r>
                  <a:rPr lang="en-US" sz="2400" baseline="-25000" dirty="0">
                    <a:latin typeface="Cambria Math" panose="02040503050406030204" pitchFamily="18" charset="0"/>
                    <a:ea typeface="Cambria Math" panose="02040503050406030204" pitchFamily="18" charset="0"/>
                  </a:rPr>
                  <a:t> </a:t>
                </a:r>
                <a:r>
                  <a:rPr lang="en-US" sz="2400" i="1" dirty="0">
                    <a:latin typeface="Cambria Math" panose="02040503050406030204" pitchFamily="18" charset="0"/>
                    <a:ea typeface="Cambria Math" panose="02040503050406030204" pitchFamily="18" charset="0"/>
                  </a:rPr>
                  <a:t>j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dirty="0">
                    <a:latin typeface="Cambria Math" panose="02040503050406030204" pitchFamily="18" charset="0"/>
                    <a:ea typeface="Cambria Math" panose="02040503050406030204" pitchFamily="18" charset="0"/>
                  </a:rPr>
                  <a:t>J</a:t>
                </a:r>
                <a:r>
                  <a:rPr lang="en-US" sz="2400" baseline="-25000" dirty="0">
                    <a:latin typeface="Cambria Math" panose="02040503050406030204" pitchFamily="18" charset="0"/>
                    <a:ea typeface="Cambria Math" panose="02040503050406030204" pitchFamily="18" charset="0"/>
                  </a:rPr>
                  <a:t> </a:t>
                </a:r>
                <a:r>
                  <a:rPr lang="en-US" sz="2400" baseline="-25000" dirty="0">
                    <a:latin typeface="Arial" panose="020B0604020202020204" pitchFamily="34" charset="0"/>
                  </a:rPr>
                  <a:t> 	</a:t>
                </a:r>
                <a:r>
                  <a:rPr lang="it-IT" sz="2400" dirty="0">
                    <a:latin typeface="Cambria Math" panose="02040503050406030204" pitchFamily="18" charset="0"/>
                    <a:ea typeface="Cambria Math" panose="02040503050406030204" pitchFamily="18" charset="0"/>
                  </a:rPr>
                  <a:t>(5)</a:t>
                </a:r>
                <a:endParaRPr lang="en-US" sz="2400" dirty="0">
                  <a:latin typeface="Arial" panose="020B0604020202020204" pitchFamily="34" charset="0"/>
                </a:endParaRPr>
              </a:p>
              <a:p>
                <a:pPr fontAlgn="ctr">
                  <a:lnSpc>
                    <a:spcPct val="150000"/>
                  </a:lnSpc>
                  <a:spcBef>
                    <a:spcPts val="0"/>
                  </a:spcBef>
                  <a:tabLst>
                    <a:tab pos="1789113" algn="l"/>
                    <a:tab pos="5024438" algn="l"/>
                    <a:tab pos="7177088" algn="l"/>
                  </a:tabLst>
                </a:pPr>
                <a:r>
                  <a:rPr lang="en-US" sz="2400" dirty="0">
                    <a:latin typeface="Arial" panose="020B0604020202020204" pitchFamily="34" charset="0"/>
                    <a:ea typeface="Cambria Math" panose="02040503050406030204" pitchFamily="18" charset="0"/>
                  </a:rPr>
                  <a:t>	</a:t>
                </a:r>
                <a14:m>
                  <m:oMath xmlns:m="http://schemas.openxmlformats.org/officeDocument/2006/math">
                    <m:sSub>
                      <m:sSubPr>
                        <m:ctrlPr>
                          <a:rPr lang="en-US" sz="2400" i="1">
                            <a:latin typeface="Cambria Math" panose="02040503050406030204" pitchFamily="18" charset="0"/>
                            <a:ea typeface="Cambria Math" panose="02040503050406030204" pitchFamily="18" charset="0"/>
                          </a:rPr>
                        </m:ctrlPr>
                      </m:sSubPr>
                      <m:e>
                        <m:r>
                          <a:rPr lang="en-US" sz="2400">
                            <a:latin typeface="Cambria Math" panose="02040503050406030204" pitchFamily="18" charset="0"/>
                            <a:ea typeface="Cambria Math" panose="02040503050406030204" pitchFamily="18" charset="0"/>
                          </a:rPr>
                          <m:t>𝑥</m:t>
                        </m:r>
                      </m:e>
                      <m:sub>
                        <m:r>
                          <m:rPr>
                            <m:sty m:val="p"/>
                          </m:rPr>
                          <a:rPr lang="en-US" sz="2400">
                            <a:latin typeface="Cambria Math" panose="02040503050406030204" pitchFamily="18" charset="0"/>
                            <a:ea typeface="Cambria Math" panose="02040503050406030204" pitchFamily="18" charset="0"/>
                          </a:rPr>
                          <m:t>ij</m:t>
                        </m:r>
                      </m:sub>
                    </m:sSub>
                    <m:r>
                      <a:rPr lang="en-US" sz="2400" i="1">
                        <a:latin typeface="Cambria Math" panose="02040503050406030204" pitchFamily="18" charset="0"/>
                        <a:ea typeface="Cambria Math" panose="02040503050406030204" pitchFamily="18" charset="0"/>
                      </a:rPr>
                      <m:t>∈</m:t>
                    </m:r>
                    <m:r>
                      <a:rPr lang="en-US" sz="2400">
                        <a:latin typeface="Cambria Math" panose="02040503050406030204" pitchFamily="18" charset="0"/>
                        <a:ea typeface="Cambria Math" panose="02040503050406030204" pitchFamily="18" charset="0"/>
                      </a:rPr>
                      <m:t>{0,1}</m:t>
                    </m:r>
                  </m:oMath>
                </a14:m>
                <a:r>
                  <a:rPr lang="en-US" sz="2400" dirty="0">
                    <a:latin typeface="Arial" panose="020B0604020202020204" pitchFamily="34" charset="0"/>
                  </a:rPr>
                  <a:t> 	</a:t>
                </a:r>
                <a:r>
                  <a:rPr lang="en-US" sz="2400" i="1" dirty="0" err="1">
                    <a:latin typeface="Cambria Math" panose="02040503050406030204" pitchFamily="18" charset="0"/>
                    <a:ea typeface="Cambria Math" panose="02040503050406030204" pitchFamily="18" charset="0"/>
                  </a:rPr>
                  <a:t>i</a:t>
                </a:r>
                <a:r>
                  <a:rPr lang="en-US" sz="2400" i="1" dirty="0">
                    <a:latin typeface="Cambria Math" panose="02040503050406030204" pitchFamily="18" charset="0"/>
                    <a:ea typeface="Cambria Math" panose="02040503050406030204" pitchFamily="18" charset="0"/>
                  </a:rPr>
                  <a:t>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dirty="0">
                    <a:latin typeface="Cambria Math" panose="02040503050406030204" pitchFamily="18" charset="0"/>
                    <a:ea typeface="Cambria Math" panose="02040503050406030204" pitchFamily="18" charset="0"/>
                  </a:rPr>
                  <a:t>I,</a:t>
                </a:r>
                <a:r>
                  <a:rPr lang="en-US" sz="2400" baseline="-25000" dirty="0">
                    <a:latin typeface="Cambria Math" panose="02040503050406030204" pitchFamily="18" charset="0"/>
                    <a:ea typeface="Cambria Math" panose="02040503050406030204" pitchFamily="18" charset="0"/>
                  </a:rPr>
                  <a:t> </a:t>
                </a:r>
                <a:r>
                  <a:rPr lang="en-US" sz="2400" i="1" dirty="0">
                    <a:latin typeface="Cambria Math" panose="02040503050406030204" pitchFamily="18" charset="0"/>
                    <a:ea typeface="Cambria Math" panose="02040503050406030204" pitchFamily="18" charset="0"/>
                  </a:rPr>
                  <a:t>j </a:t>
                </a:r>
                <a:r>
                  <a:rPr lang="en-US" sz="2400" dirty="0">
                    <a:latin typeface="Cambria Math" panose="02040503050406030204" pitchFamily="18" charset="0"/>
                    <a:ea typeface="Cambria Math" panose="02040503050406030204" pitchFamily="18" charset="0"/>
                    <a:sym typeface="Symbol" panose="05050102010706020507" pitchFamily="18" charset="2"/>
                  </a:rPr>
                  <a:t> </a:t>
                </a:r>
                <a:r>
                  <a:rPr lang="en-US" sz="2400" dirty="0">
                    <a:latin typeface="Cambria Math" panose="02040503050406030204" pitchFamily="18" charset="0"/>
                    <a:ea typeface="Cambria Math" panose="02040503050406030204" pitchFamily="18" charset="0"/>
                  </a:rPr>
                  <a:t>J</a:t>
                </a:r>
                <a:r>
                  <a:rPr lang="en-US" sz="2400" baseline="-25000" dirty="0">
                    <a:latin typeface="Cambria Math" panose="02040503050406030204" pitchFamily="18" charset="0"/>
                    <a:ea typeface="Cambria Math" panose="02040503050406030204" pitchFamily="18" charset="0"/>
                  </a:rPr>
                  <a:t> </a:t>
                </a:r>
                <a:r>
                  <a:rPr lang="en-US" sz="2400" baseline="-25000" dirty="0">
                    <a:latin typeface="Arial" panose="020B0604020202020204" pitchFamily="34" charset="0"/>
                  </a:rPr>
                  <a:t> 	</a:t>
                </a:r>
                <a:r>
                  <a:rPr lang="it-IT" sz="2400" dirty="0">
                    <a:latin typeface="Cambria Math" panose="02040503050406030204" pitchFamily="18" charset="0"/>
                    <a:ea typeface="Cambria Math" panose="02040503050406030204" pitchFamily="18" charset="0"/>
                  </a:rPr>
                  <a:t>(6)</a:t>
                </a:r>
                <a:endParaRPr lang="en-US" sz="2400" dirty="0">
                  <a:latin typeface="Arial" panose="020B0604020202020204" pitchFamily="34" charset="0"/>
                </a:endParaRPr>
              </a:p>
              <a:p>
                <a:pPr fontAlgn="ctr">
                  <a:lnSpc>
                    <a:spcPct val="150000"/>
                  </a:lnSpc>
                  <a:spcBef>
                    <a:spcPts val="0"/>
                  </a:spcBef>
                  <a:tabLst>
                    <a:tab pos="1789113" algn="l"/>
                    <a:tab pos="5024438" algn="l"/>
                    <a:tab pos="7177088" algn="l"/>
                  </a:tabLst>
                </a:pPr>
                <a:r>
                  <a:rPr lang="en-US" sz="2400" b="0" u="none" strike="noStrike" kern="1200" dirty="0">
                    <a:solidFill>
                      <a:schemeClr val="tx1"/>
                    </a:solidFill>
                    <a:effectLst/>
                    <a:latin typeface="Arial" panose="020B0604020202020204" pitchFamily="34" charset="0"/>
                    <a:ea typeface="Cambria Math" panose="02040503050406030204" pitchFamily="18" charset="0"/>
                  </a:rPr>
                  <a:t>	</a:t>
                </a:r>
                <a14:m>
                  <m:oMath xmlns:m="http://schemas.openxmlformats.org/officeDocument/2006/math">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𝑞</m:t>
                        </m:r>
                      </m:e>
                      <m:sub>
                        <m:r>
                          <m:rPr>
                            <m:sty m:val="p"/>
                          </m:rPr>
                          <a:rPr lang="en-US" sz="2400" b="0" i="0" u="none" strike="noStrike" kern="1200">
                            <a:solidFill>
                              <a:schemeClr val="tx1"/>
                            </a:solidFill>
                            <a:effectLst/>
                            <a:latin typeface="Cambria Math" panose="02040503050406030204" pitchFamily="18" charset="0"/>
                            <a:ea typeface="Cambria Math" panose="02040503050406030204" pitchFamily="18" charset="0"/>
                          </a:rPr>
                          <m:t>ij</m:t>
                        </m:r>
                      </m:sub>
                    </m:sSub>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m:t>
                    </m:r>
                    <m:sSubSup>
                      <m:sSubSupPr>
                        <m:ctrlPr>
                          <a:rPr lang="en-US" sz="2400" b="0" i="1" u="none" strike="noStrike" kern="1200" smtClean="0">
                            <a:solidFill>
                              <a:schemeClr val="tx1"/>
                            </a:solidFill>
                            <a:effectLst/>
                            <a:latin typeface="Cambria Math" panose="02040503050406030204" pitchFamily="18" charset="0"/>
                            <a:ea typeface="Cambria Math" panose="02040503050406030204" pitchFamily="18" charset="0"/>
                          </a:rPr>
                        </m:ctrlPr>
                      </m:sSubSupPr>
                      <m:e>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ℤ</m:t>
                        </m:r>
                      </m:e>
                      <m:sub>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0</m:t>
                        </m:r>
                      </m:sub>
                      <m:sup>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m:t>
                        </m:r>
                      </m:sup>
                    </m:sSubSup>
                  </m:oMath>
                </a14:m>
                <a:r>
                  <a:rPr lang="en-US" sz="2400" b="0" i="0" u="none" strike="noStrike" dirty="0">
                    <a:solidFill>
                      <a:schemeClr val="tx1"/>
                    </a:solidFill>
                    <a:effectLst/>
                    <a:latin typeface="Arial" panose="020B0604020202020204" pitchFamily="34" charset="0"/>
                  </a:rPr>
                  <a:t> 	</a:t>
                </a:r>
                <a:r>
                  <a:rPr lang="en-US" sz="2400" b="0" i="1" u="none" strike="noStrike" kern="1200" dirty="0" err="1">
                    <a:solidFill>
                      <a:schemeClr val="tx1"/>
                    </a:solidFill>
                    <a:effectLst/>
                    <a:latin typeface="Cambria Math" panose="02040503050406030204" pitchFamily="18" charset="0"/>
                    <a:ea typeface="Cambria Math" panose="02040503050406030204" pitchFamily="18" charset="0"/>
                  </a:rPr>
                  <a:t>i</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I</a:t>
                </a:r>
                <a:r>
                  <a:rPr lang="en-US" sz="2400" b="0" i="0" u="none" strike="noStrike" kern="1200" dirty="0">
                    <a:solidFill>
                      <a:schemeClr val="tx1"/>
                    </a:solidFill>
                    <a:effectLst/>
                    <a:latin typeface="Cambria Math" panose="02040503050406030204" pitchFamily="18" charset="0"/>
                    <a:ea typeface="Cambria Math" panose="02040503050406030204" pitchFamily="18" charset="0"/>
                  </a:rPr>
                  <a:t>,</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J</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en-US" sz="2400" baseline="-25000" dirty="0">
                    <a:latin typeface="Arial" panose="020B0604020202020204" pitchFamily="34"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a:t>
                </a:r>
                <a:r>
                  <a:rPr lang="it-IT" sz="2400" dirty="0">
                    <a:latin typeface="Cambria Math" panose="02040503050406030204" pitchFamily="18" charset="0"/>
                    <a:ea typeface="Cambria Math" panose="02040503050406030204" pitchFamily="18" charset="0"/>
                  </a:rPr>
                  <a:t>7</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a:t>
                </a:r>
                <a:endParaRPr lang="en-US" sz="2400" b="0" i="0" u="none" strike="noStrike" dirty="0">
                  <a:solidFill>
                    <a:schemeClr val="tx1"/>
                  </a:solidFill>
                  <a:effectLst/>
                  <a:latin typeface="Arial" panose="020B0604020202020204" pitchFamily="34" charset="0"/>
                </a:endParaRPr>
              </a:p>
              <a:p>
                <a:endParaRPr lang="en-US" sz="2400" dirty="0">
                  <a:solidFill>
                    <a:schemeClr val="tx1"/>
                  </a:solidFill>
                </a:endParaRPr>
              </a:p>
            </p:txBody>
          </p:sp>
        </mc:Choice>
        <mc:Fallback xmlns="">
          <p:sp>
            <p:nvSpPr>
              <p:cNvPr id="2" name="Content Placeholder 1">
                <a:extLst>
                  <a:ext uri="{FF2B5EF4-FFF2-40B4-BE49-F238E27FC236}">
                    <a16:creationId xmlns:a16="http://schemas.microsoft.com/office/drawing/2014/main" id="{74A286D6-0507-C00A-C4FB-69619416EBA4}"/>
                  </a:ext>
                </a:extLst>
              </p:cNvPr>
              <p:cNvSpPr>
                <a:spLocks noGrp="1" noRot="1" noChangeAspect="1" noMove="1" noResize="1" noEditPoints="1" noAdjustHandles="1" noChangeArrowheads="1" noChangeShapeType="1" noTextEdit="1"/>
              </p:cNvSpPr>
              <p:nvPr>
                <p:ph idx="1"/>
              </p:nvPr>
            </p:nvSpPr>
            <p:spPr>
              <a:xfrm>
                <a:off x="298912" y="1173916"/>
                <a:ext cx="8546175" cy="5338202"/>
              </a:xfrm>
              <a:blipFill>
                <a:blip r:embed="rId2"/>
                <a:stretch>
                  <a:fillRect l="-1070" t="-7429"/>
                </a:stretch>
              </a:blipFill>
            </p:spPr>
            <p:txBody>
              <a:bodyPr/>
              <a:lstStyle/>
              <a:p>
                <a:r>
                  <a:rPr lang="it-IT">
                    <a:noFill/>
                  </a:rPr>
                  <a:t> </a:t>
                </a:r>
              </a:p>
            </p:txBody>
          </p:sp>
        </mc:Fallback>
      </mc:AlternateContent>
      <p:sp>
        <p:nvSpPr>
          <p:cNvPr id="3" name="Title 2">
            <a:extLst>
              <a:ext uri="{FF2B5EF4-FFF2-40B4-BE49-F238E27FC236}">
                <a16:creationId xmlns:a16="http://schemas.microsoft.com/office/drawing/2014/main" id="{396A4349-66F5-6CE3-AFE4-E6CD7F87A5FE}"/>
              </a:ext>
            </a:extLst>
          </p:cNvPr>
          <p:cNvSpPr>
            <a:spLocks noGrp="1"/>
          </p:cNvSpPr>
          <p:nvPr>
            <p:ph type="title"/>
          </p:nvPr>
        </p:nvSpPr>
        <p:spPr>
          <a:xfrm>
            <a:off x="278767" y="27446"/>
            <a:ext cx="8791195" cy="766769"/>
          </a:xfrm>
        </p:spPr>
        <p:txBody>
          <a:bodyPr/>
          <a:lstStyle/>
          <a:p>
            <a:r>
              <a:rPr lang="it-IT" dirty="0" err="1"/>
              <a:t>Stochastic</a:t>
            </a:r>
            <a:r>
              <a:rPr lang="it-IT" dirty="0"/>
              <a:t> </a:t>
            </a:r>
            <a:r>
              <a:rPr lang="it-IT" dirty="0" err="1"/>
              <a:t>allocation</a:t>
            </a:r>
            <a:endParaRPr lang="en-US" dirty="0"/>
          </a:p>
        </p:txBody>
      </p:sp>
      <p:sp>
        <p:nvSpPr>
          <p:cNvPr id="4" name="Footer Placeholder 3">
            <a:extLst>
              <a:ext uri="{FF2B5EF4-FFF2-40B4-BE49-F238E27FC236}">
                <a16:creationId xmlns:a16="http://schemas.microsoft.com/office/drawing/2014/main" id="{EEA1227D-CD72-1F39-4841-05299173BDFF}"/>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B1CBC097-C49A-3EF3-F0C3-7737496C4B5A}"/>
              </a:ext>
            </a:extLst>
          </p:cNvPr>
          <p:cNvSpPr>
            <a:spLocks noGrp="1"/>
          </p:cNvSpPr>
          <p:nvPr>
            <p:ph type="sldNum" sz="quarter" idx="4"/>
          </p:nvPr>
        </p:nvSpPr>
        <p:spPr/>
        <p:txBody>
          <a:bodyPr/>
          <a:lstStyle/>
          <a:p>
            <a:pPr>
              <a:defRPr/>
            </a:pPr>
            <a:fld id="{476DEB1C-3253-4C07-8F02-456B7B2AD41D}" type="slidenum">
              <a:rPr lang="it-IT" smtClean="0"/>
              <a:pPr>
                <a:defRPr/>
              </a:pPr>
              <a:t>9</a:t>
            </a:fld>
            <a:endParaRPr lang="it-IT" dirty="0"/>
          </a:p>
        </p:txBody>
      </p:sp>
    </p:spTree>
    <p:extLst>
      <p:ext uri="{BB962C8B-B14F-4D97-AF65-F5344CB8AC3E}">
        <p14:creationId xmlns:p14="http://schemas.microsoft.com/office/powerpoint/2010/main" val="2452429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74A286D6-0507-C00A-C4FB-69619416EBA4}"/>
                  </a:ext>
                </a:extLst>
              </p:cNvPr>
              <p:cNvSpPr>
                <a:spLocks noGrp="1"/>
              </p:cNvSpPr>
              <p:nvPr>
                <p:ph idx="1"/>
              </p:nvPr>
            </p:nvSpPr>
            <p:spPr>
              <a:xfrm>
                <a:off x="312482" y="1137040"/>
                <a:ext cx="8600926" cy="5184953"/>
              </a:xfrm>
            </p:spPr>
            <p:txBody>
              <a:bodyPr>
                <a:normAutofit/>
              </a:bodyPr>
              <a:lstStyle/>
              <a:p>
                <a:pPr fontAlgn="ctr">
                  <a:lnSpc>
                    <a:spcPct val="150000"/>
                  </a:lnSpc>
                  <a:spcBef>
                    <a:spcPts val="0"/>
                  </a:spcBef>
                  <a:tabLst>
                    <a:tab pos="1789113" algn="l"/>
                    <a:tab pos="5024438" algn="l"/>
                    <a:tab pos="7543800" algn="l"/>
                  </a:tabLst>
                </a:pPr>
                <a:r>
                  <a:rPr lang="en-US" sz="2400" b="0" i="0" u="none" strike="noStrike" kern="1200" dirty="0">
                    <a:solidFill>
                      <a:schemeClr val="tx1"/>
                    </a:solidFill>
                    <a:effectLst/>
                    <a:latin typeface="Cambria Math" panose="02040503050406030204" pitchFamily="18" charset="0"/>
                    <a:ea typeface="Cambria Math" panose="02040503050406030204" pitchFamily="18" charset="0"/>
                  </a:rPr>
                  <a:t>z(SB) = </a:t>
                </a:r>
                <a:r>
                  <a:rPr lang="en-US" sz="2400" b="1" i="1" u="none" strike="noStrike" kern="1200" dirty="0">
                    <a:solidFill>
                      <a:schemeClr val="tx1"/>
                    </a:solidFill>
                    <a:effectLst/>
                    <a:latin typeface="Cambria Math" panose="02040503050406030204" pitchFamily="18" charset="0"/>
                    <a:ea typeface="Cambria Math" panose="02040503050406030204" pitchFamily="18" charset="0"/>
                  </a:rPr>
                  <a:t>min</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14:m>
                  <m:oMath xmlns:m="http://schemas.openxmlformats.org/officeDocument/2006/math">
                    <m:nary>
                      <m:naryPr>
                        <m:chr m:val="∑"/>
                        <m:supHide m:val="on"/>
                        <m:ctrlPr>
                          <a:rPr lang="it-IT" sz="2400" b="0" i="1" u="none" strike="noStrike" kern="1200" smtClean="0">
                            <a:solidFill>
                              <a:schemeClr val="tx1"/>
                            </a:solidFill>
                            <a:effectLst/>
                            <a:latin typeface="Cambria Math" panose="02040503050406030204" pitchFamily="18" charset="0"/>
                            <a:ea typeface="Cambria Math" panose="02040503050406030204" pitchFamily="18" charset="0"/>
                          </a:rPr>
                        </m:ctrlPr>
                      </m:naryPr>
                      <m:sub>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𝑠</m:t>
                        </m:r>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m:t>
                        </m:r>
                        <m:r>
                          <a:rPr lang="it-IT" sz="2400" b="0" i="1" u="none" strike="noStrike" kern="1200" smtClean="0">
                            <a:solidFill>
                              <a:schemeClr val="tx1"/>
                            </a:solidFill>
                            <a:effectLst/>
                            <a:latin typeface="Cambria Math" panose="02040503050406030204" pitchFamily="18" charset="0"/>
                            <a:ea typeface="Cambria Math" panose="02040503050406030204" pitchFamily="18" charset="0"/>
                          </a:rPr>
                          <m:t>𝑆</m:t>
                        </m:r>
                      </m:sub>
                      <m:sup/>
                      <m:e>
                        <m:d>
                          <m:dPr>
                            <m:ctrlPr>
                              <a:rPr lang="it-IT" sz="2400" b="0" i="1" u="none" strike="noStrike" kern="1200" smtClean="0">
                                <a:solidFill>
                                  <a:schemeClr val="tx1"/>
                                </a:solidFill>
                                <a:effectLst/>
                                <a:latin typeface="Cambria Math" panose="02040503050406030204" pitchFamily="18" charset="0"/>
                                <a:ea typeface="Cambria Math" panose="02040503050406030204" pitchFamily="18" charset="0"/>
                              </a:rPr>
                            </m:ctrlPr>
                          </m:dPr>
                          <m:e>
                            <m:sSub>
                              <m:sSubPr>
                                <m:ctrlPr>
                                  <a:rPr lang="it-IT" sz="2400" b="0" i="1" u="none" strike="noStrike" kern="1200" smtClean="0">
                                    <a:solidFill>
                                      <a:srgbClr val="FF0000"/>
                                    </a:solidFill>
                                    <a:effectLst/>
                                    <a:latin typeface="Cambria Math" panose="02040503050406030204" pitchFamily="18" charset="0"/>
                                    <a:ea typeface="Cambria Math" panose="02040503050406030204" pitchFamily="18" charset="0"/>
                                  </a:rPr>
                                </m:ctrlPr>
                              </m:sSubPr>
                              <m:e>
                                <m:r>
                                  <a:rPr lang="it-IT" sz="2400" b="0" i="1" u="none" strike="noStrike" kern="1200" smtClean="0">
                                    <a:solidFill>
                                      <a:srgbClr val="FF0000"/>
                                    </a:solidFill>
                                    <a:effectLst/>
                                    <a:latin typeface="Cambria Math" panose="02040503050406030204" pitchFamily="18" charset="0"/>
                                    <a:ea typeface="Cambria Math" panose="02040503050406030204" pitchFamily="18" charset="0"/>
                                  </a:rPr>
                                  <m:t>𝑝</m:t>
                                </m:r>
                              </m:e>
                              <m:sub>
                                <m:r>
                                  <a:rPr lang="it-IT" sz="2400" b="0" i="1" u="none" strike="noStrike" kern="1200" smtClean="0">
                                    <a:solidFill>
                                      <a:srgbClr val="FF0000"/>
                                    </a:solidFill>
                                    <a:effectLst/>
                                    <a:latin typeface="Cambria Math" panose="02040503050406030204" pitchFamily="18" charset="0"/>
                                    <a:ea typeface="Cambria Math" panose="02040503050406030204" pitchFamily="18" charset="0"/>
                                  </a:rPr>
                                  <m:t>𝑠</m:t>
                                </m:r>
                              </m:sub>
                            </m:sSub>
                            <m:nary>
                              <m:naryPr>
                                <m:chr m:val="∑"/>
                                <m:supHide m:val="on"/>
                                <m:ctrlPr>
                                  <a:rPr lang="en-US" i="1">
                                    <a:latin typeface="Cambria Math" panose="02040503050406030204" pitchFamily="18" charset="0"/>
                                    <a:ea typeface="Cambria Math" panose="02040503050406030204" pitchFamily="18" charset="0"/>
                                  </a:rPr>
                                </m:ctrlPr>
                              </m:naryPr>
                              <m:sub>
                                <m:r>
                                  <m:rPr>
                                    <m:brk m:alnAt="7"/>
                                  </m:rPr>
                                  <a:rPr lang="en-US">
                                    <a:latin typeface="Cambria Math" panose="02040503050406030204" pitchFamily="18" charset="0"/>
                                    <a:ea typeface="Cambria Math" panose="02040503050406030204" pitchFamily="18" charset="0"/>
                                  </a:rPr>
                                  <m:t>𝑖</m:t>
                                </m:r>
                                <m:r>
                                  <a:rPr lang="en-US">
                                    <a:latin typeface="Cambria Math" panose="02040503050406030204" pitchFamily="18" charset="0"/>
                                    <a:ea typeface="Cambria Math" panose="02040503050406030204" pitchFamily="18" charset="0"/>
                                  </a:rPr>
                                  <m:t>∈</m:t>
                                </m:r>
                                <m:r>
                                  <a:rPr lang="it-IT" i="1">
                                    <a:latin typeface="Cambria Math" panose="02040503050406030204" pitchFamily="18" charset="0"/>
                                    <a:ea typeface="Cambria Math" panose="02040503050406030204" pitchFamily="18" charset="0"/>
                                  </a:rPr>
                                  <m:t>𝐼</m:t>
                                </m:r>
                              </m:sub>
                              <m:sup/>
                              <m:e>
                                <m:d>
                                  <m:dPr>
                                    <m:ctrlPr>
                                      <a:rPr lang="it-IT" i="1" smtClean="0">
                                        <a:latin typeface="Cambria Math" panose="02040503050406030204" pitchFamily="18" charset="0"/>
                                        <a:ea typeface="Cambria Math" panose="02040503050406030204" pitchFamily="18" charset="0"/>
                                      </a:rPr>
                                    </m:ctrlPr>
                                  </m:dPr>
                                  <m:e>
                                    <m:nary>
                                      <m:naryPr>
                                        <m:chr m:val="∑"/>
                                        <m:limLoc m:val="subSup"/>
                                        <m:supHide m:val="on"/>
                                        <m:ctrlPr>
                                          <a:rPr lang="en-US" i="1">
                                            <a:latin typeface="Cambria Math" panose="02040503050406030204" pitchFamily="18" charset="0"/>
                                            <a:ea typeface="Cambria Math" panose="02040503050406030204" pitchFamily="18" charset="0"/>
                                          </a:rPr>
                                        </m:ctrlPr>
                                      </m:naryPr>
                                      <m:sub>
                                        <m:r>
                                          <m:rPr>
                                            <m:brk m:alnAt="9"/>
                                          </m:rPr>
                                          <a:rPr lang="en-US">
                                            <a:latin typeface="Cambria Math" panose="02040503050406030204" pitchFamily="18" charset="0"/>
                                            <a:ea typeface="Cambria Math" panose="02040503050406030204" pitchFamily="18" charset="0"/>
                                          </a:rPr>
                                          <m:t>𝑗</m:t>
                                        </m:r>
                                        <m:r>
                                          <a:rPr lang="en-US">
                                            <a:latin typeface="Cambria Math" panose="02040503050406030204" pitchFamily="18" charset="0"/>
                                            <a:ea typeface="Cambria Math" panose="02040503050406030204" pitchFamily="18" charset="0"/>
                                          </a:rPr>
                                          <m:t>∈</m:t>
                                        </m:r>
                                        <m:r>
                                          <a:rPr lang="it-IT" i="1">
                                            <a:latin typeface="Cambria Math" panose="02040503050406030204" pitchFamily="18" charset="0"/>
                                            <a:ea typeface="Cambria Math" panose="02040503050406030204" pitchFamily="18" charset="0"/>
                                          </a:rPr>
                                          <m:t>𝐽</m:t>
                                        </m:r>
                                      </m:sub>
                                      <m:sup/>
                                      <m:e>
                                        <m:sSub>
                                          <m:sSubPr>
                                            <m:ctrlPr>
                                              <a:rPr lang="en-US" i="1">
                                                <a:latin typeface="Cambria Math" panose="02040503050406030204" pitchFamily="18" charset="0"/>
                                                <a:ea typeface="Cambria Math" panose="02040503050406030204" pitchFamily="18" charset="0"/>
                                              </a:rPr>
                                            </m:ctrlPr>
                                          </m:sSubPr>
                                          <m:e>
                                            <m:r>
                                              <a:rPr lang="it-IT">
                                                <a:latin typeface="Cambria Math" panose="02040503050406030204" pitchFamily="18" charset="0"/>
                                                <a:ea typeface="Cambria Math" panose="02040503050406030204" pitchFamily="18" charset="0"/>
                                              </a:rPr>
                                              <m:t>(</m:t>
                                            </m:r>
                                            <m:r>
                                              <m:rPr>
                                                <m:sty m:val="p"/>
                                              </m:rPr>
                                              <a:rPr lang="en-US">
                                                <a:latin typeface="Cambria Math" panose="02040503050406030204" pitchFamily="18" charset="0"/>
                                                <a:ea typeface="Cambria Math" panose="02040503050406030204" pitchFamily="18" charset="0"/>
                                              </a:rPr>
                                              <m:t>c</m:t>
                                            </m:r>
                                          </m:e>
                                          <m:sub>
                                            <m:r>
                                              <m:rPr>
                                                <m:sty m:val="p"/>
                                              </m:rPr>
                                              <a:rPr lang="en-US">
                                                <a:latin typeface="Cambria Math" panose="02040503050406030204" pitchFamily="18" charset="0"/>
                                                <a:ea typeface="Cambria Math" panose="02040503050406030204" pitchFamily="18" charset="0"/>
                                              </a:rPr>
                                              <m:t>ij</m:t>
                                            </m:r>
                                          </m:sub>
                                        </m:sSub>
                                        <m:sSub>
                                          <m:sSubPr>
                                            <m:ctrlPr>
                                              <a:rPr lang="en-US" i="1">
                                                <a:latin typeface="Cambria Math" panose="02040503050406030204" pitchFamily="18" charset="0"/>
                                                <a:ea typeface="Cambria Math" panose="02040503050406030204" pitchFamily="18" charset="0"/>
                                              </a:rPr>
                                            </m:ctrlPr>
                                          </m:sSubPr>
                                          <m:e>
                                            <m:r>
                                              <a:rPr lang="en-US">
                                                <a:latin typeface="Cambria Math" panose="02040503050406030204" pitchFamily="18" charset="0"/>
                                                <a:ea typeface="Cambria Math" panose="02040503050406030204" pitchFamily="18" charset="0"/>
                                              </a:rPr>
                                              <m:t>𝑥</m:t>
                                            </m:r>
                                          </m:e>
                                          <m:sub>
                                            <m:r>
                                              <m:rPr>
                                                <m:sty m:val="p"/>
                                              </m:rPr>
                                              <a:rPr lang="en-US">
                                                <a:latin typeface="Cambria Math" panose="02040503050406030204" pitchFamily="18" charset="0"/>
                                                <a:ea typeface="Cambria Math" panose="02040503050406030204" pitchFamily="18" charset="0"/>
                                              </a:rPr>
                                              <m:t>ij</m:t>
                                            </m:r>
                                          </m:sub>
                                        </m:sSub>
                                      </m:e>
                                    </m:nary>
                                    <m:r>
                                      <a:rPr lang="it-IT" i="1">
                                        <a:latin typeface="Cambria Math" panose="02040503050406030204" pitchFamily="18" charset="0"/>
                                        <a:ea typeface="Cambria Math" panose="02040503050406030204" pitchFamily="18" charset="0"/>
                                      </a:rPr>
                                      <m:t>+</m:t>
                                    </m:r>
                                    <m:sSub>
                                      <m:sSubPr>
                                        <m:ctrlPr>
                                          <a:rPr lang="it-IT" i="1">
                                            <a:latin typeface="Cambria Math" panose="02040503050406030204" pitchFamily="18" charset="0"/>
                                            <a:ea typeface="Cambria Math" panose="02040503050406030204" pitchFamily="18" charset="0"/>
                                          </a:rPr>
                                        </m:ctrlPr>
                                      </m:sSubPr>
                                      <m:e>
                                        <m:r>
                                          <a:rPr lang="it-IT" i="1">
                                            <a:latin typeface="Cambria Math" panose="02040503050406030204" pitchFamily="18" charset="0"/>
                                            <a:ea typeface="Cambria Math" panose="02040503050406030204" pitchFamily="18" charset="0"/>
                                          </a:rPr>
                                          <m:t>𝑑</m:t>
                                        </m:r>
                                      </m:e>
                                      <m:sub>
                                        <m:r>
                                          <a:rPr lang="it-IT" i="1">
                                            <a:latin typeface="Cambria Math" panose="02040503050406030204" pitchFamily="18" charset="0"/>
                                            <a:ea typeface="Cambria Math" panose="02040503050406030204" pitchFamily="18" charset="0"/>
                                          </a:rPr>
                                          <m:t>𝑖</m:t>
                                        </m:r>
                                      </m:sub>
                                    </m:sSub>
                                    <m:sSubSup>
                                      <m:sSubSupPr>
                                        <m:ctrlPr>
                                          <a:rPr lang="it-IT" b="0" i="1" smtClean="0">
                                            <a:solidFill>
                                              <a:srgbClr val="FF0000"/>
                                            </a:solidFill>
                                            <a:latin typeface="Cambria Math" panose="02040503050406030204" pitchFamily="18" charset="0"/>
                                            <a:ea typeface="Cambria Math" panose="02040503050406030204" pitchFamily="18" charset="0"/>
                                          </a:rPr>
                                        </m:ctrlPr>
                                      </m:sSubSupPr>
                                      <m:e>
                                        <m:r>
                                          <a:rPr lang="it-IT" i="1">
                                            <a:solidFill>
                                              <a:srgbClr val="FF0000"/>
                                            </a:solidFill>
                                            <a:latin typeface="Cambria Math" panose="02040503050406030204" pitchFamily="18" charset="0"/>
                                            <a:ea typeface="Cambria Math" panose="02040503050406030204" pitchFamily="18" charset="0"/>
                                          </a:rPr>
                                          <m:t>𝑞</m:t>
                                        </m:r>
                                      </m:e>
                                      <m:sub>
                                        <m:r>
                                          <a:rPr lang="it-IT" i="1">
                                            <a:solidFill>
                                              <a:srgbClr val="FF0000"/>
                                            </a:solidFill>
                                            <a:latin typeface="Cambria Math" panose="02040503050406030204" pitchFamily="18" charset="0"/>
                                            <a:ea typeface="Cambria Math" panose="02040503050406030204" pitchFamily="18" charset="0"/>
                                          </a:rPr>
                                          <m:t>𝑖𝑗</m:t>
                                        </m:r>
                                      </m:sub>
                                      <m:sup>
                                        <m:r>
                                          <a:rPr lang="it-IT" b="0" i="1" smtClean="0">
                                            <a:solidFill>
                                              <a:srgbClr val="FF0000"/>
                                            </a:solidFill>
                                            <a:latin typeface="Cambria Math" panose="02040503050406030204" pitchFamily="18" charset="0"/>
                                            <a:ea typeface="Cambria Math" panose="02040503050406030204" pitchFamily="18" charset="0"/>
                                          </a:rPr>
                                          <m:t>𝑠</m:t>
                                        </m:r>
                                      </m:sup>
                                    </m:sSubSup>
                                    <m:r>
                                      <a:rPr lang="it-IT" i="1">
                                        <a:latin typeface="Cambria Math" panose="02040503050406030204" pitchFamily="18" charset="0"/>
                                        <a:ea typeface="Cambria Math" panose="02040503050406030204" pitchFamily="18" charset="0"/>
                                      </a:rPr>
                                      <m:t>)</m:t>
                                    </m:r>
                                    <m:r>
                                      <a:rPr lang="it-IT" b="0" i="1" smtClean="0">
                                        <a:latin typeface="Cambria Math" panose="02040503050406030204" pitchFamily="18" charset="0"/>
                                        <a:ea typeface="Cambria Math" panose="02040503050406030204" pitchFamily="18" charset="0"/>
                                      </a:rPr>
                                      <m:t>+</m:t>
                                    </m:r>
                                    <m:r>
                                      <a:rPr lang="it-IT" b="0" i="1" smtClean="0">
                                        <a:latin typeface="Cambria Math" panose="02040503050406030204" pitchFamily="18" charset="0"/>
                                        <a:ea typeface="Cambria Math" panose="02040503050406030204" pitchFamily="18" charset="0"/>
                                      </a:rPr>
                                      <m:t>𝑀</m:t>
                                    </m:r>
                                    <m:sSub>
                                      <m:sSubPr>
                                        <m:ctrlPr>
                                          <a:rPr lang="it-IT" b="0" i="1" smtClean="0">
                                            <a:solidFill>
                                              <a:srgbClr val="FF0000"/>
                                            </a:solidFill>
                                            <a:latin typeface="Cambria Math" panose="02040503050406030204" pitchFamily="18" charset="0"/>
                                            <a:ea typeface="Cambria Math" panose="02040503050406030204" pitchFamily="18" charset="0"/>
                                          </a:rPr>
                                        </m:ctrlPr>
                                      </m:sSubPr>
                                      <m:e>
                                        <m:r>
                                          <a:rPr lang="it-IT" b="0" i="1" smtClean="0">
                                            <a:solidFill>
                                              <a:srgbClr val="FF0000"/>
                                            </a:solidFill>
                                            <a:latin typeface="Cambria Math" panose="02040503050406030204" pitchFamily="18" charset="0"/>
                                            <a:ea typeface="Cambria Math" panose="02040503050406030204" pitchFamily="18" charset="0"/>
                                          </a:rPr>
                                          <m:t>𝜖</m:t>
                                        </m:r>
                                      </m:e>
                                      <m:sub>
                                        <m:r>
                                          <a:rPr lang="it-IT" b="0" i="1" smtClean="0">
                                            <a:solidFill>
                                              <a:srgbClr val="FF0000"/>
                                            </a:solidFill>
                                            <a:latin typeface="Cambria Math" panose="02040503050406030204" pitchFamily="18" charset="0"/>
                                            <a:ea typeface="Cambria Math" panose="02040503050406030204" pitchFamily="18" charset="0"/>
                                          </a:rPr>
                                          <m:t>𝑗𝑠</m:t>
                                        </m:r>
                                      </m:sub>
                                    </m:sSub>
                                  </m:e>
                                </m:d>
                              </m:e>
                            </m:nary>
                          </m:e>
                        </m:d>
                      </m:e>
                    </m:nary>
                  </m:oMath>
                </a14:m>
                <a:r>
                  <a:rPr lang="en-US" sz="2400" b="0" i="0" u="none" strike="noStrike" kern="1200" dirty="0">
                    <a:solidFill>
                      <a:schemeClr val="tx1"/>
                    </a:solidFill>
                    <a:effectLst/>
                    <a:latin typeface="Cambria Math" panose="02040503050406030204" pitchFamily="18" charset="0"/>
                    <a:ea typeface="Cambria Math" panose="02040503050406030204" pitchFamily="18" charset="0"/>
                  </a:rPr>
                  <a:t>	(1)</a:t>
                </a:r>
                <a:endParaRPr lang="en-US" sz="2400" b="0" i="0" u="none" strike="noStrike" dirty="0">
                  <a:solidFill>
                    <a:schemeClr val="tx1"/>
                  </a:solidFill>
                  <a:effectLst/>
                  <a:latin typeface="Arial" panose="020B0604020202020204" pitchFamily="34" charset="0"/>
                </a:endParaRPr>
              </a:p>
              <a:p>
                <a:pPr fontAlgn="ctr">
                  <a:lnSpc>
                    <a:spcPct val="150000"/>
                  </a:lnSpc>
                  <a:spcBef>
                    <a:spcPts val="0"/>
                  </a:spcBef>
                  <a:tabLst>
                    <a:tab pos="1789113" algn="l"/>
                    <a:tab pos="5024438" algn="l"/>
                    <a:tab pos="7543800" algn="l"/>
                  </a:tabLst>
                </a:pPr>
                <a:r>
                  <a:rPr lang="en-US" sz="2400" b="1" i="1" u="none" strike="noStrike" kern="1200" dirty="0">
                    <a:solidFill>
                      <a:schemeClr val="tx1"/>
                    </a:solidFill>
                    <a:effectLst/>
                    <a:latin typeface="Cambria Math" panose="02040503050406030204" pitchFamily="18" charset="0"/>
                    <a:ea typeface="Cambria Math" panose="02040503050406030204" pitchFamily="18" charset="0"/>
                  </a:rPr>
                  <a:t>subject to</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14:m>
                  <m:oMath xmlns:m="http://schemas.openxmlformats.org/officeDocument/2006/math">
                    <m:nary>
                      <m:naryPr>
                        <m:chr m:val="∑"/>
                        <m:supHide m:val="on"/>
                        <m:ctrlPr>
                          <a:rPr lang="en-US" i="1">
                            <a:latin typeface="Cambria Math" panose="02040503050406030204" pitchFamily="18" charset="0"/>
                            <a:ea typeface="Cambria Math" panose="02040503050406030204" pitchFamily="18" charset="0"/>
                          </a:rPr>
                        </m:ctrlPr>
                      </m:naryPr>
                      <m:sub>
                        <m:r>
                          <a:rPr lang="en-US" i="1">
                            <a:latin typeface="Cambria Math" panose="02040503050406030204" pitchFamily="18" charset="0"/>
                            <a:ea typeface="Cambria Math" panose="02040503050406030204" pitchFamily="18" charset="0"/>
                          </a:rPr>
                          <m:t>𝑖</m:t>
                        </m:r>
                        <m:r>
                          <a:rPr lang="en-US">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𝐼</m:t>
                        </m:r>
                      </m:sub>
                      <m:sup/>
                      <m:e>
                        <m:sSubSup>
                          <m:sSubSupPr>
                            <m:ctrlPr>
                              <a:rPr lang="it-IT" b="0" i="1" smtClean="0">
                                <a:solidFill>
                                  <a:srgbClr val="FF0000"/>
                                </a:solidFill>
                                <a:latin typeface="Cambria Math" panose="02040503050406030204" pitchFamily="18" charset="0"/>
                                <a:ea typeface="Cambria Math" panose="02040503050406030204" pitchFamily="18" charset="0"/>
                              </a:rPr>
                            </m:ctrlPr>
                          </m:sSubSupPr>
                          <m:e>
                            <m:r>
                              <a:rPr lang="en-US">
                                <a:solidFill>
                                  <a:srgbClr val="FF0000"/>
                                </a:solidFill>
                                <a:latin typeface="Cambria Math" panose="02040503050406030204" pitchFamily="18" charset="0"/>
                                <a:ea typeface="Cambria Math" panose="02040503050406030204" pitchFamily="18" charset="0"/>
                              </a:rPr>
                              <m:t>𝑞</m:t>
                            </m:r>
                          </m:e>
                          <m:sub>
                            <m:r>
                              <m:rPr>
                                <m:sty m:val="p"/>
                              </m:rPr>
                              <a:rPr lang="en-US">
                                <a:solidFill>
                                  <a:srgbClr val="FF0000"/>
                                </a:solidFill>
                                <a:latin typeface="Cambria Math" panose="02040503050406030204" pitchFamily="18" charset="0"/>
                                <a:ea typeface="Cambria Math" panose="02040503050406030204" pitchFamily="18" charset="0"/>
                              </a:rPr>
                              <m:t>ij</m:t>
                            </m:r>
                          </m:sub>
                          <m:sup>
                            <m:r>
                              <m:rPr>
                                <m:sty m:val="p"/>
                              </m:rPr>
                              <a:rPr lang="it-IT" b="0" i="0" smtClean="0">
                                <a:solidFill>
                                  <a:srgbClr val="FF0000"/>
                                </a:solidFill>
                                <a:latin typeface="Cambria Math" panose="02040503050406030204" pitchFamily="18" charset="0"/>
                                <a:ea typeface="Cambria Math" panose="02040503050406030204" pitchFamily="18" charset="0"/>
                              </a:rPr>
                              <m:t>s</m:t>
                            </m:r>
                          </m:sup>
                        </m:sSubSup>
                      </m:e>
                    </m:nary>
                    <m:r>
                      <a:rPr lang="it-IT" b="0" i="1" smtClean="0">
                        <a:latin typeface="Cambria Math" panose="02040503050406030204" pitchFamily="18" charset="0"/>
                        <a:ea typeface="Cambria Math" panose="02040503050406030204" pitchFamily="18" charset="0"/>
                      </a:rPr>
                      <m:t>+</m:t>
                    </m:r>
                    <m:sSub>
                      <m:sSubPr>
                        <m:ctrlPr>
                          <a:rPr lang="it-IT" b="0" i="1" smtClean="0">
                            <a:solidFill>
                              <a:srgbClr val="FF0000"/>
                            </a:solidFill>
                            <a:latin typeface="Cambria Math" panose="02040503050406030204" pitchFamily="18" charset="0"/>
                            <a:ea typeface="Cambria Math" panose="02040503050406030204" pitchFamily="18" charset="0"/>
                          </a:rPr>
                        </m:ctrlPr>
                      </m:sSubPr>
                      <m:e>
                        <m:r>
                          <a:rPr lang="it-IT" b="0" i="1" smtClean="0">
                            <a:solidFill>
                              <a:srgbClr val="FF0000"/>
                            </a:solidFill>
                            <a:latin typeface="Cambria Math" panose="02040503050406030204" pitchFamily="18" charset="0"/>
                            <a:ea typeface="Cambria Math" panose="02040503050406030204" pitchFamily="18" charset="0"/>
                          </a:rPr>
                          <m:t>𝜖</m:t>
                        </m:r>
                      </m:e>
                      <m:sub>
                        <m:r>
                          <a:rPr lang="it-IT" b="0" i="1" smtClean="0">
                            <a:solidFill>
                              <a:srgbClr val="FF0000"/>
                            </a:solidFill>
                            <a:latin typeface="Cambria Math" panose="02040503050406030204" pitchFamily="18" charset="0"/>
                            <a:ea typeface="Cambria Math" panose="02040503050406030204" pitchFamily="18" charset="0"/>
                          </a:rPr>
                          <m:t>𝑗𝑠</m:t>
                        </m:r>
                      </m:sub>
                    </m:sSub>
                    <m:r>
                      <a:rPr lang="en-US">
                        <a:latin typeface="Cambria Math" panose="02040503050406030204" pitchFamily="18" charset="0"/>
                        <a:ea typeface="Cambria Math" panose="02040503050406030204" pitchFamily="18" charset="0"/>
                      </a:rPr>
                      <m:t>=</m:t>
                    </m:r>
                    <m:sSubSup>
                      <m:sSubSupPr>
                        <m:ctrlPr>
                          <a:rPr lang="it-IT" b="0" i="1" smtClean="0">
                            <a:solidFill>
                              <a:srgbClr val="FF0000"/>
                            </a:solidFill>
                            <a:latin typeface="Cambria Math" panose="02040503050406030204" pitchFamily="18" charset="0"/>
                            <a:ea typeface="Cambria Math" panose="02040503050406030204" pitchFamily="18" charset="0"/>
                          </a:rPr>
                        </m:ctrlPr>
                      </m:sSubSupPr>
                      <m:e>
                        <m:r>
                          <a:rPr lang="it-IT" b="0" i="1" smtClean="0">
                            <a:solidFill>
                              <a:srgbClr val="FF0000"/>
                            </a:solidFill>
                            <a:latin typeface="Cambria Math" panose="02040503050406030204" pitchFamily="18" charset="0"/>
                            <a:ea typeface="Cambria Math" panose="02040503050406030204" pitchFamily="18" charset="0"/>
                          </a:rPr>
                          <m:t>𝜌</m:t>
                        </m:r>
                      </m:e>
                      <m:sub>
                        <m:r>
                          <m:rPr>
                            <m:sty m:val="p"/>
                          </m:rPr>
                          <a:rPr lang="en-US">
                            <a:solidFill>
                              <a:srgbClr val="FF0000"/>
                            </a:solidFill>
                            <a:latin typeface="Cambria Math" panose="02040503050406030204" pitchFamily="18" charset="0"/>
                            <a:ea typeface="Cambria Math" panose="02040503050406030204" pitchFamily="18" charset="0"/>
                          </a:rPr>
                          <m:t>j</m:t>
                        </m:r>
                      </m:sub>
                      <m:sup>
                        <m:r>
                          <a:rPr lang="it-IT" b="0" i="1" smtClean="0">
                            <a:solidFill>
                              <a:srgbClr val="FF0000"/>
                            </a:solidFill>
                            <a:latin typeface="Cambria Math" panose="02040503050406030204" pitchFamily="18" charset="0"/>
                            <a:ea typeface="Cambria Math" panose="02040503050406030204" pitchFamily="18" charset="0"/>
                          </a:rPr>
                          <m:t>𝑠</m:t>
                        </m:r>
                      </m:sup>
                    </m:sSubSup>
                  </m:oMath>
                </a14:m>
                <a:r>
                  <a:rPr lang="en-US" dirty="0">
                    <a:solidFill>
                      <a:schemeClr val="tx1"/>
                    </a:solidFill>
                    <a:latin typeface="Arial" panose="020B0604020202020204" pitchFamily="34"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J, s </a:t>
                </a:r>
                <a:r>
                  <a:rPr lang="en-US"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dirty="0">
                    <a:solidFill>
                      <a:schemeClr val="tx1"/>
                    </a:solidFill>
                    <a:latin typeface="Cambria Math" panose="02040503050406030204" pitchFamily="18" charset="0"/>
                    <a:ea typeface="Cambria Math" panose="02040503050406030204" pitchFamily="18" charset="0"/>
                  </a:rPr>
                  <a:t>S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(2)</a:t>
                </a:r>
                <a:endParaRPr lang="en-US" sz="2400" dirty="0">
                  <a:solidFill>
                    <a:schemeClr val="tx1"/>
                  </a:solidFill>
                  <a:latin typeface="Arial" panose="020B0604020202020204" pitchFamily="34" charset="0"/>
                </a:endParaRPr>
              </a:p>
              <a:p>
                <a:pPr fontAlgn="ctr">
                  <a:lnSpc>
                    <a:spcPct val="150000"/>
                  </a:lnSpc>
                  <a:spcBef>
                    <a:spcPts val="0"/>
                  </a:spcBef>
                  <a:tabLst>
                    <a:tab pos="1789113" algn="l"/>
                    <a:tab pos="5024438" algn="l"/>
                    <a:tab pos="7543800" algn="l"/>
                  </a:tabLst>
                </a:pPr>
                <a:r>
                  <a:rPr lang="en-US" sz="2400" b="0" u="none" strike="noStrike" kern="1200" dirty="0">
                    <a:solidFill>
                      <a:schemeClr val="tx1"/>
                    </a:solidFill>
                    <a:effectLst/>
                    <a:ea typeface="Cambria Math" panose="02040503050406030204" pitchFamily="18" charset="0"/>
                  </a:rPr>
                  <a:t>	</a:t>
                </a:r>
                <a14:m>
                  <m:oMath xmlns:m="http://schemas.openxmlformats.org/officeDocument/2006/math">
                    <m:nary>
                      <m:naryPr>
                        <m:chr m:val="∑"/>
                        <m:supHide m:val="on"/>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naryPr>
                      <m:sub>
                        <m:r>
                          <a:rPr lang="en-US" sz="2400" b="0" i="0" u="none" strike="noStrike" kern="1200">
                            <a:solidFill>
                              <a:schemeClr val="tx1"/>
                            </a:solidFill>
                            <a:effectLst/>
                            <a:latin typeface="Cambria Math" panose="02040503050406030204" pitchFamily="18" charset="0"/>
                            <a:ea typeface="Cambria Math" panose="02040503050406030204" pitchFamily="18" charset="0"/>
                          </a:rPr>
                          <m:t>𝑗</m:t>
                        </m:r>
                        <m:r>
                          <a:rPr lang="en-US" sz="2400" b="0" i="0" u="none" strike="noStrike" kern="1200">
                            <a:solidFill>
                              <a:schemeClr val="tx1"/>
                            </a:solidFill>
                            <a:effectLst/>
                            <a:latin typeface="Cambria Math" panose="02040503050406030204" pitchFamily="18" charset="0"/>
                            <a:ea typeface="Cambria Math" panose="02040503050406030204" pitchFamily="18" charset="0"/>
                          </a:rPr>
                          <m:t>∈</m:t>
                        </m:r>
                        <m:r>
                          <a:rPr lang="it-IT" sz="2400" b="0" i="1" u="none" strike="noStrike" kern="1200">
                            <a:solidFill>
                              <a:schemeClr val="tx1"/>
                            </a:solidFill>
                            <a:effectLst/>
                            <a:latin typeface="Cambria Math" panose="02040503050406030204" pitchFamily="18" charset="0"/>
                            <a:ea typeface="Cambria Math" panose="02040503050406030204" pitchFamily="18" charset="0"/>
                          </a:rPr>
                          <m:t>𝐽</m:t>
                        </m:r>
                      </m:sub>
                      <m:sup/>
                      <m:e>
                        <m:sSubSup>
                          <m:sSubSupPr>
                            <m:ctrlPr>
                              <a:rPr lang="it-IT" sz="2400" b="0" i="1" u="none" strike="noStrike" kern="1200" smtClean="0">
                                <a:solidFill>
                                  <a:srgbClr val="FF0000"/>
                                </a:solidFill>
                                <a:effectLst/>
                                <a:latin typeface="Cambria Math" panose="02040503050406030204" pitchFamily="18" charset="0"/>
                                <a:ea typeface="Cambria Math" panose="02040503050406030204" pitchFamily="18" charset="0"/>
                              </a:rPr>
                            </m:ctrlPr>
                          </m:sSubSupPr>
                          <m:e>
                            <m:r>
                              <a:rPr lang="en-US" sz="2400" b="0" i="0" u="none" strike="noStrike" kern="1200">
                                <a:solidFill>
                                  <a:srgbClr val="FF0000"/>
                                </a:solidFill>
                                <a:effectLst/>
                                <a:latin typeface="Cambria Math" panose="02040503050406030204" pitchFamily="18" charset="0"/>
                                <a:ea typeface="Cambria Math" panose="02040503050406030204" pitchFamily="18" charset="0"/>
                              </a:rPr>
                              <m:t>𝑞</m:t>
                            </m:r>
                          </m:e>
                          <m:sub>
                            <m:r>
                              <m:rPr>
                                <m:sty m:val="p"/>
                              </m:rPr>
                              <a:rPr lang="en-US" sz="2400" b="0" i="0" u="none" strike="noStrike" kern="1200">
                                <a:solidFill>
                                  <a:srgbClr val="FF0000"/>
                                </a:solidFill>
                                <a:effectLst/>
                                <a:latin typeface="Cambria Math" panose="02040503050406030204" pitchFamily="18" charset="0"/>
                                <a:ea typeface="Cambria Math" panose="02040503050406030204" pitchFamily="18" charset="0"/>
                              </a:rPr>
                              <m:t>ij</m:t>
                            </m:r>
                          </m:sub>
                          <m:sup>
                            <m:r>
                              <m:rPr>
                                <m:sty m:val="p"/>
                              </m:rPr>
                              <a:rPr lang="it-IT" sz="2400" b="0" i="0" u="none" strike="noStrike" kern="1200" smtClean="0">
                                <a:solidFill>
                                  <a:srgbClr val="FF0000"/>
                                </a:solidFill>
                                <a:effectLst/>
                                <a:latin typeface="Cambria Math" panose="02040503050406030204" pitchFamily="18" charset="0"/>
                                <a:ea typeface="Cambria Math" panose="02040503050406030204" pitchFamily="18" charset="0"/>
                              </a:rPr>
                              <m:t>s</m:t>
                            </m:r>
                          </m:sup>
                        </m:sSubSup>
                      </m:e>
                    </m:nary>
                    <m:r>
                      <a:rPr lang="en-US" sz="2400" b="0" i="0" u="none" strike="noStrike" kern="1200">
                        <a:solidFill>
                          <a:schemeClr val="tx1"/>
                        </a:solidFill>
                        <a:effectLst/>
                        <a:latin typeface="Cambria Math" panose="02040503050406030204" pitchFamily="18" charset="0"/>
                        <a:ea typeface="Cambria Math" panose="02040503050406030204" pitchFamily="18" charset="0"/>
                      </a:rPr>
                      <m:t>≤</m:t>
                    </m:r>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en-US" sz="2400" b="0" i="0" u="none" strike="noStrike" kern="1200">
                            <a:solidFill>
                              <a:schemeClr val="tx1"/>
                            </a:solidFill>
                            <a:effectLst/>
                            <a:latin typeface="Cambria Math" panose="02040503050406030204" pitchFamily="18" charset="0"/>
                            <a:ea typeface="Cambria Math" panose="02040503050406030204" pitchFamily="18" charset="0"/>
                          </a:rPr>
                          <m:t>𝑄</m:t>
                        </m:r>
                      </m:e>
                      <m:sub>
                        <m:r>
                          <a:rPr lang="en-US" sz="2400" b="0" i="0" u="none" strike="noStrike" kern="1200">
                            <a:solidFill>
                              <a:schemeClr val="tx1"/>
                            </a:solidFill>
                            <a:effectLst/>
                            <a:latin typeface="Cambria Math" panose="02040503050406030204" pitchFamily="18" charset="0"/>
                            <a:ea typeface="Cambria Math" panose="02040503050406030204" pitchFamily="18" charset="0"/>
                          </a:rPr>
                          <m:t>𝑖</m:t>
                        </m:r>
                      </m:sub>
                    </m:sSub>
                  </m:oMath>
                </a14:m>
                <a:r>
                  <a:rPr lang="en-US" sz="2400" dirty="0">
                    <a:solidFill>
                      <a:schemeClr val="tx1"/>
                    </a:solidFill>
                    <a:latin typeface="Arial" panose="020B0604020202020204" pitchFamily="34" charset="0"/>
                  </a:rPr>
                  <a:t> 	</a:t>
                </a:r>
                <a:r>
                  <a:rPr lang="en-US" sz="2400" b="0" i="1" u="none" strike="noStrike" kern="1200" dirty="0" err="1">
                    <a:solidFill>
                      <a:schemeClr val="tx1"/>
                    </a:solidFill>
                    <a:effectLst/>
                    <a:latin typeface="Cambria Math" panose="02040503050406030204" pitchFamily="18" charset="0"/>
                    <a:ea typeface="Cambria Math" panose="02040503050406030204" pitchFamily="18" charset="0"/>
                  </a:rPr>
                  <a:t>i</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I</a:t>
                </a:r>
                <a:r>
                  <a:rPr lang="en-US" dirty="0">
                    <a:solidFill>
                      <a:schemeClr val="tx1"/>
                    </a:solidFill>
                    <a:latin typeface="Cambria Math" panose="02040503050406030204" pitchFamily="18" charset="0"/>
                    <a:ea typeface="Cambria Math" panose="02040503050406030204" pitchFamily="18" charset="0"/>
                  </a:rPr>
                  <a:t>, s </a:t>
                </a:r>
                <a:r>
                  <a:rPr lang="en-US"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dirty="0">
                    <a:solidFill>
                      <a:schemeClr val="tx1"/>
                    </a:solidFill>
                    <a:latin typeface="Cambria Math" panose="02040503050406030204" pitchFamily="18" charset="0"/>
                    <a:ea typeface="Cambria Math" panose="02040503050406030204" pitchFamily="18" charset="0"/>
                  </a:rPr>
                  <a:t>S</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(3)</a:t>
                </a:r>
              </a:p>
              <a:p>
                <a:pPr marL="0" rtl="0" eaLnBrk="1" fontAlgn="ctr" latinLnBrk="0" hangingPunct="1">
                  <a:lnSpc>
                    <a:spcPct val="150000"/>
                  </a:lnSpc>
                  <a:spcBef>
                    <a:spcPts val="0"/>
                  </a:spcBef>
                  <a:spcAft>
                    <a:spcPts val="0"/>
                  </a:spcAft>
                  <a:tabLst>
                    <a:tab pos="1789113" algn="l"/>
                    <a:tab pos="5024438" algn="l"/>
                    <a:tab pos="7543800" algn="l"/>
                  </a:tabLst>
                </a:pPr>
                <a:r>
                  <a:rPr lang="en-US" sz="2400" b="0" u="none" strike="noStrike" kern="1200" dirty="0">
                    <a:solidFill>
                      <a:schemeClr val="tx1"/>
                    </a:solidFill>
                    <a:effectLst/>
                    <a:ea typeface="Cambria Math" panose="02040503050406030204" pitchFamily="18" charset="0"/>
                  </a:rPr>
                  <a:t>	</a:t>
                </a:r>
                <a14:m>
                  <m:oMath xmlns:m="http://schemas.openxmlformats.org/officeDocument/2006/math">
                    <m:nary>
                      <m:naryPr>
                        <m:chr m:val="∑"/>
                        <m:supHide m:val="on"/>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naryPr>
                      <m:sub>
                        <m:r>
                          <a:rPr lang="en-US" sz="2400" b="0" i="0" u="none" strike="noStrike" kern="1200">
                            <a:solidFill>
                              <a:schemeClr val="tx1"/>
                            </a:solidFill>
                            <a:effectLst/>
                            <a:latin typeface="Cambria Math" panose="02040503050406030204" pitchFamily="18" charset="0"/>
                            <a:ea typeface="Cambria Math" panose="02040503050406030204" pitchFamily="18" charset="0"/>
                          </a:rPr>
                          <m:t>𝑖</m:t>
                        </m:r>
                        <m:r>
                          <a:rPr lang="en-US" sz="2400" b="0" i="0" u="none" strike="noStrike" kern="1200">
                            <a:solidFill>
                              <a:schemeClr val="tx1"/>
                            </a:solidFill>
                            <a:effectLst/>
                            <a:latin typeface="Cambria Math" panose="02040503050406030204" pitchFamily="18" charset="0"/>
                            <a:ea typeface="Cambria Math" panose="02040503050406030204" pitchFamily="18" charset="0"/>
                          </a:rPr>
                          <m:t>∈</m:t>
                        </m:r>
                        <m:r>
                          <a:rPr lang="it-IT" sz="2400" b="0" i="1" u="none" strike="noStrike" kern="1200">
                            <a:solidFill>
                              <a:schemeClr val="tx1"/>
                            </a:solidFill>
                            <a:effectLst/>
                            <a:latin typeface="Cambria Math" panose="02040503050406030204" pitchFamily="18" charset="0"/>
                            <a:ea typeface="Cambria Math" panose="02040503050406030204" pitchFamily="18" charset="0"/>
                          </a:rPr>
                          <m:t>𝐼</m:t>
                        </m:r>
                      </m:sub>
                      <m:sup/>
                      <m:e>
                        <m:sSub>
                          <m:sSubPr>
                            <m:ctrlPr>
                              <a:rPr lang="en-US" sz="2400" b="0" i="1" u="none" strike="noStrike" kern="1200">
                                <a:solidFill>
                                  <a:schemeClr val="tx1"/>
                                </a:solidFill>
                                <a:effectLst/>
                                <a:latin typeface="Cambria Math" panose="02040503050406030204" pitchFamily="18" charset="0"/>
                                <a:ea typeface="Cambria Math" panose="02040503050406030204" pitchFamily="18" charset="0"/>
                              </a:rPr>
                            </m:ctrlPr>
                          </m:sSubPr>
                          <m:e>
                            <m:r>
                              <a:rPr lang="en-US" sz="2400" b="0" i="0" u="none" strike="noStrike" kern="1200">
                                <a:solidFill>
                                  <a:schemeClr val="tx1"/>
                                </a:solidFill>
                                <a:effectLst/>
                                <a:latin typeface="Cambria Math" panose="02040503050406030204" pitchFamily="18" charset="0"/>
                                <a:ea typeface="Cambria Math" panose="02040503050406030204" pitchFamily="18" charset="0"/>
                              </a:rPr>
                              <m:t>𝑥</m:t>
                            </m:r>
                          </m:e>
                          <m:sub>
                            <m:r>
                              <m:rPr>
                                <m:sty m:val="p"/>
                              </m:rPr>
                              <a:rPr lang="en-US" sz="2400" b="0" i="0" u="none" strike="noStrike" kern="1200">
                                <a:solidFill>
                                  <a:schemeClr val="tx1"/>
                                </a:solidFill>
                                <a:effectLst/>
                                <a:latin typeface="Cambria Math" panose="02040503050406030204" pitchFamily="18" charset="0"/>
                                <a:ea typeface="Cambria Math" panose="02040503050406030204" pitchFamily="18" charset="0"/>
                              </a:rPr>
                              <m:t>ij</m:t>
                            </m:r>
                          </m:sub>
                        </m:sSub>
                      </m:e>
                    </m:nary>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m:t>
                    </m:r>
                    <m:sSub>
                      <m:sSubPr>
                        <m:ctrlPr>
                          <a:rPr lang="en-US" sz="2400" b="0" i="1" u="none" strike="noStrike" kern="1200" smtClean="0">
                            <a:solidFill>
                              <a:schemeClr val="tx1"/>
                            </a:solidFill>
                            <a:effectLst/>
                            <a:latin typeface="Cambria Math" panose="02040503050406030204" pitchFamily="18" charset="0"/>
                            <a:ea typeface="Cambria Math" panose="02040503050406030204" pitchFamily="18" charset="0"/>
                          </a:rPr>
                        </m:ctrlPr>
                      </m:sSubPr>
                      <m:e>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𝑏</m:t>
                        </m:r>
                      </m:e>
                      <m:sub>
                        <m:r>
                          <m:rPr>
                            <m:sty m:val="p"/>
                          </m:rPr>
                          <a:rPr lang="en-US" sz="2400" b="0" i="0" u="none" strike="noStrike" kern="1200" smtClean="0">
                            <a:solidFill>
                              <a:schemeClr val="tx1"/>
                            </a:solidFill>
                            <a:effectLst/>
                            <a:latin typeface="Cambria Math" panose="02040503050406030204" pitchFamily="18" charset="0"/>
                            <a:ea typeface="Cambria Math" panose="02040503050406030204" pitchFamily="18" charset="0"/>
                          </a:rPr>
                          <m:t>j</m:t>
                        </m:r>
                      </m:sub>
                    </m:sSub>
                  </m:oMath>
                </a14:m>
                <a:r>
                  <a:rPr lang="en-US" sz="2400" b="0" i="0" u="none" strike="noStrike" dirty="0">
                    <a:solidFill>
                      <a:schemeClr val="tx1"/>
                    </a:solidFill>
                    <a:effectLst/>
                    <a:latin typeface="Arial" panose="020B0604020202020204" pitchFamily="34"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J</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(4)</a:t>
                </a:r>
              </a:p>
              <a:p>
                <a:pPr fontAlgn="ctr">
                  <a:lnSpc>
                    <a:spcPct val="150000"/>
                  </a:lnSpc>
                  <a:spcBef>
                    <a:spcPts val="0"/>
                  </a:spcBef>
                  <a:tabLst>
                    <a:tab pos="1789113" algn="l"/>
                    <a:tab pos="5024438" algn="l"/>
                    <a:tab pos="7543800" algn="l"/>
                  </a:tabLst>
                </a:pPr>
                <a:r>
                  <a:rPr lang="en-US" sz="2400" dirty="0">
                    <a:solidFill>
                      <a:schemeClr val="tx1"/>
                    </a:solidFill>
                    <a:ea typeface="Cambria Math" panose="02040503050406030204" pitchFamily="18" charset="0"/>
                  </a:rPr>
                  <a:t>	</a:t>
                </a:r>
                <a14:m>
                  <m:oMath xmlns:m="http://schemas.openxmlformats.org/officeDocument/2006/math">
                    <m:sSubSup>
                      <m:sSubSupPr>
                        <m:ctrlPr>
                          <a:rPr lang="it-IT" sz="2400" b="0" i="1" smtClean="0">
                            <a:solidFill>
                              <a:srgbClr val="FF0000"/>
                            </a:solidFill>
                            <a:latin typeface="Cambria Math" panose="02040503050406030204" pitchFamily="18" charset="0"/>
                            <a:ea typeface="Cambria Math" panose="02040503050406030204" pitchFamily="18" charset="0"/>
                          </a:rPr>
                        </m:ctrlPr>
                      </m:sSubSupPr>
                      <m:e>
                        <m:r>
                          <a:rPr lang="en-US" sz="2400" b="0" i="1" smtClean="0">
                            <a:solidFill>
                              <a:srgbClr val="FF0000"/>
                            </a:solidFill>
                            <a:latin typeface="Cambria Math" panose="02040503050406030204" pitchFamily="18" charset="0"/>
                            <a:ea typeface="Cambria Math" panose="02040503050406030204" pitchFamily="18" charset="0"/>
                          </a:rPr>
                          <m:t>𝑞</m:t>
                        </m:r>
                      </m:e>
                      <m:sub>
                        <m:r>
                          <m:rPr>
                            <m:sty m:val="p"/>
                          </m:rPr>
                          <a:rPr lang="en-US" sz="2400">
                            <a:solidFill>
                              <a:srgbClr val="FF0000"/>
                            </a:solidFill>
                            <a:latin typeface="Cambria Math" panose="02040503050406030204" pitchFamily="18" charset="0"/>
                            <a:ea typeface="Cambria Math" panose="02040503050406030204" pitchFamily="18" charset="0"/>
                          </a:rPr>
                          <m:t>ij</m:t>
                        </m:r>
                      </m:sub>
                      <m:sup>
                        <m:r>
                          <a:rPr lang="it-IT" sz="2400" b="0" i="1" smtClean="0">
                            <a:solidFill>
                              <a:srgbClr val="FF0000"/>
                            </a:solidFill>
                            <a:latin typeface="Cambria Math" panose="02040503050406030204" pitchFamily="18" charset="0"/>
                            <a:ea typeface="Cambria Math" panose="02040503050406030204" pitchFamily="18" charset="0"/>
                          </a:rPr>
                          <m:t>𝑠</m:t>
                        </m:r>
                      </m:sup>
                    </m:sSubSup>
                    <m:r>
                      <a:rPr lang="en-US" sz="2400" b="0" i="1" smtClean="0">
                        <a:solidFill>
                          <a:schemeClr val="tx1"/>
                        </a:solidFill>
                        <a:latin typeface="Cambria Math" panose="02040503050406030204" pitchFamily="18" charset="0"/>
                        <a:ea typeface="Cambria Math" panose="02040503050406030204" pitchFamily="18" charset="0"/>
                      </a:rPr>
                      <m:t>≤</m:t>
                    </m:r>
                    <m:sSubSup>
                      <m:sSubSupPr>
                        <m:ctrlPr>
                          <a:rPr lang="it-IT" sz="2400" b="0" i="1" smtClean="0">
                            <a:solidFill>
                              <a:srgbClr val="FF0000"/>
                            </a:solidFill>
                            <a:latin typeface="Cambria Math" panose="02040503050406030204" pitchFamily="18" charset="0"/>
                            <a:ea typeface="Cambria Math" panose="02040503050406030204" pitchFamily="18" charset="0"/>
                          </a:rPr>
                        </m:ctrlPr>
                      </m:sSubSupPr>
                      <m:e>
                        <m:r>
                          <a:rPr lang="it-IT" sz="2400" b="0" i="1" smtClean="0">
                            <a:solidFill>
                              <a:srgbClr val="FF0000"/>
                            </a:solidFill>
                            <a:latin typeface="Cambria Math" panose="02040503050406030204" pitchFamily="18" charset="0"/>
                            <a:ea typeface="Cambria Math" panose="02040503050406030204" pitchFamily="18" charset="0"/>
                          </a:rPr>
                          <m:t>𝜌</m:t>
                        </m:r>
                      </m:e>
                      <m:sub>
                        <m:r>
                          <m:rPr>
                            <m:sty m:val="p"/>
                          </m:rPr>
                          <a:rPr lang="en-US" sz="2400" b="0" i="0" smtClean="0">
                            <a:solidFill>
                              <a:srgbClr val="FF0000"/>
                            </a:solidFill>
                            <a:latin typeface="Cambria Math" panose="02040503050406030204" pitchFamily="18" charset="0"/>
                            <a:ea typeface="Cambria Math" panose="02040503050406030204" pitchFamily="18" charset="0"/>
                          </a:rPr>
                          <m:t>j</m:t>
                        </m:r>
                      </m:sub>
                      <m:sup>
                        <m:r>
                          <a:rPr lang="it-IT" sz="2400" b="0" i="1" smtClean="0">
                            <a:solidFill>
                              <a:srgbClr val="FF0000"/>
                            </a:solidFill>
                            <a:latin typeface="Cambria Math" panose="02040503050406030204" pitchFamily="18" charset="0"/>
                            <a:ea typeface="Cambria Math" panose="02040503050406030204" pitchFamily="18" charset="0"/>
                          </a:rPr>
                          <m:t>𝑠</m:t>
                        </m:r>
                      </m:sup>
                    </m:sSubSup>
                    <m:sSub>
                      <m:sSubPr>
                        <m:ctrlPr>
                          <a:rPr lang="en-US" sz="2400" b="0" i="1" smtClean="0">
                            <a:solidFill>
                              <a:schemeClr val="tx1"/>
                            </a:solidFill>
                            <a:latin typeface="Cambria Math" panose="02040503050406030204" pitchFamily="18" charset="0"/>
                            <a:ea typeface="Cambria Math" panose="02040503050406030204" pitchFamily="18" charset="0"/>
                          </a:rPr>
                        </m:ctrlPr>
                      </m:sSubPr>
                      <m:e>
                        <m:r>
                          <a:rPr lang="en-US" sz="2400" b="0" i="0" smtClean="0">
                            <a:solidFill>
                              <a:schemeClr val="tx1"/>
                            </a:solidFill>
                            <a:latin typeface="Cambria Math" panose="02040503050406030204" pitchFamily="18" charset="0"/>
                            <a:ea typeface="Cambria Math" panose="02040503050406030204" pitchFamily="18" charset="0"/>
                          </a:rPr>
                          <m:t> </m:t>
                        </m:r>
                        <m:r>
                          <a:rPr lang="en-US" sz="2400" b="0" i="1" smtClean="0">
                            <a:solidFill>
                              <a:schemeClr val="tx1"/>
                            </a:solidFill>
                            <a:latin typeface="Cambria Math" panose="02040503050406030204" pitchFamily="18" charset="0"/>
                            <a:ea typeface="Cambria Math" panose="02040503050406030204" pitchFamily="18" charset="0"/>
                          </a:rPr>
                          <m:t>𝑥</m:t>
                        </m:r>
                      </m:e>
                      <m:sub>
                        <m:r>
                          <m:rPr>
                            <m:sty m:val="p"/>
                          </m:rPr>
                          <a:rPr lang="en-US" sz="2400" b="0" i="0" smtClean="0">
                            <a:solidFill>
                              <a:schemeClr val="tx1"/>
                            </a:solidFill>
                            <a:latin typeface="Cambria Math" panose="02040503050406030204" pitchFamily="18" charset="0"/>
                            <a:ea typeface="Cambria Math" panose="02040503050406030204" pitchFamily="18" charset="0"/>
                          </a:rPr>
                          <m:t>ij</m:t>
                        </m:r>
                      </m:sub>
                    </m:sSub>
                  </m:oMath>
                </a14:m>
                <a:r>
                  <a:rPr lang="en-US" sz="2400" dirty="0">
                    <a:solidFill>
                      <a:schemeClr val="tx1"/>
                    </a:solidFill>
                    <a:latin typeface="Arial" panose="020B0604020202020204" pitchFamily="34" charset="0"/>
                  </a:rPr>
                  <a:t> 	</a:t>
                </a:r>
                <a:r>
                  <a:rPr lang="en-US" sz="2400" i="1" dirty="0" err="1">
                    <a:solidFill>
                      <a:schemeClr val="tx1"/>
                    </a:solidFill>
                    <a:latin typeface="Cambria Math" panose="02040503050406030204" pitchFamily="18" charset="0"/>
                    <a:ea typeface="Cambria Math" panose="02040503050406030204" pitchFamily="18" charset="0"/>
                  </a:rPr>
                  <a:t>i</a:t>
                </a:r>
                <a:r>
                  <a:rPr lang="en-US" sz="2400" i="1" dirty="0">
                    <a:solidFill>
                      <a:schemeClr val="tx1"/>
                    </a:solidFill>
                    <a:latin typeface="Cambria Math" panose="02040503050406030204" pitchFamily="18" charset="0"/>
                    <a:ea typeface="Cambria Math" panose="02040503050406030204" pitchFamily="18" charset="0"/>
                  </a:rPr>
                  <a:t> </a:t>
                </a:r>
                <a:r>
                  <a:rPr lang="en-US" sz="24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400" dirty="0">
                    <a:solidFill>
                      <a:schemeClr val="tx1"/>
                    </a:solidFill>
                    <a:latin typeface="Cambria Math" panose="02040503050406030204" pitchFamily="18" charset="0"/>
                    <a:ea typeface="Cambria Math" panose="02040503050406030204" pitchFamily="18" charset="0"/>
                  </a:rPr>
                  <a:t>I,</a:t>
                </a:r>
                <a:r>
                  <a:rPr lang="en-US" sz="2400" baseline="-25000" dirty="0">
                    <a:solidFill>
                      <a:schemeClr val="tx1"/>
                    </a:solidFill>
                    <a:latin typeface="Cambria Math" panose="02040503050406030204" pitchFamily="18" charset="0"/>
                    <a:ea typeface="Cambria Math" panose="02040503050406030204" pitchFamily="18" charset="0"/>
                  </a:rPr>
                  <a:t> </a:t>
                </a:r>
                <a:r>
                  <a:rPr lang="en-US" sz="2400" i="1" dirty="0">
                    <a:solidFill>
                      <a:schemeClr val="tx1"/>
                    </a:solidFill>
                    <a:latin typeface="Cambria Math" panose="02040503050406030204" pitchFamily="18" charset="0"/>
                    <a:ea typeface="Cambria Math" panose="02040503050406030204" pitchFamily="18" charset="0"/>
                  </a:rPr>
                  <a:t>j </a:t>
                </a:r>
                <a:r>
                  <a:rPr lang="en-US" sz="24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400" dirty="0">
                    <a:solidFill>
                      <a:schemeClr val="tx1"/>
                    </a:solidFill>
                    <a:latin typeface="Cambria Math" panose="02040503050406030204" pitchFamily="18" charset="0"/>
                    <a:ea typeface="Cambria Math" panose="02040503050406030204" pitchFamily="18" charset="0"/>
                  </a:rPr>
                  <a:t>J</a:t>
                </a:r>
                <a:r>
                  <a:rPr lang="en-US" dirty="0">
                    <a:solidFill>
                      <a:schemeClr val="tx1"/>
                    </a:solidFill>
                    <a:latin typeface="Cambria Math" panose="02040503050406030204" pitchFamily="18" charset="0"/>
                    <a:ea typeface="Cambria Math" panose="02040503050406030204" pitchFamily="18" charset="0"/>
                  </a:rPr>
                  <a:t>, s </a:t>
                </a:r>
                <a:r>
                  <a:rPr lang="en-US"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dirty="0">
                    <a:solidFill>
                      <a:schemeClr val="tx1"/>
                    </a:solidFill>
                    <a:latin typeface="Cambria Math" panose="02040503050406030204" pitchFamily="18" charset="0"/>
                    <a:ea typeface="Cambria Math" panose="02040503050406030204" pitchFamily="18" charset="0"/>
                  </a:rPr>
                  <a:t>S</a:t>
                </a:r>
                <a:r>
                  <a:rPr lang="en-US" sz="2400" baseline="-25000" dirty="0">
                    <a:solidFill>
                      <a:schemeClr val="tx1"/>
                    </a:solidFill>
                    <a:latin typeface="Cambria Math" panose="02040503050406030204" pitchFamily="18" charset="0"/>
                    <a:ea typeface="Cambria Math" panose="02040503050406030204" pitchFamily="18" charset="0"/>
                  </a:rPr>
                  <a:t> </a:t>
                </a:r>
                <a:r>
                  <a:rPr lang="en-US" sz="2400" baseline="-25000" dirty="0">
                    <a:solidFill>
                      <a:schemeClr val="tx1"/>
                    </a:solidFill>
                    <a:latin typeface="Arial" panose="020B0604020202020204" pitchFamily="34" charset="0"/>
                  </a:rPr>
                  <a:t> 	</a:t>
                </a:r>
                <a:r>
                  <a:rPr lang="it-IT" sz="2400" dirty="0">
                    <a:solidFill>
                      <a:schemeClr val="tx1"/>
                    </a:solidFill>
                    <a:latin typeface="Cambria Math" panose="02040503050406030204" pitchFamily="18" charset="0"/>
                    <a:ea typeface="Cambria Math" panose="02040503050406030204" pitchFamily="18" charset="0"/>
                  </a:rPr>
                  <a:t>(5)</a:t>
                </a:r>
                <a:endParaRPr lang="en-US" sz="2400" dirty="0">
                  <a:solidFill>
                    <a:schemeClr val="tx1"/>
                  </a:solidFill>
                  <a:latin typeface="Arial" panose="020B0604020202020204" pitchFamily="34" charset="0"/>
                </a:endParaRPr>
              </a:p>
              <a:p>
                <a:pPr fontAlgn="ctr">
                  <a:lnSpc>
                    <a:spcPct val="150000"/>
                  </a:lnSpc>
                  <a:spcBef>
                    <a:spcPts val="0"/>
                  </a:spcBef>
                  <a:tabLst>
                    <a:tab pos="1789113" algn="l"/>
                    <a:tab pos="5024438" algn="l"/>
                    <a:tab pos="7543800" algn="l"/>
                  </a:tabLst>
                </a:pPr>
                <a:r>
                  <a:rPr lang="en-US" sz="2400" dirty="0">
                    <a:solidFill>
                      <a:schemeClr val="tx1"/>
                    </a:solidFill>
                    <a:latin typeface="Arial" panose="020B0604020202020204" pitchFamily="34" charset="0"/>
                    <a:ea typeface="Cambria Math" panose="02040503050406030204" pitchFamily="18" charset="0"/>
                  </a:rPr>
                  <a:t>	</a:t>
                </a:r>
                <a14:m>
                  <m:oMath xmlns:m="http://schemas.openxmlformats.org/officeDocument/2006/math">
                    <m:sSub>
                      <m:sSubPr>
                        <m:ctrlPr>
                          <a:rPr lang="en-US" sz="2400" i="1">
                            <a:solidFill>
                              <a:schemeClr val="tx1"/>
                            </a:solidFill>
                            <a:latin typeface="Cambria Math" panose="02040503050406030204" pitchFamily="18" charset="0"/>
                            <a:ea typeface="Cambria Math" panose="02040503050406030204" pitchFamily="18" charset="0"/>
                          </a:rPr>
                        </m:ctrlPr>
                      </m:sSubPr>
                      <m:e>
                        <m:r>
                          <a:rPr lang="en-US" sz="2400">
                            <a:solidFill>
                              <a:schemeClr val="tx1"/>
                            </a:solidFill>
                            <a:latin typeface="Cambria Math" panose="02040503050406030204" pitchFamily="18" charset="0"/>
                            <a:ea typeface="Cambria Math" panose="02040503050406030204" pitchFamily="18" charset="0"/>
                          </a:rPr>
                          <m:t>𝑥</m:t>
                        </m:r>
                      </m:e>
                      <m:sub>
                        <m:r>
                          <m:rPr>
                            <m:sty m:val="p"/>
                          </m:rPr>
                          <a:rPr lang="en-US" sz="2400">
                            <a:solidFill>
                              <a:schemeClr val="tx1"/>
                            </a:solidFill>
                            <a:latin typeface="Cambria Math" panose="02040503050406030204" pitchFamily="18" charset="0"/>
                            <a:ea typeface="Cambria Math" panose="02040503050406030204" pitchFamily="18" charset="0"/>
                          </a:rPr>
                          <m:t>ij</m:t>
                        </m:r>
                      </m:sub>
                    </m:sSub>
                    <m:r>
                      <a:rPr lang="en-US" sz="2400" i="1">
                        <a:solidFill>
                          <a:schemeClr val="tx1"/>
                        </a:solidFill>
                        <a:latin typeface="Cambria Math" panose="02040503050406030204" pitchFamily="18" charset="0"/>
                        <a:ea typeface="Cambria Math" panose="02040503050406030204" pitchFamily="18" charset="0"/>
                      </a:rPr>
                      <m:t>∈</m:t>
                    </m:r>
                    <m:r>
                      <a:rPr lang="en-US" sz="2400">
                        <a:solidFill>
                          <a:schemeClr val="tx1"/>
                        </a:solidFill>
                        <a:latin typeface="Cambria Math" panose="02040503050406030204" pitchFamily="18" charset="0"/>
                        <a:ea typeface="Cambria Math" panose="02040503050406030204" pitchFamily="18" charset="0"/>
                      </a:rPr>
                      <m:t>{0,1}</m:t>
                    </m:r>
                  </m:oMath>
                </a14:m>
                <a:r>
                  <a:rPr lang="en-US" sz="2400" dirty="0">
                    <a:solidFill>
                      <a:schemeClr val="tx1"/>
                    </a:solidFill>
                    <a:latin typeface="Arial" panose="020B0604020202020204" pitchFamily="34" charset="0"/>
                  </a:rPr>
                  <a:t> 	</a:t>
                </a:r>
                <a:r>
                  <a:rPr lang="en-US" sz="2400" i="1" dirty="0" err="1">
                    <a:solidFill>
                      <a:schemeClr val="tx1"/>
                    </a:solidFill>
                    <a:latin typeface="Cambria Math" panose="02040503050406030204" pitchFamily="18" charset="0"/>
                    <a:ea typeface="Cambria Math" panose="02040503050406030204" pitchFamily="18" charset="0"/>
                  </a:rPr>
                  <a:t>i</a:t>
                </a:r>
                <a:r>
                  <a:rPr lang="en-US" sz="2400" i="1" dirty="0">
                    <a:solidFill>
                      <a:schemeClr val="tx1"/>
                    </a:solidFill>
                    <a:latin typeface="Cambria Math" panose="02040503050406030204" pitchFamily="18" charset="0"/>
                    <a:ea typeface="Cambria Math" panose="02040503050406030204" pitchFamily="18" charset="0"/>
                  </a:rPr>
                  <a:t> </a:t>
                </a:r>
                <a:r>
                  <a:rPr lang="en-US" sz="24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400" dirty="0">
                    <a:solidFill>
                      <a:schemeClr val="tx1"/>
                    </a:solidFill>
                    <a:latin typeface="Cambria Math" panose="02040503050406030204" pitchFamily="18" charset="0"/>
                    <a:ea typeface="Cambria Math" panose="02040503050406030204" pitchFamily="18" charset="0"/>
                  </a:rPr>
                  <a:t>I,</a:t>
                </a:r>
                <a:r>
                  <a:rPr lang="en-US" sz="2400" baseline="-25000" dirty="0">
                    <a:solidFill>
                      <a:schemeClr val="tx1"/>
                    </a:solidFill>
                    <a:latin typeface="Cambria Math" panose="02040503050406030204" pitchFamily="18" charset="0"/>
                    <a:ea typeface="Cambria Math" panose="02040503050406030204" pitchFamily="18" charset="0"/>
                  </a:rPr>
                  <a:t> </a:t>
                </a:r>
                <a:r>
                  <a:rPr lang="en-US" sz="2400" i="1" dirty="0">
                    <a:solidFill>
                      <a:schemeClr val="tx1"/>
                    </a:solidFill>
                    <a:latin typeface="Cambria Math" panose="02040503050406030204" pitchFamily="18" charset="0"/>
                    <a:ea typeface="Cambria Math" panose="02040503050406030204" pitchFamily="18" charset="0"/>
                  </a:rPr>
                  <a:t>j </a:t>
                </a:r>
                <a:r>
                  <a:rPr lang="en-US" sz="2400" dirty="0">
                    <a:solidFill>
                      <a:schemeClr val="tx1"/>
                    </a:solidFill>
                    <a:latin typeface="Cambria Math" panose="02040503050406030204" pitchFamily="18" charset="0"/>
                    <a:ea typeface="Cambria Math" panose="02040503050406030204" pitchFamily="18" charset="0"/>
                    <a:sym typeface="Symbol" panose="05050102010706020507" pitchFamily="18" charset="2"/>
                  </a:rPr>
                  <a:t> </a:t>
                </a:r>
                <a:r>
                  <a:rPr lang="en-US" sz="2400" dirty="0">
                    <a:solidFill>
                      <a:schemeClr val="tx1"/>
                    </a:solidFill>
                    <a:latin typeface="Cambria Math" panose="02040503050406030204" pitchFamily="18" charset="0"/>
                    <a:ea typeface="Cambria Math" panose="02040503050406030204" pitchFamily="18" charset="0"/>
                  </a:rPr>
                  <a:t>J</a:t>
                </a:r>
                <a:r>
                  <a:rPr lang="en-US" sz="2400" baseline="-25000" dirty="0">
                    <a:solidFill>
                      <a:schemeClr val="tx1"/>
                    </a:solidFill>
                    <a:latin typeface="Cambria Math" panose="02040503050406030204" pitchFamily="18" charset="0"/>
                    <a:ea typeface="Cambria Math" panose="02040503050406030204" pitchFamily="18" charset="0"/>
                  </a:rPr>
                  <a:t> </a:t>
                </a:r>
                <a:r>
                  <a:rPr lang="en-US" sz="2400" baseline="-25000" dirty="0">
                    <a:solidFill>
                      <a:schemeClr val="tx1"/>
                    </a:solidFill>
                    <a:latin typeface="Arial" panose="020B0604020202020204" pitchFamily="34" charset="0"/>
                  </a:rPr>
                  <a:t> 	</a:t>
                </a:r>
                <a:r>
                  <a:rPr lang="it-IT" sz="2400" dirty="0">
                    <a:solidFill>
                      <a:schemeClr val="tx1"/>
                    </a:solidFill>
                    <a:latin typeface="Cambria Math" panose="02040503050406030204" pitchFamily="18" charset="0"/>
                    <a:ea typeface="Cambria Math" panose="02040503050406030204" pitchFamily="18" charset="0"/>
                  </a:rPr>
                  <a:t>(6)</a:t>
                </a:r>
                <a:endParaRPr lang="en-US" sz="2400" dirty="0">
                  <a:solidFill>
                    <a:schemeClr val="tx1"/>
                  </a:solidFill>
                  <a:latin typeface="Arial" panose="020B0604020202020204" pitchFamily="34" charset="0"/>
                </a:endParaRPr>
              </a:p>
              <a:p>
                <a:pPr fontAlgn="ctr">
                  <a:lnSpc>
                    <a:spcPct val="150000"/>
                  </a:lnSpc>
                  <a:spcBef>
                    <a:spcPts val="0"/>
                  </a:spcBef>
                  <a:tabLst>
                    <a:tab pos="1789113" algn="l"/>
                    <a:tab pos="5024438" algn="l"/>
                    <a:tab pos="7543800" algn="l"/>
                  </a:tabLst>
                </a:pPr>
                <a:r>
                  <a:rPr lang="en-US" sz="2400" b="0" u="none" strike="noStrike" kern="1200" dirty="0">
                    <a:solidFill>
                      <a:schemeClr val="tx1"/>
                    </a:solidFill>
                    <a:effectLst/>
                    <a:latin typeface="Arial" panose="020B0604020202020204" pitchFamily="34" charset="0"/>
                    <a:ea typeface="Cambria Math" panose="02040503050406030204" pitchFamily="18" charset="0"/>
                  </a:rPr>
                  <a:t>	</a:t>
                </a:r>
                <a14:m>
                  <m:oMath xmlns:m="http://schemas.openxmlformats.org/officeDocument/2006/math">
                    <m:sSubSup>
                      <m:sSubSupPr>
                        <m:ctrlPr>
                          <a:rPr lang="it-IT" sz="2400" b="0" i="1" u="none" strike="noStrike" kern="1200" smtClean="0">
                            <a:solidFill>
                              <a:srgbClr val="FF0000"/>
                            </a:solidFill>
                            <a:effectLst/>
                            <a:latin typeface="Cambria Math" panose="02040503050406030204" pitchFamily="18" charset="0"/>
                            <a:ea typeface="Cambria Math" panose="02040503050406030204" pitchFamily="18" charset="0"/>
                          </a:rPr>
                        </m:ctrlPr>
                      </m:sSubSupPr>
                      <m:e>
                        <m:r>
                          <a:rPr lang="en-US" sz="2400" b="0" i="1" u="none" strike="noStrike" kern="1200" smtClean="0">
                            <a:solidFill>
                              <a:srgbClr val="FF0000"/>
                            </a:solidFill>
                            <a:effectLst/>
                            <a:latin typeface="Cambria Math" panose="02040503050406030204" pitchFamily="18" charset="0"/>
                            <a:ea typeface="Cambria Math" panose="02040503050406030204" pitchFamily="18" charset="0"/>
                          </a:rPr>
                          <m:t>𝑞</m:t>
                        </m:r>
                      </m:e>
                      <m:sub>
                        <m:r>
                          <m:rPr>
                            <m:sty m:val="p"/>
                          </m:rPr>
                          <a:rPr lang="en-US" sz="2400" b="0" i="0" u="none" strike="noStrike" kern="1200">
                            <a:solidFill>
                              <a:srgbClr val="FF0000"/>
                            </a:solidFill>
                            <a:effectLst/>
                            <a:latin typeface="Cambria Math" panose="02040503050406030204" pitchFamily="18" charset="0"/>
                            <a:ea typeface="Cambria Math" panose="02040503050406030204" pitchFamily="18" charset="0"/>
                          </a:rPr>
                          <m:t>ij</m:t>
                        </m:r>
                      </m:sub>
                      <m:sup>
                        <m:r>
                          <a:rPr lang="it-IT" sz="2400" b="0" i="1" u="none" strike="noStrike" kern="1200" smtClean="0">
                            <a:solidFill>
                              <a:srgbClr val="FF0000"/>
                            </a:solidFill>
                            <a:effectLst/>
                            <a:latin typeface="Cambria Math" panose="02040503050406030204" pitchFamily="18" charset="0"/>
                            <a:ea typeface="Cambria Math" panose="02040503050406030204" pitchFamily="18" charset="0"/>
                          </a:rPr>
                          <m:t>𝑠</m:t>
                        </m:r>
                      </m:sup>
                    </m:sSubSup>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m:t>
                    </m:r>
                    <m:sSubSup>
                      <m:sSubSupPr>
                        <m:ctrlPr>
                          <a:rPr lang="en-US" sz="2400" b="0" i="1" u="none" strike="noStrike" kern="1200" smtClean="0">
                            <a:solidFill>
                              <a:schemeClr val="tx1"/>
                            </a:solidFill>
                            <a:effectLst/>
                            <a:latin typeface="Cambria Math" panose="02040503050406030204" pitchFamily="18" charset="0"/>
                            <a:ea typeface="Cambria Math" panose="02040503050406030204" pitchFamily="18" charset="0"/>
                          </a:rPr>
                        </m:ctrlPr>
                      </m:sSubSupPr>
                      <m:e>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ℤ</m:t>
                        </m:r>
                      </m:e>
                      <m:sub>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0</m:t>
                        </m:r>
                      </m:sub>
                      <m:sup>
                        <m:r>
                          <a:rPr lang="en-US" sz="2400" b="0" i="1" u="none" strike="noStrike" kern="1200" smtClean="0">
                            <a:solidFill>
                              <a:schemeClr val="tx1"/>
                            </a:solidFill>
                            <a:effectLst/>
                            <a:latin typeface="Cambria Math" panose="02040503050406030204" pitchFamily="18" charset="0"/>
                            <a:ea typeface="Cambria Math" panose="02040503050406030204" pitchFamily="18" charset="0"/>
                          </a:rPr>
                          <m:t>+</m:t>
                        </m:r>
                      </m:sup>
                    </m:sSubSup>
                  </m:oMath>
                </a14:m>
                <a:r>
                  <a:rPr lang="en-US" sz="2400" b="0" i="0" u="none" strike="noStrike" dirty="0">
                    <a:solidFill>
                      <a:schemeClr val="tx1"/>
                    </a:solidFill>
                    <a:effectLst/>
                    <a:latin typeface="Arial" panose="020B0604020202020204" pitchFamily="34" charset="0"/>
                  </a:rPr>
                  <a:t> 	</a:t>
                </a:r>
                <a:r>
                  <a:rPr lang="en-US" sz="2400" b="0" i="1" u="none" strike="noStrike" kern="1200" dirty="0" err="1">
                    <a:solidFill>
                      <a:schemeClr val="tx1"/>
                    </a:solidFill>
                    <a:effectLst/>
                    <a:latin typeface="Cambria Math" panose="02040503050406030204" pitchFamily="18" charset="0"/>
                    <a:ea typeface="Cambria Math" panose="02040503050406030204" pitchFamily="18" charset="0"/>
                  </a:rPr>
                  <a:t>i</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I</a:t>
                </a:r>
                <a:r>
                  <a:rPr lang="en-US" sz="2400" b="0" i="0" u="none" strike="noStrike" kern="1200" dirty="0">
                    <a:solidFill>
                      <a:schemeClr val="tx1"/>
                    </a:solidFill>
                    <a:effectLst/>
                    <a:latin typeface="Cambria Math" panose="02040503050406030204" pitchFamily="18" charset="0"/>
                    <a:ea typeface="Cambria Math" panose="02040503050406030204" pitchFamily="18" charset="0"/>
                  </a:rPr>
                  <a:t>,</a:t>
                </a:r>
                <a:r>
                  <a:rPr lang="en-US" sz="2400" b="0" i="0" u="none" strike="noStrike" kern="1200" baseline="-25000" dirty="0">
                    <a:solidFill>
                      <a:schemeClr val="tx1"/>
                    </a:solidFill>
                    <a:effectLst/>
                    <a:latin typeface="Cambria Math" panose="02040503050406030204" pitchFamily="18" charset="0"/>
                    <a:ea typeface="Cambria Math" panose="02040503050406030204" pitchFamily="18" charset="0"/>
                  </a:rPr>
                  <a:t> </a:t>
                </a:r>
                <a:r>
                  <a:rPr lang="en-US" sz="2400" b="0" i="1" u="none" strike="noStrike" kern="1200" dirty="0">
                    <a:solidFill>
                      <a:schemeClr val="tx1"/>
                    </a:solidFill>
                    <a:effectLst/>
                    <a:latin typeface="Cambria Math" panose="02040503050406030204" pitchFamily="18" charset="0"/>
                    <a:ea typeface="Cambria Math" panose="02040503050406030204" pitchFamily="18" charset="0"/>
                  </a:rPr>
                  <a:t>j </a:t>
                </a:r>
                <a:r>
                  <a:rPr lang="en-US" sz="2400" b="0" i="0" u="none" strike="noStrike" kern="1200" dirty="0">
                    <a:solidFill>
                      <a:schemeClr val="tx1"/>
                    </a:solidFill>
                    <a:effectLst/>
                    <a:latin typeface="Cambria Math" panose="02040503050406030204" pitchFamily="18" charset="0"/>
                    <a:ea typeface="Cambria Math" panose="02040503050406030204" pitchFamily="18" charset="0"/>
                    <a:sym typeface="Symbol" panose="05050102010706020507" pitchFamily="18" charset="2"/>
                  </a:rPr>
                  <a:t> </a:t>
                </a:r>
                <a:r>
                  <a:rPr lang="en-US" sz="2400" b="0" u="none" strike="noStrike" kern="1200" dirty="0">
                    <a:solidFill>
                      <a:schemeClr val="tx1"/>
                    </a:solidFill>
                    <a:effectLst/>
                    <a:latin typeface="Cambria Math" panose="02040503050406030204" pitchFamily="18" charset="0"/>
                    <a:ea typeface="Cambria Math" panose="02040503050406030204" pitchFamily="18" charset="0"/>
                  </a:rPr>
                  <a:t>J</a:t>
                </a:r>
                <a:r>
                  <a:rPr lang="en-US" dirty="0">
                    <a:latin typeface="Cambria Math" panose="02040503050406030204" pitchFamily="18" charset="0"/>
                    <a:ea typeface="Cambria Math" panose="02040503050406030204" pitchFamily="18" charset="0"/>
                  </a:rPr>
                  <a:t>, s </a:t>
                </a:r>
                <a:r>
                  <a:rPr lang="en-US" dirty="0">
                    <a:latin typeface="Cambria Math" panose="02040503050406030204" pitchFamily="18" charset="0"/>
                    <a:ea typeface="Cambria Math" panose="02040503050406030204" pitchFamily="18" charset="0"/>
                    <a:sym typeface="Symbol" panose="05050102010706020507" pitchFamily="18" charset="2"/>
                  </a:rPr>
                  <a:t> </a:t>
                </a:r>
                <a:r>
                  <a:rPr lang="en-US" dirty="0">
                    <a:latin typeface="Cambria Math" panose="02040503050406030204" pitchFamily="18" charset="0"/>
                    <a:ea typeface="Cambria Math" panose="02040503050406030204" pitchFamily="18" charset="0"/>
                  </a:rPr>
                  <a:t>S</a:t>
                </a:r>
                <a:r>
                  <a:rPr lang="en-US" sz="2400" baseline="-25000" dirty="0">
                    <a:latin typeface="Arial" panose="020B0604020202020204" pitchFamily="34" charset="0"/>
                  </a:rPr>
                  <a:t> 	</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a:t>
                </a:r>
                <a:r>
                  <a:rPr lang="it-IT" sz="2400" dirty="0">
                    <a:latin typeface="Cambria Math" panose="02040503050406030204" pitchFamily="18" charset="0"/>
                    <a:ea typeface="Cambria Math" panose="02040503050406030204" pitchFamily="18" charset="0"/>
                  </a:rPr>
                  <a:t>7</a:t>
                </a:r>
                <a:r>
                  <a:rPr lang="it-IT" sz="2400" b="0" i="0" u="none" strike="noStrike" kern="1200" dirty="0">
                    <a:solidFill>
                      <a:schemeClr val="tx1"/>
                    </a:solidFill>
                    <a:effectLst/>
                    <a:latin typeface="Cambria Math" panose="02040503050406030204" pitchFamily="18" charset="0"/>
                    <a:ea typeface="Cambria Math" panose="02040503050406030204" pitchFamily="18" charset="0"/>
                  </a:rPr>
                  <a:t>)</a:t>
                </a:r>
              </a:p>
              <a:p>
                <a:pPr fontAlgn="ctr">
                  <a:lnSpc>
                    <a:spcPct val="150000"/>
                  </a:lnSpc>
                  <a:spcBef>
                    <a:spcPts val="0"/>
                  </a:spcBef>
                  <a:tabLst>
                    <a:tab pos="1789113" algn="l"/>
                    <a:tab pos="5024438" algn="l"/>
                    <a:tab pos="7543800" algn="l"/>
                  </a:tabLst>
                </a:pPr>
                <a:r>
                  <a:rPr lang="en-US" dirty="0">
                    <a:latin typeface="Arial" panose="020B0604020202020204" pitchFamily="34" charset="0"/>
                    <a:ea typeface="Cambria Math" panose="02040503050406030204" pitchFamily="18" charset="0"/>
                  </a:rPr>
                  <a:t>	</a:t>
                </a:r>
                <a14:m>
                  <m:oMath xmlns:m="http://schemas.openxmlformats.org/officeDocument/2006/math">
                    <m:sSub>
                      <m:sSubPr>
                        <m:ctrlPr>
                          <a:rPr lang="it-IT" i="1" smtClean="0">
                            <a:solidFill>
                              <a:srgbClr val="FF0000"/>
                            </a:solidFill>
                            <a:latin typeface="Cambria Math" panose="02040503050406030204" pitchFamily="18" charset="0"/>
                            <a:ea typeface="Cambria Math" panose="02040503050406030204" pitchFamily="18" charset="0"/>
                          </a:rPr>
                        </m:ctrlPr>
                      </m:sSubPr>
                      <m:e>
                        <m:r>
                          <a:rPr lang="it-IT" i="1">
                            <a:solidFill>
                              <a:srgbClr val="FF0000"/>
                            </a:solidFill>
                            <a:latin typeface="Cambria Math" panose="02040503050406030204" pitchFamily="18" charset="0"/>
                            <a:ea typeface="Cambria Math" panose="02040503050406030204" pitchFamily="18" charset="0"/>
                          </a:rPr>
                          <m:t>𝜖</m:t>
                        </m:r>
                      </m:e>
                      <m:sub>
                        <m:r>
                          <a:rPr lang="it-IT" i="1">
                            <a:solidFill>
                              <a:srgbClr val="FF0000"/>
                            </a:solidFill>
                            <a:latin typeface="Cambria Math" panose="02040503050406030204" pitchFamily="18" charset="0"/>
                            <a:ea typeface="Cambria Math" panose="02040503050406030204" pitchFamily="18" charset="0"/>
                          </a:rPr>
                          <m:t>𝑗𝑠</m:t>
                        </m:r>
                      </m:sub>
                    </m:sSub>
                    <m:r>
                      <a:rPr lang="en-US">
                        <a:latin typeface="Cambria Math" panose="02040503050406030204" pitchFamily="18" charset="0"/>
                        <a:ea typeface="Cambria Math" panose="02040503050406030204" pitchFamily="18" charset="0"/>
                      </a:rPr>
                      <m:t>∈</m:t>
                    </m:r>
                    <m:sSubSup>
                      <m:sSubSupPr>
                        <m:ctrlPr>
                          <a:rPr lang="en-US" i="1">
                            <a:latin typeface="Cambria Math" panose="02040503050406030204" pitchFamily="18" charset="0"/>
                            <a:ea typeface="Cambria Math" panose="02040503050406030204" pitchFamily="18" charset="0"/>
                          </a:rPr>
                        </m:ctrlPr>
                      </m:sSubSupPr>
                      <m:e>
                        <m:r>
                          <a:rPr lang="en-US">
                            <a:latin typeface="Cambria Math" panose="02040503050406030204" pitchFamily="18" charset="0"/>
                            <a:ea typeface="Cambria Math" panose="02040503050406030204" pitchFamily="18" charset="0"/>
                          </a:rPr>
                          <m:t>ℤ</m:t>
                        </m:r>
                      </m:e>
                      <m:sub>
                        <m:r>
                          <a:rPr lang="en-US">
                            <a:latin typeface="Cambria Math" panose="02040503050406030204" pitchFamily="18" charset="0"/>
                            <a:ea typeface="Cambria Math" panose="02040503050406030204" pitchFamily="18" charset="0"/>
                          </a:rPr>
                          <m:t>0</m:t>
                        </m:r>
                      </m:sub>
                      <m:sup>
                        <m:r>
                          <a:rPr lang="en-US">
                            <a:latin typeface="Cambria Math" panose="02040503050406030204" pitchFamily="18" charset="0"/>
                            <a:ea typeface="Cambria Math" panose="02040503050406030204" pitchFamily="18" charset="0"/>
                          </a:rPr>
                          <m:t>+</m:t>
                        </m:r>
                      </m:sup>
                    </m:sSubSup>
                  </m:oMath>
                </a14:m>
                <a:r>
                  <a:rPr lang="en-US" dirty="0">
                    <a:latin typeface="Arial" panose="020B0604020202020204" pitchFamily="34" charset="0"/>
                    <a:ea typeface="Cambria Math" panose="02040503050406030204" pitchFamily="18" charset="0"/>
                  </a:rPr>
                  <a:t> 	</a:t>
                </a:r>
                <a:r>
                  <a:rPr lang="en-US" i="1" dirty="0">
                    <a:latin typeface="Cambria Math" panose="02040503050406030204" pitchFamily="18" charset="0"/>
                    <a:ea typeface="Cambria Math" panose="02040503050406030204" pitchFamily="18" charset="0"/>
                  </a:rPr>
                  <a:t> j </a:t>
                </a:r>
                <a:r>
                  <a:rPr lang="en-US" dirty="0">
                    <a:latin typeface="Cambria Math" panose="02040503050406030204" pitchFamily="18" charset="0"/>
                    <a:ea typeface="Cambria Math" panose="02040503050406030204" pitchFamily="18" charset="0"/>
                    <a:sym typeface="Symbol" panose="05050102010706020507" pitchFamily="18" charset="2"/>
                  </a:rPr>
                  <a:t> </a:t>
                </a:r>
                <a:r>
                  <a:rPr lang="en-US" dirty="0">
                    <a:latin typeface="Cambria Math" panose="02040503050406030204" pitchFamily="18" charset="0"/>
                    <a:ea typeface="Cambria Math" panose="02040503050406030204" pitchFamily="18" charset="0"/>
                  </a:rPr>
                  <a:t>J, s </a:t>
                </a:r>
                <a:r>
                  <a:rPr lang="en-US" dirty="0">
                    <a:latin typeface="Cambria Math" panose="02040503050406030204" pitchFamily="18" charset="0"/>
                    <a:ea typeface="Cambria Math" panose="02040503050406030204" pitchFamily="18" charset="0"/>
                    <a:sym typeface="Symbol" panose="05050102010706020507" pitchFamily="18" charset="2"/>
                  </a:rPr>
                  <a:t> </a:t>
                </a:r>
                <a:r>
                  <a:rPr lang="en-US" dirty="0">
                    <a:latin typeface="Cambria Math" panose="02040503050406030204" pitchFamily="18" charset="0"/>
                    <a:ea typeface="Cambria Math" panose="02040503050406030204" pitchFamily="18" charset="0"/>
                  </a:rPr>
                  <a:t>S</a:t>
                </a:r>
                <a:r>
                  <a:rPr lang="en-US" baseline="-25000" dirty="0">
                    <a:latin typeface="Arial" panose="020B0604020202020204" pitchFamily="34" charset="0"/>
                  </a:rPr>
                  <a:t> 	</a:t>
                </a:r>
                <a:r>
                  <a:rPr lang="it-IT" dirty="0">
                    <a:latin typeface="Cambria Math" panose="02040503050406030204" pitchFamily="18" charset="0"/>
                    <a:ea typeface="Cambria Math" panose="02040503050406030204" pitchFamily="18" charset="0"/>
                  </a:rPr>
                  <a:t>(8)</a:t>
                </a:r>
                <a:endParaRPr lang="it-IT" dirty="0">
                  <a:latin typeface="Arial" panose="020B0604020202020204" pitchFamily="34" charset="0"/>
                  <a:ea typeface="Cambria Math" panose="02040503050406030204" pitchFamily="18" charset="0"/>
                </a:endParaRPr>
              </a:p>
            </p:txBody>
          </p:sp>
        </mc:Choice>
        <mc:Fallback xmlns="">
          <p:sp>
            <p:nvSpPr>
              <p:cNvPr id="2" name="Content Placeholder 1">
                <a:extLst>
                  <a:ext uri="{FF2B5EF4-FFF2-40B4-BE49-F238E27FC236}">
                    <a16:creationId xmlns:a16="http://schemas.microsoft.com/office/drawing/2014/main" id="{74A286D6-0507-C00A-C4FB-69619416EBA4}"/>
                  </a:ext>
                </a:extLst>
              </p:cNvPr>
              <p:cNvSpPr>
                <a:spLocks noGrp="1" noRot="1" noChangeAspect="1" noMove="1" noResize="1" noEditPoints="1" noAdjustHandles="1" noChangeArrowheads="1" noChangeShapeType="1" noTextEdit="1"/>
              </p:cNvSpPr>
              <p:nvPr>
                <p:ph idx="1"/>
              </p:nvPr>
            </p:nvSpPr>
            <p:spPr>
              <a:xfrm>
                <a:off x="312482" y="1137040"/>
                <a:ext cx="8600926" cy="5184953"/>
              </a:xfrm>
              <a:blipFill>
                <a:blip r:embed="rId2"/>
                <a:stretch>
                  <a:fillRect l="-1063"/>
                </a:stretch>
              </a:blipFill>
            </p:spPr>
            <p:txBody>
              <a:bodyPr/>
              <a:lstStyle/>
              <a:p>
                <a:r>
                  <a:rPr lang="it-IT">
                    <a:noFill/>
                  </a:rPr>
                  <a:t> </a:t>
                </a:r>
              </a:p>
            </p:txBody>
          </p:sp>
        </mc:Fallback>
      </mc:AlternateContent>
      <p:sp>
        <p:nvSpPr>
          <p:cNvPr id="3" name="Title 2">
            <a:extLst>
              <a:ext uri="{FF2B5EF4-FFF2-40B4-BE49-F238E27FC236}">
                <a16:creationId xmlns:a16="http://schemas.microsoft.com/office/drawing/2014/main" id="{396A4349-66F5-6CE3-AFE4-E6CD7F87A5FE}"/>
              </a:ext>
            </a:extLst>
          </p:cNvPr>
          <p:cNvSpPr>
            <a:spLocks noGrp="1"/>
          </p:cNvSpPr>
          <p:nvPr>
            <p:ph type="title"/>
          </p:nvPr>
        </p:nvSpPr>
        <p:spPr>
          <a:xfrm>
            <a:off x="278767" y="27446"/>
            <a:ext cx="8791195" cy="766769"/>
          </a:xfrm>
        </p:spPr>
        <p:txBody>
          <a:bodyPr/>
          <a:lstStyle/>
          <a:p>
            <a:r>
              <a:rPr lang="en-US" dirty="0"/>
              <a:t>Scenario-based</a:t>
            </a:r>
          </a:p>
        </p:txBody>
      </p:sp>
      <p:sp>
        <p:nvSpPr>
          <p:cNvPr id="4" name="Footer Placeholder 3">
            <a:extLst>
              <a:ext uri="{FF2B5EF4-FFF2-40B4-BE49-F238E27FC236}">
                <a16:creationId xmlns:a16="http://schemas.microsoft.com/office/drawing/2014/main" id="{EEA1227D-CD72-1F39-4841-05299173BDFF}"/>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B1CBC097-C49A-3EF3-F0C3-7737496C4B5A}"/>
              </a:ext>
            </a:extLst>
          </p:cNvPr>
          <p:cNvSpPr>
            <a:spLocks noGrp="1"/>
          </p:cNvSpPr>
          <p:nvPr>
            <p:ph type="sldNum" sz="quarter" idx="4"/>
          </p:nvPr>
        </p:nvSpPr>
        <p:spPr/>
        <p:txBody>
          <a:bodyPr/>
          <a:lstStyle/>
          <a:p>
            <a:pPr>
              <a:defRPr/>
            </a:pPr>
            <a:fld id="{476DEB1C-3253-4C07-8F02-456B7B2AD41D}" type="slidenum">
              <a:rPr lang="it-IT" smtClean="0"/>
              <a:pPr>
                <a:defRPr/>
              </a:pPr>
              <a:t>10</a:t>
            </a:fld>
            <a:endParaRPr lang="it-IT" dirty="0"/>
          </a:p>
        </p:txBody>
      </p:sp>
      <p:sp>
        <p:nvSpPr>
          <p:cNvPr id="7" name="Callout: Line 6">
            <a:extLst>
              <a:ext uri="{FF2B5EF4-FFF2-40B4-BE49-F238E27FC236}">
                <a16:creationId xmlns:a16="http://schemas.microsoft.com/office/drawing/2014/main" id="{31B7D93F-1DD9-BD0D-45A6-05C4651151FC}"/>
              </a:ext>
            </a:extLst>
          </p:cNvPr>
          <p:cNvSpPr/>
          <p:nvPr/>
        </p:nvSpPr>
        <p:spPr>
          <a:xfrm>
            <a:off x="430305" y="2944906"/>
            <a:ext cx="1324604" cy="1150684"/>
          </a:xfrm>
          <a:prstGeom prst="borderCallout1">
            <a:avLst>
              <a:gd name="adj1" fmla="val -6567"/>
              <a:gd name="adj2" fmla="val 69485"/>
              <a:gd name="adj3" fmla="val -47479"/>
              <a:gd name="adj4" fmla="val 295764"/>
            </a:avLst>
          </a:prstGeom>
          <a:noFill/>
          <a:ln>
            <a:solidFill>
              <a:srgbClr val="0070C0"/>
            </a:solid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it-IT" sz="2400" dirty="0" err="1">
                <a:solidFill>
                  <a:srgbClr val="0070C0"/>
                </a:solidFill>
              </a:rPr>
              <a:t>We</a:t>
            </a:r>
            <a:r>
              <a:rPr lang="it-IT" sz="2400" dirty="0">
                <a:solidFill>
                  <a:srgbClr val="0070C0"/>
                </a:solidFill>
              </a:rPr>
              <a:t> forecast </a:t>
            </a:r>
            <a:r>
              <a:rPr lang="it-IT" sz="2400" dirty="0" err="1">
                <a:solidFill>
                  <a:srgbClr val="0070C0"/>
                </a:solidFill>
              </a:rPr>
              <a:t>these</a:t>
            </a:r>
            <a:endParaRPr lang="it-IT" sz="2400" dirty="0">
              <a:solidFill>
                <a:srgbClr val="0070C0"/>
              </a:solidFill>
            </a:endParaRPr>
          </a:p>
        </p:txBody>
      </p:sp>
    </p:spTree>
    <p:extLst>
      <p:ext uri="{BB962C8B-B14F-4D97-AF65-F5344CB8AC3E}">
        <p14:creationId xmlns:p14="http://schemas.microsoft.com/office/powerpoint/2010/main" val="36606527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41C6C74-2F5A-4BD2-A2E7-1E2A91EE866B}"/>
              </a:ext>
            </a:extLst>
          </p:cNvPr>
          <p:cNvSpPr>
            <a:spLocks noGrp="1"/>
          </p:cNvSpPr>
          <p:nvPr>
            <p:ph idx="1"/>
          </p:nvPr>
        </p:nvSpPr>
        <p:spPr>
          <a:xfrm>
            <a:off x="298907" y="954460"/>
            <a:ext cx="7857541" cy="865196"/>
          </a:xfrm>
        </p:spPr>
        <p:txBody>
          <a:bodyPr/>
          <a:lstStyle/>
          <a:p>
            <a:r>
              <a:rPr lang="en-US" dirty="0"/>
              <a:t>Economics-related time series can often be effectively decomposed using STL</a:t>
            </a:r>
          </a:p>
        </p:txBody>
      </p:sp>
      <p:sp>
        <p:nvSpPr>
          <p:cNvPr id="3" name="Title 2">
            <a:extLst>
              <a:ext uri="{FF2B5EF4-FFF2-40B4-BE49-F238E27FC236}">
                <a16:creationId xmlns:a16="http://schemas.microsoft.com/office/drawing/2014/main" id="{1A638FB1-ED62-4625-865F-D06016D5F91A}"/>
              </a:ext>
            </a:extLst>
          </p:cNvPr>
          <p:cNvSpPr>
            <a:spLocks noGrp="1"/>
          </p:cNvSpPr>
          <p:nvPr>
            <p:ph type="title"/>
          </p:nvPr>
        </p:nvSpPr>
        <p:spPr/>
        <p:txBody>
          <a:bodyPr/>
          <a:lstStyle/>
          <a:p>
            <a:r>
              <a:rPr lang="en-US" dirty="0" err="1"/>
              <a:t>Prewhitening</a:t>
            </a:r>
            <a:endParaRPr lang="en-US" dirty="0"/>
          </a:p>
        </p:txBody>
      </p:sp>
      <p:sp>
        <p:nvSpPr>
          <p:cNvPr id="4" name="Footer Placeholder 3">
            <a:extLst>
              <a:ext uri="{FF2B5EF4-FFF2-40B4-BE49-F238E27FC236}">
                <a16:creationId xmlns:a16="http://schemas.microsoft.com/office/drawing/2014/main" id="{645F0937-F769-4F6E-8580-CBBCA4D251D7}"/>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B71836D5-1DDA-427B-8458-42079267F7A7}"/>
              </a:ext>
            </a:extLst>
          </p:cNvPr>
          <p:cNvSpPr>
            <a:spLocks noGrp="1"/>
          </p:cNvSpPr>
          <p:nvPr>
            <p:ph type="sldNum" sz="quarter" idx="4"/>
          </p:nvPr>
        </p:nvSpPr>
        <p:spPr/>
        <p:txBody>
          <a:bodyPr/>
          <a:lstStyle/>
          <a:p>
            <a:pPr>
              <a:defRPr/>
            </a:pPr>
            <a:fld id="{476DEB1C-3253-4C07-8F02-456B7B2AD41D}" type="slidenum">
              <a:rPr lang="it-IT" smtClean="0"/>
              <a:pPr>
                <a:defRPr/>
              </a:pPr>
              <a:t>11</a:t>
            </a:fld>
            <a:endParaRPr lang="it-IT" dirty="0"/>
          </a:p>
        </p:txBody>
      </p:sp>
      <p:graphicFrame>
        <p:nvGraphicFramePr>
          <p:cNvPr id="6" name="Chart 5">
            <a:extLst>
              <a:ext uri="{FF2B5EF4-FFF2-40B4-BE49-F238E27FC236}">
                <a16:creationId xmlns:a16="http://schemas.microsoft.com/office/drawing/2014/main" id="{914F6936-617F-4265-A226-E04C2919F950}"/>
              </a:ext>
            </a:extLst>
          </p:cNvPr>
          <p:cNvGraphicFramePr>
            <a:graphicFrameLocks/>
          </p:cNvGraphicFramePr>
          <p:nvPr/>
        </p:nvGraphicFramePr>
        <p:xfrm>
          <a:off x="710565" y="1747564"/>
          <a:ext cx="3632835" cy="266546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59D514D4-2DBB-41FB-9AD7-62DE94011550}"/>
              </a:ext>
            </a:extLst>
          </p:cNvPr>
          <p:cNvGraphicFramePr>
            <a:graphicFrameLocks/>
          </p:cNvGraphicFramePr>
          <p:nvPr/>
        </p:nvGraphicFramePr>
        <p:xfrm>
          <a:off x="4765803" y="1747564"/>
          <a:ext cx="3759071" cy="2540972"/>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1" name="Chart 10">
            <a:extLst>
              <a:ext uri="{FF2B5EF4-FFF2-40B4-BE49-F238E27FC236}">
                <a16:creationId xmlns:a16="http://schemas.microsoft.com/office/drawing/2014/main" id="{F4E2309E-D802-4D6E-8335-D3CFBCC3F768}"/>
              </a:ext>
            </a:extLst>
          </p:cNvPr>
          <p:cNvGraphicFramePr>
            <a:graphicFrameLocks/>
          </p:cNvGraphicFramePr>
          <p:nvPr/>
        </p:nvGraphicFramePr>
        <p:xfrm>
          <a:off x="4773168" y="4389342"/>
          <a:ext cx="3783538" cy="2270712"/>
        </p:xfrm>
        <a:graphic>
          <a:graphicData uri="http://schemas.openxmlformats.org/drawingml/2006/chart">
            <c:chart xmlns:c="http://schemas.openxmlformats.org/drawingml/2006/chart" xmlns:r="http://schemas.openxmlformats.org/officeDocument/2006/relationships" r:id="rId4"/>
          </a:graphicData>
        </a:graphic>
      </p:graphicFrame>
      <p:sp>
        <p:nvSpPr>
          <p:cNvPr id="12" name="TextBox 11">
            <a:extLst>
              <a:ext uri="{FF2B5EF4-FFF2-40B4-BE49-F238E27FC236}">
                <a16:creationId xmlns:a16="http://schemas.microsoft.com/office/drawing/2014/main" id="{AA42D1C7-B668-42A5-82F9-3F90EC885BFC}"/>
              </a:ext>
            </a:extLst>
          </p:cNvPr>
          <p:cNvSpPr txBox="1"/>
          <p:nvPr/>
        </p:nvSpPr>
        <p:spPr>
          <a:xfrm>
            <a:off x="2022604" y="5449824"/>
            <a:ext cx="2651760" cy="539496"/>
          </a:xfrm>
          <a:prstGeom prst="rect">
            <a:avLst/>
          </a:prstGeom>
          <a:noFill/>
          <a:ln>
            <a:noFill/>
          </a:ln>
        </p:spPr>
        <p:txBody>
          <a:bodyPr wrap="none" rtlCol="0" anchor="t" anchorCtr="0">
            <a:noAutofit/>
          </a:bodyPr>
          <a:lstStyle/>
          <a:p>
            <a:pPr algn="l"/>
            <a:r>
              <a:rPr lang="en-US" sz="2400" dirty="0"/>
              <a:t>(almost) white noise</a:t>
            </a:r>
          </a:p>
        </p:txBody>
      </p:sp>
      <p:sp>
        <p:nvSpPr>
          <p:cNvPr id="13" name="Arrow: Right 12">
            <a:extLst>
              <a:ext uri="{FF2B5EF4-FFF2-40B4-BE49-F238E27FC236}">
                <a16:creationId xmlns:a16="http://schemas.microsoft.com/office/drawing/2014/main" id="{CF9D577B-C269-4CD9-95DF-EE1814141D1C}"/>
              </a:ext>
            </a:extLst>
          </p:cNvPr>
          <p:cNvSpPr/>
          <p:nvPr/>
        </p:nvSpPr>
        <p:spPr>
          <a:xfrm>
            <a:off x="4343400" y="3018050"/>
            <a:ext cx="411658" cy="410950"/>
          </a:xfrm>
          <a:prstGeom prst="rightArrow">
            <a:avLst/>
          </a:prstGeom>
          <a:noFill/>
          <a:ln>
            <a:solidFill>
              <a:schemeClr val="tx1"/>
            </a:solid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tx1"/>
              </a:solidFill>
            </a:endParaRPr>
          </a:p>
        </p:txBody>
      </p:sp>
      <p:sp>
        <p:nvSpPr>
          <p:cNvPr id="14" name="Arrow: Right 13">
            <a:extLst>
              <a:ext uri="{FF2B5EF4-FFF2-40B4-BE49-F238E27FC236}">
                <a16:creationId xmlns:a16="http://schemas.microsoft.com/office/drawing/2014/main" id="{F98DDE43-5D64-48BC-A221-6CB6A0A6D20B}"/>
              </a:ext>
            </a:extLst>
          </p:cNvPr>
          <p:cNvSpPr/>
          <p:nvPr/>
        </p:nvSpPr>
        <p:spPr>
          <a:xfrm rot="5400000">
            <a:off x="6471424" y="4030516"/>
            <a:ext cx="411658" cy="410950"/>
          </a:xfrm>
          <a:prstGeom prst="rightArrow">
            <a:avLst/>
          </a:prstGeom>
          <a:noFill/>
          <a:ln>
            <a:solidFill>
              <a:schemeClr val="tx1"/>
            </a:solid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tx1"/>
              </a:solidFill>
            </a:endParaRPr>
          </a:p>
        </p:txBody>
      </p:sp>
    </p:spTree>
    <p:extLst>
      <p:ext uri="{BB962C8B-B14F-4D97-AF65-F5344CB8AC3E}">
        <p14:creationId xmlns:p14="http://schemas.microsoft.com/office/powerpoint/2010/main" val="6404492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A8FF44D-8BCC-46EB-B005-E0626A2CEA68}"/>
              </a:ext>
            </a:extLst>
          </p:cNvPr>
          <p:cNvSpPr>
            <a:spLocks noGrp="1"/>
          </p:cNvSpPr>
          <p:nvPr>
            <p:ph idx="1"/>
          </p:nvPr>
        </p:nvSpPr>
        <p:spPr>
          <a:xfrm>
            <a:off x="298907" y="1283644"/>
            <a:ext cx="8546175" cy="4275908"/>
          </a:xfrm>
        </p:spPr>
        <p:txBody>
          <a:bodyPr/>
          <a:lstStyle/>
          <a:p>
            <a:pPr>
              <a:spcBef>
                <a:spcPts val="2400"/>
              </a:spcBef>
            </a:pPr>
            <a:r>
              <a:rPr lang="en-US" dirty="0"/>
              <a:t>The </a:t>
            </a:r>
            <a:r>
              <a:rPr lang="en-US" dirty="0" err="1"/>
              <a:t>prewhitened</a:t>
            </a:r>
            <a:r>
              <a:rPr lang="en-US" dirty="0"/>
              <a:t> series only retains </a:t>
            </a:r>
            <a:r>
              <a:rPr lang="en-US" dirty="0">
                <a:solidFill>
                  <a:srgbClr val="C00000"/>
                </a:solidFill>
              </a:rPr>
              <a:t>residuals unexplained </a:t>
            </a:r>
            <a:r>
              <a:rPr lang="en-US" dirty="0"/>
              <a:t>by the model (i.e. </a:t>
            </a:r>
            <a:r>
              <a:rPr lang="en-US" i="1" dirty="0"/>
              <a:t>random shock</a:t>
            </a:r>
            <a:r>
              <a:rPr lang="en-US" dirty="0"/>
              <a:t>).</a:t>
            </a:r>
          </a:p>
          <a:p>
            <a:pPr>
              <a:spcBef>
                <a:spcPts val="2400"/>
              </a:spcBef>
            </a:pPr>
            <a:r>
              <a:rPr lang="en-US" dirty="0"/>
              <a:t>Residuals are (hopefully) </a:t>
            </a:r>
            <a:r>
              <a:rPr lang="en-US" dirty="0">
                <a:solidFill>
                  <a:srgbClr val="C00000"/>
                </a:solidFill>
              </a:rPr>
              <a:t>normally distributed</a:t>
            </a:r>
            <a:r>
              <a:rPr lang="en-US" dirty="0"/>
              <a:t>.</a:t>
            </a:r>
          </a:p>
          <a:p>
            <a:pPr>
              <a:spcBef>
                <a:spcPts val="2400"/>
              </a:spcBef>
            </a:pPr>
            <a:r>
              <a:rPr lang="en-US" dirty="0"/>
              <a:t>The observed residuals are </a:t>
            </a:r>
            <a:r>
              <a:rPr lang="en-US" dirty="0">
                <a:solidFill>
                  <a:srgbClr val="C00000"/>
                </a:solidFill>
              </a:rPr>
              <a:t>realizations of a random variable </a:t>
            </a:r>
            <a:r>
              <a:rPr lang="en-US" dirty="0"/>
              <a:t>whose distribution can be identified.</a:t>
            </a:r>
          </a:p>
          <a:p>
            <a:pPr>
              <a:spcBef>
                <a:spcPts val="2400"/>
              </a:spcBef>
            </a:pPr>
            <a:r>
              <a:rPr lang="en-US" dirty="0"/>
              <a:t>Using the average and standard deviation of the residual series, I can </a:t>
            </a:r>
            <a:r>
              <a:rPr lang="en-US" dirty="0">
                <a:solidFill>
                  <a:srgbClr val="C00000"/>
                </a:solidFill>
              </a:rPr>
              <a:t>generate alternative samples </a:t>
            </a:r>
            <a:r>
              <a:rPr lang="en-US" dirty="0"/>
              <a:t>that are compatible with the overall model, i.e. samples that could have occurred.</a:t>
            </a:r>
          </a:p>
        </p:txBody>
      </p:sp>
      <p:sp>
        <p:nvSpPr>
          <p:cNvPr id="3" name="Title 2">
            <a:extLst>
              <a:ext uri="{FF2B5EF4-FFF2-40B4-BE49-F238E27FC236}">
                <a16:creationId xmlns:a16="http://schemas.microsoft.com/office/drawing/2014/main" id="{07DFAADB-A2D1-4F6E-B2CA-0AE368DA8434}"/>
              </a:ext>
            </a:extLst>
          </p:cNvPr>
          <p:cNvSpPr>
            <a:spLocks noGrp="1"/>
          </p:cNvSpPr>
          <p:nvPr>
            <p:ph type="title"/>
          </p:nvPr>
        </p:nvSpPr>
        <p:spPr/>
        <p:txBody>
          <a:bodyPr/>
          <a:lstStyle/>
          <a:p>
            <a:r>
              <a:rPr lang="en-US" dirty="0"/>
              <a:t>Recoloring</a:t>
            </a:r>
          </a:p>
        </p:txBody>
      </p:sp>
      <p:sp>
        <p:nvSpPr>
          <p:cNvPr id="4" name="Footer Placeholder 3">
            <a:extLst>
              <a:ext uri="{FF2B5EF4-FFF2-40B4-BE49-F238E27FC236}">
                <a16:creationId xmlns:a16="http://schemas.microsoft.com/office/drawing/2014/main" id="{F7B5A2F7-FEB4-4ED8-B65B-2310458C3617}"/>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C527D396-F414-401F-BB0F-255D0A94B9DA}"/>
              </a:ext>
            </a:extLst>
          </p:cNvPr>
          <p:cNvSpPr>
            <a:spLocks noGrp="1"/>
          </p:cNvSpPr>
          <p:nvPr>
            <p:ph type="sldNum" sz="quarter" idx="4"/>
          </p:nvPr>
        </p:nvSpPr>
        <p:spPr/>
        <p:txBody>
          <a:bodyPr/>
          <a:lstStyle/>
          <a:p>
            <a:pPr>
              <a:defRPr/>
            </a:pPr>
            <a:fld id="{476DEB1C-3253-4C07-8F02-456B7B2AD41D}" type="slidenum">
              <a:rPr lang="it-IT" smtClean="0"/>
              <a:pPr>
                <a:defRPr/>
              </a:pPr>
              <a:t>12</a:t>
            </a:fld>
            <a:endParaRPr lang="it-IT" dirty="0"/>
          </a:p>
        </p:txBody>
      </p:sp>
    </p:spTree>
    <p:extLst>
      <p:ext uri="{BB962C8B-B14F-4D97-AF65-F5344CB8AC3E}">
        <p14:creationId xmlns:p14="http://schemas.microsoft.com/office/powerpoint/2010/main" val="35390238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11F4680-9B87-44BC-8183-0B814E7452CD}"/>
              </a:ext>
            </a:extLst>
          </p:cNvPr>
          <p:cNvSpPr>
            <a:spLocks noGrp="1"/>
          </p:cNvSpPr>
          <p:nvPr>
            <p:ph idx="1"/>
          </p:nvPr>
        </p:nvSpPr>
        <p:spPr/>
        <p:txBody>
          <a:bodyPr>
            <a:normAutofit/>
          </a:bodyPr>
          <a:lstStyle/>
          <a:p>
            <a:r>
              <a:rPr lang="en-US" dirty="0">
                <a:solidFill>
                  <a:srgbClr val="C00000"/>
                </a:solidFill>
              </a:rPr>
              <a:t>Bootstrapping</a:t>
            </a:r>
            <a:r>
              <a:rPr lang="en-US" dirty="0"/>
              <a:t> is non-parametric </a:t>
            </a:r>
            <a:r>
              <a:rPr lang="en-US" dirty="0">
                <a:solidFill>
                  <a:srgbClr val="C00000"/>
                </a:solidFill>
              </a:rPr>
              <a:t>resampling technique </a:t>
            </a:r>
            <a:r>
              <a:rPr lang="en-US" dirty="0"/>
              <a:t>used in stochastic programming when historical data is available. It makes no assumptions about the underlying probability distribution of the stochastic variables.</a:t>
            </a:r>
          </a:p>
          <a:p>
            <a:r>
              <a:rPr lang="en-US" dirty="0"/>
              <a:t>The </a:t>
            </a:r>
            <a:r>
              <a:rPr lang="en-US" dirty="0">
                <a:solidFill>
                  <a:srgbClr val="C00000"/>
                </a:solidFill>
              </a:rPr>
              <a:t>assumption</a:t>
            </a:r>
            <a:r>
              <a:rPr lang="en-US" dirty="0"/>
              <a:t> of bootstrapping is that the observed historical data sample mimics the characteristics of the true, unknown population distribution. </a:t>
            </a:r>
          </a:p>
          <a:p>
            <a:r>
              <a:rPr lang="en-US" dirty="0"/>
              <a:t>Bootstrapping </a:t>
            </a:r>
            <a:r>
              <a:rPr lang="en-US" dirty="0">
                <a:solidFill>
                  <a:srgbClr val="C00000"/>
                </a:solidFill>
              </a:rPr>
              <a:t>repeatedly draws </a:t>
            </a:r>
            <a:r>
              <a:rPr lang="en-US" dirty="0"/>
              <a:t>samples with replacement from the observed data to generate "</a:t>
            </a:r>
            <a:r>
              <a:rPr lang="en-US" i="1" dirty="0"/>
              <a:t>bootstrap samples</a:t>
            </a:r>
            <a:r>
              <a:rPr lang="en-US" dirty="0"/>
              <a:t>". Each sample can be considered as </a:t>
            </a:r>
            <a:r>
              <a:rPr lang="en-US" dirty="0">
                <a:solidFill>
                  <a:srgbClr val="C00000"/>
                </a:solidFill>
              </a:rPr>
              <a:t>a plausible realization </a:t>
            </a:r>
            <a:r>
              <a:rPr lang="en-US" dirty="0"/>
              <a:t>of what a new data sample from the true population *might* look like.</a:t>
            </a:r>
          </a:p>
          <a:p>
            <a:r>
              <a:rPr lang="en-US" dirty="0">
                <a:solidFill>
                  <a:srgbClr val="C00000"/>
                </a:solidFill>
              </a:rPr>
              <a:t>Autoregressive models </a:t>
            </a:r>
            <a:r>
              <a:rPr lang="en-US" dirty="0"/>
              <a:t>are particularly suitable for data series bootstrap set generation.</a:t>
            </a:r>
          </a:p>
        </p:txBody>
      </p:sp>
      <p:sp>
        <p:nvSpPr>
          <p:cNvPr id="3" name="Title 2">
            <a:extLst>
              <a:ext uri="{FF2B5EF4-FFF2-40B4-BE49-F238E27FC236}">
                <a16:creationId xmlns:a16="http://schemas.microsoft.com/office/drawing/2014/main" id="{A7280876-7C87-4557-8129-C333424C4C34}"/>
              </a:ext>
            </a:extLst>
          </p:cNvPr>
          <p:cNvSpPr>
            <a:spLocks noGrp="1"/>
          </p:cNvSpPr>
          <p:nvPr>
            <p:ph type="title"/>
          </p:nvPr>
        </p:nvSpPr>
        <p:spPr/>
        <p:txBody>
          <a:bodyPr/>
          <a:lstStyle/>
          <a:p>
            <a:r>
              <a:rPr lang="en-US" dirty="0"/>
              <a:t>Bootstrapping time series</a:t>
            </a:r>
          </a:p>
        </p:txBody>
      </p:sp>
      <p:sp>
        <p:nvSpPr>
          <p:cNvPr id="4" name="Footer Placeholder 3">
            <a:extLst>
              <a:ext uri="{FF2B5EF4-FFF2-40B4-BE49-F238E27FC236}">
                <a16:creationId xmlns:a16="http://schemas.microsoft.com/office/drawing/2014/main" id="{1A1F047D-92D6-4330-A193-EF5DFAA8ED38}"/>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4391D393-DC25-4D25-B9CC-EDAE1E0D6482}"/>
              </a:ext>
            </a:extLst>
          </p:cNvPr>
          <p:cNvSpPr>
            <a:spLocks noGrp="1"/>
          </p:cNvSpPr>
          <p:nvPr>
            <p:ph type="sldNum" sz="quarter" idx="4"/>
          </p:nvPr>
        </p:nvSpPr>
        <p:spPr/>
        <p:txBody>
          <a:bodyPr/>
          <a:lstStyle/>
          <a:p>
            <a:pPr>
              <a:defRPr/>
            </a:pPr>
            <a:fld id="{476DEB1C-3253-4C07-8F02-456B7B2AD41D}" type="slidenum">
              <a:rPr lang="it-IT" smtClean="0"/>
              <a:pPr>
                <a:defRPr/>
              </a:pPr>
              <a:t>13</a:t>
            </a:fld>
            <a:endParaRPr lang="it-IT" dirty="0"/>
          </a:p>
        </p:txBody>
      </p:sp>
    </p:spTree>
    <p:extLst>
      <p:ext uri="{BB962C8B-B14F-4D97-AF65-F5344CB8AC3E}">
        <p14:creationId xmlns:p14="http://schemas.microsoft.com/office/powerpoint/2010/main" val="3483572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C85879DB-4DE7-4174-8C19-2CB9A0440F59}"/>
                  </a:ext>
                </a:extLst>
              </p:cNvPr>
              <p:cNvSpPr>
                <a:spLocks noGrp="1"/>
              </p:cNvSpPr>
              <p:nvPr>
                <p:ph idx="1"/>
              </p:nvPr>
            </p:nvSpPr>
            <p:spPr>
              <a:xfrm>
                <a:off x="298907" y="1173916"/>
                <a:ext cx="8546175" cy="3251780"/>
              </a:xfrm>
            </p:spPr>
            <p:txBody>
              <a:bodyPr/>
              <a:lstStyle/>
              <a:p>
                <a:r>
                  <a:rPr lang="en-US" dirty="0"/>
                  <a:t>We fit an AR(p) model on each series </a:t>
                </a:r>
              </a:p>
              <a:p>
                <a:r>
                  <a:rPr lang="en-US" dirty="0"/>
                  <a:t>We extracted </a:t>
                </a:r>
                <a:r>
                  <a:rPr lang="en-US" dirty="0">
                    <a:solidFill>
                      <a:srgbClr val="C00000"/>
                    </a:solidFill>
                  </a:rPr>
                  <a:t>residuals</a:t>
                </a:r>
                <a:r>
                  <a:rPr lang="en-US" dirty="0"/>
                  <a:t> </a:t>
                </a:r>
                <a14:m>
                  <m:oMath xmlns:m="http://schemas.openxmlformats.org/officeDocument/2006/math">
                    <m:sSub>
                      <m:sSubPr>
                        <m:ctrlPr>
                          <a:rPr lang="it-IT" b="0" i="1" smtClean="0">
                            <a:latin typeface="Cambria Math" panose="02040503050406030204" pitchFamily="18" charset="0"/>
                            <a:ea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𝜀</m:t>
                        </m:r>
                      </m:e>
                      <m:sub>
                        <m:r>
                          <a:rPr lang="it-IT" b="0" i="1" smtClean="0">
                            <a:latin typeface="Cambria Math" panose="02040503050406030204" pitchFamily="18" charset="0"/>
                            <a:ea typeface="Cambria Math" panose="02040503050406030204" pitchFamily="18" charset="0"/>
                          </a:rPr>
                          <m:t>𝑡</m:t>
                        </m:r>
                      </m:sub>
                    </m:sSub>
                  </m:oMath>
                </a14:m>
                <a:r>
                  <a:rPr lang="en-US" dirty="0"/>
                  <a:t>, which were </a:t>
                </a:r>
                <a:r>
                  <a:rPr lang="en-US" i="1" dirty="0"/>
                  <a:t>sufficiently (?)</a:t>
                </a:r>
                <a:r>
                  <a:rPr lang="en-US" dirty="0"/>
                  <a:t> stationary</a:t>
                </a:r>
              </a:p>
              <a:p>
                <a:r>
                  <a:rPr lang="en-US" dirty="0"/>
                  <a:t>We resampled the residuals in </a:t>
                </a:r>
                <a14:m>
                  <m:oMath xmlns:m="http://schemas.openxmlformats.org/officeDocument/2006/math">
                    <m:sSubSup>
                      <m:sSubSupPr>
                        <m:ctrlPr>
                          <a:rPr lang="it-IT" b="0" i="1" smtClean="0">
                            <a:latin typeface="Cambria Math" panose="02040503050406030204" pitchFamily="18" charset="0"/>
                            <a:ea typeface="Cambria Math" panose="02040503050406030204" pitchFamily="18" charset="0"/>
                          </a:rPr>
                        </m:ctrlPr>
                      </m:sSubSupPr>
                      <m:e>
                        <m:r>
                          <a:rPr lang="en-US" i="1" smtClean="0">
                            <a:latin typeface="Cambria Math" panose="02040503050406030204" pitchFamily="18" charset="0"/>
                            <a:ea typeface="Cambria Math" panose="02040503050406030204" pitchFamily="18" charset="0"/>
                          </a:rPr>
                          <m:t>𝜀</m:t>
                        </m:r>
                      </m:e>
                      <m:sub>
                        <m:r>
                          <a:rPr lang="it-IT" b="0" i="1" smtClean="0">
                            <a:latin typeface="Cambria Math" panose="02040503050406030204" pitchFamily="18" charset="0"/>
                            <a:ea typeface="Cambria Math" panose="02040503050406030204" pitchFamily="18" charset="0"/>
                          </a:rPr>
                          <m:t>𝑡</m:t>
                        </m:r>
                      </m:sub>
                      <m:sup>
                        <m:r>
                          <a:rPr lang="it-IT" b="0" i="1" smtClean="0">
                            <a:latin typeface="Cambria Math" panose="02040503050406030204" pitchFamily="18" charset="0"/>
                            <a:ea typeface="Cambria Math" panose="02040503050406030204" pitchFamily="18" charset="0"/>
                          </a:rPr>
                          <m:t>∗</m:t>
                        </m:r>
                      </m:sup>
                    </m:sSubSup>
                  </m:oMath>
                </a14:m>
                <a:r>
                  <a:rPr lang="en-US" dirty="0"/>
                  <a:t> and simulated new series as:</a:t>
                </a:r>
              </a:p>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𝑥</m:t>
                          </m:r>
                        </m:e>
                        <m:sub>
                          <m:r>
                            <a:rPr lang="it-IT" b="0" i="1" smtClean="0">
                              <a:latin typeface="Cambria Math" panose="02040503050406030204" pitchFamily="18" charset="0"/>
                            </a:rPr>
                            <m:t>𝑡</m:t>
                          </m:r>
                        </m:sub>
                        <m:sup>
                          <m:r>
                            <a:rPr lang="it-IT" b="0" i="1" smtClean="0">
                              <a:latin typeface="Cambria Math" panose="02040503050406030204" pitchFamily="18" charset="0"/>
                            </a:rPr>
                            <m:t>∗</m:t>
                          </m:r>
                        </m:sup>
                      </m:sSubSup>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𝜙</m:t>
                          </m:r>
                        </m:e>
                        <m:sub>
                          <m:r>
                            <a:rPr lang="it-IT" b="0" i="1" smtClean="0">
                              <a:latin typeface="Cambria Math" panose="02040503050406030204" pitchFamily="18" charset="0"/>
                            </a:rPr>
                            <m:t>1</m:t>
                          </m:r>
                        </m:sub>
                      </m:sSub>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𝑥</m:t>
                          </m:r>
                        </m:e>
                        <m:sub>
                          <m:r>
                            <a:rPr lang="it-IT" b="0" i="1" smtClean="0">
                              <a:latin typeface="Cambria Math" panose="02040503050406030204" pitchFamily="18" charset="0"/>
                            </a:rPr>
                            <m:t>𝑡</m:t>
                          </m:r>
                          <m:r>
                            <a:rPr lang="it-IT" b="0" i="1" smtClean="0">
                              <a:latin typeface="Cambria Math" panose="02040503050406030204" pitchFamily="18" charset="0"/>
                            </a:rPr>
                            <m:t>−1</m:t>
                          </m:r>
                        </m:sub>
                        <m:sup>
                          <m:r>
                            <a:rPr lang="it-IT" b="0" i="1" smtClean="0">
                              <a:latin typeface="Cambria Math" panose="02040503050406030204" pitchFamily="18" charset="0"/>
                            </a:rPr>
                            <m:t>∗</m:t>
                          </m:r>
                        </m:sup>
                      </m:sSubSup>
                      <m:r>
                        <a:rPr lang="it-IT" b="0" i="1" smtClean="0">
                          <a:latin typeface="Cambria Math" panose="02040503050406030204" pitchFamily="18" charset="0"/>
                        </a:rPr>
                        <m:t>+ …+</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𝜙</m:t>
                          </m:r>
                        </m:e>
                        <m:sub>
                          <m:r>
                            <a:rPr lang="it-IT" b="0" i="1" smtClean="0">
                              <a:latin typeface="Cambria Math" panose="02040503050406030204" pitchFamily="18" charset="0"/>
                            </a:rPr>
                            <m:t>𝑝</m:t>
                          </m:r>
                        </m:sub>
                      </m:sSub>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𝑥</m:t>
                          </m:r>
                        </m:e>
                        <m:sub>
                          <m:r>
                            <a:rPr lang="it-IT" b="0" i="1" smtClean="0">
                              <a:latin typeface="Cambria Math" panose="02040503050406030204" pitchFamily="18" charset="0"/>
                            </a:rPr>
                            <m:t>𝑡</m:t>
                          </m:r>
                          <m:r>
                            <a:rPr lang="it-IT" b="0" i="1" smtClean="0">
                              <a:latin typeface="Cambria Math" panose="02040503050406030204" pitchFamily="18" charset="0"/>
                            </a:rPr>
                            <m:t>−</m:t>
                          </m:r>
                          <m:r>
                            <a:rPr lang="it-IT" b="0" i="1" smtClean="0">
                              <a:latin typeface="Cambria Math" panose="02040503050406030204" pitchFamily="18" charset="0"/>
                            </a:rPr>
                            <m:t>𝑝</m:t>
                          </m:r>
                        </m:sub>
                        <m:sup>
                          <m:r>
                            <a:rPr lang="it-IT" b="0" i="1" smtClean="0">
                              <a:latin typeface="Cambria Math" panose="02040503050406030204" pitchFamily="18" charset="0"/>
                            </a:rPr>
                            <m:t>∗</m:t>
                          </m:r>
                        </m:sup>
                      </m:sSubSup>
                      <m:r>
                        <a:rPr lang="it-IT" b="0" i="1" smtClean="0">
                          <a:latin typeface="Cambria Math" panose="02040503050406030204" pitchFamily="18" charset="0"/>
                        </a:rPr>
                        <m:t>+</m:t>
                      </m:r>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𝜀</m:t>
                          </m:r>
                        </m:e>
                        <m:sub>
                          <m:r>
                            <a:rPr lang="it-IT" b="0" i="1" smtClean="0">
                              <a:latin typeface="Cambria Math" panose="02040503050406030204" pitchFamily="18" charset="0"/>
                            </a:rPr>
                            <m:t>𝑡</m:t>
                          </m:r>
                        </m:sub>
                        <m:sup>
                          <m:r>
                            <a:rPr lang="it-IT" b="0" i="1" smtClean="0">
                              <a:latin typeface="Cambria Math" panose="02040503050406030204" pitchFamily="18" charset="0"/>
                            </a:rPr>
                            <m:t>∗</m:t>
                          </m:r>
                        </m:sup>
                      </m:sSubSup>
                    </m:oMath>
                  </m:oMathPara>
                </a14:m>
                <a:endParaRPr lang="en-US" dirty="0"/>
              </a:p>
              <a:p>
                <a:r>
                  <a:rPr lang="en-US" dirty="0"/>
                  <a:t>We bootstrapped the residual series and reconstructed request series.</a:t>
                </a:r>
              </a:p>
            </p:txBody>
          </p:sp>
        </mc:Choice>
        <mc:Fallback xmlns="">
          <p:sp>
            <p:nvSpPr>
              <p:cNvPr id="2" name="Content Placeholder 1">
                <a:extLst>
                  <a:ext uri="{FF2B5EF4-FFF2-40B4-BE49-F238E27FC236}">
                    <a16:creationId xmlns:a16="http://schemas.microsoft.com/office/drawing/2014/main" id="{C85879DB-4DE7-4174-8C19-2CB9A0440F59}"/>
                  </a:ext>
                </a:extLst>
              </p:cNvPr>
              <p:cNvSpPr>
                <a:spLocks noGrp="1" noRot="1" noChangeAspect="1" noMove="1" noResize="1" noEditPoints="1" noAdjustHandles="1" noChangeArrowheads="1" noChangeShapeType="1" noTextEdit="1"/>
              </p:cNvSpPr>
              <p:nvPr>
                <p:ph idx="1"/>
              </p:nvPr>
            </p:nvSpPr>
            <p:spPr>
              <a:xfrm>
                <a:off x="298907" y="1173916"/>
                <a:ext cx="8546175" cy="3251780"/>
              </a:xfrm>
              <a:blipFill>
                <a:blip r:embed="rId2"/>
                <a:stretch>
                  <a:fillRect l="-1070" t="-1501"/>
                </a:stretch>
              </a:blipFill>
            </p:spPr>
            <p:txBody>
              <a:bodyPr/>
              <a:lstStyle/>
              <a:p>
                <a:r>
                  <a:rPr lang="it-IT">
                    <a:noFill/>
                  </a:rPr>
                  <a:t> </a:t>
                </a:r>
              </a:p>
            </p:txBody>
          </p:sp>
        </mc:Fallback>
      </mc:AlternateContent>
      <p:sp>
        <p:nvSpPr>
          <p:cNvPr id="3" name="Title 2">
            <a:extLst>
              <a:ext uri="{FF2B5EF4-FFF2-40B4-BE49-F238E27FC236}">
                <a16:creationId xmlns:a16="http://schemas.microsoft.com/office/drawing/2014/main" id="{9A06050C-9BA7-4D38-BC68-FED697FECD85}"/>
              </a:ext>
            </a:extLst>
          </p:cNvPr>
          <p:cNvSpPr>
            <a:spLocks noGrp="1"/>
          </p:cNvSpPr>
          <p:nvPr>
            <p:ph type="title"/>
          </p:nvPr>
        </p:nvSpPr>
        <p:spPr/>
        <p:txBody>
          <a:bodyPr/>
          <a:lstStyle/>
          <a:p>
            <a:r>
              <a:rPr lang="en-US" dirty="0"/>
              <a:t>Bootstrapping</a:t>
            </a:r>
          </a:p>
        </p:txBody>
      </p:sp>
      <p:sp>
        <p:nvSpPr>
          <p:cNvPr id="4" name="Footer Placeholder 3">
            <a:extLst>
              <a:ext uri="{FF2B5EF4-FFF2-40B4-BE49-F238E27FC236}">
                <a16:creationId xmlns:a16="http://schemas.microsoft.com/office/drawing/2014/main" id="{041C44BB-771E-4337-84BA-119A3BF8807E}"/>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9A5E24EB-6EDE-4EDA-86C8-1F7EC53C7293}"/>
              </a:ext>
            </a:extLst>
          </p:cNvPr>
          <p:cNvSpPr>
            <a:spLocks noGrp="1"/>
          </p:cNvSpPr>
          <p:nvPr>
            <p:ph type="sldNum" sz="quarter" idx="4"/>
          </p:nvPr>
        </p:nvSpPr>
        <p:spPr/>
        <p:txBody>
          <a:bodyPr/>
          <a:lstStyle/>
          <a:p>
            <a:pPr>
              <a:defRPr/>
            </a:pPr>
            <a:fld id="{476DEB1C-3253-4C07-8F02-456B7B2AD41D}" type="slidenum">
              <a:rPr lang="it-IT" smtClean="0"/>
              <a:pPr>
                <a:defRPr/>
              </a:pPr>
              <a:t>14</a:t>
            </a:fld>
            <a:endParaRPr lang="it-IT" dirty="0"/>
          </a:p>
        </p:txBody>
      </p:sp>
      <p:pic>
        <p:nvPicPr>
          <p:cNvPr id="8" name="Picture 7">
            <a:extLst>
              <a:ext uri="{FF2B5EF4-FFF2-40B4-BE49-F238E27FC236}">
                <a16:creationId xmlns:a16="http://schemas.microsoft.com/office/drawing/2014/main" id="{DE9D8429-2C95-4DB5-BF22-7A0B314FEC31}"/>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2725329" y="3770837"/>
            <a:ext cx="3900494" cy="3032340"/>
          </a:xfrm>
          <a:prstGeom prst="rect">
            <a:avLst/>
          </a:prstGeom>
        </p:spPr>
      </p:pic>
    </p:spTree>
    <p:extLst>
      <p:ext uri="{BB962C8B-B14F-4D97-AF65-F5344CB8AC3E}">
        <p14:creationId xmlns:p14="http://schemas.microsoft.com/office/powerpoint/2010/main" val="11252691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2333D55-D19D-4E81-B3AB-1AF9E41BF6AB}"/>
              </a:ext>
            </a:extLst>
          </p:cNvPr>
          <p:cNvSpPr>
            <a:spLocks noGrp="1"/>
          </p:cNvSpPr>
          <p:nvPr>
            <p:ph idx="1"/>
          </p:nvPr>
        </p:nvSpPr>
        <p:spPr/>
        <p:txBody>
          <a:bodyPr/>
          <a:lstStyle/>
          <a:p>
            <a:r>
              <a:rPr lang="en-US" dirty="0"/>
              <a:t>We were working on </a:t>
            </a:r>
            <a:r>
              <a:rPr lang="en-US" dirty="0">
                <a:solidFill>
                  <a:srgbClr val="C00000"/>
                </a:solidFill>
              </a:rPr>
              <a:t>short data series</a:t>
            </a:r>
            <a:r>
              <a:rPr lang="en-US" dirty="0"/>
              <a:t>, that often produce biased estimates.</a:t>
            </a:r>
          </a:p>
          <a:p>
            <a:r>
              <a:rPr lang="en-US" dirty="0"/>
              <a:t>The resampling process was guided according to </a:t>
            </a:r>
            <a:r>
              <a:rPr lang="en-US" dirty="0">
                <a:solidFill>
                  <a:srgbClr val="C00000"/>
                </a:solidFill>
              </a:rPr>
              <a:t>Maximum Entropy Bootstrap</a:t>
            </a:r>
            <a:r>
              <a:rPr lang="en-US" dirty="0"/>
              <a:t> (MEB, Vinod 1993), associating a probability with each outcome and </a:t>
            </a:r>
            <a:r>
              <a:rPr lang="en-US" dirty="0">
                <a:solidFill>
                  <a:srgbClr val="C00000"/>
                </a:solidFill>
              </a:rPr>
              <a:t>maximizing an information entropy </a:t>
            </a:r>
            <a:r>
              <a:rPr lang="en-US" dirty="0"/>
              <a:t>function defined over the resampled data, </a:t>
            </a:r>
            <a:r>
              <a:rPr lang="en-US" dirty="0">
                <a:solidFill>
                  <a:srgbClr val="C00000"/>
                </a:solidFill>
              </a:rPr>
              <a:t>subject to constraints </a:t>
            </a:r>
            <a:r>
              <a:rPr lang="en-US" dirty="0"/>
              <a:t>reflecting statistics computed on the original data. </a:t>
            </a:r>
          </a:p>
          <a:p>
            <a:r>
              <a:rPr lang="en-US" dirty="0"/>
              <a:t>This guarantees that the generated bootstraps are the </a:t>
            </a:r>
            <a:r>
              <a:rPr lang="en-US" b="1" dirty="0"/>
              <a:t>least biased, </a:t>
            </a:r>
            <a:r>
              <a:rPr lang="en-US" dirty="0"/>
              <a:t>i.e., the </a:t>
            </a:r>
            <a:r>
              <a:rPr lang="en-US" dirty="0">
                <a:solidFill>
                  <a:srgbClr val="C00000"/>
                </a:solidFill>
              </a:rPr>
              <a:t>most non-committal estimates </a:t>
            </a:r>
            <a:r>
              <a:rPr lang="en-US" dirty="0"/>
              <a:t>consistent with the known constraints, i.e., with the observed data.</a:t>
            </a:r>
          </a:p>
          <a:p>
            <a:r>
              <a:rPr lang="en-US" dirty="0"/>
              <a:t> </a:t>
            </a:r>
          </a:p>
        </p:txBody>
      </p:sp>
      <p:sp>
        <p:nvSpPr>
          <p:cNvPr id="3" name="Title 2">
            <a:extLst>
              <a:ext uri="{FF2B5EF4-FFF2-40B4-BE49-F238E27FC236}">
                <a16:creationId xmlns:a16="http://schemas.microsoft.com/office/drawing/2014/main" id="{9D0DD118-A109-4FE0-AD46-B81ED76F66B9}"/>
              </a:ext>
            </a:extLst>
          </p:cNvPr>
          <p:cNvSpPr>
            <a:spLocks noGrp="1"/>
          </p:cNvSpPr>
          <p:nvPr>
            <p:ph type="title"/>
          </p:nvPr>
        </p:nvSpPr>
        <p:spPr/>
        <p:txBody>
          <a:bodyPr/>
          <a:lstStyle/>
          <a:p>
            <a:r>
              <a:rPr lang="en-US" dirty="0"/>
              <a:t>Maximum entropy bootstrap</a:t>
            </a:r>
          </a:p>
        </p:txBody>
      </p:sp>
      <p:sp>
        <p:nvSpPr>
          <p:cNvPr id="4" name="Footer Placeholder 3">
            <a:extLst>
              <a:ext uri="{FF2B5EF4-FFF2-40B4-BE49-F238E27FC236}">
                <a16:creationId xmlns:a16="http://schemas.microsoft.com/office/drawing/2014/main" id="{32973CCE-2470-4337-9E79-942349CEB47A}"/>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50FA2E18-5A1F-420B-9D00-C26676F56989}"/>
              </a:ext>
            </a:extLst>
          </p:cNvPr>
          <p:cNvSpPr>
            <a:spLocks noGrp="1"/>
          </p:cNvSpPr>
          <p:nvPr>
            <p:ph type="sldNum" sz="quarter" idx="4"/>
          </p:nvPr>
        </p:nvSpPr>
        <p:spPr/>
        <p:txBody>
          <a:bodyPr/>
          <a:lstStyle/>
          <a:p>
            <a:pPr>
              <a:defRPr/>
            </a:pPr>
            <a:fld id="{476DEB1C-3253-4C07-8F02-456B7B2AD41D}" type="slidenum">
              <a:rPr lang="it-IT" smtClean="0"/>
              <a:pPr>
                <a:defRPr/>
              </a:pPr>
              <a:t>15</a:t>
            </a:fld>
            <a:endParaRPr lang="it-IT" dirty="0"/>
          </a:p>
        </p:txBody>
      </p:sp>
    </p:spTree>
    <p:extLst>
      <p:ext uri="{BB962C8B-B14F-4D97-AF65-F5344CB8AC3E}">
        <p14:creationId xmlns:p14="http://schemas.microsoft.com/office/powerpoint/2010/main" val="32744334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B984A9C-C4E5-926C-9850-B0E9DC56B02B}"/>
              </a:ext>
            </a:extLst>
          </p:cNvPr>
          <p:cNvSpPr>
            <a:spLocks noGrp="1"/>
          </p:cNvSpPr>
          <p:nvPr>
            <p:ph idx="1"/>
          </p:nvPr>
        </p:nvSpPr>
        <p:spPr>
          <a:xfrm>
            <a:off x="293370" y="1270000"/>
            <a:ext cx="8221980" cy="5223164"/>
          </a:xfrm>
        </p:spPr>
        <p:txBody>
          <a:bodyPr>
            <a:normAutofit lnSpcReduction="10000"/>
          </a:bodyPr>
          <a:lstStyle/>
          <a:p>
            <a:r>
              <a:rPr lang="en-US" dirty="0"/>
              <a:t>Standard MEB defines a probability distribution maximizing entropy subject to constraints derived from statistics computed on the empirical dataset.  It can be formulated in a </a:t>
            </a:r>
            <a:r>
              <a:rPr lang="en-US" dirty="0" err="1"/>
              <a:t>Lagrangian</a:t>
            </a:r>
            <a:r>
              <a:rPr lang="en-US" dirty="0"/>
              <a:t> fashion as</a:t>
            </a:r>
          </a:p>
          <a:p>
            <a:endParaRPr lang="en-US" dirty="0"/>
          </a:p>
          <a:p>
            <a:endParaRPr lang="en-US" dirty="0"/>
          </a:p>
          <a:p>
            <a:pPr>
              <a:spcBef>
                <a:spcPts val="1200"/>
              </a:spcBef>
            </a:pPr>
            <a:r>
              <a:rPr lang="en-US" dirty="0"/>
              <a:t>We added to the formulation an auxiliary objective-related component, representing scenario-wise quantities that are relevant to downstream cost functions</a:t>
            </a:r>
          </a:p>
          <a:p>
            <a:endParaRPr lang="en-US" dirty="0"/>
          </a:p>
          <a:p>
            <a:endParaRPr lang="en-US" dirty="0"/>
          </a:p>
          <a:p>
            <a:pPr>
              <a:spcBef>
                <a:spcPts val="1800"/>
              </a:spcBef>
            </a:pPr>
            <a:r>
              <a:rPr lang="en-US" dirty="0"/>
              <a:t>This produces synthetic datasets that reflect the uncertainty of the original data but also adhere to the specific objectives and constraints</a:t>
            </a:r>
          </a:p>
        </p:txBody>
      </p:sp>
      <p:sp>
        <p:nvSpPr>
          <p:cNvPr id="3" name="Title 2">
            <a:extLst>
              <a:ext uri="{FF2B5EF4-FFF2-40B4-BE49-F238E27FC236}">
                <a16:creationId xmlns:a16="http://schemas.microsoft.com/office/drawing/2014/main" id="{B97DFD49-EDC0-C50D-5418-FAA0171F1057}"/>
              </a:ext>
            </a:extLst>
          </p:cNvPr>
          <p:cNvSpPr>
            <a:spLocks noGrp="1"/>
          </p:cNvSpPr>
          <p:nvPr>
            <p:ph type="title"/>
          </p:nvPr>
        </p:nvSpPr>
        <p:spPr>
          <a:xfrm>
            <a:off x="262890" y="-34867"/>
            <a:ext cx="7886700" cy="1004387"/>
          </a:xfrm>
        </p:spPr>
        <p:txBody>
          <a:bodyPr>
            <a:normAutofit fontScale="90000"/>
          </a:bodyPr>
          <a:lstStyle/>
          <a:p>
            <a:r>
              <a:rPr lang="it-IT" dirty="0" err="1"/>
              <a:t>Objective-Augmented</a:t>
            </a:r>
            <a:r>
              <a:rPr lang="it-IT" dirty="0"/>
              <a:t> Maximum </a:t>
            </a:r>
            <a:r>
              <a:rPr lang="it-IT" dirty="0" err="1"/>
              <a:t>Entropy</a:t>
            </a:r>
            <a:br>
              <a:rPr lang="it-IT" dirty="0"/>
            </a:br>
            <a:r>
              <a:rPr lang="it-IT" dirty="0"/>
              <a:t>Bootstrap (OA-MEB)</a:t>
            </a:r>
            <a:endParaRPr lang="en-US" dirty="0"/>
          </a:p>
        </p:txBody>
      </p:sp>
      <p:sp>
        <p:nvSpPr>
          <p:cNvPr id="4" name="Footer Placeholder 3">
            <a:extLst>
              <a:ext uri="{FF2B5EF4-FFF2-40B4-BE49-F238E27FC236}">
                <a16:creationId xmlns:a16="http://schemas.microsoft.com/office/drawing/2014/main" id="{7B1A1E05-4607-1B09-A231-E42B5A7FB56F}"/>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B9A4DB53-5D01-698C-B3F6-113DAF1696E6}"/>
              </a:ext>
            </a:extLst>
          </p:cNvPr>
          <p:cNvSpPr>
            <a:spLocks noGrp="1"/>
          </p:cNvSpPr>
          <p:nvPr>
            <p:ph type="sldNum" sz="quarter" idx="4"/>
          </p:nvPr>
        </p:nvSpPr>
        <p:spPr/>
        <p:txBody>
          <a:bodyPr/>
          <a:lstStyle/>
          <a:p>
            <a:pPr>
              <a:defRPr/>
            </a:pPr>
            <a:fld id="{476DEB1C-3253-4C07-8F02-456B7B2AD41D}" type="slidenum">
              <a:rPr lang="it-IT" smtClean="0"/>
              <a:pPr>
                <a:defRPr/>
              </a:pPr>
              <a:t>16</a:t>
            </a:fld>
            <a:endParaRPr lang="it-IT" dirty="0"/>
          </a:p>
        </p:txBody>
      </p:sp>
      <p:pic>
        <p:nvPicPr>
          <p:cNvPr id="7" name="Picture 6">
            <a:extLst>
              <a:ext uri="{FF2B5EF4-FFF2-40B4-BE49-F238E27FC236}">
                <a16:creationId xmlns:a16="http://schemas.microsoft.com/office/drawing/2014/main" id="{BD5E1DC9-4A59-A4C7-9F89-213FA991C81E}"/>
              </a:ext>
            </a:extLst>
          </p:cNvPr>
          <p:cNvPicPr>
            <a:picLocks noChangeAspect="1"/>
          </p:cNvPicPr>
          <p:nvPr/>
        </p:nvPicPr>
        <p:blipFill>
          <a:blip r:embed="rId2"/>
          <a:stretch>
            <a:fillRect/>
          </a:stretch>
        </p:blipFill>
        <p:spPr>
          <a:xfrm>
            <a:off x="388266" y="2492823"/>
            <a:ext cx="5631668" cy="823031"/>
          </a:xfrm>
          <a:prstGeom prst="rect">
            <a:avLst/>
          </a:prstGeom>
        </p:spPr>
      </p:pic>
      <p:pic>
        <p:nvPicPr>
          <p:cNvPr id="9" name="Picture 8">
            <a:extLst>
              <a:ext uri="{FF2B5EF4-FFF2-40B4-BE49-F238E27FC236}">
                <a16:creationId xmlns:a16="http://schemas.microsoft.com/office/drawing/2014/main" id="{A47831DA-BFD2-AD12-5EF0-3F5AA3EF1830}"/>
              </a:ext>
            </a:extLst>
          </p:cNvPr>
          <p:cNvPicPr>
            <a:picLocks noChangeAspect="1"/>
          </p:cNvPicPr>
          <p:nvPr/>
        </p:nvPicPr>
        <p:blipFill>
          <a:blip r:embed="rId3"/>
          <a:stretch>
            <a:fillRect/>
          </a:stretch>
        </p:blipFill>
        <p:spPr>
          <a:xfrm>
            <a:off x="388266" y="4343893"/>
            <a:ext cx="7788315" cy="853514"/>
          </a:xfrm>
          <a:prstGeom prst="rect">
            <a:avLst/>
          </a:prstGeom>
        </p:spPr>
      </p:pic>
    </p:spTree>
    <p:extLst>
      <p:ext uri="{BB962C8B-B14F-4D97-AF65-F5344CB8AC3E}">
        <p14:creationId xmlns:p14="http://schemas.microsoft.com/office/powerpoint/2010/main" val="403084600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Content Placeholder 1">
                <a:extLst>
                  <a:ext uri="{FF2B5EF4-FFF2-40B4-BE49-F238E27FC236}">
                    <a16:creationId xmlns:a16="http://schemas.microsoft.com/office/drawing/2014/main" id="{15287C68-E67C-4F60-996C-60722B34E7FA}"/>
                  </a:ext>
                </a:extLst>
              </p:cNvPr>
              <p:cNvSpPr>
                <a:spLocks noGrp="1"/>
              </p:cNvSpPr>
              <p:nvPr>
                <p:ph idx="1"/>
              </p:nvPr>
            </p:nvSpPr>
            <p:spPr/>
            <p:txBody>
              <a:bodyPr>
                <a:normAutofit/>
              </a:bodyPr>
              <a:lstStyle/>
              <a:p>
                <a:r>
                  <a:rPr lang="en-US" dirty="0"/>
                  <a:t>Fit an AR(p) model on each OA-MEB series, independently.</a:t>
                </a:r>
              </a:p>
              <a:p>
                <a:r>
                  <a:rPr lang="en-US" dirty="0">
                    <a:solidFill>
                      <a:srgbClr val="C00000"/>
                    </a:solidFill>
                  </a:rPr>
                  <a:t>Each model is used to generate a scenario </a:t>
                </a:r>
                <a14:m>
                  <m:oMath xmlns:m="http://schemas.openxmlformats.org/officeDocument/2006/math">
                    <m:r>
                      <a:rPr lang="it-IT" b="0" i="1" smtClean="0">
                        <a:latin typeface="Cambria Math" panose="02040503050406030204" pitchFamily="18" charset="0"/>
                      </a:rPr>
                      <m:t>𝑠</m:t>
                    </m:r>
                    <m:r>
                      <a:rPr lang="it-IT" b="0" i="1" smtClean="0">
                        <a:latin typeface="Cambria Math" panose="02040503050406030204" pitchFamily="18" charset="0"/>
                      </a:rPr>
                      <m:t>∈</m:t>
                    </m:r>
                    <m:r>
                      <a:rPr lang="it-IT" b="0" i="1" smtClean="0">
                        <a:latin typeface="Cambria Math" panose="02040503050406030204" pitchFamily="18" charset="0"/>
                      </a:rPr>
                      <m:t>𝑆</m:t>
                    </m:r>
                  </m:oMath>
                </a14:m>
                <a:r>
                  <a:rPr lang="en-US" dirty="0"/>
                  <a:t>, specifically, a realization </a:t>
                </a:r>
                <a14:m>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𝜌</m:t>
                        </m:r>
                      </m:e>
                      <m:sub>
                        <m:r>
                          <a:rPr lang="it-IT" b="0" i="1" smtClean="0">
                            <a:latin typeface="Cambria Math" panose="02040503050406030204" pitchFamily="18" charset="0"/>
                          </a:rPr>
                          <m:t>𝑗</m:t>
                        </m:r>
                      </m:sub>
                      <m:sup>
                        <m:r>
                          <a:rPr lang="it-IT" b="0" i="1" smtClean="0">
                            <a:latin typeface="Cambria Math" panose="02040503050406030204" pitchFamily="18" charset="0"/>
                          </a:rPr>
                          <m:t>𝑠</m:t>
                        </m:r>
                      </m:sup>
                    </m:sSubSup>
                  </m:oMath>
                </a14:m>
                <a:r>
                  <a:rPr lang="en-US" dirty="0"/>
                  <a:t> of the </a:t>
                </a:r>
                <a:r>
                  <a:rPr lang="en-US" dirty="0">
                    <a:solidFill>
                      <a:srgbClr val="C00000"/>
                    </a:solidFill>
                  </a:rPr>
                  <a:t>forecasted requests </a:t>
                </a:r>
                <a:r>
                  <a:rPr lang="en-US" dirty="0"/>
                  <a:t>of customer </a:t>
                </a:r>
                <a14:m>
                  <m:oMath xmlns:m="http://schemas.openxmlformats.org/officeDocument/2006/math">
                    <m:r>
                      <a:rPr lang="it-IT" b="0" i="1" smtClean="0">
                        <a:latin typeface="Cambria Math" panose="02040503050406030204" pitchFamily="18" charset="0"/>
                      </a:rPr>
                      <m:t>𝑗</m:t>
                    </m:r>
                    <m:r>
                      <a:rPr lang="it-IT" b="0" i="1" smtClean="0">
                        <a:latin typeface="Cambria Math" panose="02040503050406030204" pitchFamily="18" charset="0"/>
                      </a:rPr>
                      <m:t>∈</m:t>
                    </m:r>
                    <m:r>
                      <a:rPr lang="it-IT" b="0" i="1" smtClean="0">
                        <a:latin typeface="Cambria Math" panose="02040503050406030204" pitchFamily="18" charset="0"/>
                      </a:rPr>
                      <m:t>𝐽</m:t>
                    </m:r>
                  </m:oMath>
                </a14:m>
                <a:r>
                  <a:rPr lang="en-US" dirty="0"/>
                  <a:t> according to scenario </a:t>
                </a:r>
                <a:r>
                  <a:rPr lang="en-US" i="1" dirty="0">
                    <a:latin typeface="Cambria" panose="02040503050406030204" pitchFamily="18" charset="0"/>
                    <a:ea typeface="Cambria" panose="02040503050406030204" pitchFamily="18" charset="0"/>
                  </a:rPr>
                  <a:t>S</a:t>
                </a:r>
                <a:r>
                  <a:rPr lang="en-US" dirty="0"/>
                  <a:t>.</a:t>
                </a:r>
              </a:p>
              <a:p>
                <a:r>
                  <a:rPr lang="en-US" dirty="0"/>
                  <a:t>All scenarios were deemed </a:t>
                </a:r>
                <a:r>
                  <a:rPr lang="en-US" dirty="0">
                    <a:solidFill>
                      <a:srgbClr val="C00000"/>
                    </a:solidFill>
                  </a:rPr>
                  <a:t>equiprobable</a:t>
                </a:r>
                <a:r>
                  <a:rPr lang="en-US" dirty="0"/>
                  <a:t>.</a:t>
                </a:r>
              </a:p>
              <a:p>
                <a:r>
                  <a:rPr lang="en-US" dirty="0"/>
                  <a:t>The resulting </a:t>
                </a:r>
                <a:r>
                  <a:rPr lang="en-US" dirty="0">
                    <a:solidFill>
                      <a:srgbClr val="C00000"/>
                    </a:solidFill>
                  </a:rPr>
                  <a:t>deterministic equivalent </a:t>
                </a:r>
                <a:r>
                  <a:rPr lang="en-US" dirty="0"/>
                  <a:t>SB formulation is passed on to a MIP solver.</a:t>
                </a:r>
              </a:p>
              <a:p>
                <a:r>
                  <a:rPr lang="en-US" dirty="0"/>
                  <a:t>The solution details the server </a:t>
                </a:r>
                <a:r>
                  <a:rPr lang="en-US" i="1" dirty="0" err="1">
                    <a:latin typeface="+mn-lt"/>
                  </a:rPr>
                  <a:t>i</a:t>
                </a:r>
                <a:r>
                  <a:rPr lang="en-US" dirty="0"/>
                  <a:t> that each client </a:t>
                </a:r>
                <a:r>
                  <a:rPr lang="en-US" i="1" dirty="0">
                    <a:latin typeface="+mn-lt"/>
                  </a:rPr>
                  <a:t>j</a:t>
                </a:r>
                <a:r>
                  <a:rPr lang="en-US" dirty="0"/>
                  <a:t> will be associated with, as well as the amount </a:t>
                </a: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𝑞</m:t>
                        </m:r>
                      </m:e>
                      <m:sub>
                        <m:r>
                          <a:rPr lang="it-IT" b="0" i="1" smtClean="0">
                            <a:latin typeface="Cambria Math" panose="02040503050406030204" pitchFamily="18" charset="0"/>
                          </a:rPr>
                          <m:t>𝑖𝑗</m:t>
                        </m:r>
                      </m:sub>
                    </m:sSub>
                  </m:oMath>
                </a14:m>
                <a:r>
                  <a:rPr lang="en-US" dirty="0"/>
                  <a:t>it will request from the server.</a:t>
                </a:r>
              </a:p>
              <a:p>
                <a:r>
                  <a:rPr lang="en-US" dirty="0"/>
                  <a:t>It is therefore possible to estimate the actual capacity requested from each server.</a:t>
                </a:r>
              </a:p>
            </p:txBody>
          </p:sp>
        </mc:Choice>
        <mc:Fallback>
          <p:sp>
            <p:nvSpPr>
              <p:cNvPr id="2" name="Content Placeholder 1">
                <a:extLst>
                  <a:ext uri="{FF2B5EF4-FFF2-40B4-BE49-F238E27FC236}">
                    <a16:creationId xmlns:a16="http://schemas.microsoft.com/office/drawing/2014/main" id="{15287C68-E67C-4F60-996C-60722B34E7FA}"/>
                  </a:ext>
                </a:extLst>
              </p:cNvPr>
              <p:cNvSpPr>
                <a:spLocks noGrp="1" noRot="1" noChangeAspect="1" noMove="1" noResize="1" noEditPoints="1" noAdjustHandles="1" noChangeArrowheads="1" noChangeShapeType="1" noTextEdit="1"/>
              </p:cNvSpPr>
              <p:nvPr>
                <p:ph idx="1"/>
              </p:nvPr>
            </p:nvSpPr>
            <p:spPr>
              <a:blipFill>
                <a:blip r:embed="rId2"/>
                <a:stretch>
                  <a:fillRect l="-1112" t="-1561" r="-1038"/>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6D87712D-703F-4615-B30A-AE3B2313D75A}"/>
              </a:ext>
            </a:extLst>
          </p:cNvPr>
          <p:cNvSpPr>
            <a:spLocks noGrp="1"/>
          </p:cNvSpPr>
          <p:nvPr>
            <p:ph type="title"/>
          </p:nvPr>
        </p:nvSpPr>
        <p:spPr>
          <a:xfrm>
            <a:off x="278767" y="84884"/>
            <a:ext cx="8791195" cy="766769"/>
          </a:xfrm>
        </p:spPr>
        <p:txBody>
          <a:bodyPr>
            <a:normAutofit fontScale="90000"/>
          </a:bodyPr>
          <a:lstStyle/>
          <a:p>
            <a:pPr marL="1089025" indent="-1089025">
              <a:lnSpc>
                <a:spcPts val="3400"/>
              </a:lnSpc>
            </a:pPr>
            <a:r>
              <a:rPr lang="en-US" dirty="0"/>
              <a:t>BESO: Bootstrapped Enhanced Scenario Optimization</a:t>
            </a:r>
          </a:p>
        </p:txBody>
      </p:sp>
      <p:sp>
        <p:nvSpPr>
          <p:cNvPr id="4" name="Footer Placeholder 3">
            <a:extLst>
              <a:ext uri="{FF2B5EF4-FFF2-40B4-BE49-F238E27FC236}">
                <a16:creationId xmlns:a16="http://schemas.microsoft.com/office/drawing/2014/main" id="{F73F7CBB-54A3-4FAB-AFE5-219EAB3171AF}"/>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B1C7E620-B83C-44AF-B958-12960902B194}"/>
              </a:ext>
            </a:extLst>
          </p:cNvPr>
          <p:cNvSpPr>
            <a:spLocks noGrp="1"/>
          </p:cNvSpPr>
          <p:nvPr>
            <p:ph type="sldNum" sz="quarter" idx="4"/>
          </p:nvPr>
        </p:nvSpPr>
        <p:spPr/>
        <p:txBody>
          <a:bodyPr/>
          <a:lstStyle/>
          <a:p>
            <a:pPr>
              <a:defRPr/>
            </a:pPr>
            <a:fld id="{476DEB1C-3253-4C07-8F02-456B7B2AD41D}" type="slidenum">
              <a:rPr lang="it-IT" smtClean="0"/>
              <a:pPr>
                <a:defRPr/>
              </a:pPr>
              <a:t>17</a:t>
            </a:fld>
            <a:endParaRPr lang="it-IT" dirty="0"/>
          </a:p>
        </p:txBody>
      </p:sp>
    </p:spTree>
    <p:extLst>
      <p:ext uri="{BB962C8B-B14F-4D97-AF65-F5344CB8AC3E}">
        <p14:creationId xmlns:p14="http://schemas.microsoft.com/office/powerpoint/2010/main" val="29522855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4EE236-424A-4239-BA22-9D2048E75548}"/>
              </a:ext>
            </a:extLst>
          </p:cNvPr>
          <p:cNvSpPr>
            <a:spLocks noGrp="1"/>
          </p:cNvSpPr>
          <p:nvPr>
            <p:ph idx="1"/>
          </p:nvPr>
        </p:nvSpPr>
        <p:spPr/>
        <p:txBody>
          <a:bodyPr>
            <a:normAutofit/>
          </a:bodyPr>
          <a:lstStyle/>
          <a:p>
            <a:r>
              <a:rPr lang="en-US" dirty="0"/>
              <a:t>MEB bootstrap sets were aggregated (bagged) to obtain forecasts.</a:t>
            </a:r>
          </a:p>
          <a:p>
            <a:r>
              <a:rPr lang="en-US" dirty="0"/>
              <a:t>Besides MEB bagging we also considered alternative forecasts modules based on:</a:t>
            </a:r>
          </a:p>
          <a:p>
            <a:pPr marL="342900" indent="-342900">
              <a:spcBef>
                <a:spcPts val="1200"/>
              </a:spcBef>
              <a:buFont typeface="Arial" panose="020B0604020202020204" pitchFamily="34" charset="0"/>
              <a:buChar char="•"/>
            </a:pPr>
            <a:r>
              <a:rPr lang="en-US" dirty="0"/>
              <a:t>AR</a:t>
            </a:r>
          </a:p>
          <a:p>
            <a:pPr marL="342900" indent="-342900">
              <a:spcBef>
                <a:spcPts val="1200"/>
              </a:spcBef>
              <a:buFont typeface="Arial" panose="020B0604020202020204" pitchFamily="34" charset="0"/>
              <a:buChar char="•"/>
            </a:pPr>
            <a:r>
              <a:rPr lang="en-US" dirty="0"/>
              <a:t>Holt-Winters</a:t>
            </a:r>
          </a:p>
          <a:p>
            <a:pPr marL="342900" indent="-342900">
              <a:spcBef>
                <a:spcPts val="1200"/>
              </a:spcBef>
              <a:buFont typeface="Arial" panose="020B0604020202020204" pitchFamily="34" charset="0"/>
              <a:buChar char="•"/>
            </a:pPr>
            <a:r>
              <a:rPr lang="en-US" dirty="0"/>
              <a:t>SARIMA</a:t>
            </a:r>
          </a:p>
          <a:p>
            <a:pPr marL="342900" indent="-342900">
              <a:spcBef>
                <a:spcPts val="1200"/>
              </a:spcBef>
              <a:buFont typeface="Arial" panose="020B0604020202020204" pitchFamily="34" charset="0"/>
              <a:buChar char="•"/>
            </a:pPr>
            <a:r>
              <a:rPr lang="en-US" dirty="0"/>
              <a:t>Multilayer </a:t>
            </a:r>
            <a:r>
              <a:rPr lang="en-US" dirty="0" err="1"/>
              <a:t>perceptrons</a:t>
            </a:r>
            <a:endParaRPr lang="en-US" dirty="0"/>
          </a:p>
          <a:p>
            <a:pPr marL="342900" indent="-342900">
              <a:spcBef>
                <a:spcPts val="1200"/>
              </a:spcBef>
              <a:buFont typeface="Arial" panose="020B0604020202020204" pitchFamily="34" charset="0"/>
              <a:buChar char="•"/>
            </a:pPr>
            <a:r>
              <a:rPr lang="en-US" dirty="0"/>
              <a:t>LSTM networks</a:t>
            </a:r>
          </a:p>
          <a:p>
            <a:pPr marL="342900" indent="-342900">
              <a:spcBef>
                <a:spcPts val="1200"/>
              </a:spcBef>
              <a:buFont typeface="Arial" panose="020B0604020202020204" pitchFamily="34" charset="0"/>
              <a:buChar char="•"/>
            </a:pPr>
            <a:r>
              <a:rPr lang="en-US" dirty="0"/>
              <a:t>Random forests</a:t>
            </a:r>
          </a:p>
          <a:p>
            <a:pPr marL="342900" indent="-342900">
              <a:spcBef>
                <a:spcPts val="1200"/>
              </a:spcBef>
              <a:buFont typeface="Arial" panose="020B0604020202020204" pitchFamily="34" charset="0"/>
              <a:buChar char="•"/>
            </a:pPr>
            <a:r>
              <a:rPr lang="en-US" dirty="0" err="1"/>
              <a:t>XGboost</a:t>
            </a:r>
            <a:endParaRPr lang="en-US" dirty="0"/>
          </a:p>
        </p:txBody>
      </p:sp>
      <p:sp>
        <p:nvSpPr>
          <p:cNvPr id="3" name="Title 2">
            <a:extLst>
              <a:ext uri="{FF2B5EF4-FFF2-40B4-BE49-F238E27FC236}">
                <a16:creationId xmlns:a16="http://schemas.microsoft.com/office/drawing/2014/main" id="{7B15D2CC-336C-4085-9492-B0D3CF53C866}"/>
              </a:ext>
            </a:extLst>
          </p:cNvPr>
          <p:cNvSpPr>
            <a:spLocks noGrp="1"/>
          </p:cNvSpPr>
          <p:nvPr>
            <p:ph type="title"/>
          </p:nvPr>
        </p:nvSpPr>
        <p:spPr/>
        <p:txBody>
          <a:bodyPr/>
          <a:lstStyle/>
          <a:p>
            <a:r>
              <a:rPr lang="en-US" dirty="0"/>
              <a:t>Forecasts</a:t>
            </a:r>
          </a:p>
        </p:txBody>
      </p:sp>
      <p:sp>
        <p:nvSpPr>
          <p:cNvPr id="4" name="Footer Placeholder 3">
            <a:extLst>
              <a:ext uri="{FF2B5EF4-FFF2-40B4-BE49-F238E27FC236}">
                <a16:creationId xmlns:a16="http://schemas.microsoft.com/office/drawing/2014/main" id="{990DECC6-8D2D-4C53-80A7-CCD15FE36E59}"/>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BD96CDC2-49FB-474A-90CA-F9B00D80110C}"/>
              </a:ext>
            </a:extLst>
          </p:cNvPr>
          <p:cNvSpPr>
            <a:spLocks noGrp="1"/>
          </p:cNvSpPr>
          <p:nvPr>
            <p:ph type="sldNum" sz="quarter" idx="4"/>
          </p:nvPr>
        </p:nvSpPr>
        <p:spPr/>
        <p:txBody>
          <a:bodyPr/>
          <a:lstStyle/>
          <a:p>
            <a:pPr>
              <a:defRPr/>
            </a:pPr>
            <a:fld id="{476DEB1C-3253-4C07-8F02-456B7B2AD41D}" type="slidenum">
              <a:rPr lang="it-IT" smtClean="0"/>
              <a:pPr>
                <a:defRPr/>
              </a:pPr>
              <a:t>18</a:t>
            </a:fld>
            <a:endParaRPr lang="it-IT" dirty="0"/>
          </a:p>
        </p:txBody>
      </p:sp>
    </p:spTree>
    <p:extLst>
      <p:ext uri="{BB962C8B-B14F-4D97-AF65-F5344CB8AC3E}">
        <p14:creationId xmlns:p14="http://schemas.microsoft.com/office/powerpoint/2010/main" val="11421494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09F596C-3993-309B-C16F-9C0BA57833DC}"/>
              </a:ext>
            </a:extLst>
          </p:cNvPr>
          <p:cNvSpPr>
            <a:spLocks noGrp="1"/>
          </p:cNvSpPr>
          <p:nvPr>
            <p:ph idx="1"/>
          </p:nvPr>
        </p:nvSpPr>
        <p:spPr>
          <a:xfrm>
            <a:off x="298907" y="1018468"/>
            <a:ext cx="8546175" cy="490292"/>
          </a:xfrm>
        </p:spPr>
        <p:txBody>
          <a:bodyPr>
            <a:normAutofit fontScale="92500"/>
          </a:bodyPr>
          <a:lstStyle/>
          <a:p>
            <a:r>
              <a:rPr lang="en-US" dirty="0"/>
              <a:t>MEB based forecasting. Average rankings for different </a:t>
            </a:r>
            <a:r>
              <a:rPr lang="en-US" dirty="0" err="1"/>
              <a:t>boostset</a:t>
            </a:r>
            <a:r>
              <a:rPr lang="en-US" dirty="0"/>
              <a:t> sizes.</a:t>
            </a:r>
          </a:p>
          <a:p>
            <a:endParaRPr lang="en-US" dirty="0"/>
          </a:p>
          <a:p>
            <a:endParaRPr lang="it-IT" dirty="0"/>
          </a:p>
        </p:txBody>
      </p:sp>
      <p:sp>
        <p:nvSpPr>
          <p:cNvPr id="3" name="Title 2">
            <a:extLst>
              <a:ext uri="{FF2B5EF4-FFF2-40B4-BE49-F238E27FC236}">
                <a16:creationId xmlns:a16="http://schemas.microsoft.com/office/drawing/2014/main" id="{EFE71628-30DF-2175-CCB1-FFF5F40E3C67}"/>
              </a:ext>
            </a:extLst>
          </p:cNvPr>
          <p:cNvSpPr>
            <a:spLocks noGrp="1"/>
          </p:cNvSpPr>
          <p:nvPr>
            <p:ph type="title"/>
          </p:nvPr>
        </p:nvSpPr>
        <p:spPr/>
        <p:txBody>
          <a:bodyPr/>
          <a:lstStyle/>
          <a:p>
            <a:r>
              <a:rPr lang="en-US" dirty="0"/>
              <a:t>Results, forecasts</a:t>
            </a:r>
            <a:endParaRPr lang="it-IT" dirty="0"/>
          </a:p>
        </p:txBody>
      </p:sp>
      <p:sp>
        <p:nvSpPr>
          <p:cNvPr id="4" name="Footer Placeholder 3">
            <a:extLst>
              <a:ext uri="{FF2B5EF4-FFF2-40B4-BE49-F238E27FC236}">
                <a16:creationId xmlns:a16="http://schemas.microsoft.com/office/drawing/2014/main" id="{6A56DC0A-2CB0-A862-E697-E630A4048572}"/>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72D239EC-68A7-7A7A-B5C0-DC3C98E60408}"/>
              </a:ext>
            </a:extLst>
          </p:cNvPr>
          <p:cNvSpPr>
            <a:spLocks noGrp="1"/>
          </p:cNvSpPr>
          <p:nvPr>
            <p:ph type="sldNum" sz="quarter" idx="4"/>
          </p:nvPr>
        </p:nvSpPr>
        <p:spPr/>
        <p:txBody>
          <a:bodyPr/>
          <a:lstStyle/>
          <a:p>
            <a:pPr>
              <a:defRPr/>
            </a:pPr>
            <a:fld id="{476DEB1C-3253-4C07-8F02-456B7B2AD41D}" type="slidenum">
              <a:rPr lang="it-IT" smtClean="0"/>
              <a:pPr>
                <a:defRPr/>
              </a:pPr>
              <a:t>19</a:t>
            </a:fld>
            <a:endParaRPr lang="it-IT" dirty="0"/>
          </a:p>
        </p:txBody>
      </p:sp>
      <p:sp>
        <p:nvSpPr>
          <p:cNvPr id="6" name="AutoShape 2">
            <a:extLst>
              <a:ext uri="{FF2B5EF4-FFF2-40B4-BE49-F238E27FC236}">
                <a16:creationId xmlns:a16="http://schemas.microsoft.com/office/drawing/2014/main" id="{7AB47DEF-C84E-4092-B595-D18B9173F03D}"/>
              </a:ext>
            </a:extLst>
          </p:cNvPr>
          <p:cNvSpPr>
            <a:spLocks noChangeAspect="1" noChangeArrowheads="1"/>
          </p:cNvSpPr>
          <p:nvPr/>
        </p:nvSpPr>
        <p:spPr bwMode="auto">
          <a:xfrm>
            <a:off x="4419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7" name="Picture 6">
            <a:extLst>
              <a:ext uri="{FF2B5EF4-FFF2-40B4-BE49-F238E27FC236}">
                <a16:creationId xmlns:a16="http://schemas.microsoft.com/office/drawing/2014/main" id="{5E35AD79-FEA4-4F84-939C-4E05117C3244}"/>
              </a:ext>
            </a:extLst>
          </p:cNvPr>
          <p:cNvPicPr>
            <a:picLocks noChangeAspect="1"/>
          </p:cNvPicPr>
          <p:nvPr/>
        </p:nvPicPr>
        <p:blipFill>
          <a:blip r:embed="rId2"/>
          <a:stretch>
            <a:fillRect/>
          </a:stretch>
        </p:blipFill>
        <p:spPr>
          <a:xfrm>
            <a:off x="651264" y="4391968"/>
            <a:ext cx="2972330" cy="2229248"/>
          </a:xfrm>
          <a:prstGeom prst="rect">
            <a:avLst/>
          </a:prstGeom>
        </p:spPr>
      </p:pic>
      <p:pic>
        <p:nvPicPr>
          <p:cNvPr id="8" name="Picture 7">
            <a:extLst>
              <a:ext uri="{FF2B5EF4-FFF2-40B4-BE49-F238E27FC236}">
                <a16:creationId xmlns:a16="http://schemas.microsoft.com/office/drawing/2014/main" id="{B15F2B21-64B1-4651-9558-04869FCDA497}"/>
              </a:ext>
            </a:extLst>
          </p:cNvPr>
          <p:cNvPicPr>
            <a:picLocks noChangeAspect="1"/>
          </p:cNvPicPr>
          <p:nvPr/>
        </p:nvPicPr>
        <p:blipFill>
          <a:blip r:embed="rId3"/>
          <a:stretch>
            <a:fillRect/>
          </a:stretch>
        </p:blipFill>
        <p:spPr>
          <a:xfrm>
            <a:off x="4525323" y="4391968"/>
            <a:ext cx="2972330" cy="2229248"/>
          </a:xfrm>
          <a:prstGeom prst="rect">
            <a:avLst/>
          </a:prstGeom>
        </p:spPr>
      </p:pic>
      <p:pic>
        <p:nvPicPr>
          <p:cNvPr id="11" name="Picture 10">
            <a:extLst>
              <a:ext uri="{FF2B5EF4-FFF2-40B4-BE49-F238E27FC236}">
                <a16:creationId xmlns:a16="http://schemas.microsoft.com/office/drawing/2014/main" id="{62170D8E-3334-7B03-618F-16D0275CB09B}"/>
              </a:ext>
            </a:extLst>
          </p:cNvPr>
          <p:cNvPicPr>
            <a:picLocks noChangeAspect="1"/>
          </p:cNvPicPr>
          <p:nvPr/>
        </p:nvPicPr>
        <p:blipFill>
          <a:blip r:embed="rId4">
            <a:clrChange>
              <a:clrFrom>
                <a:srgbClr val="F9FDFD"/>
              </a:clrFrom>
              <a:clrTo>
                <a:srgbClr val="F9FDFD">
                  <a:alpha val="0"/>
                </a:srgbClr>
              </a:clrTo>
            </a:clrChange>
          </a:blip>
          <a:stretch>
            <a:fillRect/>
          </a:stretch>
        </p:blipFill>
        <p:spPr>
          <a:xfrm>
            <a:off x="707669" y="1387059"/>
            <a:ext cx="7203880" cy="3167368"/>
          </a:xfrm>
          <a:prstGeom prst="rect">
            <a:avLst/>
          </a:prstGeom>
        </p:spPr>
      </p:pic>
    </p:spTree>
    <p:extLst>
      <p:ext uri="{BB962C8B-B14F-4D97-AF65-F5344CB8AC3E}">
        <p14:creationId xmlns:p14="http://schemas.microsoft.com/office/powerpoint/2010/main" val="236970050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4CF30E9-3DC7-3EA0-32CA-F2ADAED3C6E5}"/>
              </a:ext>
            </a:extLst>
          </p:cNvPr>
          <p:cNvSpPr>
            <a:spLocks noGrp="1"/>
          </p:cNvSpPr>
          <p:nvPr>
            <p:ph type="title"/>
          </p:nvPr>
        </p:nvSpPr>
        <p:spPr/>
        <p:txBody>
          <a:bodyPr/>
          <a:lstStyle/>
          <a:p>
            <a:r>
              <a:rPr lang="en-US" dirty="0"/>
              <a:t>Results, forecasts</a:t>
            </a:r>
            <a:endParaRPr lang="it-IT" dirty="0"/>
          </a:p>
        </p:txBody>
      </p:sp>
      <p:sp>
        <p:nvSpPr>
          <p:cNvPr id="4" name="Footer Placeholder 3">
            <a:extLst>
              <a:ext uri="{FF2B5EF4-FFF2-40B4-BE49-F238E27FC236}">
                <a16:creationId xmlns:a16="http://schemas.microsoft.com/office/drawing/2014/main" id="{8E913267-F1C1-E815-B1AC-6F042FCBB762}"/>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2A3360F6-BABC-ABDE-FB0F-7D110E9789E0}"/>
              </a:ext>
            </a:extLst>
          </p:cNvPr>
          <p:cNvSpPr>
            <a:spLocks noGrp="1"/>
          </p:cNvSpPr>
          <p:nvPr>
            <p:ph type="sldNum" sz="quarter" idx="4"/>
          </p:nvPr>
        </p:nvSpPr>
        <p:spPr/>
        <p:txBody>
          <a:bodyPr/>
          <a:lstStyle/>
          <a:p>
            <a:pPr>
              <a:defRPr/>
            </a:pPr>
            <a:fld id="{476DEB1C-3253-4C07-8F02-456B7B2AD41D}" type="slidenum">
              <a:rPr lang="it-IT" smtClean="0"/>
              <a:pPr>
                <a:defRPr/>
              </a:pPr>
              <a:t>20</a:t>
            </a:fld>
            <a:endParaRPr lang="it-IT" dirty="0"/>
          </a:p>
        </p:txBody>
      </p:sp>
      <p:sp>
        <p:nvSpPr>
          <p:cNvPr id="8" name="TextBox 7">
            <a:extLst>
              <a:ext uri="{FF2B5EF4-FFF2-40B4-BE49-F238E27FC236}">
                <a16:creationId xmlns:a16="http://schemas.microsoft.com/office/drawing/2014/main" id="{ECAF7F87-2B3A-5157-5F27-3D4E450930F3}"/>
              </a:ext>
            </a:extLst>
          </p:cNvPr>
          <p:cNvSpPr txBox="1"/>
          <p:nvPr/>
        </p:nvSpPr>
        <p:spPr>
          <a:xfrm>
            <a:off x="1202359" y="972001"/>
            <a:ext cx="6238568" cy="914400"/>
          </a:xfrm>
          <a:prstGeom prst="rect">
            <a:avLst/>
          </a:prstGeom>
          <a:noFill/>
          <a:ln>
            <a:noFill/>
          </a:ln>
        </p:spPr>
        <p:txBody>
          <a:bodyPr wrap="none" rtlCol="0" anchor="t" anchorCtr="0">
            <a:noAutofit/>
          </a:bodyPr>
          <a:lstStyle/>
          <a:p>
            <a:r>
              <a:rPr lang="it-IT" sz="2400" dirty="0"/>
              <a:t>Critical </a:t>
            </a:r>
            <a:r>
              <a:rPr lang="it-IT" sz="2400" dirty="0" err="1"/>
              <a:t>difference</a:t>
            </a:r>
            <a:r>
              <a:rPr lang="it-IT" sz="2400" dirty="0"/>
              <a:t> </a:t>
            </a:r>
            <a:r>
              <a:rPr lang="it-IT" sz="2400" dirty="0" err="1"/>
              <a:t>diagrams</a:t>
            </a:r>
            <a:r>
              <a:rPr lang="it-IT" sz="2400" dirty="0"/>
              <a:t> (</a:t>
            </a:r>
            <a:r>
              <a:rPr lang="it-IT" sz="2400" dirty="0" err="1"/>
              <a:t>Fawaz</a:t>
            </a:r>
            <a:r>
              <a:rPr lang="it-IT" sz="2400" dirty="0"/>
              <a:t> et al., 2019)</a:t>
            </a:r>
          </a:p>
        </p:txBody>
      </p:sp>
      <p:pic>
        <p:nvPicPr>
          <p:cNvPr id="11" name="Content Placeholder 10">
            <a:extLst>
              <a:ext uri="{FF2B5EF4-FFF2-40B4-BE49-F238E27FC236}">
                <a16:creationId xmlns:a16="http://schemas.microsoft.com/office/drawing/2014/main" id="{E272D35D-92BC-B3F0-55B3-F6F8689EBEA4}"/>
              </a:ext>
            </a:extLst>
          </p:cNvPr>
          <p:cNvPicPr>
            <a:picLocks noGrp="1" noChangeAspect="1"/>
          </p:cNvPicPr>
          <p:nvPr>
            <p:ph idx="1"/>
          </p:nvPr>
        </p:nvPicPr>
        <p:blipFill>
          <a:blip r:embed="rId2">
            <a:clrChange>
              <a:clrFrom>
                <a:srgbClr val="FEFEFE"/>
              </a:clrFrom>
              <a:clrTo>
                <a:srgbClr val="FEFEFE">
                  <a:alpha val="0"/>
                </a:srgbClr>
              </a:clrTo>
            </a:clrChange>
          </a:blip>
          <a:stretch>
            <a:fillRect/>
          </a:stretch>
        </p:blipFill>
        <p:spPr>
          <a:xfrm>
            <a:off x="283748" y="1494483"/>
            <a:ext cx="8304762" cy="2438095"/>
          </a:xfrm>
        </p:spPr>
      </p:pic>
      <p:pic>
        <p:nvPicPr>
          <p:cNvPr id="13" name="Picture 12">
            <a:extLst>
              <a:ext uri="{FF2B5EF4-FFF2-40B4-BE49-F238E27FC236}">
                <a16:creationId xmlns:a16="http://schemas.microsoft.com/office/drawing/2014/main" id="{0FC619C5-3B1D-B69D-5EA6-92C467876432}"/>
              </a:ext>
            </a:extLst>
          </p:cNvPr>
          <p:cNvPicPr>
            <a:picLocks noChangeAspect="1"/>
          </p:cNvPicPr>
          <p:nvPr/>
        </p:nvPicPr>
        <p:blipFill>
          <a:blip r:embed="rId3">
            <a:clrChange>
              <a:clrFrom>
                <a:srgbClr val="FEFEFE"/>
              </a:clrFrom>
              <a:clrTo>
                <a:srgbClr val="FEFEFE">
                  <a:alpha val="0"/>
                </a:srgbClr>
              </a:clrTo>
            </a:clrChange>
          </a:blip>
          <a:stretch>
            <a:fillRect/>
          </a:stretch>
        </p:blipFill>
        <p:spPr>
          <a:xfrm>
            <a:off x="287771" y="4006938"/>
            <a:ext cx="8457143" cy="2438095"/>
          </a:xfrm>
          <a:prstGeom prst="rect">
            <a:avLst/>
          </a:prstGeom>
        </p:spPr>
      </p:pic>
    </p:spTree>
    <p:extLst>
      <p:ext uri="{BB962C8B-B14F-4D97-AF65-F5344CB8AC3E}">
        <p14:creationId xmlns:p14="http://schemas.microsoft.com/office/powerpoint/2010/main" val="143709391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E9AD77-5EE7-F954-33B4-3A8F8A48DECA}"/>
              </a:ext>
            </a:extLst>
          </p:cNvPr>
          <p:cNvSpPr>
            <a:spLocks noGrp="1"/>
          </p:cNvSpPr>
          <p:nvPr>
            <p:ph type="title"/>
          </p:nvPr>
        </p:nvSpPr>
        <p:spPr/>
        <p:txBody>
          <a:bodyPr/>
          <a:lstStyle/>
          <a:p>
            <a:r>
              <a:rPr lang="it-IT" dirty="0" err="1"/>
              <a:t>Results</a:t>
            </a:r>
            <a:r>
              <a:rPr lang="it-IT" dirty="0"/>
              <a:t>, </a:t>
            </a:r>
            <a:r>
              <a:rPr lang="it-IT" dirty="0" err="1"/>
              <a:t>optimization</a:t>
            </a:r>
            <a:endParaRPr lang="it-IT" dirty="0"/>
          </a:p>
        </p:txBody>
      </p:sp>
      <p:sp>
        <p:nvSpPr>
          <p:cNvPr id="4" name="Footer Placeholder 3">
            <a:extLst>
              <a:ext uri="{FF2B5EF4-FFF2-40B4-BE49-F238E27FC236}">
                <a16:creationId xmlns:a16="http://schemas.microsoft.com/office/drawing/2014/main" id="{F02EAB2B-6A02-ECDF-B23E-EABF394512F3}"/>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8309B41E-08EB-587F-56AE-21B50991ADA8}"/>
              </a:ext>
            </a:extLst>
          </p:cNvPr>
          <p:cNvSpPr>
            <a:spLocks noGrp="1"/>
          </p:cNvSpPr>
          <p:nvPr>
            <p:ph type="sldNum" sz="quarter" idx="4"/>
          </p:nvPr>
        </p:nvSpPr>
        <p:spPr/>
        <p:txBody>
          <a:bodyPr/>
          <a:lstStyle/>
          <a:p>
            <a:pPr>
              <a:defRPr/>
            </a:pPr>
            <a:fld id="{476DEB1C-3253-4C07-8F02-456B7B2AD41D}" type="slidenum">
              <a:rPr lang="it-IT" smtClean="0"/>
              <a:pPr>
                <a:defRPr/>
              </a:pPr>
              <a:t>21</a:t>
            </a:fld>
            <a:endParaRPr lang="it-IT" dirty="0"/>
          </a:p>
        </p:txBody>
      </p:sp>
      <p:sp>
        <p:nvSpPr>
          <p:cNvPr id="2" name="TextBox 1">
            <a:extLst>
              <a:ext uri="{FF2B5EF4-FFF2-40B4-BE49-F238E27FC236}">
                <a16:creationId xmlns:a16="http://schemas.microsoft.com/office/drawing/2014/main" id="{C705BEAE-9A63-435D-1BDA-9F8BBEF88057}"/>
              </a:ext>
            </a:extLst>
          </p:cNvPr>
          <p:cNvSpPr txBox="1"/>
          <p:nvPr/>
        </p:nvSpPr>
        <p:spPr>
          <a:xfrm>
            <a:off x="278767" y="4352235"/>
            <a:ext cx="8389889" cy="2092881"/>
          </a:xfrm>
          <a:prstGeom prst="rect">
            <a:avLst/>
          </a:prstGeom>
          <a:noFill/>
          <a:ln>
            <a:noFill/>
          </a:ln>
        </p:spPr>
        <p:txBody>
          <a:bodyPr wrap="square" rtlCol="0" anchor="t" anchorCtr="0">
            <a:spAutoFit/>
          </a:bodyPr>
          <a:lstStyle/>
          <a:p>
            <a:pPr algn="l">
              <a:spcBef>
                <a:spcPts val="1200"/>
              </a:spcBef>
            </a:pPr>
            <a:r>
              <a:rPr lang="en-US" sz="2200" dirty="0"/>
              <a:t>The cost is essentially stable in the cases of the 75 and 125 series sets but increases significantly in the case of the 175 </a:t>
            </a:r>
            <a:r>
              <a:rPr lang="en-US" sz="2200" dirty="0" err="1"/>
              <a:t>boostset</a:t>
            </a:r>
            <a:r>
              <a:rPr lang="en-US" sz="2200" dirty="0"/>
              <a:t>.</a:t>
            </a:r>
          </a:p>
          <a:p>
            <a:pPr algn="l">
              <a:spcBef>
                <a:spcPts val="1200"/>
              </a:spcBef>
            </a:pPr>
            <a:r>
              <a:rPr lang="en-US" sz="2200" dirty="0"/>
              <a:t>This is due to some extreme scenarios appearing in the forecasts. </a:t>
            </a:r>
          </a:p>
          <a:p>
            <a:pPr algn="l">
              <a:spcBef>
                <a:spcPts val="1200"/>
              </a:spcBef>
            </a:pPr>
            <a:r>
              <a:rPr lang="en-US" sz="2200" dirty="0">
                <a:solidFill>
                  <a:srgbClr val="C00000"/>
                </a:solidFill>
              </a:rPr>
              <a:t>All instances were feasible</a:t>
            </a:r>
            <a:r>
              <a:rPr lang="en-US" sz="2200" dirty="0"/>
              <a:t>, but 7 out of 35 tests still had a gap between lower and upper bound after 600 seconds of CPU time.</a:t>
            </a:r>
            <a:endParaRPr lang="it-IT" sz="2200" dirty="0"/>
          </a:p>
        </p:txBody>
      </p:sp>
      <p:pic>
        <p:nvPicPr>
          <p:cNvPr id="10" name="Content Placeholder 9">
            <a:extLst>
              <a:ext uri="{FF2B5EF4-FFF2-40B4-BE49-F238E27FC236}">
                <a16:creationId xmlns:a16="http://schemas.microsoft.com/office/drawing/2014/main" id="{9557FCC9-B63E-4CB4-B116-79F9E763FC78}"/>
              </a:ext>
            </a:extLst>
          </p:cNvPr>
          <p:cNvPicPr>
            <a:picLocks noGrp="1" noChangeAspect="1"/>
          </p:cNvPicPr>
          <p:nvPr>
            <p:ph idx="1"/>
          </p:nvPr>
        </p:nvPicPr>
        <p:blipFill>
          <a:blip r:embed="rId2"/>
          <a:stretch>
            <a:fillRect/>
          </a:stretch>
        </p:blipFill>
        <p:spPr>
          <a:xfrm>
            <a:off x="1580509" y="1032044"/>
            <a:ext cx="5380952" cy="3219048"/>
          </a:xfrm>
        </p:spPr>
      </p:pic>
    </p:spTree>
    <p:extLst>
      <p:ext uri="{BB962C8B-B14F-4D97-AF65-F5344CB8AC3E}">
        <p14:creationId xmlns:p14="http://schemas.microsoft.com/office/powerpoint/2010/main" val="31090330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77D1E3A-B58A-4312-90C6-7F77FBE77691}"/>
              </a:ext>
            </a:extLst>
          </p:cNvPr>
          <p:cNvSpPr>
            <a:spLocks noGrp="1"/>
          </p:cNvSpPr>
          <p:nvPr>
            <p:ph type="title"/>
          </p:nvPr>
        </p:nvSpPr>
        <p:spPr/>
        <p:txBody>
          <a:bodyPr/>
          <a:lstStyle/>
          <a:p>
            <a:r>
              <a:rPr lang="en-US" dirty="0"/>
              <a:t>Results, comparison</a:t>
            </a:r>
          </a:p>
        </p:txBody>
      </p:sp>
      <p:sp>
        <p:nvSpPr>
          <p:cNvPr id="4" name="Footer Placeholder 3">
            <a:extLst>
              <a:ext uri="{FF2B5EF4-FFF2-40B4-BE49-F238E27FC236}">
                <a16:creationId xmlns:a16="http://schemas.microsoft.com/office/drawing/2014/main" id="{49059E4C-63C1-40C7-8F5C-681822FABE36}"/>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7D388ED5-F11D-4879-8EE8-AFB571873155}"/>
              </a:ext>
            </a:extLst>
          </p:cNvPr>
          <p:cNvSpPr>
            <a:spLocks noGrp="1"/>
          </p:cNvSpPr>
          <p:nvPr>
            <p:ph type="sldNum" sz="quarter" idx="4"/>
          </p:nvPr>
        </p:nvSpPr>
        <p:spPr/>
        <p:txBody>
          <a:bodyPr/>
          <a:lstStyle/>
          <a:p>
            <a:pPr>
              <a:defRPr/>
            </a:pPr>
            <a:fld id="{476DEB1C-3253-4C07-8F02-456B7B2AD41D}" type="slidenum">
              <a:rPr lang="it-IT" smtClean="0"/>
              <a:pPr>
                <a:defRPr/>
              </a:pPr>
              <a:t>22</a:t>
            </a:fld>
            <a:endParaRPr lang="it-IT" dirty="0"/>
          </a:p>
        </p:txBody>
      </p:sp>
      <p:sp>
        <p:nvSpPr>
          <p:cNvPr id="6" name="Content Placeholder 5">
            <a:extLst>
              <a:ext uri="{FF2B5EF4-FFF2-40B4-BE49-F238E27FC236}">
                <a16:creationId xmlns:a16="http://schemas.microsoft.com/office/drawing/2014/main" id="{9A967147-593B-47EB-8FAF-D5DF1EB28E67}"/>
              </a:ext>
            </a:extLst>
          </p:cNvPr>
          <p:cNvSpPr>
            <a:spLocks noGrp="1"/>
          </p:cNvSpPr>
          <p:nvPr>
            <p:ph idx="1"/>
          </p:nvPr>
        </p:nvSpPr>
        <p:spPr>
          <a:xfrm>
            <a:off x="298907" y="1173916"/>
            <a:ext cx="8546175" cy="947492"/>
          </a:xfrm>
        </p:spPr>
        <p:txBody>
          <a:bodyPr/>
          <a:lstStyle/>
          <a:p>
            <a:r>
              <a:rPr lang="en-US" dirty="0"/>
              <a:t>BESO vs. distribution-based, gaussian derived from confidence intervals of Holt-Winters ETS forecasts.</a:t>
            </a:r>
          </a:p>
        </p:txBody>
      </p:sp>
      <p:pic>
        <p:nvPicPr>
          <p:cNvPr id="9" name="Picture 8">
            <a:extLst>
              <a:ext uri="{FF2B5EF4-FFF2-40B4-BE49-F238E27FC236}">
                <a16:creationId xmlns:a16="http://schemas.microsoft.com/office/drawing/2014/main" id="{6F9C6B21-3200-4B8B-AE33-BFC4E4E10EF8}"/>
              </a:ext>
            </a:extLst>
          </p:cNvPr>
          <p:cNvPicPr>
            <a:picLocks noChangeAspect="1"/>
          </p:cNvPicPr>
          <p:nvPr/>
        </p:nvPicPr>
        <p:blipFill>
          <a:blip r:embed="rId2"/>
          <a:stretch>
            <a:fillRect/>
          </a:stretch>
        </p:blipFill>
        <p:spPr>
          <a:xfrm>
            <a:off x="445978" y="2304613"/>
            <a:ext cx="8110728" cy="3379471"/>
          </a:xfrm>
          <a:prstGeom prst="rect">
            <a:avLst/>
          </a:prstGeom>
        </p:spPr>
      </p:pic>
    </p:spTree>
    <p:extLst>
      <p:ext uri="{BB962C8B-B14F-4D97-AF65-F5344CB8AC3E}">
        <p14:creationId xmlns:p14="http://schemas.microsoft.com/office/powerpoint/2010/main" val="22965779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B591610-0BBB-D224-221E-E0F3426240F1}"/>
              </a:ext>
            </a:extLst>
          </p:cNvPr>
          <p:cNvSpPr>
            <a:spLocks noGrp="1"/>
          </p:cNvSpPr>
          <p:nvPr>
            <p:ph idx="1"/>
          </p:nvPr>
        </p:nvSpPr>
        <p:spPr>
          <a:xfrm>
            <a:off x="298907" y="1062602"/>
            <a:ext cx="8546175" cy="5406668"/>
          </a:xfrm>
        </p:spPr>
        <p:txBody>
          <a:bodyPr>
            <a:noAutofit/>
          </a:bodyPr>
          <a:lstStyle/>
          <a:p>
            <a:r>
              <a:rPr lang="it-IT" dirty="0" err="1"/>
              <a:t>Comparing</a:t>
            </a:r>
            <a:r>
              <a:rPr lang="it-IT" dirty="0"/>
              <a:t> </a:t>
            </a:r>
            <a:r>
              <a:rPr lang="it-IT" dirty="0" err="1"/>
              <a:t>against</a:t>
            </a:r>
            <a:r>
              <a:rPr lang="it-IT" dirty="0"/>
              <a:t> a </a:t>
            </a:r>
            <a:r>
              <a:rPr lang="it-IT" dirty="0" err="1"/>
              <a:t>distribution-based</a:t>
            </a:r>
            <a:r>
              <a:rPr lang="it-IT" dirty="0"/>
              <a:t> </a:t>
            </a:r>
            <a:r>
              <a:rPr lang="it-IT" dirty="0" err="1"/>
              <a:t>optimization</a:t>
            </a:r>
            <a:r>
              <a:rPr lang="it-IT" dirty="0"/>
              <a:t> (Holt-Winters, confidence </a:t>
            </a:r>
            <a:r>
              <a:rPr lang="it-IT" dirty="0" err="1"/>
              <a:t>intervals</a:t>
            </a:r>
            <a:r>
              <a:rPr lang="it-IT" dirty="0"/>
              <a:t>)</a:t>
            </a:r>
          </a:p>
          <a:p>
            <a:pPr>
              <a:tabLst>
                <a:tab pos="2230438" algn="l"/>
                <a:tab pos="5715000" algn="l"/>
              </a:tabLst>
            </a:pPr>
            <a:r>
              <a:rPr lang="en-US" sz="2000" dirty="0"/>
              <a:t> 	</a:t>
            </a:r>
            <a:r>
              <a:rPr lang="en-US" sz="2000" i="1" dirty="0"/>
              <a:t>No rental cost	With rental cost</a:t>
            </a:r>
          </a:p>
          <a:p>
            <a:pPr>
              <a:spcBef>
                <a:spcPts val="1200"/>
              </a:spcBef>
              <a:tabLst>
                <a:tab pos="2514600" algn="r"/>
                <a:tab pos="4005263" algn="r"/>
                <a:tab pos="5999163" algn="r"/>
                <a:tab pos="7488238" algn="r"/>
              </a:tabLst>
            </a:pPr>
            <a:r>
              <a:rPr lang="en-US" sz="2000" dirty="0"/>
              <a:t> 	</a:t>
            </a:r>
            <a:r>
              <a:rPr lang="en-US" sz="2000" b="1" dirty="0"/>
              <a:t>BESO	ETS	BESO	ETS</a:t>
            </a:r>
          </a:p>
          <a:p>
            <a:pPr>
              <a:spcBef>
                <a:spcPts val="1200"/>
              </a:spcBef>
              <a:tabLst>
                <a:tab pos="2514600" algn="r"/>
                <a:tab pos="4005263" algn="r"/>
                <a:tab pos="5999163" algn="r"/>
                <a:tab pos="7488238" algn="r"/>
              </a:tabLst>
            </a:pPr>
            <a:r>
              <a:rPr lang="en-US" sz="2000" dirty="0"/>
              <a:t>Assign. Cost	17781	15423	5446720	4378380</a:t>
            </a:r>
          </a:p>
          <a:p>
            <a:pPr>
              <a:spcBef>
                <a:spcPts val="600"/>
              </a:spcBef>
              <a:tabLst>
                <a:tab pos="2514600" algn="r"/>
                <a:tab pos="4005263" algn="r"/>
                <a:tab pos="5999163" algn="r"/>
                <a:tab pos="7488238" algn="r"/>
              </a:tabLst>
            </a:pPr>
            <a:r>
              <a:rPr lang="en-US" sz="2000" dirty="0"/>
              <a:t>Optimality gap %	0	0	16.07	0.69</a:t>
            </a:r>
          </a:p>
          <a:p>
            <a:pPr>
              <a:spcBef>
                <a:spcPts val="600"/>
              </a:spcBef>
              <a:tabLst>
                <a:tab pos="2514600" algn="r"/>
                <a:tab pos="4005263" algn="r"/>
                <a:tab pos="5999163" algn="r"/>
                <a:tab pos="7488238" algn="r"/>
              </a:tabLst>
            </a:pPr>
            <a:r>
              <a:rPr lang="en-US" sz="2000" dirty="0"/>
              <a:t>Infeasibilities	0	</a:t>
            </a:r>
            <a:r>
              <a:rPr lang="en-US" sz="2000" b="1" dirty="0">
                <a:solidFill>
                  <a:srgbClr val="FF0000"/>
                </a:solidFill>
              </a:rPr>
              <a:t>1</a:t>
            </a:r>
            <a:r>
              <a:rPr lang="en-US" sz="2000" dirty="0"/>
              <a:t>	0	</a:t>
            </a:r>
            <a:r>
              <a:rPr lang="en-US" sz="2000" b="1" dirty="0">
                <a:solidFill>
                  <a:srgbClr val="FF0000"/>
                </a:solidFill>
              </a:rPr>
              <a:t>1</a:t>
            </a:r>
          </a:p>
          <a:p>
            <a:pPr>
              <a:spcBef>
                <a:spcPts val="600"/>
              </a:spcBef>
              <a:tabLst>
                <a:tab pos="2514600" algn="r"/>
                <a:tab pos="4005263" algn="r"/>
                <a:tab pos="5999163" algn="r"/>
                <a:tab pos="7488238" algn="r"/>
              </a:tabLst>
            </a:pPr>
            <a:r>
              <a:rPr lang="en-US" sz="2000" dirty="0" err="1"/>
              <a:t>t.Cpu</a:t>
            </a:r>
            <a:r>
              <a:rPr lang="en-US" sz="2000" dirty="0"/>
              <a:t>	33	29	7200	7200</a:t>
            </a:r>
          </a:p>
          <a:p>
            <a:pPr>
              <a:tabLst>
                <a:tab pos="2514600" algn="r"/>
                <a:tab pos="4005263" algn="r"/>
                <a:tab pos="5999163" algn="r"/>
                <a:tab pos="7488238" algn="r"/>
              </a:tabLst>
            </a:pPr>
            <a:r>
              <a:rPr lang="en-US" sz="2000" dirty="0"/>
              <a:t>Allocated capacities:</a:t>
            </a:r>
          </a:p>
          <a:p>
            <a:pPr>
              <a:spcBef>
                <a:spcPts val="600"/>
              </a:spcBef>
              <a:tabLst>
                <a:tab pos="2514600" algn="r"/>
                <a:tab pos="4005263" algn="r"/>
                <a:tab pos="5999163" algn="r"/>
                <a:tab pos="7488238" algn="r"/>
              </a:tabLst>
            </a:pPr>
            <a:r>
              <a:rPr lang="en-US" sz="2000" dirty="0"/>
              <a:t>Server 0	67 / 120	119 / 120	82 / 120	116 / 120</a:t>
            </a:r>
          </a:p>
          <a:p>
            <a:pPr>
              <a:spcBef>
                <a:spcPts val="600"/>
              </a:spcBef>
              <a:tabLst>
                <a:tab pos="2514600" algn="r"/>
                <a:tab pos="4005263" algn="r"/>
                <a:tab pos="5999163" algn="r"/>
                <a:tab pos="7488238" algn="r"/>
              </a:tabLst>
            </a:pPr>
            <a:r>
              <a:rPr lang="en-US" sz="2000" dirty="0"/>
              <a:t>Server 1	571 / 1000	430 / 1000	532 / 1000	428 / 1000</a:t>
            </a:r>
          </a:p>
          <a:p>
            <a:pPr>
              <a:spcBef>
                <a:spcPts val="600"/>
              </a:spcBef>
              <a:tabLst>
                <a:tab pos="2514600" algn="r"/>
                <a:tab pos="4005263" algn="r"/>
                <a:tab pos="5999163" algn="r"/>
                <a:tab pos="7488238" algn="r"/>
              </a:tabLst>
            </a:pPr>
            <a:r>
              <a:rPr lang="en-US" sz="2000" dirty="0"/>
              <a:t>Server 2	257 / 300	</a:t>
            </a:r>
            <a:r>
              <a:rPr lang="en-US" sz="2000" b="1" dirty="0">
                <a:solidFill>
                  <a:srgbClr val="FF0000"/>
                </a:solidFill>
              </a:rPr>
              <a:t>301 / 300</a:t>
            </a:r>
            <a:r>
              <a:rPr lang="en-US" sz="2000" dirty="0"/>
              <a:t>	257 / 300	</a:t>
            </a:r>
            <a:r>
              <a:rPr lang="en-US" sz="2000" b="1" dirty="0">
                <a:solidFill>
                  <a:srgbClr val="FF0000"/>
                </a:solidFill>
              </a:rPr>
              <a:t>303 / 300</a:t>
            </a:r>
          </a:p>
          <a:p>
            <a:pPr>
              <a:spcBef>
                <a:spcPts val="600"/>
              </a:spcBef>
              <a:tabLst>
                <a:tab pos="2514600" algn="r"/>
                <a:tab pos="4005263" algn="r"/>
                <a:tab pos="5999163" algn="r"/>
                <a:tab pos="7488238" algn="r"/>
              </a:tabLst>
            </a:pPr>
            <a:r>
              <a:rPr lang="en-US" sz="2000" dirty="0"/>
              <a:t>Server 3	128 / 180	173 / 180	152 / 180	176 / 180</a:t>
            </a:r>
          </a:p>
        </p:txBody>
      </p:sp>
      <p:sp>
        <p:nvSpPr>
          <p:cNvPr id="3" name="Title 2">
            <a:extLst>
              <a:ext uri="{FF2B5EF4-FFF2-40B4-BE49-F238E27FC236}">
                <a16:creationId xmlns:a16="http://schemas.microsoft.com/office/drawing/2014/main" id="{841179C6-8DE9-937F-61D2-AA2D78DBA0D4}"/>
              </a:ext>
            </a:extLst>
          </p:cNvPr>
          <p:cNvSpPr>
            <a:spLocks noGrp="1"/>
          </p:cNvSpPr>
          <p:nvPr>
            <p:ph type="title"/>
          </p:nvPr>
        </p:nvSpPr>
        <p:spPr/>
        <p:txBody>
          <a:bodyPr/>
          <a:lstStyle/>
          <a:p>
            <a:r>
              <a:rPr lang="it-IT" dirty="0" err="1"/>
              <a:t>Results</a:t>
            </a:r>
            <a:r>
              <a:rPr lang="it-IT" dirty="0"/>
              <a:t>, </a:t>
            </a:r>
            <a:r>
              <a:rPr lang="it-IT" dirty="0" err="1"/>
              <a:t>comparison</a:t>
            </a:r>
            <a:endParaRPr lang="en-US" dirty="0"/>
          </a:p>
        </p:txBody>
      </p:sp>
      <p:sp>
        <p:nvSpPr>
          <p:cNvPr id="4" name="Footer Placeholder 3">
            <a:extLst>
              <a:ext uri="{FF2B5EF4-FFF2-40B4-BE49-F238E27FC236}">
                <a16:creationId xmlns:a16="http://schemas.microsoft.com/office/drawing/2014/main" id="{35665839-C3EC-B1E7-64EA-1D329B3E029B}"/>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060736A9-2FA8-4BDE-37C7-680BE7EAD63E}"/>
              </a:ext>
            </a:extLst>
          </p:cNvPr>
          <p:cNvSpPr>
            <a:spLocks noGrp="1"/>
          </p:cNvSpPr>
          <p:nvPr>
            <p:ph type="sldNum" sz="quarter" idx="4"/>
          </p:nvPr>
        </p:nvSpPr>
        <p:spPr/>
        <p:txBody>
          <a:bodyPr/>
          <a:lstStyle/>
          <a:p>
            <a:pPr>
              <a:defRPr/>
            </a:pPr>
            <a:fld id="{476DEB1C-3253-4C07-8F02-456B7B2AD41D}" type="slidenum">
              <a:rPr lang="it-IT" smtClean="0"/>
              <a:pPr>
                <a:defRPr/>
              </a:pPr>
              <a:t>23</a:t>
            </a:fld>
            <a:endParaRPr lang="it-IT" dirty="0"/>
          </a:p>
        </p:txBody>
      </p:sp>
    </p:spTree>
    <p:extLst>
      <p:ext uri="{BB962C8B-B14F-4D97-AF65-F5344CB8AC3E}">
        <p14:creationId xmlns:p14="http://schemas.microsoft.com/office/powerpoint/2010/main" val="38389623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54B4448-CAFD-B4E2-E62A-767CDB4D6C99}"/>
              </a:ext>
            </a:extLst>
          </p:cNvPr>
          <p:cNvSpPr>
            <a:spLocks noGrp="1"/>
          </p:cNvSpPr>
          <p:nvPr>
            <p:ph idx="1"/>
          </p:nvPr>
        </p:nvSpPr>
        <p:spPr>
          <a:xfrm>
            <a:off x="298912" y="1173916"/>
            <a:ext cx="8546175" cy="5259392"/>
          </a:xfrm>
        </p:spPr>
        <p:txBody>
          <a:bodyPr>
            <a:normAutofit/>
          </a:bodyPr>
          <a:lstStyle/>
          <a:p>
            <a:pPr>
              <a:spcBef>
                <a:spcPts val="1200"/>
              </a:spcBef>
            </a:pPr>
            <a:r>
              <a:rPr lang="en-US" sz="2400" dirty="0"/>
              <a:t>BESO is a framework for </a:t>
            </a:r>
            <a:r>
              <a:rPr lang="en-US" sz="2400" dirty="0">
                <a:solidFill>
                  <a:srgbClr val="C00000"/>
                </a:solidFill>
              </a:rPr>
              <a:t>deriving predictive prescriptions from relevant data series</a:t>
            </a:r>
            <a:r>
              <a:rPr lang="en-US" sz="2400" dirty="0"/>
              <a:t>. It integrates statistically grounded forecasting with scenario-based optimization by generating future scenarios via bootstrapped autoregressive time series, while </a:t>
            </a:r>
            <a:r>
              <a:rPr lang="en-US" sz="2400" dirty="0">
                <a:solidFill>
                  <a:srgbClr val="C00000"/>
                </a:solidFill>
              </a:rPr>
              <a:t>incorporating feedback from the optimization stage</a:t>
            </a:r>
            <a:r>
              <a:rPr lang="en-US" sz="2400" dirty="0"/>
              <a:t>.</a:t>
            </a:r>
          </a:p>
          <a:p>
            <a:pPr>
              <a:spcBef>
                <a:spcPts val="1200"/>
              </a:spcBef>
            </a:pPr>
            <a:r>
              <a:rPr lang="en-US" sz="2400" dirty="0">
                <a:solidFill>
                  <a:srgbClr val="C00000"/>
                </a:solidFill>
              </a:rPr>
              <a:t>Bootstrapped forecasting </a:t>
            </a:r>
            <a:r>
              <a:rPr lang="en-US" sz="2400" dirty="0"/>
              <a:t>identifies a probability distribution of future retailer requests, supporting </a:t>
            </a:r>
            <a:r>
              <a:rPr lang="en-US" sz="2400" dirty="0">
                <a:solidFill>
                  <a:srgbClr val="C00000"/>
                </a:solidFill>
              </a:rPr>
              <a:t>data-driven scenario generation </a:t>
            </a:r>
            <a:r>
              <a:rPr lang="en-US" sz="2400" dirty="0"/>
              <a:t>while considering both costs and forecast uncertainty.</a:t>
            </a:r>
          </a:p>
          <a:p>
            <a:pPr>
              <a:spcBef>
                <a:spcPts val="1200"/>
              </a:spcBef>
            </a:pPr>
            <a:r>
              <a:rPr lang="en-US" sz="2400" dirty="0"/>
              <a:t>The validity of the BESO approach </a:t>
            </a:r>
            <a:r>
              <a:rPr lang="en-US" dirty="0">
                <a:solidFill>
                  <a:srgbClr val="C00000"/>
                </a:solidFill>
              </a:rPr>
              <a:t>extends beyond the case study.</a:t>
            </a:r>
            <a:endParaRPr lang="en-US" sz="2400" dirty="0">
              <a:solidFill>
                <a:srgbClr val="C00000"/>
              </a:solidFill>
            </a:endParaRPr>
          </a:p>
          <a:p>
            <a:pPr>
              <a:spcBef>
                <a:spcPts val="1200"/>
              </a:spcBef>
            </a:pPr>
            <a:r>
              <a:rPr lang="en-US" sz="2400" dirty="0"/>
              <a:t>Integrating forecasting and optimization within a unified empirical loop enhances stability, operational effectiveness and </a:t>
            </a:r>
            <a:r>
              <a:rPr lang="en-US" sz="2400"/>
              <a:t>result justification.</a:t>
            </a:r>
            <a:endParaRPr lang="it-IT" sz="2400" dirty="0"/>
          </a:p>
        </p:txBody>
      </p:sp>
      <p:sp>
        <p:nvSpPr>
          <p:cNvPr id="3" name="Title 2">
            <a:extLst>
              <a:ext uri="{FF2B5EF4-FFF2-40B4-BE49-F238E27FC236}">
                <a16:creationId xmlns:a16="http://schemas.microsoft.com/office/drawing/2014/main" id="{D04DAED7-D714-269C-7743-94197EFF4356}"/>
              </a:ext>
            </a:extLst>
          </p:cNvPr>
          <p:cNvSpPr>
            <a:spLocks noGrp="1"/>
          </p:cNvSpPr>
          <p:nvPr>
            <p:ph type="title"/>
          </p:nvPr>
        </p:nvSpPr>
        <p:spPr/>
        <p:txBody>
          <a:bodyPr/>
          <a:lstStyle/>
          <a:p>
            <a:r>
              <a:rPr lang="en-US" dirty="0"/>
              <a:t>Comments</a:t>
            </a:r>
            <a:endParaRPr lang="it-IT" dirty="0"/>
          </a:p>
        </p:txBody>
      </p:sp>
      <p:sp>
        <p:nvSpPr>
          <p:cNvPr id="4" name="Footer Placeholder 3">
            <a:extLst>
              <a:ext uri="{FF2B5EF4-FFF2-40B4-BE49-F238E27FC236}">
                <a16:creationId xmlns:a16="http://schemas.microsoft.com/office/drawing/2014/main" id="{FBD412EF-17C0-FCFB-E885-D4434F5F988E}"/>
              </a:ext>
            </a:extLst>
          </p:cNvPr>
          <p:cNvSpPr>
            <a:spLocks noGrp="1"/>
          </p:cNvSpPr>
          <p:nvPr>
            <p:ph type="ftr" sz="quarter" idx="3"/>
          </p:nvPr>
        </p:nvSpPr>
        <p:spPr/>
        <p:txBody>
          <a:bodyPr/>
          <a:lstStyle/>
          <a:p>
            <a:pPr>
              <a:defRPr/>
            </a:pPr>
            <a:r>
              <a:rPr lang="it-IT"/>
              <a:t>Vittorio Maniezzo - University of Bologna</a:t>
            </a:r>
            <a:endParaRPr lang="it-IT" dirty="0"/>
          </a:p>
        </p:txBody>
      </p:sp>
      <p:sp>
        <p:nvSpPr>
          <p:cNvPr id="5" name="Slide Number Placeholder 4">
            <a:extLst>
              <a:ext uri="{FF2B5EF4-FFF2-40B4-BE49-F238E27FC236}">
                <a16:creationId xmlns:a16="http://schemas.microsoft.com/office/drawing/2014/main" id="{29BD00F7-5AC9-C4A4-D1C3-39483C05977A}"/>
              </a:ext>
            </a:extLst>
          </p:cNvPr>
          <p:cNvSpPr>
            <a:spLocks noGrp="1"/>
          </p:cNvSpPr>
          <p:nvPr>
            <p:ph type="sldNum" sz="quarter" idx="4"/>
          </p:nvPr>
        </p:nvSpPr>
        <p:spPr/>
        <p:txBody>
          <a:bodyPr/>
          <a:lstStyle/>
          <a:p>
            <a:pPr>
              <a:defRPr/>
            </a:pPr>
            <a:fld id="{476DEB1C-3253-4C07-8F02-456B7B2AD41D}" type="slidenum">
              <a:rPr lang="it-IT" smtClean="0"/>
              <a:pPr>
                <a:defRPr/>
              </a:pPr>
              <a:t>24</a:t>
            </a:fld>
            <a:endParaRPr lang="it-IT" dirty="0"/>
          </a:p>
        </p:txBody>
      </p:sp>
    </p:spTree>
    <p:extLst>
      <p:ext uri="{BB962C8B-B14F-4D97-AF65-F5344CB8AC3E}">
        <p14:creationId xmlns:p14="http://schemas.microsoft.com/office/powerpoint/2010/main" val="235601765"/>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171</TotalTime>
  <Words>2525</Words>
  <Application>Microsoft Office PowerPoint</Application>
  <PresentationFormat>On-screen Show (4:3)</PresentationFormat>
  <Paragraphs>209</Paragraphs>
  <Slides>24</Slides>
  <Notes>2</Notes>
  <HiddenSlides>1</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24</vt:i4>
      </vt:variant>
    </vt:vector>
  </HeadingPairs>
  <TitlesOfParts>
    <vt:vector size="32" baseType="lpstr">
      <vt:lpstr>Aptos</vt:lpstr>
      <vt:lpstr>Aptos Display</vt:lpstr>
      <vt:lpstr>Aptos Light</vt:lpstr>
      <vt:lpstr>Arial</vt:lpstr>
      <vt:lpstr>Cambria</vt:lpstr>
      <vt:lpstr>Cambria Math</vt:lpstr>
      <vt:lpstr>ManiezzoSlides</vt:lpstr>
      <vt:lpstr>Office</vt:lpstr>
      <vt:lpstr>Bootstrap Enhanced Scenario Optimization for Two-Echelon Logistics, a Case Study in Large-Scale Retail</vt:lpstr>
      <vt:lpstr>The case study</vt:lpstr>
      <vt:lpstr>Stochastic Optimization</vt:lpstr>
      <vt:lpstr>DRO</vt:lpstr>
      <vt:lpstr>SAA and SPO</vt:lpstr>
      <vt:lpstr>The first case study</vt:lpstr>
      <vt:lpstr>Toward a formulation</vt:lpstr>
      <vt:lpstr>Deterministic allocation</vt:lpstr>
      <vt:lpstr>Stochastic allocation</vt:lpstr>
      <vt:lpstr>Scenario-based</vt:lpstr>
      <vt:lpstr>Prewhitening</vt:lpstr>
      <vt:lpstr>Recoloring</vt:lpstr>
      <vt:lpstr>Bootstrapping time series</vt:lpstr>
      <vt:lpstr>Bootstrapping</vt:lpstr>
      <vt:lpstr>Maximum entropy bootstrap</vt:lpstr>
      <vt:lpstr>Objective-Augmented Maximum Entropy Bootstrap (OA-MEB)</vt:lpstr>
      <vt:lpstr>BESO: Bootstrapped Enhanced Scenario Optimization</vt:lpstr>
      <vt:lpstr>Forecasts</vt:lpstr>
      <vt:lpstr>Results, forecasts</vt:lpstr>
      <vt:lpstr>Results, forecasts</vt:lpstr>
      <vt:lpstr>Results, optimization</vt:lpstr>
      <vt:lpstr>Results, comparison</vt:lpstr>
      <vt:lpstr>Results, comparison</vt:lpstr>
      <vt:lpstr>Comments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Caroline Tomanik</dc:creator>
  <cp:lastModifiedBy>Vittorio Maniezzo</cp:lastModifiedBy>
  <cp:revision>38</cp:revision>
  <dcterms:created xsi:type="dcterms:W3CDTF">2026-06-03T06:14:07Z</dcterms:created>
  <dcterms:modified xsi:type="dcterms:W3CDTF">2026-07-11T13:44:50Z</dcterms:modified>
</cp:coreProperties>
</file>
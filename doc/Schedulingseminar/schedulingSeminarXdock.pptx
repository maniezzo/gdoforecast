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94" r:id="rId3"/>
    <p:sldId id="309" r:id="rId4"/>
    <p:sldId id="310" r:id="rId5"/>
    <p:sldId id="333" r:id="rId6"/>
    <p:sldId id="334" r:id="rId7"/>
    <p:sldId id="335" r:id="rId8"/>
    <p:sldId id="336" r:id="rId9"/>
    <p:sldId id="337" r:id="rId10"/>
    <p:sldId id="338" r:id="rId11"/>
    <p:sldId id="320" r:id="rId12"/>
    <p:sldId id="339" r:id="rId13"/>
    <p:sldId id="322" r:id="rId14"/>
    <p:sldId id="323" r:id="rId15"/>
    <p:sldId id="340" r:id="rId16"/>
    <p:sldId id="271" r:id="rId17"/>
    <p:sldId id="275" r:id="rId18"/>
    <p:sldId id="276" r:id="rId19"/>
    <p:sldId id="341" r:id="rId20"/>
    <p:sldId id="342" r:id="rId21"/>
    <p:sldId id="343" r:id="rId22"/>
    <p:sldId id="346" r:id="rId23"/>
    <p:sldId id="344" r:id="rId24"/>
    <p:sldId id="345" r:id="rId25"/>
    <p:sldId id="257" r:id="rId26"/>
    <p:sldId id="319" r:id="rId27"/>
    <p:sldId id="267" r:id="rId28"/>
    <p:sldId id="273" r:id="rId29"/>
    <p:sldId id="347" r:id="rId30"/>
    <p:sldId id="278" r:id="rId31"/>
    <p:sldId id="274" r:id="rId32"/>
    <p:sldId id="348" r:id="rId33"/>
    <p:sldId id="277" r:id="rId34"/>
    <p:sldId id="263" r:id="rId35"/>
    <p:sldId id="259" r:id="rId36"/>
    <p:sldId id="265" r:id="rId37"/>
    <p:sldId id="266" r:id="rId38"/>
    <p:sldId id="280" r:id="rId39"/>
    <p:sldId id="279" r:id="rId40"/>
    <p:sldId id="260" r:id="rId41"/>
    <p:sldId id="284" r:id="rId42"/>
    <p:sldId id="288" r:id="rId43"/>
    <p:sldId id="289" r:id="rId44"/>
    <p:sldId id="290" r:id="rId45"/>
    <p:sldId id="291" r:id="rId46"/>
    <p:sldId id="292" r:id="rId47"/>
    <p:sldId id="286" r:id="rId48"/>
    <p:sldId id="287" r:id="rId49"/>
    <p:sldId id="324" r:id="rId50"/>
    <p:sldId id="295" r:id="rId51"/>
    <p:sldId id="297" r:id="rId52"/>
    <p:sldId id="332" r:id="rId53"/>
    <p:sldId id="330" r:id="rId54"/>
    <p:sldId id="326" r:id="rId55"/>
    <p:sldId id="300" r:id="rId56"/>
    <p:sldId id="303" r:id="rId57"/>
    <p:sldId id="304" r:id="rId58"/>
    <p:sldId id="305" r:id="rId59"/>
    <p:sldId id="306" r:id="rId60"/>
    <p:sldId id="293" r:id="rId61"/>
    <p:sldId id="308" r:id="rId62"/>
  </p:sldIdLst>
  <p:sldSz cx="9144000" cy="6858000" type="screen4x3"/>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77" autoAdjust="0"/>
    <p:restoredTop sz="95736" autoAdjust="0"/>
  </p:normalViewPr>
  <p:slideViewPr>
    <p:cSldViewPr snapToGrid="0">
      <p:cViewPr varScale="1">
        <p:scale>
          <a:sx n="89" d="100"/>
          <a:sy n="89" d="100"/>
        </p:scale>
        <p:origin x="918" y="96"/>
      </p:cViewPr>
      <p:guideLst>
        <p:guide orient="horz" pos="2160"/>
        <p:guide pos="2880"/>
      </p:guideLst>
    </p:cSldViewPr>
  </p:slideViewPr>
  <p:outlineViewPr>
    <p:cViewPr>
      <p:scale>
        <a:sx n="33" d="100"/>
        <a:sy n="33" d="100"/>
      </p:scale>
      <p:origin x="0" y="-139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Sales used cars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1"/>
              </a:solidFill>
              <a:round/>
            </a:ln>
            <a:effectLst/>
          </c:spPr>
          <c:marker>
            <c:symbol val="none"/>
          </c:marker>
          <c:trendline>
            <c:spPr>
              <a:ln w="19050" cap="rnd">
                <a:solidFill>
                  <a:schemeClr val="accent1"/>
                </a:solidFill>
                <a:prstDash val="sysDot"/>
              </a:ln>
              <a:effectLst/>
            </c:spPr>
            <c:trendlineType val="linear"/>
            <c:dispRSqr val="0"/>
            <c:dispEq val="0"/>
          </c:trendline>
          <c:trendline>
            <c:spPr>
              <a:ln w="34925" cap="rnd">
                <a:solidFill>
                  <a:srgbClr val="FF0000"/>
                </a:solidFill>
                <a:prstDash val="sysDot"/>
              </a:ln>
              <a:effectLst/>
            </c:spPr>
            <c:trendlineType val="linear"/>
            <c:dispRSqr val="0"/>
            <c:dispEq val="0"/>
          </c:trendline>
          <c:val>
            <c:numRef>
              <c:f>Sheet1!$B$1:$B$84</c:f>
              <c:numCache>
                <c:formatCode>General</c:formatCode>
                <c:ptCount val="84"/>
                <c:pt idx="0">
                  <c:v>6766</c:v>
                </c:pt>
                <c:pt idx="1">
                  <c:v>8397</c:v>
                </c:pt>
                <c:pt idx="2">
                  <c:v>8250</c:v>
                </c:pt>
                <c:pt idx="3">
                  <c:v>7411</c:v>
                </c:pt>
                <c:pt idx="4">
                  <c:v>7190</c:v>
                </c:pt>
                <c:pt idx="5">
                  <c:v>6970</c:v>
                </c:pt>
                <c:pt idx="6">
                  <c:v>6963</c:v>
                </c:pt>
                <c:pt idx="7">
                  <c:v>7269</c:v>
                </c:pt>
                <c:pt idx="8">
                  <c:v>6243</c:v>
                </c:pt>
                <c:pt idx="9">
                  <c:v>6682</c:v>
                </c:pt>
                <c:pt idx="10">
                  <c:v>6183</c:v>
                </c:pt>
                <c:pt idx="11">
                  <c:v>5592</c:v>
                </c:pt>
                <c:pt idx="12">
                  <c:v>6065</c:v>
                </c:pt>
                <c:pt idx="13">
                  <c:v>8022</c:v>
                </c:pt>
                <c:pt idx="14">
                  <c:v>8564</c:v>
                </c:pt>
                <c:pt idx="15">
                  <c:v>7601</c:v>
                </c:pt>
                <c:pt idx="16">
                  <c:v>7695</c:v>
                </c:pt>
                <c:pt idx="17">
                  <c:v>7542</c:v>
                </c:pt>
                <c:pt idx="18">
                  <c:v>7657</c:v>
                </c:pt>
                <c:pt idx="19">
                  <c:v>7936</c:v>
                </c:pt>
                <c:pt idx="20">
                  <c:v>7584</c:v>
                </c:pt>
                <c:pt idx="21">
                  <c:v>7933</c:v>
                </c:pt>
                <c:pt idx="22">
                  <c:v>6822</c:v>
                </c:pt>
                <c:pt idx="23">
                  <c:v>7003</c:v>
                </c:pt>
                <c:pt idx="24">
                  <c:v>7435</c:v>
                </c:pt>
                <c:pt idx="25">
                  <c:v>9092</c:v>
                </c:pt>
                <c:pt idx="26">
                  <c:v>9331</c:v>
                </c:pt>
                <c:pt idx="27">
                  <c:v>8969</c:v>
                </c:pt>
                <c:pt idx="28">
                  <c:v>8544</c:v>
                </c:pt>
                <c:pt idx="29">
                  <c:v>8337</c:v>
                </c:pt>
                <c:pt idx="30">
                  <c:v>8377</c:v>
                </c:pt>
                <c:pt idx="31">
                  <c:v>8353</c:v>
                </c:pt>
                <c:pt idx="32">
                  <c:v>7689</c:v>
                </c:pt>
                <c:pt idx="33">
                  <c:v>7911</c:v>
                </c:pt>
                <c:pt idx="34">
                  <c:v>7193</c:v>
                </c:pt>
                <c:pt idx="35">
                  <c:v>7099</c:v>
                </c:pt>
                <c:pt idx="36">
                  <c:v>7638</c:v>
                </c:pt>
                <c:pt idx="37">
                  <c:v>10269</c:v>
                </c:pt>
                <c:pt idx="38">
                  <c:v>9947</c:v>
                </c:pt>
                <c:pt idx="39">
                  <c:v>9093</c:v>
                </c:pt>
                <c:pt idx="40">
                  <c:v>8490</c:v>
                </c:pt>
                <c:pt idx="41">
                  <c:v>8896</c:v>
                </c:pt>
                <c:pt idx="42">
                  <c:v>8743</c:v>
                </c:pt>
                <c:pt idx="43">
                  <c:v>9287</c:v>
                </c:pt>
                <c:pt idx="44">
                  <c:v>8421</c:v>
                </c:pt>
                <c:pt idx="45">
                  <c:v>8792</c:v>
                </c:pt>
                <c:pt idx="46">
                  <c:v>7864</c:v>
                </c:pt>
                <c:pt idx="47">
                  <c:v>8465</c:v>
                </c:pt>
                <c:pt idx="48">
                  <c:v>8497</c:v>
                </c:pt>
                <c:pt idx="49">
                  <c:v>9598</c:v>
                </c:pt>
                <c:pt idx="50">
                  <c:v>10955</c:v>
                </c:pt>
                <c:pt idx="51">
                  <c:v>9237</c:v>
                </c:pt>
                <c:pt idx="52">
                  <c:v>9726</c:v>
                </c:pt>
                <c:pt idx="53">
                  <c:v>9778</c:v>
                </c:pt>
                <c:pt idx="54">
                  <c:v>9527</c:v>
                </c:pt>
                <c:pt idx="55">
                  <c:v>9632</c:v>
                </c:pt>
                <c:pt idx="56">
                  <c:v>9265</c:v>
                </c:pt>
                <c:pt idx="57">
                  <c:v>9139</c:v>
                </c:pt>
                <c:pt idx="58">
                  <c:v>8594</c:v>
                </c:pt>
                <c:pt idx="59">
                  <c:v>8226</c:v>
                </c:pt>
                <c:pt idx="60">
                  <c:v>8836</c:v>
                </c:pt>
                <c:pt idx="61">
                  <c:v>9923</c:v>
                </c:pt>
                <c:pt idx="62">
                  <c:v>11259</c:v>
                </c:pt>
                <c:pt idx="63">
                  <c:v>9543</c:v>
                </c:pt>
                <c:pt idx="64">
                  <c:v>10096</c:v>
                </c:pt>
                <c:pt idx="65">
                  <c:v>9777</c:v>
                </c:pt>
                <c:pt idx="66">
                  <c:v>9788</c:v>
                </c:pt>
                <c:pt idx="67">
                  <c:v>10081</c:v>
                </c:pt>
                <c:pt idx="68">
                  <c:v>8951</c:v>
                </c:pt>
                <c:pt idx="69">
                  <c:v>9104</c:v>
                </c:pt>
                <c:pt idx="70">
                  <c:v>8656</c:v>
                </c:pt>
                <c:pt idx="71">
                  <c:v>8376</c:v>
                </c:pt>
                <c:pt idx="72">
                  <c:v>8828</c:v>
                </c:pt>
                <c:pt idx="73">
                  <c:v>9675</c:v>
                </c:pt>
                <c:pt idx="74">
                  <c:v>11856</c:v>
                </c:pt>
                <c:pt idx="75">
                  <c:v>10345</c:v>
                </c:pt>
                <c:pt idx="76">
                  <c:v>10549</c:v>
                </c:pt>
                <c:pt idx="77">
                  <c:v>10078</c:v>
                </c:pt>
                <c:pt idx="78">
                  <c:v>10255</c:v>
                </c:pt>
                <c:pt idx="79">
                  <c:v>10357</c:v>
                </c:pt>
                <c:pt idx="80">
                  <c:v>9404</c:v>
                </c:pt>
                <c:pt idx="81">
                  <c:v>9696</c:v>
                </c:pt>
                <c:pt idx="82">
                  <c:v>9355</c:v>
                </c:pt>
                <c:pt idx="83">
                  <c:v>8669</c:v>
                </c:pt>
              </c:numCache>
            </c:numRef>
          </c:val>
          <c:smooth val="0"/>
          <c:extLst>
            <c:ext xmlns:c16="http://schemas.microsoft.com/office/drawing/2014/chart" uri="{C3380CC4-5D6E-409C-BE32-E72D297353CC}">
              <c16:uniqueId val="{00000002-82A9-43B2-BECA-98F555A6ABD6}"/>
            </c:ext>
          </c:extLst>
        </c:ser>
        <c:dLbls>
          <c:showLegendKey val="0"/>
          <c:showVal val="0"/>
          <c:showCatName val="0"/>
          <c:showSerName val="0"/>
          <c:showPercent val="0"/>
          <c:showBubbleSize val="0"/>
        </c:dLbls>
        <c:smooth val="0"/>
        <c:axId val="1032261408"/>
        <c:axId val="1032265152"/>
      </c:lineChart>
      <c:catAx>
        <c:axId val="10322614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5152"/>
        <c:crosses val="autoZero"/>
        <c:auto val="1"/>
        <c:lblAlgn val="ctr"/>
        <c:lblOffset val="100"/>
        <c:tickLblSkip val="6"/>
        <c:tickMarkSkip val="1"/>
        <c:noMultiLvlLbl val="0"/>
      </c:catAx>
      <c:valAx>
        <c:axId val="103226515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14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Detrended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2"/>
              </a:solidFill>
              <a:round/>
            </a:ln>
            <a:effectLst/>
          </c:spPr>
          <c:marker>
            <c:symbol val="none"/>
          </c:marker>
          <c:val>
            <c:numRef>
              <c:f>Sheet1!$A$20:$A$103</c:f>
              <c:numCache>
                <c:formatCode>General</c:formatCode>
                <c:ptCount val="84"/>
                <c:pt idx="0">
                  <c:v>-252</c:v>
                </c:pt>
                <c:pt idx="1">
                  <c:v>1340</c:v>
                </c:pt>
                <c:pt idx="2">
                  <c:v>1155</c:v>
                </c:pt>
                <c:pt idx="3">
                  <c:v>277</c:v>
                </c:pt>
                <c:pt idx="4">
                  <c:v>17</c:v>
                </c:pt>
                <c:pt idx="5">
                  <c:v>-241</c:v>
                </c:pt>
                <c:pt idx="6">
                  <c:v>-287</c:v>
                </c:pt>
                <c:pt idx="7">
                  <c:v>180</c:v>
                </c:pt>
                <c:pt idx="8">
                  <c:v>-684</c:v>
                </c:pt>
                <c:pt idx="9">
                  <c:v>-284</c:v>
                </c:pt>
                <c:pt idx="10">
                  <c:v>-821</c:v>
                </c:pt>
                <c:pt idx="11">
                  <c:v>-1251</c:v>
                </c:pt>
                <c:pt idx="12">
                  <c:v>-817</c:v>
                </c:pt>
                <c:pt idx="13">
                  <c:v>502</c:v>
                </c:pt>
                <c:pt idx="14">
                  <c:v>1005</c:v>
                </c:pt>
                <c:pt idx="15">
                  <c:v>3</c:v>
                </c:pt>
                <c:pt idx="16">
                  <c:v>59</c:v>
                </c:pt>
                <c:pt idx="17">
                  <c:v>-133</c:v>
                </c:pt>
                <c:pt idx="18">
                  <c:v>-57</c:v>
                </c:pt>
                <c:pt idx="19">
                  <c:v>184</c:v>
                </c:pt>
                <c:pt idx="20">
                  <c:v>-207</c:v>
                </c:pt>
                <c:pt idx="21">
                  <c:v>104</c:v>
                </c:pt>
                <c:pt idx="22">
                  <c:v>-1046</c:v>
                </c:pt>
                <c:pt idx="23">
                  <c:v>-904</c:v>
                </c:pt>
                <c:pt idx="24">
                  <c:v>-510</c:v>
                </c:pt>
                <c:pt idx="25">
                  <c:v>1108</c:v>
                </c:pt>
                <c:pt idx="26">
                  <c:v>1308</c:v>
                </c:pt>
                <c:pt idx="27">
                  <c:v>908</c:v>
                </c:pt>
                <c:pt idx="28">
                  <c:v>444</c:v>
                </c:pt>
                <c:pt idx="29">
                  <c:v>198</c:v>
                </c:pt>
                <c:pt idx="30">
                  <c:v>200</c:v>
                </c:pt>
                <c:pt idx="31">
                  <c:v>137</c:v>
                </c:pt>
                <c:pt idx="32">
                  <c:v>-565</c:v>
                </c:pt>
                <c:pt idx="33">
                  <c:v>-382</c:v>
                </c:pt>
                <c:pt idx="34">
                  <c:v>-1139</c:v>
                </c:pt>
                <c:pt idx="35">
                  <c:v>-1271</c:v>
                </c:pt>
                <c:pt idx="36">
                  <c:v>-771</c:v>
                </c:pt>
                <c:pt idx="37">
                  <c:v>1821</c:v>
                </c:pt>
                <c:pt idx="38">
                  <c:v>1461</c:v>
                </c:pt>
                <c:pt idx="39">
                  <c:v>568</c:v>
                </c:pt>
                <c:pt idx="40">
                  <c:v>-74</c:v>
                </c:pt>
                <c:pt idx="41">
                  <c:v>294</c:v>
                </c:pt>
                <c:pt idx="42">
                  <c:v>102</c:v>
                </c:pt>
                <c:pt idx="43">
                  <c:v>608</c:v>
                </c:pt>
                <c:pt idx="44">
                  <c:v>-297</c:v>
                </c:pt>
                <c:pt idx="45">
                  <c:v>35</c:v>
                </c:pt>
                <c:pt idx="46">
                  <c:v>-931</c:v>
                </c:pt>
                <c:pt idx="47">
                  <c:v>-369</c:v>
                </c:pt>
                <c:pt idx="48">
                  <c:v>-376</c:v>
                </c:pt>
                <c:pt idx="49">
                  <c:v>687</c:v>
                </c:pt>
                <c:pt idx="50">
                  <c:v>2005</c:v>
                </c:pt>
                <c:pt idx="51">
                  <c:v>248</c:v>
                </c:pt>
                <c:pt idx="52">
                  <c:v>699</c:v>
                </c:pt>
                <c:pt idx="53">
                  <c:v>712</c:v>
                </c:pt>
                <c:pt idx="54">
                  <c:v>423</c:v>
                </c:pt>
                <c:pt idx="55">
                  <c:v>489</c:v>
                </c:pt>
                <c:pt idx="56">
                  <c:v>83</c:v>
                </c:pt>
                <c:pt idx="57">
                  <c:v>-81</c:v>
                </c:pt>
                <c:pt idx="58">
                  <c:v>-665</c:v>
                </c:pt>
                <c:pt idx="59">
                  <c:v>-1072</c:v>
                </c:pt>
                <c:pt idx="60">
                  <c:v>-500</c:v>
                </c:pt>
                <c:pt idx="61">
                  <c:v>548</c:v>
                </c:pt>
                <c:pt idx="62">
                  <c:v>1845</c:v>
                </c:pt>
                <c:pt idx="63">
                  <c:v>91</c:v>
                </c:pt>
                <c:pt idx="64">
                  <c:v>605</c:v>
                </c:pt>
                <c:pt idx="65">
                  <c:v>248</c:v>
                </c:pt>
                <c:pt idx="66">
                  <c:v>220</c:v>
                </c:pt>
                <c:pt idx="67">
                  <c:v>474</c:v>
                </c:pt>
                <c:pt idx="68">
                  <c:v>-694</c:v>
                </c:pt>
                <c:pt idx="69">
                  <c:v>-580</c:v>
                </c:pt>
                <c:pt idx="70">
                  <c:v>-1067</c:v>
                </c:pt>
                <c:pt idx="71">
                  <c:v>-1385</c:v>
                </c:pt>
                <c:pt idx="72">
                  <c:v>-972</c:v>
                </c:pt>
                <c:pt idx="73">
                  <c:v>-164</c:v>
                </c:pt>
                <c:pt idx="74">
                  <c:v>1979</c:v>
                </c:pt>
                <c:pt idx="75">
                  <c:v>429</c:v>
                </c:pt>
                <c:pt idx="76">
                  <c:v>595</c:v>
                </c:pt>
                <c:pt idx="77">
                  <c:v>85</c:v>
                </c:pt>
                <c:pt idx="78">
                  <c:v>223</c:v>
                </c:pt>
                <c:pt idx="79">
                  <c:v>287</c:v>
                </c:pt>
                <c:pt idx="80">
                  <c:v>-705</c:v>
                </c:pt>
                <c:pt idx="81">
                  <c:v>-452</c:v>
                </c:pt>
                <c:pt idx="82">
                  <c:v>-831</c:v>
                </c:pt>
                <c:pt idx="83">
                  <c:v>-1556</c:v>
                </c:pt>
              </c:numCache>
            </c:numRef>
          </c:val>
          <c:smooth val="0"/>
          <c:extLst>
            <c:ext xmlns:c16="http://schemas.microsoft.com/office/drawing/2014/chart" uri="{C3380CC4-5D6E-409C-BE32-E72D297353CC}">
              <c16:uniqueId val="{00000000-68A1-42A6-A815-9476985037F5}"/>
            </c:ext>
          </c:extLst>
        </c:ser>
        <c:dLbls>
          <c:showLegendKey val="0"/>
          <c:showVal val="0"/>
          <c:showCatName val="0"/>
          <c:showSerName val="0"/>
          <c:showPercent val="0"/>
          <c:showBubbleSize val="0"/>
        </c:dLbls>
        <c:smooth val="0"/>
        <c:axId val="1030017088"/>
        <c:axId val="1030013760"/>
      </c:lineChart>
      <c:catAx>
        <c:axId val="1030017088"/>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3760"/>
        <c:crosses val="autoZero"/>
        <c:auto val="1"/>
        <c:lblAlgn val="ctr"/>
        <c:lblOffset val="100"/>
        <c:tickLblSkip val="6"/>
        <c:noMultiLvlLbl val="0"/>
      </c:catAx>
      <c:valAx>
        <c:axId val="1030013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70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Deseasonalized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4">
                  <a:lumMod val="75000"/>
                </a:schemeClr>
              </a:solidFill>
              <a:round/>
            </a:ln>
            <a:effectLst/>
          </c:spPr>
          <c:marker>
            <c:symbol val="none"/>
          </c:marker>
          <c:val>
            <c:numRef>
              <c:f>Sheet1!$E$23:$E$106</c:f>
              <c:numCache>
                <c:formatCode>General</c:formatCode>
                <c:ptCount val="84"/>
                <c:pt idx="0">
                  <c:v>433</c:v>
                </c:pt>
                <c:pt idx="1">
                  <c:v>506</c:v>
                </c:pt>
                <c:pt idx="2">
                  <c:v>-382</c:v>
                </c:pt>
                <c:pt idx="3">
                  <c:v>-84</c:v>
                </c:pt>
                <c:pt idx="4">
                  <c:v>-318</c:v>
                </c:pt>
                <c:pt idx="5">
                  <c:v>-407</c:v>
                </c:pt>
                <c:pt idx="6">
                  <c:v>-405</c:v>
                </c:pt>
                <c:pt idx="7">
                  <c:v>-128</c:v>
                </c:pt>
                <c:pt idx="8">
                  <c:v>-189</c:v>
                </c:pt>
                <c:pt idx="9">
                  <c:v>8</c:v>
                </c:pt>
                <c:pt idx="10">
                  <c:v>164</c:v>
                </c:pt>
                <c:pt idx="11">
                  <c:v>-50</c:v>
                </c:pt>
                <c:pt idx="12">
                  <c:v>-131</c:v>
                </c:pt>
                <c:pt idx="13">
                  <c:v>-333</c:v>
                </c:pt>
                <c:pt idx="14">
                  <c:v>-532</c:v>
                </c:pt>
                <c:pt idx="15">
                  <c:v>-357</c:v>
                </c:pt>
                <c:pt idx="16">
                  <c:v>-276</c:v>
                </c:pt>
                <c:pt idx="17">
                  <c:v>-299</c:v>
                </c:pt>
                <c:pt idx="18">
                  <c:v>-174</c:v>
                </c:pt>
                <c:pt idx="19">
                  <c:v>-125</c:v>
                </c:pt>
                <c:pt idx="20">
                  <c:v>289</c:v>
                </c:pt>
                <c:pt idx="21">
                  <c:v>395</c:v>
                </c:pt>
                <c:pt idx="22">
                  <c:v>-60</c:v>
                </c:pt>
                <c:pt idx="23">
                  <c:v>297</c:v>
                </c:pt>
                <c:pt idx="24">
                  <c:v>175</c:v>
                </c:pt>
                <c:pt idx="25">
                  <c:v>273</c:v>
                </c:pt>
                <c:pt idx="26">
                  <c:v>-229</c:v>
                </c:pt>
                <c:pt idx="27">
                  <c:v>547</c:v>
                </c:pt>
                <c:pt idx="28">
                  <c:v>109</c:v>
                </c:pt>
                <c:pt idx="29">
                  <c:v>32</c:v>
                </c:pt>
                <c:pt idx="30">
                  <c:v>82</c:v>
                </c:pt>
                <c:pt idx="31">
                  <c:v>-171</c:v>
                </c:pt>
                <c:pt idx="32">
                  <c:v>-70</c:v>
                </c:pt>
                <c:pt idx="33">
                  <c:v>-91</c:v>
                </c:pt>
                <c:pt idx="34">
                  <c:v>-153</c:v>
                </c:pt>
                <c:pt idx="35">
                  <c:v>-70</c:v>
                </c:pt>
                <c:pt idx="36">
                  <c:v>-86</c:v>
                </c:pt>
                <c:pt idx="37">
                  <c:v>987</c:v>
                </c:pt>
                <c:pt idx="38">
                  <c:v>-76</c:v>
                </c:pt>
                <c:pt idx="39">
                  <c:v>207</c:v>
                </c:pt>
                <c:pt idx="40">
                  <c:v>-409</c:v>
                </c:pt>
                <c:pt idx="41">
                  <c:v>128</c:v>
                </c:pt>
                <c:pt idx="42">
                  <c:v>-16</c:v>
                </c:pt>
                <c:pt idx="43">
                  <c:v>299</c:v>
                </c:pt>
                <c:pt idx="44">
                  <c:v>199</c:v>
                </c:pt>
                <c:pt idx="45">
                  <c:v>327</c:v>
                </c:pt>
                <c:pt idx="46">
                  <c:v>54</c:v>
                </c:pt>
                <c:pt idx="47">
                  <c:v>832</c:v>
                </c:pt>
                <c:pt idx="48">
                  <c:v>310</c:v>
                </c:pt>
                <c:pt idx="49">
                  <c:v>-148</c:v>
                </c:pt>
                <c:pt idx="50">
                  <c:v>468</c:v>
                </c:pt>
                <c:pt idx="51">
                  <c:v>-112</c:v>
                </c:pt>
                <c:pt idx="52">
                  <c:v>364</c:v>
                </c:pt>
                <c:pt idx="53">
                  <c:v>546</c:v>
                </c:pt>
                <c:pt idx="54">
                  <c:v>305</c:v>
                </c:pt>
                <c:pt idx="55">
                  <c:v>181</c:v>
                </c:pt>
                <c:pt idx="56">
                  <c:v>579</c:v>
                </c:pt>
                <c:pt idx="57">
                  <c:v>210</c:v>
                </c:pt>
                <c:pt idx="58">
                  <c:v>321</c:v>
                </c:pt>
                <c:pt idx="59">
                  <c:v>130</c:v>
                </c:pt>
                <c:pt idx="60">
                  <c:v>185</c:v>
                </c:pt>
                <c:pt idx="61">
                  <c:v>-287</c:v>
                </c:pt>
                <c:pt idx="62">
                  <c:v>309</c:v>
                </c:pt>
                <c:pt idx="63">
                  <c:v>-270</c:v>
                </c:pt>
                <c:pt idx="64">
                  <c:v>270</c:v>
                </c:pt>
                <c:pt idx="65">
                  <c:v>81</c:v>
                </c:pt>
                <c:pt idx="66">
                  <c:v>102</c:v>
                </c:pt>
                <c:pt idx="67">
                  <c:v>166</c:v>
                </c:pt>
                <c:pt idx="68">
                  <c:v>-199</c:v>
                </c:pt>
                <c:pt idx="69">
                  <c:v>-289</c:v>
                </c:pt>
                <c:pt idx="70">
                  <c:v>-81</c:v>
                </c:pt>
                <c:pt idx="71">
                  <c:v>-184</c:v>
                </c:pt>
                <c:pt idx="72">
                  <c:v>-286</c:v>
                </c:pt>
                <c:pt idx="73">
                  <c:v>-998</c:v>
                </c:pt>
                <c:pt idx="74">
                  <c:v>442</c:v>
                </c:pt>
                <c:pt idx="75">
                  <c:v>69</c:v>
                </c:pt>
                <c:pt idx="76">
                  <c:v>260</c:v>
                </c:pt>
                <c:pt idx="77">
                  <c:v>-81</c:v>
                </c:pt>
                <c:pt idx="78">
                  <c:v>106</c:v>
                </c:pt>
                <c:pt idx="79">
                  <c:v>-22</c:v>
                </c:pt>
                <c:pt idx="80">
                  <c:v>-209</c:v>
                </c:pt>
                <c:pt idx="81">
                  <c:v>-160</c:v>
                </c:pt>
                <c:pt idx="82">
                  <c:v>155</c:v>
                </c:pt>
                <c:pt idx="83">
                  <c:v>-355</c:v>
                </c:pt>
              </c:numCache>
            </c:numRef>
          </c:val>
          <c:smooth val="0"/>
          <c:extLst>
            <c:ext xmlns:c16="http://schemas.microsoft.com/office/drawing/2014/chart" uri="{C3380CC4-5D6E-409C-BE32-E72D297353CC}">
              <c16:uniqueId val="{00000000-866C-4F33-8D44-4AF0BA7AD9F7}"/>
            </c:ext>
          </c:extLst>
        </c:ser>
        <c:dLbls>
          <c:showLegendKey val="0"/>
          <c:showVal val="0"/>
          <c:showCatName val="0"/>
          <c:showSerName val="0"/>
          <c:showPercent val="0"/>
          <c:showBubbleSize val="0"/>
        </c:dLbls>
        <c:smooth val="0"/>
        <c:axId val="1158891040"/>
        <c:axId val="1158892288"/>
      </c:lineChart>
      <c:catAx>
        <c:axId val="1158891040"/>
        <c:scaling>
          <c:orientation val="minMax"/>
        </c:scaling>
        <c:delete val="0"/>
        <c:axPos val="b"/>
        <c:majorTickMark val="none"/>
        <c:minorTickMark val="none"/>
        <c:tickLblPos val="nextTo"/>
        <c:spPr>
          <a:noFill/>
          <a:ln w="9525" cap="flat" cmpd="sng" algn="ctr">
            <a:solidFill>
              <a:schemeClr val="accent4">
                <a:lumMod val="75000"/>
                <a:alpha val="97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2288"/>
        <c:crosses val="autoZero"/>
        <c:auto val="1"/>
        <c:lblAlgn val="ctr"/>
        <c:lblOffset val="100"/>
        <c:tickLblSkip val="6"/>
        <c:noMultiLvlLbl val="0"/>
      </c:catAx>
      <c:valAx>
        <c:axId val="1158892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10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144" name="Subtitle 2"/>
          <p:cNvSpPr>
            <a:spLocks noGrp="1"/>
          </p:cNvSpPr>
          <p:nvPr>
            <p:ph type="subTitle" idx="1" hasCustomPrompt="1"/>
          </p:nvPr>
        </p:nvSpPr>
        <p:spPr>
          <a:xfrm>
            <a:off x="1036847" y="3657124"/>
            <a:ext cx="7074291" cy="991077"/>
          </a:xfrm>
        </p:spPr>
        <p:txBody>
          <a:bodyPr>
            <a:normAutofit/>
          </a:bodyPr>
          <a:lstStyle>
            <a:lvl1pPr marL="0" indent="0" algn="ctr">
              <a:spcBef>
                <a:spcPts val="0"/>
              </a:spcBef>
              <a:buNone/>
              <a:defRPr sz="2400" cap="none" baseline="0">
                <a:solidFill>
                  <a:srgbClr val="002060"/>
                </a:solidFill>
                <a:latin typeface="AAchalk" pitchFamily="2"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143" name="Title 1"/>
          <p:cNvSpPr>
            <a:spLocks noGrp="1"/>
          </p:cNvSpPr>
          <p:nvPr>
            <p:ph type="ctrTitle"/>
          </p:nvPr>
        </p:nvSpPr>
        <p:spPr>
          <a:xfrm>
            <a:off x="1032863" y="1905004"/>
            <a:ext cx="7078274" cy="1625599"/>
          </a:xfrm>
        </p:spPr>
        <p:txBody>
          <a:bodyPr>
            <a:normAutofit/>
          </a:bodyPr>
          <a:lstStyle>
            <a:lvl1pPr algn="ctr">
              <a:lnSpc>
                <a:spcPct val="90000"/>
              </a:lnSpc>
              <a:defRPr sz="4800">
                <a:solidFill>
                  <a:srgbClr val="002060"/>
                </a:solidFill>
              </a:defRPr>
            </a:lvl1pPr>
          </a:lstStyle>
          <a:p>
            <a:r>
              <a:rPr lang="en-US"/>
              <a:t>Click to edit Master title style</a:t>
            </a:r>
            <a:endParaRPr dirty="0"/>
          </a:p>
        </p:txBody>
      </p:sp>
    </p:spTree>
    <p:extLst>
      <p:ext uri="{BB962C8B-B14F-4D97-AF65-F5344CB8AC3E}">
        <p14:creationId xmlns:p14="http://schemas.microsoft.com/office/powerpoint/2010/main" val="753205846"/>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buClrTx/>
              <a:defRPr/>
            </a:lvl1pPr>
            <a:lvl2pPr>
              <a:buClrTx/>
              <a:defRPr/>
            </a:lvl2pPr>
            <a:lvl3pPr>
              <a:buClrTx/>
              <a:defRPr/>
            </a:lvl3pPr>
            <a:lvl4pPr>
              <a:buClrTx/>
              <a:defRPr/>
            </a:lvl4pPr>
            <a:lvl5pPr>
              <a:buClrTx/>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7" name="Title 6"/>
          <p:cNvSpPr>
            <a:spLocks noGrp="1"/>
          </p:cNvSpPr>
          <p:nvPr>
            <p:ph type="title"/>
          </p:nvPr>
        </p:nvSpPr>
        <p:spPr/>
        <p:txBody>
          <a:bodyPr/>
          <a:lstStyle/>
          <a:p>
            <a:r>
              <a:rPr lang="en-US"/>
              <a:t>Click to edit Master title style</a:t>
            </a:r>
          </a:p>
        </p:txBody>
      </p:sp>
      <p:grpSp>
        <p:nvGrpSpPr>
          <p:cNvPr id="4" name="linea"/>
          <p:cNvGrpSpPr/>
          <p:nvPr/>
        </p:nvGrpSpPr>
        <p:grpSpPr bwMode="invGray">
          <a:xfrm>
            <a:off x="315162" y="840518"/>
            <a:ext cx="7929246" cy="64008"/>
            <a:chOff x="1522413" y="1514475"/>
            <a:chExt cx="10569575" cy="64008"/>
          </a:xfrm>
          <a:solidFill>
            <a:schemeClr val="accent2">
              <a:lumMod val="75000"/>
            </a:schemeClr>
          </a:solidFill>
        </p:grpSpPr>
        <p:sp>
          <p:nvSpPr>
            <p:cNvPr id="5" name="Figura a mano libera 10"/>
            <p:cNvSpPr>
              <a:spLocks/>
            </p:cNvSpPr>
            <p:nvPr/>
          </p:nvSpPr>
          <p:spPr bwMode="invGray">
            <a:xfrm>
              <a:off x="12028488" y="1525554"/>
              <a:ext cx="63500" cy="4924"/>
            </a:xfrm>
            <a:custGeom>
              <a:avLst/>
              <a:gdLst>
                <a:gd name="T0" fmla="*/ 30 w 67"/>
                <a:gd name="T1" fmla="*/ 6 h 6"/>
                <a:gd name="T2" fmla="*/ 30 w 67"/>
                <a:gd name="T3" fmla="*/ 6 h 6"/>
                <a:gd name="T4" fmla="*/ 67 w 67"/>
                <a:gd name="T5" fmla="*/ 3 h 6"/>
                <a:gd name="T6" fmla="*/ 39 w 67"/>
                <a:gd name="T7" fmla="*/ 0 h 6"/>
                <a:gd name="T8" fmla="*/ 30 w 67"/>
                <a:gd name="T9" fmla="*/ 6 h 6"/>
              </a:gdLst>
              <a:ahLst/>
              <a:cxnLst>
                <a:cxn ang="0">
                  <a:pos x="T0" y="T1"/>
                </a:cxn>
                <a:cxn ang="0">
                  <a:pos x="T2" y="T3"/>
                </a:cxn>
                <a:cxn ang="0">
                  <a:pos x="T4" y="T5"/>
                </a:cxn>
                <a:cxn ang="0">
                  <a:pos x="T6" y="T7"/>
                </a:cxn>
                <a:cxn ang="0">
                  <a:pos x="T8" y="T9"/>
                </a:cxn>
              </a:cxnLst>
              <a:rect l="0" t="0" r="r" b="b"/>
              <a:pathLst>
                <a:path w="67" h="6">
                  <a:moveTo>
                    <a:pt x="30" y="6"/>
                  </a:moveTo>
                  <a:lnTo>
                    <a:pt x="30" y="6"/>
                  </a:lnTo>
                  <a:lnTo>
                    <a:pt x="67" y="3"/>
                  </a:lnTo>
                  <a:cubicBezTo>
                    <a:pt x="60" y="2"/>
                    <a:pt x="26" y="1"/>
                    <a:pt x="39" y="0"/>
                  </a:cubicBezTo>
                  <a:cubicBezTo>
                    <a:pt x="0" y="1"/>
                    <a:pt x="8" y="3"/>
                    <a:pt x="30"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 name="Figura a mano libera 11"/>
            <p:cNvSpPr>
              <a:spLocks/>
            </p:cNvSpPr>
            <p:nvPr/>
          </p:nvSpPr>
          <p:spPr bwMode="invGray">
            <a:xfrm>
              <a:off x="12022138" y="1532939"/>
              <a:ext cx="19050" cy="1231"/>
            </a:xfrm>
            <a:custGeom>
              <a:avLst/>
              <a:gdLst>
                <a:gd name="T0" fmla="*/ 0 w 20"/>
                <a:gd name="T1" fmla="*/ 2 h 2"/>
                <a:gd name="T2" fmla="*/ 0 w 20"/>
                <a:gd name="T3" fmla="*/ 2 h 2"/>
                <a:gd name="T4" fmla="*/ 20 w 20"/>
                <a:gd name="T5" fmla="*/ 1 h 2"/>
                <a:gd name="T6" fmla="*/ 0 w 20"/>
                <a:gd name="T7" fmla="*/ 2 h 2"/>
              </a:gdLst>
              <a:ahLst/>
              <a:cxnLst>
                <a:cxn ang="0">
                  <a:pos x="T0" y="T1"/>
                </a:cxn>
                <a:cxn ang="0">
                  <a:pos x="T2" y="T3"/>
                </a:cxn>
                <a:cxn ang="0">
                  <a:pos x="T4" y="T5"/>
                </a:cxn>
                <a:cxn ang="0">
                  <a:pos x="T6" y="T7"/>
                </a:cxn>
              </a:cxnLst>
              <a:rect l="0" t="0" r="r" b="b"/>
              <a:pathLst>
                <a:path w="20" h="2">
                  <a:moveTo>
                    <a:pt x="0" y="2"/>
                  </a:moveTo>
                  <a:lnTo>
                    <a:pt x="0" y="2"/>
                  </a:lnTo>
                  <a:lnTo>
                    <a:pt x="20" y="1"/>
                  </a:lnTo>
                  <a:cubicBezTo>
                    <a:pt x="16" y="0"/>
                    <a:pt x="11" y="0"/>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 name="Figura a mano libera 12"/>
            <p:cNvSpPr>
              <a:spLocks/>
            </p:cNvSpPr>
            <p:nvPr/>
          </p:nvSpPr>
          <p:spPr bwMode="invGray">
            <a:xfrm>
              <a:off x="12041188" y="1531708"/>
              <a:ext cx="39687" cy="6155"/>
            </a:xfrm>
            <a:custGeom>
              <a:avLst/>
              <a:gdLst>
                <a:gd name="T0" fmla="*/ 41 w 41"/>
                <a:gd name="T1" fmla="*/ 0 h 6"/>
                <a:gd name="T2" fmla="*/ 41 w 41"/>
                <a:gd name="T3" fmla="*/ 0 h 6"/>
                <a:gd name="T4" fmla="*/ 0 w 41"/>
                <a:gd name="T5" fmla="*/ 2 h 6"/>
                <a:gd name="T6" fmla="*/ 19 w 41"/>
                <a:gd name="T7" fmla="*/ 1 h 6"/>
                <a:gd name="T8" fmla="*/ 41 w 41"/>
                <a:gd name="T9" fmla="*/ 0 h 6"/>
              </a:gdLst>
              <a:ahLst/>
              <a:cxnLst>
                <a:cxn ang="0">
                  <a:pos x="T0" y="T1"/>
                </a:cxn>
                <a:cxn ang="0">
                  <a:pos x="T2" y="T3"/>
                </a:cxn>
                <a:cxn ang="0">
                  <a:pos x="T4" y="T5"/>
                </a:cxn>
                <a:cxn ang="0">
                  <a:pos x="T6" y="T7"/>
                </a:cxn>
                <a:cxn ang="0">
                  <a:pos x="T8" y="T9"/>
                </a:cxn>
              </a:cxnLst>
              <a:rect l="0" t="0" r="r" b="b"/>
              <a:pathLst>
                <a:path w="41" h="6">
                  <a:moveTo>
                    <a:pt x="41" y="0"/>
                  </a:moveTo>
                  <a:lnTo>
                    <a:pt x="41" y="0"/>
                  </a:lnTo>
                  <a:lnTo>
                    <a:pt x="0" y="2"/>
                  </a:lnTo>
                  <a:cubicBezTo>
                    <a:pt x="5" y="3"/>
                    <a:pt x="6" y="6"/>
                    <a:pt x="19" y="1"/>
                  </a:cubicBezTo>
                  <a:cubicBezTo>
                    <a:pt x="15" y="3"/>
                    <a:pt x="23" y="1"/>
                    <a:pt x="4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9" name="Figura a mano libera 15"/>
            <p:cNvSpPr>
              <a:spLocks/>
            </p:cNvSpPr>
            <p:nvPr/>
          </p:nvSpPr>
          <p:spPr bwMode="invGray">
            <a:xfrm>
              <a:off x="11831638" y="1526784"/>
              <a:ext cx="42862" cy="4924"/>
            </a:xfrm>
            <a:custGeom>
              <a:avLst/>
              <a:gdLst>
                <a:gd name="T0" fmla="*/ 2 w 45"/>
                <a:gd name="T1" fmla="*/ 0 h 6"/>
                <a:gd name="T2" fmla="*/ 2 w 45"/>
                <a:gd name="T3" fmla="*/ 0 h 6"/>
                <a:gd name="T4" fmla="*/ 18 w 45"/>
                <a:gd name="T5" fmla="*/ 6 h 6"/>
                <a:gd name="T6" fmla="*/ 45 w 45"/>
                <a:gd name="T7" fmla="*/ 4 h 6"/>
                <a:gd name="T8" fmla="*/ 2 w 45"/>
                <a:gd name="T9" fmla="*/ 0 h 6"/>
              </a:gdLst>
              <a:ahLst/>
              <a:cxnLst>
                <a:cxn ang="0">
                  <a:pos x="T0" y="T1"/>
                </a:cxn>
                <a:cxn ang="0">
                  <a:pos x="T2" y="T3"/>
                </a:cxn>
                <a:cxn ang="0">
                  <a:pos x="T4" y="T5"/>
                </a:cxn>
                <a:cxn ang="0">
                  <a:pos x="T6" y="T7"/>
                </a:cxn>
                <a:cxn ang="0">
                  <a:pos x="T8" y="T9"/>
                </a:cxn>
              </a:cxnLst>
              <a:rect l="0" t="0" r="r" b="b"/>
              <a:pathLst>
                <a:path w="45" h="6">
                  <a:moveTo>
                    <a:pt x="2" y="0"/>
                  </a:moveTo>
                  <a:lnTo>
                    <a:pt x="2" y="0"/>
                  </a:lnTo>
                  <a:cubicBezTo>
                    <a:pt x="0" y="1"/>
                    <a:pt x="15" y="4"/>
                    <a:pt x="18" y="6"/>
                  </a:cubicBezTo>
                  <a:lnTo>
                    <a:pt x="45" y="4"/>
                  </a:lnTo>
                  <a:cubicBezTo>
                    <a:pt x="31" y="3"/>
                    <a:pt x="4" y="2"/>
                    <a:pt x="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0" name="Figura a mano libera 16"/>
            <p:cNvSpPr>
              <a:spLocks/>
            </p:cNvSpPr>
            <p:nvPr/>
          </p:nvSpPr>
          <p:spPr bwMode="invGray">
            <a:xfrm>
              <a:off x="11809413" y="1531708"/>
              <a:ext cx="41275" cy="2462"/>
            </a:xfrm>
            <a:custGeom>
              <a:avLst/>
              <a:gdLst>
                <a:gd name="T0" fmla="*/ 42 w 44"/>
                <a:gd name="T1" fmla="*/ 0 h 3"/>
                <a:gd name="T2" fmla="*/ 42 w 44"/>
                <a:gd name="T3" fmla="*/ 0 h 3"/>
                <a:gd name="T4" fmla="*/ 0 w 44"/>
                <a:gd name="T5" fmla="*/ 3 h 3"/>
                <a:gd name="T6" fmla="*/ 42 w 44"/>
                <a:gd name="T7" fmla="*/ 0 h 3"/>
              </a:gdLst>
              <a:ahLst/>
              <a:cxnLst>
                <a:cxn ang="0">
                  <a:pos x="T0" y="T1"/>
                </a:cxn>
                <a:cxn ang="0">
                  <a:pos x="T2" y="T3"/>
                </a:cxn>
                <a:cxn ang="0">
                  <a:pos x="T4" y="T5"/>
                </a:cxn>
                <a:cxn ang="0">
                  <a:pos x="T6" y="T7"/>
                </a:cxn>
              </a:cxnLst>
              <a:rect l="0" t="0" r="r" b="b"/>
              <a:pathLst>
                <a:path w="44" h="3">
                  <a:moveTo>
                    <a:pt x="42" y="0"/>
                  </a:moveTo>
                  <a:lnTo>
                    <a:pt x="42" y="0"/>
                  </a:lnTo>
                  <a:lnTo>
                    <a:pt x="0" y="3"/>
                  </a:lnTo>
                  <a:cubicBezTo>
                    <a:pt x="37" y="3"/>
                    <a:pt x="44" y="2"/>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1" name="Figura a mano libera 17"/>
            <p:cNvSpPr>
              <a:spLocks/>
            </p:cNvSpPr>
            <p:nvPr/>
          </p:nvSpPr>
          <p:spPr bwMode="invGray">
            <a:xfrm>
              <a:off x="12003088" y="1537863"/>
              <a:ext cx="77787" cy="3693"/>
            </a:xfrm>
            <a:custGeom>
              <a:avLst/>
              <a:gdLst>
                <a:gd name="T0" fmla="*/ 14 w 82"/>
                <a:gd name="T1" fmla="*/ 5 h 5"/>
                <a:gd name="T2" fmla="*/ 14 w 82"/>
                <a:gd name="T3" fmla="*/ 5 h 5"/>
                <a:gd name="T4" fmla="*/ 82 w 82"/>
                <a:gd name="T5" fmla="*/ 0 h 5"/>
                <a:gd name="T6" fmla="*/ 0 w 82"/>
                <a:gd name="T7" fmla="*/ 5 h 5"/>
                <a:gd name="T8" fmla="*/ 14 w 82"/>
                <a:gd name="T9" fmla="*/ 5 h 5"/>
              </a:gdLst>
              <a:ahLst/>
              <a:cxnLst>
                <a:cxn ang="0">
                  <a:pos x="T0" y="T1"/>
                </a:cxn>
                <a:cxn ang="0">
                  <a:pos x="T2" y="T3"/>
                </a:cxn>
                <a:cxn ang="0">
                  <a:pos x="T4" y="T5"/>
                </a:cxn>
                <a:cxn ang="0">
                  <a:pos x="T6" y="T7"/>
                </a:cxn>
                <a:cxn ang="0">
                  <a:pos x="T8" y="T9"/>
                </a:cxn>
              </a:cxnLst>
              <a:rect l="0" t="0" r="r" b="b"/>
              <a:pathLst>
                <a:path w="82" h="5">
                  <a:moveTo>
                    <a:pt x="14" y="5"/>
                  </a:moveTo>
                  <a:lnTo>
                    <a:pt x="14" y="5"/>
                  </a:lnTo>
                  <a:lnTo>
                    <a:pt x="82" y="0"/>
                  </a:lnTo>
                  <a:lnTo>
                    <a:pt x="0" y="5"/>
                  </a:lnTo>
                  <a:lnTo>
                    <a:pt x="14"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2" name="Figura a mano libera 18"/>
            <p:cNvSpPr>
              <a:spLocks/>
            </p:cNvSpPr>
            <p:nvPr/>
          </p:nvSpPr>
          <p:spPr bwMode="invGray">
            <a:xfrm>
              <a:off x="11664950" y="1523092"/>
              <a:ext cx="39687" cy="4924"/>
            </a:xfrm>
            <a:custGeom>
              <a:avLst/>
              <a:gdLst>
                <a:gd name="T0" fmla="*/ 19 w 42"/>
                <a:gd name="T1" fmla="*/ 4 h 5"/>
                <a:gd name="T2" fmla="*/ 19 w 42"/>
                <a:gd name="T3" fmla="*/ 4 h 5"/>
                <a:gd name="T4" fmla="*/ 42 w 42"/>
                <a:gd name="T5" fmla="*/ 0 h 5"/>
                <a:gd name="T6" fmla="*/ 0 w 42"/>
                <a:gd name="T7" fmla="*/ 5 h 5"/>
                <a:gd name="T8" fmla="*/ 19 w 42"/>
                <a:gd name="T9" fmla="*/ 4 h 5"/>
              </a:gdLst>
              <a:ahLst/>
              <a:cxnLst>
                <a:cxn ang="0">
                  <a:pos x="T0" y="T1"/>
                </a:cxn>
                <a:cxn ang="0">
                  <a:pos x="T2" y="T3"/>
                </a:cxn>
                <a:cxn ang="0">
                  <a:pos x="T4" y="T5"/>
                </a:cxn>
                <a:cxn ang="0">
                  <a:pos x="T6" y="T7"/>
                </a:cxn>
                <a:cxn ang="0">
                  <a:pos x="T8" y="T9"/>
                </a:cxn>
              </a:cxnLst>
              <a:rect l="0" t="0" r="r" b="b"/>
              <a:pathLst>
                <a:path w="42" h="5">
                  <a:moveTo>
                    <a:pt x="19" y="4"/>
                  </a:moveTo>
                  <a:lnTo>
                    <a:pt x="19" y="4"/>
                  </a:lnTo>
                  <a:lnTo>
                    <a:pt x="42" y="0"/>
                  </a:lnTo>
                  <a:lnTo>
                    <a:pt x="0" y="5"/>
                  </a:lnTo>
                  <a:lnTo>
                    <a:pt x="19"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3" name="Figura a mano libera 19"/>
            <p:cNvSpPr>
              <a:spLocks/>
            </p:cNvSpPr>
            <p:nvPr/>
          </p:nvSpPr>
          <p:spPr bwMode="invGray">
            <a:xfrm>
              <a:off x="11506200" y="1521861"/>
              <a:ext cx="92075" cy="4924"/>
            </a:xfrm>
            <a:custGeom>
              <a:avLst/>
              <a:gdLst>
                <a:gd name="T0" fmla="*/ 81 w 98"/>
                <a:gd name="T1" fmla="*/ 6 h 6"/>
                <a:gd name="T2" fmla="*/ 81 w 98"/>
                <a:gd name="T3" fmla="*/ 6 h 6"/>
                <a:gd name="T4" fmla="*/ 75 w 98"/>
                <a:gd name="T5" fmla="*/ 0 h 6"/>
                <a:gd name="T6" fmla="*/ 0 w 98"/>
                <a:gd name="T7" fmla="*/ 5 h 6"/>
                <a:gd name="T8" fmla="*/ 81 w 98"/>
                <a:gd name="T9" fmla="*/ 6 h 6"/>
              </a:gdLst>
              <a:ahLst/>
              <a:cxnLst>
                <a:cxn ang="0">
                  <a:pos x="T0" y="T1"/>
                </a:cxn>
                <a:cxn ang="0">
                  <a:pos x="T2" y="T3"/>
                </a:cxn>
                <a:cxn ang="0">
                  <a:pos x="T4" y="T5"/>
                </a:cxn>
                <a:cxn ang="0">
                  <a:pos x="T6" y="T7"/>
                </a:cxn>
                <a:cxn ang="0">
                  <a:pos x="T8" y="T9"/>
                </a:cxn>
              </a:cxnLst>
              <a:rect l="0" t="0" r="r" b="b"/>
              <a:pathLst>
                <a:path w="98" h="6">
                  <a:moveTo>
                    <a:pt x="81" y="6"/>
                  </a:moveTo>
                  <a:lnTo>
                    <a:pt x="81" y="6"/>
                  </a:lnTo>
                  <a:cubicBezTo>
                    <a:pt x="98" y="3"/>
                    <a:pt x="57" y="1"/>
                    <a:pt x="75" y="0"/>
                  </a:cubicBezTo>
                  <a:cubicBezTo>
                    <a:pt x="47" y="0"/>
                    <a:pt x="22" y="2"/>
                    <a:pt x="0" y="5"/>
                  </a:cubicBezTo>
                  <a:cubicBezTo>
                    <a:pt x="24" y="3"/>
                    <a:pt x="49" y="4"/>
                    <a:pt x="81"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4" name="Figura a mano libera 20"/>
            <p:cNvSpPr>
              <a:spLocks/>
            </p:cNvSpPr>
            <p:nvPr/>
          </p:nvSpPr>
          <p:spPr bwMode="invGray">
            <a:xfrm>
              <a:off x="11471275" y="1525554"/>
              <a:ext cx="34925" cy="3693"/>
            </a:xfrm>
            <a:custGeom>
              <a:avLst/>
              <a:gdLst>
                <a:gd name="T0" fmla="*/ 0 w 36"/>
                <a:gd name="T1" fmla="*/ 3 h 3"/>
                <a:gd name="T2" fmla="*/ 0 w 36"/>
                <a:gd name="T3" fmla="*/ 3 h 3"/>
                <a:gd name="T4" fmla="*/ 36 w 36"/>
                <a:gd name="T5" fmla="*/ 0 h 3"/>
                <a:gd name="T6" fmla="*/ 0 w 36"/>
                <a:gd name="T7" fmla="*/ 3 h 3"/>
              </a:gdLst>
              <a:ahLst/>
              <a:cxnLst>
                <a:cxn ang="0">
                  <a:pos x="T0" y="T1"/>
                </a:cxn>
                <a:cxn ang="0">
                  <a:pos x="T2" y="T3"/>
                </a:cxn>
                <a:cxn ang="0">
                  <a:pos x="T4" y="T5"/>
                </a:cxn>
                <a:cxn ang="0">
                  <a:pos x="T6" y="T7"/>
                </a:cxn>
              </a:cxnLst>
              <a:rect l="0" t="0" r="r" b="b"/>
              <a:pathLst>
                <a:path w="36" h="3">
                  <a:moveTo>
                    <a:pt x="0" y="3"/>
                  </a:moveTo>
                  <a:lnTo>
                    <a:pt x="0" y="3"/>
                  </a:lnTo>
                  <a:cubicBezTo>
                    <a:pt x="11" y="2"/>
                    <a:pt x="23" y="1"/>
                    <a:pt x="36" y="0"/>
                  </a:cubicBezTo>
                  <a:cubicBezTo>
                    <a:pt x="24" y="0"/>
                    <a:pt x="12"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5" name="Figura a mano libera 21"/>
            <p:cNvSpPr>
              <a:spLocks/>
            </p:cNvSpPr>
            <p:nvPr/>
          </p:nvSpPr>
          <p:spPr bwMode="invGray">
            <a:xfrm>
              <a:off x="11710988" y="1529246"/>
              <a:ext cx="30162" cy="4924"/>
            </a:xfrm>
            <a:custGeom>
              <a:avLst/>
              <a:gdLst>
                <a:gd name="T0" fmla="*/ 32 w 32"/>
                <a:gd name="T1" fmla="*/ 5 h 5"/>
                <a:gd name="T2" fmla="*/ 32 w 32"/>
                <a:gd name="T3" fmla="*/ 5 h 5"/>
                <a:gd name="T4" fmla="*/ 0 w 32"/>
                <a:gd name="T5" fmla="*/ 0 h 5"/>
                <a:gd name="T6" fmla="*/ 16 w 32"/>
                <a:gd name="T7" fmla="*/ 5 h 5"/>
                <a:gd name="T8" fmla="*/ 32 w 32"/>
                <a:gd name="T9" fmla="*/ 5 h 5"/>
              </a:gdLst>
              <a:ahLst/>
              <a:cxnLst>
                <a:cxn ang="0">
                  <a:pos x="T0" y="T1"/>
                </a:cxn>
                <a:cxn ang="0">
                  <a:pos x="T2" y="T3"/>
                </a:cxn>
                <a:cxn ang="0">
                  <a:pos x="T4" y="T5"/>
                </a:cxn>
                <a:cxn ang="0">
                  <a:pos x="T6" y="T7"/>
                </a:cxn>
                <a:cxn ang="0">
                  <a:pos x="T8" y="T9"/>
                </a:cxn>
              </a:cxnLst>
              <a:rect l="0" t="0" r="r" b="b"/>
              <a:pathLst>
                <a:path w="32" h="5">
                  <a:moveTo>
                    <a:pt x="32" y="5"/>
                  </a:moveTo>
                  <a:lnTo>
                    <a:pt x="32" y="5"/>
                  </a:lnTo>
                  <a:cubicBezTo>
                    <a:pt x="29" y="4"/>
                    <a:pt x="23" y="1"/>
                    <a:pt x="0" y="0"/>
                  </a:cubicBezTo>
                  <a:lnTo>
                    <a:pt x="16" y="5"/>
                  </a:lnTo>
                  <a:lnTo>
                    <a:pt x="32"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6" name="Figura a mano libera 22"/>
            <p:cNvSpPr>
              <a:spLocks/>
            </p:cNvSpPr>
            <p:nvPr/>
          </p:nvSpPr>
          <p:spPr bwMode="invGray">
            <a:xfrm>
              <a:off x="11691938" y="1532939"/>
              <a:ext cx="34925" cy="1231"/>
            </a:xfrm>
            <a:custGeom>
              <a:avLst/>
              <a:gdLst>
                <a:gd name="T0" fmla="*/ 36 w 36"/>
                <a:gd name="T1" fmla="*/ 1 h 1"/>
                <a:gd name="T2" fmla="*/ 36 w 36"/>
                <a:gd name="T3" fmla="*/ 1 h 1"/>
                <a:gd name="T4" fmla="*/ 35 w 36"/>
                <a:gd name="T5" fmla="*/ 1 h 1"/>
                <a:gd name="T6" fmla="*/ 0 w 36"/>
                <a:gd name="T7" fmla="*/ 0 h 1"/>
                <a:gd name="T8" fmla="*/ 36 w 36"/>
                <a:gd name="T9" fmla="*/ 1 h 1"/>
              </a:gdLst>
              <a:ahLst/>
              <a:cxnLst>
                <a:cxn ang="0">
                  <a:pos x="T0" y="T1"/>
                </a:cxn>
                <a:cxn ang="0">
                  <a:pos x="T2" y="T3"/>
                </a:cxn>
                <a:cxn ang="0">
                  <a:pos x="T4" y="T5"/>
                </a:cxn>
                <a:cxn ang="0">
                  <a:pos x="T6" y="T7"/>
                </a:cxn>
                <a:cxn ang="0">
                  <a:pos x="T8" y="T9"/>
                </a:cxn>
              </a:cxnLst>
              <a:rect l="0" t="0" r="r" b="b"/>
              <a:pathLst>
                <a:path w="36" h="1">
                  <a:moveTo>
                    <a:pt x="36" y="1"/>
                  </a:moveTo>
                  <a:lnTo>
                    <a:pt x="36" y="1"/>
                  </a:lnTo>
                  <a:lnTo>
                    <a:pt x="35" y="1"/>
                  </a:lnTo>
                  <a:lnTo>
                    <a:pt x="0" y="0"/>
                  </a:lnTo>
                  <a:lnTo>
                    <a:pt x="36"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7" name="Figura a mano libera 23"/>
            <p:cNvSpPr>
              <a:spLocks/>
            </p:cNvSpPr>
            <p:nvPr/>
          </p:nvSpPr>
          <p:spPr bwMode="invGray">
            <a:xfrm>
              <a:off x="11741150" y="1534170"/>
              <a:ext cx="4762" cy="0"/>
            </a:xfrm>
            <a:custGeom>
              <a:avLst/>
              <a:gdLst>
                <a:gd name="T0" fmla="*/ 5 w 5"/>
                <a:gd name="T1" fmla="*/ 5 w 5"/>
                <a:gd name="T2" fmla="*/ 0 w 5"/>
                <a:gd name="T3" fmla="*/ 5 w 5"/>
              </a:gdLst>
              <a:ahLst/>
              <a:cxnLst>
                <a:cxn ang="0">
                  <a:pos x="T0" y="0"/>
                </a:cxn>
                <a:cxn ang="0">
                  <a:pos x="T1" y="0"/>
                </a:cxn>
                <a:cxn ang="0">
                  <a:pos x="T2" y="0"/>
                </a:cxn>
                <a:cxn ang="0">
                  <a:pos x="T3" y="0"/>
                </a:cxn>
              </a:cxnLst>
              <a:rect l="0" t="0" r="r" b="b"/>
              <a:pathLst>
                <a:path w="5">
                  <a:moveTo>
                    <a:pt x="5" y="0"/>
                  </a:moveTo>
                  <a:lnTo>
                    <a:pt x="5" y="0"/>
                  </a:lnTo>
                  <a:lnTo>
                    <a:pt x="0" y="0"/>
                  </a:lnTo>
                  <a:cubicBezTo>
                    <a:pt x="2" y="0"/>
                    <a:pt x="3" y="0"/>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8" name="Figura a mano libera 24"/>
            <p:cNvSpPr>
              <a:spLocks/>
            </p:cNvSpPr>
            <p:nvPr/>
          </p:nvSpPr>
          <p:spPr bwMode="invGray">
            <a:xfrm>
              <a:off x="11841163" y="1537863"/>
              <a:ext cx="71437" cy="8617"/>
            </a:xfrm>
            <a:custGeom>
              <a:avLst/>
              <a:gdLst>
                <a:gd name="T0" fmla="*/ 75 w 75"/>
                <a:gd name="T1" fmla="*/ 0 h 9"/>
                <a:gd name="T2" fmla="*/ 75 w 75"/>
                <a:gd name="T3" fmla="*/ 0 h 9"/>
                <a:gd name="T4" fmla="*/ 49 w 75"/>
                <a:gd name="T5" fmla="*/ 9 h 9"/>
                <a:gd name="T6" fmla="*/ 75 w 75"/>
                <a:gd name="T7" fmla="*/ 0 h 9"/>
              </a:gdLst>
              <a:ahLst/>
              <a:cxnLst>
                <a:cxn ang="0">
                  <a:pos x="T0" y="T1"/>
                </a:cxn>
                <a:cxn ang="0">
                  <a:pos x="T2" y="T3"/>
                </a:cxn>
                <a:cxn ang="0">
                  <a:pos x="T4" y="T5"/>
                </a:cxn>
                <a:cxn ang="0">
                  <a:pos x="T6" y="T7"/>
                </a:cxn>
              </a:cxnLst>
              <a:rect l="0" t="0" r="r" b="b"/>
              <a:pathLst>
                <a:path w="75" h="9">
                  <a:moveTo>
                    <a:pt x="75" y="0"/>
                  </a:moveTo>
                  <a:lnTo>
                    <a:pt x="75" y="0"/>
                  </a:lnTo>
                  <a:cubicBezTo>
                    <a:pt x="51" y="3"/>
                    <a:pt x="0" y="5"/>
                    <a:pt x="49" y="9"/>
                  </a:cubicBezTo>
                  <a:cubicBezTo>
                    <a:pt x="66" y="6"/>
                    <a:pt x="38" y="4"/>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9" name="Figura a mano libera 25"/>
            <p:cNvSpPr>
              <a:spLocks/>
            </p:cNvSpPr>
            <p:nvPr/>
          </p:nvSpPr>
          <p:spPr bwMode="invGray">
            <a:xfrm>
              <a:off x="11764963" y="1535401"/>
              <a:ext cx="44450" cy="3693"/>
            </a:xfrm>
            <a:custGeom>
              <a:avLst/>
              <a:gdLst>
                <a:gd name="T0" fmla="*/ 0 w 47"/>
                <a:gd name="T1" fmla="*/ 3 h 4"/>
                <a:gd name="T2" fmla="*/ 0 w 47"/>
                <a:gd name="T3" fmla="*/ 3 h 4"/>
                <a:gd name="T4" fmla="*/ 44 w 47"/>
                <a:gd name="T5" fmla="*/ 4 h 4"/>
                <a:gd name="T6" fmla="*/ 47 w 47"/>
                <a:gd name="T7" fmla="*/ 0 h 4"/>
                <a:gd name="T8" fmla="*/ 0 w 47"/>
                <a:gd name="T9" fmla="*/ 3 h 4"/>
              </a:gdLst>
              <a:ahLst/>
              <a:cxnLst>
                <a:cxn ang="0">
                  <a:pos x="T0" y="T1"/>
                </a:cxn>
                <a:cxn ang="0">
                  <a:pos x="T2" y="T3"/>
                </a:cxn>
                <a:cxn ang="0">
                  <a:pos x="T4" y="T5"/>
                </a:cxn>
                <a:cxn ang="0">
                  <a:pos x="T6" y="T7"/>
                </a:cxn>
                <a:cxn ang="0">
                  <a:pos x="T8" y="T9"/>
                </a:cxn>
              </a:cxnLst>
              <a:rect l="0" t="0" r="r" b="b"/>
              <a:pathLst>
                <a:path w="47" h="4">
                  <a:moveTo>
                    <a:pt x="0" y="3"/>
                  </a:moveTo>
                  <a:lnTo>
                    <a:pt x="0" y="3"/>
                  </a:lnTo>
                  <a:lnTo>
                    <a:pt x="44" y="4"/>
                  </a:lnTo>
                  <a:cubicBezTo>
                    <a:pt x="43" y="3"/>
                    <a:pt x="35" y="1"/>
                    <a:pt x="47" y="0"/>
                  </a:cubicBez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0" name="Figura a mano libera 26"/>
            <p:cNvSpPr>
              <a:spLocks/>
            </p:cNvSpPr>
            <p:nvPr/>
          </p:nvSpPr>
          <p:spPr bwMode="invGray">
            <a:xfrm>
              <a:off x="11744325" y="1537863"/>
              <a:ext cx="20637" cy="2462"/>
            </a:xfrm>
            <a:custGeom>
              <a:avLst/>
              <a:gdLst>
                <a:gd name="T0" fmla="*/ 0 w 22"/>
                <a:gd name="T1" fmla="*/ 2 h 2"/>
                <a:gd name="T2" fmla="*/ 0 w 22"/>
                <a:gd name="T3" fmla="*/ 2 h 2"/>
                <a:gd name="T4" fmla="*/ 22 w 22"/>
                <a:gd name="T5" fmla="*/ 0 h 2"/>
                <a:gd name="T6" fmla="*/ 5 w 22"/>
                <a:gd name="T7" fmla="*/ 0 h 2"/>
                <a:gd name="T8" fmla="*/ 0 w 22"/>
                <a:gd name="T9" fmla="*/ 2 h 2"/>
              </a:gdLst>
              <a:ahLst/>
              <a:cxnLst>
                <a:cxn ang="0">
                  <a:pos x="T0" y="T1"/>
                </a:cxn>
                <a:cxn ang="0">
                  <a:pos x="T2" y="T3"/>
                </a:cxn>
                <a:cxn ang="0">
                  <a:pos x="T4" y="T5"/>
                </a:cxn>
                <a:cxn ang="0">
                  <a:pos x="T6" y="T7"/>
                </a:cxn>
                <a:cxn ang="0">
                  <a:pos x="T8" y="T9"/>
                </a:cxn>
              </a:cxnLst>
              <a:rect l="0" t="0" r="r" b="b"/>
              <a:pathLst>
                <a:path w="22" h="2">
                  <a:moveTo>
                    <a:pt x="0" y="2"/>
                  </a:moveTo>
                  <a:lnTo>
                    <a:pt x="0" y="2"/>
                  </a:lnTo>
                  <a:lnTo>
                    <a:pt x="22" y="0"/>
                  </a:lnTo>
                  <a:lnTo>
                    <a:pt x="5" y="0"/>
                  </a:lnTo>
                  <a:lnTo>
                    <a:pt x="0"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1" name="Figura a mano libera 27"/>
            <p:cNvSpPr>
              <a:spLocks/>
            </p:cNvSpPr>
            <p:nvPr/>
          </p:nvSpPr>
          <p:spPr bwMode="invGray">
            <a:xfrm>
              <a:off x="11482388" y="1531708"/>
              <a:ext cx="85725" cy="3693"/>
            </a:xfrm>
            <a:custGeom>
              <a:avLst/>
              <a:gdLst>
                <a:gd name="T0" fmla="*/ 63 w 90"/>
                <a:gd name="T1" fmla="*/ 0 h 4"/>
                <a:gd name="T2" fmla="*/ 63 w 90"/>
                <a:gd name="T3" fmla="*/ 0 h 4"/>
                <a:gd name="T4" fmla="*/ 0 w 90"/>
                <a:gd name="T5" fmla="*/ 2 h 4"/>
                <a:gd name="T6" fmla="*/ 76 w 90"/>
                <a:gd name="T7" fmla="*/ 4 h 4"/>
                <a:gd name="T8" fmla="*/ 63 w 90"/>
                <a:gd name="T9" fmla="*/ 0 h 4"/>
              </a:gdLst>
              <a:ahLst/>
              <a:cxnLst>
                <a:cxn ang="0">
                  <a:pos x="T0" y="T1"/>
                </a:cxn>
                <a:cxn ang="0">
                  <a:pos x="T2" y="T3"/>
                </a:cxn>
                <a:cxn ang="0">
                  <a:pos x="T4" y="T5"/>
                </a:cxn>
                <a:cxn ang="0">
                  <a:pos x="T6" y="T7"/>
                </a:cxn>
                <a:cxn ang="0">
                  <a:pos x="T8" y="T9"/>
                </a:cxn>
              </a:cxnLst>
              <a:rect l="0" t="0" r="r" b="b"/>
              <a:pathLst>
                <a:path w="90" h="4">
                  <a:moveTo>
                    <a:pt x="63" y="0"/>
                  </a:moveTo>
                  <a:lnTo>
                    <a:pt x="63" y="0"/>
                  </a:lnTo>
                  <a:cubicBezTo>
                    <a:pt x="44" y="2"/>
                    <a:pt x="23" y="2"/>
                    <a:pt x="0" y="2"/>
                  </a:cubicBezTo>
                  <a:cubicBezTo>
                    <a:pt x="25" y="3"/>
                    <a:pt x="51" y="4"/>
                    <a:pt x="76" y="4"/>
                  </a:cubicBezTo>
                  <a:cubicBezTo>
                    <a:pt x="79" y="2"/>
                    <a:pt x="90" y="0"/>
                    <a:pt x="6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2" name="Figura a mano libera 28"/>
            <p:cNvSpPr>
              <a:spLocks/>
            </p:cNvSpPr>
            <p:nvPr/>
          </p:nvSpPr>
          <p:spPr bwMode="invGray">
            <a:xfrm>
              <a:off x="11626850" y="1532939"/>
              <a:ext cx="4762" cy="1231"/>
            </a:xfrm>
            <a:custGeom>
              <a:avLst/>
              <a:gdLst>
                <a:gd name="T0" fmla="*/ 5 w 5"/>
                <a:gd name="T1" fmla="*/ 0 h 1"/>
                <a:gd name="T2" fmla="*/ 5 w 5"/>
                <a:gd name="T3" fmla="*/ 0 h 1"/>
                <a:gd name="T4" fmla="*/ 0 w 5"/>
                <a:gd name="T5" fmla="*/ 1 h 1"/>
                <a:gd name="T6" fmla="*/ 5 w 5"/>
                <a:gd name="T7" fmla="*/ 0 h 1"/>
              </a:gdLst>
              <a:ahLst/>
              <a:cxnLst>
                <a:cxn ang="0">
                  <a:pos x="T0" y="T1"/>
                </a:cxn>
                <a:cxn ang="0">
                  <a:pos x="T2" y="T3"/>
                </a:cxn>
                <a:cxn ang="0">
                  <a:pos x="T4" y="T5"/>
                </a:cxn>
                <a:cxn ang="0">
                  <a:pos x="T6" y="T7"/>
                </a:cxn>
              </a:cxnLst>
              <a:rect l="0" t="0" r="r" b="b"/>
              <a:pathLst>
                <a:path w="5" h="1">
                  <a:moveTo>
                    <a:pt x="5" y="0"/>
                  </a:moveTo>
                  <a:lnTo>
                    <a:pt x="5" y="0"/>
                  </a:lnTo>
                  <a:lnTo>
                    <a:pt x="0" y="1"/>
                  </a:lnTo>
                  <a:cubicBezTo>
                    <a:pt x="3" y="1"/>
                    <a:pt x="5" y="1"/>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3" name="Figura a mano libera 29"/>
            <p:cNvSpPr>
              <a:spLocks/>
            </p:cNvSpPr>
            <p:nvPr/>
          </p:nvSpPr>
          <p:spPr bwMode="invGray">
            <a:xfrm>
              <a:off x="11261725" y="1534170"/>
              <a:ext cx="4762" cy="0"/>
            </a:xfrm>
            <a:custGeom>
              <a:avLst/>
              <a:gdLst>
                <a:gd name="T0" fmla="*/ 0 w 5"/>
                <a:gd name="T1" fmla="*/ 0 h 1"/>
                <a:gd name="T2" fmla="*/ 0 w 5"/>
                <a:gd name="T3" fmla="*/ 0 h 1"/>
                <a:gd name="T4" fmla="*/ 4 w 5"/>
                <a:gd name="T5" fmla="*/ 1 h 1"/>
                <a:gd name="T6" fmla="*/ 5 w 5"/>
                <a:gd name="T7" fmla="*/ 0 h 1"/>
                <a:gd name="T8" fmla="*/ 0 w 5"/>
                <a:gd name="T9" fmla="*/ 0 h 1"/>
              </a:gdLst>
              <a:ahLst/>
              <a:cxnLst>
                <a:cxn ang="0">
                  <a:pos x="T0" y="T1"/>
                </a:cxn>
                <a:cxn ang="0">
                  <a:pos x="T2" y="T3"/>
                </a:cxn>
                <a:cxn ang="0">
                  <a:pos x="T4" y="T5"/>
                </a:cxn>
                <a:cxn ang="0">
                  <a:pos x="T6" y="T7"/>
                </a:cxn>
                <a:cxn ang="0">
                  <a:pos x="T8" y="T9"/>
                </a:cxn>
              </a:cxnLst>
              <a:rect l="0" t="0" r="r" b="b"/>
              <a:pathLst>
                <a:path w="5" h="1">
                  <a:moveTo>
                    <a:pt x="0" y="0"/>
                  </a:moveTo>
                  <a:lnTo>
                    <a:pt x="0" y="0"/>
                  </a:lnTo>
                  <a:lnTo>
                    <a:pt x="4" y="1"/>
                  </a:lnTo>
                  <a:cubicBezTo>
                    <a:pt x="4" y="1"/>
                    <a:pt x="4" y="0"/>
                    <a:pt x="5"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4" name="Figura a mano libera 30"/>
            <p:cNvSpPr>
              <a:spLocks/>
            </p:cNvSpPr>
            <p:nvPr/>
          </p:nvSpPr>
          <p:spPr bwMode="invGray">
            <a:xfrm>
              <a:off x="11553825" y="1534170"/>
              <a:ext cx="44450" cy="2462"/>
            </a:xfrm>
            <a:custGeom>
              <a:avLst/>
              <a:gdLst>
                <a:gd name="T0" fmla="*/ 6 w 47"/>
                <a:gd name="T1" fmla="*/ 2 h 2"/>
                <a:gd name="T2" fmla="*/ 6 w 47"/>
                <a:gd name="T3" fmla="*/ 2 h 2"/>
                <a:gd name="T4" fmla="*/ 47 w 47"/>
                <a:gd name="T5" fmla="*/ 0 h 2"/>
                <a:gd name="T6" fmla="*/ 2 w 47"/>
                <a:gd name="T7" fmla="*/ 1 h 2"/>
                <a:gd name="T8" fmla="*/ 6 w 47"/>
                <a:gd name="T9" fmla="*/ 2 h 2"/>
              </a:gdLst>
              <a:ahLst/>
              <a:cxnLst>
                <a:cxn ang="0">
                  <a:pos x="T0" y="T1"/>
                </a:cxn>
                <a:cxn ang="0">
                  <a:pos x="T2" y="T3"/>
                </a:cxn>
                <a:cxn ang="0">
                  <a:pos x="T4" y="T5"/>
                </a:cxn>
                <a:cxn ang="0">
                  <a:pos x="T6" y="T7"/>
                </a:cxn>
                <a:cxn ang="0">
                  <a:pos x="T8" y="T9"/>
                </a:cxn>
              </a:cxnLst>
              <a:rect l="0" t="0" r="r" b="b"/>
              <a:pathLst>
                <a:path w="47" h="2">
                  <a:moveTo>
                    <a:pt x="6" y="2"/>
                  </a:moveTo>
                  <a:lnTo>
                    <a:pt x="6" y="2"/>
                  </a:lnTo>
                  <a:cubicBezTo>
                    <a:pt x="25" y="2"/>
                    <a:pt x="36" y="1"/>
                    <a:pt x="47" y="0"/>
                  </a:cubicBezTo>
                  <a:cubicBezTo>
                    <a:pt x="33" y="0"/>
                    <a:pt x="18" y="1"/>
                    <a:pt x="2" y="1"/>
                  </a:cubicBezTo>
                  <a:cubicBezTo>
                    <a:pt x="0"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5" name="Figura a mano libera 31"/>
            <p:cNvSpPr>
              <a:spLocks/>
            </p:cNvSpPr>
            <p:nvPr/>
          </p:nvSpPr>
          <p:spPr bwMode="invGray">
            <a:xfrm>
              <a:off x="11409363" y="1529246"/>
              <a:ext cx="31750" cy="2462"/>
            </a:xfrm>
            <a:custGeom>
              <a:avLst/>
              <a:gdLst>
                <a:gd name="T0" fmla="*/ 0 w 33"/>
                <a:gd name="T1" fmla="*/ 1 h 3"/>
                <a:gd name="T2" fmla="*/ 0 w 33"/>
                <a:gd name="T3" fmla="*/ 1 h 3"/>
                <a:gd name="T4" fmla="*/ 33 w 33"/>
                <a:gd name="T5" fmla="*/ 3 h 3"/>
                <a:gd name="T6" fmla="*/ 0 w 33"/>
                <a:gd name="T7" fmla="*/ 1 h 3"/>
              </a:gdLst>
              <a:ahLst/>
              <a:cxnLst>
                <a:cxn ang="0">
                  <a:pos x="T0" y="T1"/>
                </a:cxn>
                <a:cxn ang="0">
                  <a:pos x="T2" y="T3"/>
                </a:cxn>
                <a:cxn ang="0">
                  <a:pos x="T4" y="T5"/>
                </a:cxn>
                <a:cxn ang="0">
                  <a:pos x="T6" y="T7"/>
                </a:cxn>
              </a:cxnLst>
              <a:rect l="0" t="0" r="r" b="b"/>
              <a:pathLst>
                <a:path w="33" h="3">
                  <a:moveTo>
                    <a:pt x="0" y="1"/>
                  </a:moveTo>
                  <a:lnTo>
                    <a:pt x="0" y="1"/>
                  </a:lnTo>
                  <a:cubicBezTo>
                    <a:pt x="10" y="2"/>
                    <a:pt x="21" y="3"/>
                    <a:pt x="33" y="3"/>
                  </a:cubicBezTo>
                  <a:cubicBezTo>
                    <a:pt x="23" y="2"/>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6" name="Figura a mano libera 32"/>
            <p:cNvSpPr>
              <a:spLocks/>
            </p:cNvSpPr>
            <p:nvPr/>
          </p:nvSpPr>
          <p:spPr bwMode="invGray">
            <a:xfrm>
              <a:off x="11618913" y="1531708"/>
              <a:ext cx="6350" cy="0"/>
            </a:xfrm>
            <a:custGeom>
              <a:avLst/>
              <a:gdLst>
                <a:gd name="T0" fmla="*/ 3 w 6"/>
                <a:gd name="T1" fmla="*/ 1 h 1"/>
                <a:gd name="T2" fmla="*/ 3 w 6"/>
                <a:gd name="T3" fmla="*/ 1 h 1"/>
                <a:gd name="T4" fmla="*/ 6 w 6"/>
                <a:gd name="T5" fmla="*/ 1 h 1"/>
                <a:gd name="T6" fmla="*/ 3 w 6"/>
                <a:gd name="T7" fmla="*/ 1 h 1"/>
              </a:gdLst>
              <a:ahLst/>
              <a:cxnLst>
                <a:cxn ang="0">
                  <a:pos x="T0" y="T1"/>
                </a:cxn>
                <a:cxn ang="0">
                  <a:pos x="T2" y="T3"/>
                </a:cxn>
                <a:cxn ang="0">
                  <a:pos x="T4" y="T5"/>
                </a:cxn>
                <a:cxn ang="0">
                  <a:pos x="T6" y="T7"/>
                </a:cxn>
              </a:cxnLst>
              <a:rect l="0" t="0" r="r" b="b"/>
              <a:pathLst>
                <a:path w="6" h="1">
                  <a:moveTo>
                    <a:pt x="3" y="1"/>
                  </a:moveTo>
                  <a:lnTo>
                    <a:pt x="3" y="1"/>
                  </a:lnTo>
                  <a:lnTo>
                    <a:pt x="6" y="1"/>
                  </a:lnTo>
                  <a:cubicBezTo>
                    <a:pt x="0" y="0"/>
                    <a:pt x="0" y="1"/>
                    <a:pt x="3"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7" name="Figura a mano libera 33"/>
            <p:cNvSpPr>
              <a:spLocks/>
            </p:cNvSpPr>
            <p:nvPr/>
          </p:nvSpPr>
          <p:spPr bwMode="invGray">
            <a:xfrm>
              <a:off x="11598275" y="1531708"/>
              <a:ext cx="28575" cy="2462"/>
            </a:xfrm>
            <a:custGeom>
              <a:avLst/>
              <a:gdLst>
                <a:gd name="T0" fmla="*/ 25 w 31"/>
                <a:gd name="T1" fmla="*/ 0 h 3"/>
                <a:gd name="T2" fmla="*/ 25 w 31"/>
                <a:gd name="T3" fmla="*/ 0 h 3"/>
                <a:gd name="T4" fmla="*/ 0 w 31"/>
                <a:gd name="T5" fmla="*/ 3 h 3"/>
                <a:gd name="T6" fmla="*/ 31 w 31"/>
                <a:gd name="T7" fmla="*/ 2 h 3"/>
                <a:gd name="T8" fmla="*/ 25 w 31"/>
                <a:gd name="T9" fmla="*/ 0 h 3"/>
              </a:gdLst>
              <a:ahLst/>
              <a:cxnLst>
                <a:cxn ang="0">
                  <a:pos x="T0" y="T1"/>
                </a:cxn>
                <a:cxn ang="0">
                  <a:pos x="T2" y="T3"/>
                </a:cxn>
                <a:cxn ang="0">
                  <a:pos x="T4" y="T5"/>
                </a:cxn>
                <a:cxn ang="0">
                  <a:pos x="T6" y="T7"/>
                </a:cxn>
                <a:cxn ang="0">
                  <a:pos x="T8" y="T9"/>
                </a:cxn>
              </a:cxnLst>
              <a:rect l="0" t="0" r="r" b="b"/>
              <a:pathLst>
                <a:path w="31" h="3">
                  <a:moveTo>
                    <a:pt x="25" y="0"/>
                  </a:moveTo>
                  <a:lnTo>
                    <a:pt x="25" y="0"/>
                  </a:lnTo>
                  <a:cubicBezTo>
                    <a:pt x="15" y="1"/>
                    <a:pt x="8" y="2"/>
                    <a:pt x="0" y="3"/>
                  </a:cubicBezTo>
                  <a:cubicBezTo>
                    <a:pt x="11" y="3"/>
                    <a:pt x="22" y="2"/>
                    <a:pt x="31" y="2"/>
                  </a:cubicBezTo>
                  <a:cubicBezTo>
                    <a:pt x="29" y="1"/>
                    <a:pt x="27" y="1"/>
                    <a:pt x="2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8" name="Figura a mano libera 34"/>
            <p:cNvSpPr>
              <a:spLocks/>
            </p:cNvSpPr>
            <p:nvPr/>
          </p:nvSpPr>
          <p:spPr bwMode="invGray">
            <a:xfrm>
              <a:off x="11137900" y="1534170"/>
              <a:ext cx="188912" cy="23388"/>
            </a:xfrm>
            <a:custGeom>
              <a:avLst/>
              <a:gdLst>
                <a:gd name="T0" fmla="*/ 60 w 198"/>
                <a:gd name="T1" fmla="*/ 27 h 27"/>
                <a:gd name="T2" fmla="*/ 60 w 198"/>
                <a:gd name="T3" fmla="*/ 27 h 27"/>
                <a:gd name="T4" fmla="*/ 156 w 198"/>
                <a:gd name="T5" fmla="*/ 24 h 27"/>
                <a:gd name="T6" fmla="*/ 134 w 198"/>
                <a:gd name="T7" fmla="*/ 0 h 27"/>
                <a:gd name="T8" fmla="*/ 89 w 198"/>
                <a:gd name="T9" fmla="*/ 6 h 27"/>
                <a:gd name="T10" fmla="*/ 149 w 198"/>
                <a:gd name="T11" fmla="*/ 14 h 27"/>
                <a:gd name="T12" fmla="*/ 74 w 198"/>
                <a:gd name="T13" fmla="*/ 11 h 27"/>
                <a:gd name="T14" fmla="*/ 13 w 198"/>
                <a:gd name="T15" fmla="*/ 25 h 27"/>
                <a:gd name="T16" fmla="*/ 63 w 198"/>
                <a:gd name="T17" fmla="*/ 23 h 27"/>
                <a:gd name="T18" fmla="*/ 60 w 198"/>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8" h="27">
                  <a:moveTo>
                    <a:pt x="60" y="27"/>
                  </a:moveTo>
                  <a:lnTo>
                    <a:pt x="60" y="27"/>
                  </a:lnTo>
                  <a:cubicBezTo>
                    <a:pt x="63" y="23"/>
                    <a:pt x="113" y="19"/>
                    <a:pt x="156" y="24"/>
                  </a:cubicBezTo>
                  <a:cubicBezTo>
                    <a:pt x="198" y="21"/>
                    <a:pt x="171" y="7"/>
                    <a:pt x="134" y="0"/>
                  </a:cubicBezTo>
                  <a:cubicBezTo>
                    <a:pt x="133" y="2"/>
                    <a:pt x="133" y="3"/>
                    <a:pt x="89" y="6"/>
                  </a:cubicBezTo>
                  <a:cubicBezTo>
                    <a:pt x="104" y="8"/>
                    <a:pt x="186" y="11"/>
                    <a:pt x="149" y="14"/>
                  </a:cubicBezTo>
                  <a:cubicBezTo>
                    <a:pt x="91" y="16"/>
                    <a:pt x="102" y="13"/>
                    <a:pt x="74" y="11"/>
                  </a:cubicBezTo>
                  <a:cubicBezTo>
                    <a:pt x="97" y="16"/>
                    <a:pt x="0" y="18"/>
                    <a:pt x="13" y="25"/>
                  </a:cubicBezTo>
                  <a:lnTo>
                    <a:pt x="63" y="23"/>
                  </a:lnTo>
                  <a:cubicBezTo>
                    <a:pt x="64" y="24"/>
                    <a:pt x="46" y="26"/>
                    <a:pt x="60" y="2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9" name="Figura a mano libera 35"/>
            <p:cNvSpPr>
              <a:spLocks/>
            </p:cNvSpPr>
            <p:nvPr/>
          </p:nvSpPr>
          <p:spPr bwMode="invGray">
            <a:xfrm>
              <a:off x="11266488" y="1529246"/>
              <a:ext cx="95250" cy="4924"/>
            </a:xfrm>
            <a:custGeom>
              <a:avLst/>
              <a:gdLst>
                <a:gd name="T0" fmla="*/ 82 w 100"/>
                <a:gd name="T1" fmla="*/ 6 h 6"/>
                <a:gd name="T2" fmla="*/ 82 w 100"/>
                <a:gd name="T3" fmla="*/ 6 h 6"/>
                <a:gd name="T4" fmla="*/ 100 w 100"/>
                <a:gd name="T5" fmla="*/ 6 h 6"/>
                <a:gd name="T6" fmla="*/ 38 w 100"/>
                <a:gd name="T7" fmla="*/ 0 h 6"/>
                <a:gd name="T8" fmla="*/ 0 w 100"/>
                <a:gd name="T9" fmla="*/ 5 h 6"/>
                <a:gd name="T10" fmla="*/ 88 w 100"/>
                <a:gd name="T11" fmla="*/ 6 h 6"/>
                <a:gd name="T12" fmla="*/ 82 w 100"/>
                <a:gd name="T13" fmla="*/ 6 h 6"/>
              </a:gdLst>
              <a:ahLst/>
              <a:cxnLst>
                <a:cxn ang="0">
                  <a:pos x="T0" y="T1"/>
                </a:cxn>
                <a:cxn ang="0">
                  <a:pos x="T2" y="T3"/>
                </a:cxn>
                <a:cxn ang="0">
                  <a:pos x="T4" y="T5"/>
                </a:cxn>
                <a:cxn ang="0">
                  <a:pos x="T6" y="T7"/>
                </a:cxn>
                <a:cxn ang="0">
                  <a:pos x="T8" y="T9"/>
                </a:cxn>
                <a:cxn ang="0">
                  <a:pos x="T10" y="T11"/>
                </a:cxn>
                <a:cxn ang="0">
                  <a:pos x="T12" y="T13"/>
                </a:cxn>
              </a:cxnLst>
              <a:rect l="0" t="0" r="r" b="b"/>
              <a:pathLst>
                <a:path w="100" h="6">
                  <a:moveTo>
                    <a:pt x="82" y="6"/>
                  </a:moveTo>
                  <a:lnTo>
                    <a:pt x="82" y="6"/>
                  </a:lnTo>
                  <a:lnTo>
                    <a:pt x="100" y="6"/>
                  </a:lnTo>
                  <a:cubicBezTo>
                    <a:pt x="79" y="5"/>
                    <a:pt x="65" y="4"/>
                    <a:pt x="38" y="0"/>
                  </a:cubicBezTo>
                  <a:cubicBezTo>
                    <a:pt x="8" y="2"/>
                    <a:pt x="2" y="4"/>
                    <a:pt x="0" y="5"/>
                  </a:cubicBezTo>
                  <a:lnTo>
                    <a:pt x="88" y="6"/>
                  </a:lnTo>
                  <a:lnTo>
                    <a:pt x="82"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0" name="Figura a mano libera 36"/>
            <p:cNvSpPr>
              <a:spLocks/>
            </p:cNvSpPr>
            <p:nvPr/>
          </p:nvSpPr>
          <p:spPr bwMode="invGray">
            <a:xfrm>
              <a:off x="11361738" y="1531708"/>
              <a:ext cx="134937" cy="12309"/>
            </a:xfrm>
            <a:custGeom>
              <a:avLst/>
              <a:gdLst>
                <a:gd name="T0" fmla="*/ 80 w 142"/>
                <a:gd name="T1" fmla="*/ 3 h 14"/>
                <a:gd name="T2" fmla="*/ 80 w 142"/>
                <a:gd name="T3" fmla="*/ 3 h 14"/>
                <a:gd name="T4" fmla="*/ 49 w 142"/>
                <a:gd name="T5" fmla="*/ 14 h 14"/>
                <a:gd name="T6" fmla="*/ 118 w 142"/>
                <a:gd name="T7" fmla="*/ 8 h 14"/>
                <a:gd name="T8" fmla="*/ 81 w 142"/>
                <a:gd name="T9" fmla="*/ 3 h 14"/>
                <a:gd name="T10" fmla="*/ 127 w 142"/>
                <a:gd name="T11" fmla="*/ 2 h 14"/>
                <a:gd name="T12" fmla="*/ 83 w 142"/>
                <a:gd name="T13" fmla="*/ 0 h 14"/>
                <a:gd name="T14" fmla="*/ 85 w 142"/>
                <a:gd name="T15" fmla="*/ 1 h 14"/>
                <a:gd name="T16" fmla="*/ 85 w 142"/>
                <a:gd name="T17" fmla="*/ 1 h 14"/>
                <a:gd name="T18" fmla="*/ 85 w 142"/>
                <a:gd name="T19" fmla="*/ 1 h 14"/>
                <a:gd name="T20" fmla="*/ 86 w 142"/>
                <a:gd name="T21" fmla="*/ 1 h 14"/>
                <a:gd name="T22" fmla="*/ 84 w 142"/>
                <a:gd name="T23" fmla="*/ 1 h 14"/>
                <a:gd name="T24" fmla="*/ 80 w 142"/>
                <a:gd name="T25" fmla="*/ 3 h 14"/>
                <a:gd name="T26" fmla="*/ 84 w 142"/>
                <a:gd name="T27" fmla="*/ 1 h 14"/>
                <a:gd name="T28" fmla="*/ 85 w 142"/>
                <a:gd name="T29" fmla="*/ 1 h 14"/>
                <a:gd name="T30" fmla="*/ 85 w 142"/>
                <a:gd name="T31" fmla="*/ 1 h 14"/>
                <a:gd name="T32" fmla="*/ 0 w 142"/>
                <a:gd name="T33" fmla="*/ 3 h 14"/>
                <a:gd name="T34" fmla="*/ 80 w 142"/>
                <a:gd name="T35" fmla="*/ 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2" h="14">
                  <a:moveTo>
                    <a:pt x="80" y="3"/>
                  </a:moveTo>
                  <a:lnTo>
                    <a:pt x="80" y="3"/>
                  </a:lnTo>
                  <a:cubicBezTo>
                    <a:pt x="66" y="7"/>
                    <a:pt x="23" y="9"/>
                    <a:pt x="49" y="14"/>
                  </a:cubicBezTo>
                  <a:cubicBezTo>
                    <a:pt x="102" y="14"/>
                    <a:pt x="86" y="10"/>
                    <a:pt x="118" y="8"/>
                  </a:cubicBezTo>
                  <a:cubicBezTo>
                    <a:pt x="33" y="9"/>
                    <a:pt x="142" y="6"/>
                    <a:pt x="81" y="3"/>
                  </a:cubicBezTo>
                  <a:cubicBezTo>
                    <a:pt x="97" y="3"/>
                    <a:pt x="112" y="2"/>
                    <a:pt x="127" y="2"/>
                  </a:cubicBezTo>
                  <a:cubicBezTo>
                    <a:pt x="111" y="2"/>
                    <a:pt x="97" y="1"/>
                    <a:pt x="83" y="0"/>
                  </a:cubicBezTo>
                  <a:lnTo>
                    <a:pt x="85" y="1"/>
                  </a:lnTo>
                  <a:lnTo>
                    <a:pt x="85" y="1"/>
                  </a:lnTo>
                  <a:cubicBezTo>
                    <a:pt x="85" y="1"/>
                    <a:pt x="85" y="1"/>
                    <a:pt x="85" y="1"/>
                  </a:cubicBezTo>
                  <a:cubicBezTo>
                    <a:pt x="89" y="1"/>
                    <a:pt x="90" y="1"/>
                    <a:pt x="86" y="1"/>
                  </a:cubicBezTo>
                  <a:lnTo>
                    <a:pt x="84" y="1"/>
                  </a:lnTo>
                  <a:cubicBezTo>
                    <a:pt x="83" y="2"/>
                    <a:pt x="82" y="2"/>
                    <a:pt x="80" y="3"/>
                  </a:cubicBezTo>
                  <a:cubicBezTo>
                    <a:pt x="56" y="2"/>
                    <a:pt x="76" y="2"/>
                    <a:pt x="84" y="1"/>
                  </a:cubicBezTo>
                  <a:cubicBezTo>
                    <a:pt x="84" y="1"/>
                    <a:pt x="85" y="1"/>
                    <a:pt x="85" y="1"/>
                  </a:cubicBezTo>
                  <a:lnTo>
                    <a:pt x="85" y="1"/>
                  </a:lnTo>
                  <a:lnTo>
                    <a:pt x="0" y="3"/>
                  </a:lnTo>
                  <a:cubicBezTo>
                    <a:pt x="18" y="3"/>
                    <a:pt x="40" y="3"/>
                    <a:pt x="8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1" name="Figura a mano libera 37"/>
            <p:cNvSpPr>
              <a:spLocks/>
            </p:cNvSpPr>
            <p:nvPr/>
          </p:nvSpPr>
          <p:spPr bwMode="invGray">
            <a:xfrm>
              <a:off x="11834813" y="1552634"/>
              <a:ext cx="9525" cy="1231"/>
            </a:xfrm>
            <a:custGeom>
              <a:avLst/>
              <a:gdLst>
                <a:gd name="T0" fmla="*/ 11 w 11"/>
                <a:gd name="T1" fmla="*/ 1 h 1"/>
                <a:gd name="T2" fmla="*/ 11 w 11"/>
                <a:gd name="T3" fmla="*/ 1 h 1"/>
                <a:gd name="T4" fmla="*/ 8 w 11"/>
                <a:gd name="T5" fmla="*/ 0 h 1"/>
                <a:gd name="T6" fmla="*/ 11 w 11"/>
                <a:gd name="T7" fmla="*/ 1 h 1"/>
              </a:gdLst>
              <a:ahLst/>
              <a:cxnLst>
                <a:cxn ang="0">
                  <a:pos x="T0" y="T1"/>
                </a:cxn>
                <a:cxn ang="0">
                  <a:pos x="T2" y="T3"/>
                </a:cxn>
                <a:cxn ang="0">
                  <a:pos x="T4" y="T5"/>
                </a:cxn>
                <a:cxn ang="0">
                  <a:pos x="T6" y="T7"/>
                </a:cxn>
              </a:cxnLst>
              <a:rect l="0" t="0" r="r" b="b"/>
              <a:pathLst>
                <a:path w="11" h="1">
                  <a:moveTo>
                    <a:pt x="11" y="1"/>
                  </a:moveTo>
                  <a:lnTo>
                    <a:pt x="11" y="1"/>
                  </a:lnTo>
                  <a:cubicBezTo>
                    <a:pt x="8" y="1"/>
                    <a:pt x="8" y="1"/>
                    <a:pt x="8" y="0"/>
                  </a:cubicBezTo>
                  <a:cubicBezTo>
                    <a:pt x="2" y="1"/>
                    <a:pt x="0" y="1"/>
                    <a:pt x="11"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2" name="Figura a mano libera 38"/>
            <p:cNvSpPr>
              <a:spLocks/>
            </p:cNvSpPr>
            <p:nvPr/>
          </p:nvSpPr>
          <p:spPr bwMode="invGray">
            <a:xfrm>
              <a:off x="11764963" y="1542787"/>
              <a:ext cx="117475" cy="9847"/>
            </a:xfrm>
            <a:custGeom>
              <a:avLst/>
              <a:gdLst>
                <a:gd name="T0" fmla="*/ 48 w 122"/>
                <a:gd name="T1" fmla="*/ 11 h 12"/>
                <a:gd name="T2" fmla="*/ 48 w 122"/>
                <a:gd name="T3" fmla="*/ 11 h 12"/>
                <a:gd name="T4" fmla="*/ 79 w 122"/>
                <a:gd name="T5" fmla="*/ 9 h 12"/>
                <a:gd name="T6" fmla="*/ 80 w 122"/>
                <a:gd name="T7" fmla="*/ 12 h 12"/>
                <a:gd name="T8" fmla="*/ 84 w 122"/>
                <a:gd name="T9" fmla="*/ 7 h 12"/>
                <a:gd name="T10" fmla="*/ 78 w 122"/>
                <a:gd name="T11" fmla="*/ 8 h 12"/>
                <a:gd name="T12" fmla="*/ 6 w 122"/>
                <a:gd name="T13" fmla="*/ 0 h 12"/>
                <a:gd name="T14" fmla="*/ 48 w 122"/>
                <a:gd name="T15" fmla="*/ 11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12">
                  <a:moveTo>
                    <a:pt x="48" y="11"/>
                  </a:moveTo>
                  <a:lnTo>
                    <a:pt x="48" y="11"/>
                  </a:lnTo>
                  <a:cubicBezTo>
                    <a:pt x="54" y="10"/>
                    <a:pt x="59" y="8"/>
                    <a:pt x="79" y="9"/>
                  </a:cubicBezTo>
                  <a:cubicBezTo>
                    <a:pt x="96" y="10"/>
                    <a:pt x="79" y="11"/>
                    <a:pt x="80" y="12"/>
                  </a:cubicBezTo>
                  <a:cubicBezTo>
                    <a:pt x="92" y="11"/>
                    <a:pt x="122" y="9"/>
                    <a:pt x="84" y="7"/>
                  </a:cubicBezTo>
                  <a:lnTo>
                    <a:pt x="78" y="8"/>
                  </a:lnTo>
                  <a:cubicBezTo>
                    <a:pt x="44" y="6"/>
                    <a:pt x="0" y="1"/>
                    <a:pt x="6" y="0"/>
                  </a:cubicBezTo>
                  <a:cubicBezTo>
                    <a:pt x="16" y="4"/>
                    <a:pt x="25" y="7"/>
                    <a:pt x="48" y="1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3" name="Figura a mano libera 39"/>
            <p:cNvSpPr>
              <a:spLocks/>
            </p:cNvSpPr>
            <p:nvPr/>
          </p:nvSpPr>
          <p:spPr bwMode="invGray">
            <a:xfrm>
              <a:off x="11555413" y="1544017"/>
              <a:ext cx="69850" cy="4924"/>
            </a:xfrm>
            <a:custGeom>
              <a:avLst/>
              <a:gdLst>
                <a:gd name="T0" fmla="*/ 70 w 74"/>
                <a:gd name="T1" fmla="*/ 0 h 6"/>
                <a:gd name="T2" fmla="*/ 70 w 74"/>
                <a:gd name="T3" fmla="*/ 0 h 6"/>
                <a:gd name="T4" fmla="*/ 0 w 74"/>
                <a:gd name="T5" fmla="*/ 2 h 6"/>
                <a:gd name="T6" fmla="*/ 36 w 74"/>
                <a:gd name="T7" fmla="*/ 6 h 6"/>
                <a:gd name="T8" fmla="*/ 34 w 74"/>
                <a:gd name="T9" fmla="*/ 4 h 6"/>
                <a:gd name="T10" fmla="*/ 70 w 74"/>
                <a:gd name="T11" fmla="*/ 0 h 6"/>
              </a:gdLst>
              <a:ahLst/>
              <a:cxnLst>
                <a:cxn ang="0">
                  <a:pos x="T0" y="T1"/>
                </a:cxn>
                <a:cxn ang="0">
                  <a:pos x="T2" y="T3"/>
                </a:cxn>
                <a:cxn ang="0">
                  <a:pos x="T4" y="T5"/>
                </a:cxn>
                <a:cxn ang="0">
                  <a:pos x="T6" y="T7"/>
                </a:cxn>
                <a:cxn ang="0">
                  <a:pos x="T8" y="T9"/>
                </a:cxn>
                <a:cxn ang="0">
                  <a:pos x="T10" y="T11"/>
                </a:cxn>
              </a:cxnLst>
              <a:rect l="0" t="0" r="r" b="b"/>
              <a:pathLst>
                <a:path w="74" h="6">
                  <a:moveTo>
                    <a:pt x="70" y="0"/>
                  </a:moveTo>
                  <a:lnTo>
                    <a:pt x="70" y="0"/>
                  </a:lnTo>
                  <a:lnTo>
                    <a:pt x="0" y="2"/>
                  </a:lnTo>
                  <a:lnTo>
                    <a:pt x="36" y="6"/>
                  </a:lnTo>
                  <a:lnTo>
                    <a:pt x="34" y="4"/>
                  </a:lnTo>
                  <a:cubicBezTo>
                    <a:pt x="74" y="4"/>
                    <a:pt x="65" y="2"/>
                    <a:pt x="70"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4" name="Figura a mano libera 40"/>
            <p:cNvSpPr>
              <a:spLocks/>
            </p:cNvSpPr>
            <p:nvPr/>
          </p:nvSpPr>
          <p:spPr bwMode="invGray">
            <a:xfrm>
              <a:off x="11223625" y="1528016"/>
              <a:ext cx="38100" cy="6155"/>
            </a:xfrm>
            <a:custGeom>
              <a:avLst/>
              <a:gdLst>
                <a:gd name="T0" fmla="*/ 31 w 40"/>
                <a:gd name="T1" fmla="*/ 5 h 7"/>
                <a:gd name="T2" fmla="*/ 31 w 40"/>
                <a:gd name="T3" fmla="*/ 5 h 7"/>
                <a:gd name="T4" fmla="*/ 40 w 40"/>
                <a:gd name="T5" fmla="*/ 0 h 7"/>
                <a:gd name="T6" fmla="*/ 0 w 40"/>
                <a:gd name="T7" fmla="*/ 7 h 7"/>
                <a:gd name="T8" fmla="*/ 31 w 40"/>
                <a:gd name="T9" fmla="*/ 5 h 7"/>
              </a:gdLst>
              <a:ahLst/>
              <a:cxnLst>
                <a:cxn ang="0">
                  <a:pos x="T0" y="T1"/>
                </a:cxn>
                <a:cxn ang="0">
                  <a:pos x="T2" y="T3"/>
                </a:cxn>
                <a:cxn ang="0">
                  <a:pos x="T4" y="T5"/>
                </a:cxn>
                <a:cxn ang="0">
                  <a:pos x="T6" y="T7"/>
                </a:cxn>
                <a:cxn ang="0">
                  <a:pos x="T8" y="T9"/>
                </a:cxn>
              </a:cxnLst>
              <a:rect l="0" t="0" r="r" b="b"/>
              <a:pathLst>
                <a:path w="40" h="7">
                  <a:moveTo>
                    <a:pt x="31" y="5"/>
                  </a:moveTo>
                  <a:lnTo>
                    <a:pt x="31" y="5"/>
                  </a:lnTo>
                  <a:lnTo>
                    <a:pt x="40" y="0"/>
                  </a:lnTo>
                  <a:lnTo>
                    <a:pt x="0" y="7"/>
                  </a:lnTo>
                  <a:lnTo>
                    <a:pt x="31"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5" name="Figura a mano libera 41"/>
            <p:cNvSpPr>
              <a:spLocks/>
            </p:cNvSpPr>
            <p:nvPr/>
          </p:nvSpPr>
          <p:spPr bwMode="invGray">
            <a:xfrm>
              <a:off x="11145838" y="1529246"/>
              <a:ext cx="22225" cy="2462"/>
            </a:xfrm>
            <a:custGeom>
              <a:avLst/>
              <a:gdLst>
                <a:gd name="T0" fmla="*/ 21 w 24"/>
                <a:gd name="T1" fmla="*/ 4 h 4"/>
                <a:gd name="T2" fmla="*/ 21 w 24"/>
                <a:gd name="T3" fmla="*/ 4 h 4"/>
                <a:gd name="T4" fmla="*/ 24 w 24"/>
                <a:gd name="T5" fmla="*/ 0 h 4"/>
                <a:gd name="T6" fmla="*/ 0 w 24"/>
                <a:gd name="T7" fmla="*/ 3 h 4"/>
                <a:gd name="T8" fmla="*/ 21 w 24"/>
                <a:gd name="T9" fmla="*/ 4 h 4"/>
              </a:gdLst>
              <a:ahLst/>
              <a:cxnLst>
                <a:cxn ang="0">
                  <a:pos x="T0" y="T1"/>
                </a:cxn>
                <a:cxn ang="0">
                  <a:pos x="T2" y="T3"/>
                </a:cxn>
                <a:cxn ang="0">
                  <a:pos x="T4" y="T5"/>
                </a:cxn>
                <a:cxn ang="0">
                  <a:pos x="T6" y="T7"/>
                </a:cxn>
                <a:cxn ang="0">
                  <a:pos x="T8" y="T9"/>
                </a:cxn>
              </a:cxnLst>
              <a:rect l="0" t="0" r="r" b="b"/>
              <a:pathLst>
                <a:path w="24" h="4">
                  <a:moveTo>
                    <a:pt x="21" y="4"/>
                  </a:moveTo>
                  <a:lnTo>
                    <a:pt x="21" y="4"/>
                  </a:lnTo>
                  <a:lnTo>
                    <a:pt x="24" y="0"/>
                  </a:lnTo>
                  <a:lnTo>
                    <a:pt x="0" y="3"/>
                  </a:lnTo>
                  <a:lnTo>
                    <a:pt x="2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6" name="Figura a mano libera 42"/>
            <p:cNvSpPr>
              <a:spLocks/>
            </p:cNvSpPr>
            <p:nvPr/>
          </p:nvSpPr>
          <p:spPr bwMode="invGray">
            <a:xfrm>
              <a:off x="6197600" y="1566174"/>
              <a:ext cx="20637" cy="1231"/>
            </a:xfrm>
            <a:custGeom>
              <a:avLst/>
              <a:gdLst>
                <a:gd name="T0" fmla="*/ 21 w 21"/>
                <a:gd name="T1" fmla="*/ 0 h 1"/>
                <a:gd name="T2" fmla="*/ 21 w 21"/>
                <a:gd name="T3" fmla="*/ 0 h 1"/>
                <a:gd name="T4" fmla="*/ 0 w 21"/>
                <a:gd name="T5" fmla="*/ 1 h 1"/>
                <a:gd name="T6" fmla="*/ 21 w 21"/>
                <a:gd name="T7" fmla="*/ 0 h 1"/>
              </a:gdLst>
              <a:ahLst/>
              <a:cxnLst>
                <a:cxn ang="0">
                  <a:pos x="T0" y="T1"/>
                </a:cxn>
                <a:cxn ang="0">
                  <a:pos x="T2" y="T3"/>
                </a:cxn>
                <a:cxn ang="0">
                  <a:pos x="T4" y="T5"/>
                </a:cxn>
                <a:cxn ang="0">
                  <a:pos x="T6" y="T7"/>
                </a:cxn>
              </a:cxnLst>
              <a:rect l="0" t="0" r="r" b="b"/>
              <a:pathLst>
                <a:path w="21" h="1">
                  <a:moveTo>
                    <a:pt x="21" y="0"/>
                  </a:moveTo>
                  <a:lnTo>
                    <a:pt x="21" y="0"/>
                  </a:lnTo>
                  <a:lnTo>
                    <a:pt x="0" y="1"/>
                  </a:lnTo>
                  <a:cubicBezTo>
                    <a:pt x="10" y="0"/>
                    <a:pt x="16" y="0"/>
                    <a:pt x="2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7" name="Figura a mano libera 43"/>
            <p:cNvSpPr>
              <a:spLocks/>
            </p:cNvSpPr>
            <p:nvPr/>
          </p:nvSpPr>
          <p:spPr bwMode="invGray">
            <a:xfrm>
              <a:off x="6356350" y="1564943"/>
              <a:ext cx="9525" cy="1231"/>
            </a:xfrm>
            <a:custGeom>
              <a:avLst/>
              <a:gdLst>
                <a:gd name="T0" fmla="*/ 6 w 10"/>
                <a:gd name="T1" fmla="*/ 2 h 2"/>
                <a:gd name="T2" fmla="*/ 6 w 10"/>
                <a:gd name="T3" fmla="*/ 2 h 2"/>
                <a:gd name="T4" fmla="*/ 10 w 10"/>
                <a:gd name="T5" fmla="*/ 0 h 2"/>
                <a:gd name="T6" fmla="*/ 6 w 10"/>
                <a:gd name="T7" fmla="*/ 2 h 2"/>
              </a:gdLst>
              <a:ahLst/>
              <a:cxnLst>
                <a:cxn ang="0">
                  <a:pos x="T0" y="T1"/>
                </a:cxn>
                <a:cxn ang="0">
                  <a:pos x="T2" y="T3"/>
                </a:cxn>
                <a:cxn ang="0">
                  <a:pos x="T4" y="T5"/>
                </a:cxn>
                <a:cxn ang="0">
                  <a:pos x="T6" y="T7"/>
                </a:cxn>
              </a:cxnLst>
              <a:rect l="0" t="0" r="r" b="b"/>
              <a:pathLst>
                <a:path w="10" h="2">
                  <a:moveTo>
                    <a:pt x="6" y="2"/>
                  </a:moveTo>
                  <a:lnTo>
                    <a:pt x="6" y="2"/>
                  </a:lnTo>
                  <a:lnTo>
                    <a:pt x="10" y="0"/>
                  </a:lnTo>
                  <a:cubicBezTo>
                    <a:pt x="3"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8" name="Figura a mano libera 44"/>
            <p:cNvSpPr>
              <a:spLocks/>
            </p:cNvSpPr>
            <p:nvPr/>
          </p:nvSpPr>
          <p:spPr bwMode="invGray">
            <a:xfrm>
              <a:off x="8950325" y="1521861"/>
              <a:ext cx="61912" cy="7386"/>
            </a:xfrm>
            <a:custGeom>
              <a:avLst/>
              <a:gdLst>
                <a:gd name="T0" fmla="*/ 65 w 65"/>
                <a:gd name="T1" fmla="*/ 9 h 9"/>
                <a:gd name="T2" fmla="*/ 65 w 65"/>
                <a:gd name="T3" fmla="*/ 9 h 9"/>
                <a:gd name="T4" fmla="*/ 4 w 65"/>
                <a:gd name="T5" fmla="*/ 4 h 9"/>
                <a:gd name="T6" fmla="*/ 13 w 65"/>
                <a:gd name="T7" fmla="*/ 8 h 9"/>
                <a:gd name="T8" fmla="*/ 65 w 65"/>
                <a:gd name="T9" fmla="*/ 9 h 9"/>
              </a:gdLst>
              <a:ahLst/>
              <a:cxnLst>
                <a:cxn ang="0">
                  <a:pos x="T0" y="T1"/>
                </a:cxn>
                <a:cxn ang="0">
                  <a:pos x="T2" y="T3"/>
                </a:cxn>
                <a:cxn ang="0">
                  <a:pos x="T4" y="T5"/>
                </a:cxn>
                <a:cxn ang="0">
                  <a:pos x="T6" y="T7"/>
                </a:cxn>
                <a:cxn ang="0">
                  <a:pos x="T8" y="T9"/>
                </a:cxn>
              </a:cxnLst>
              <a:rect l="0" t="0" r="r" b="b"/>
              <a:pathLst>
                <a:path w="65" h="9">
                  <a:moveTo>
                    <a:pt x="65" y="9"/>
                  </a:moveTo>
                  <a:lnTo>
                    <a:pt x="65" y="9"/>
                  </a:lnTo>
                  <a:cubicBezTo>
                    <a:pt x="34" y="5"/>
                    <a:pt x="0" y="0"/>
                    <a:pt x="4" y="4"/>
                  </a:cubicBezTo>
                  <a:lnTo>
                    <a:pt x="13" y="8"/>
                  </a:lnTo>
                  <a:cubicBezTo>
                    <a:pt x="35" y="7"/>
                    <a:pt x="51" y="8"/>
                    <a:pt x="65"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9" name="Figura a mano libera 45"/>
            <p:cNvSpPr>
              <a:spLocks/>
            </p:cNvSpPr>
            <p:nvPr/>
          </p:nvSpPr>
          <p:spPr bwMode="invGray">
            <a:xfrm>
              <a:off x="7537450" y="1546479"/>
              <a:ext cx="28575" cy="3693"/>
            </a:xfrm>
            <a:custGeom>
              <a:avLst/>
              <a:gdLst>
                <a:gd name="T0" fmla="*/ 0 w 29"/>
                <a:gd name="T1" fmla="*/ 3 h 4"/>
                <a:gd name="T2" fmla="*/ 0 w 29"/>
                <a:gd name="T3" fmla="*/ 3 h 4"/>
                <a:gd name="T4" fmla="*/ 9 w 29"/>
                <a:gd name="T5" fmla="*/ 4 h 4"/>
                <a:gd name="T6" fmla="*/ 29 w 29"/>
                <a:gd name="T7" fmla="*/ 0 h 4"/>
                <a:gd name="T8" fmla="*/ 0 w 29"/>
                <a:gd name="T9" fmla="*/ 3 h 4"/>
              </a:gdLst>
              <a:ahLst/>
              <a:cxnLst>
                <a:cxn ang="0">
                  <a:pos x="T0" y="T1"/>
                </a:cxn>
                <a:cxn ang="0">
                  <a:pos x="T2" y="T3"/>
                </a:cxn>
                <a:cxn ang="0">
                  <a:pos x="T4" y="T5"/>
                </a:cxn>
                <a:cxn ang="0">
                  <a:pos x="T6" y="T7"/>
                </a:cxn>
                <a:cxn ang="0">
                  <a:pos x="T8" y="T9"/>
                </a:cxn>
              </a:cxnLst>
              <a:rect l="0" t="0" r="r" b="b"/>
              <a:pathLst>
                <a:path w="29" h="4">
                  <a:moveTo>
                    <a:pt x="0" y="3"/>
                  </a:moveTo>
                  <a:lnTo>
                    <a:pt x="0" y="3"/>
                  </a:lnTo>
                  <a:lnTo>
                    <a:pt x="9" y="4"/>
                  </a:lnTo>
                  <a:lnTo>
                    <a:pt x="29" y="0"/>
                  </a:ln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0" name="Figura a mano libera 46"/>
            <p:cNvSpPr>
              <a:spLocks/>
            </p:cNvSpPr>
            <p:nvPr/>
          </p:nvSpPr>
          <p:spPr bwMode="invGray">
            <a:xfrm>
              <a:off x="7478713" y="1562481"/>
              <a:ext cx="38100" cy="2462"/>
            </a:xfrm>
            <a:custGeom>
              <a:avLst/>
              <a:gdLst>
                <a:gd name="T0" fmla="*/ 40 w 40"/>
                <a:gd name="T1" fmla="*/ 3 h 3"/>
                <a:gd name="T2" fmla="*/ 40 w 40"/>
                <a:gd name="T3" fmla="*/ 3 h 3"/>
                <a:gd name="T4" fmla="*/ 0 w 40"/>
                <a:gd name="T5" fmla="*/ 0 h 3"/>
                <a:gd name="T6" fmla="*/ 40 w 40"/>
                <a:gd name="T7" fmla="*/ 3 h 3"/>
              </a:gdLst>
              <a:ahLst/>
              <a:cxnLst>
                <a:cxn ang="0">
                  <a:pos x="T0" y="T1"/>
                </a:cxn>
                <a:cxn ang="0">
                  <a:pos x="T2" y="T3"/>
                </a:cxn>
                <a:cxn ang="0">
                  <a:pos x="T4" y="T5"/>
                </a:cxn>
                <a:cxn ang="0">
                  <a:pos x="T6" y="T7"/>
                </a:cxn>
              </a:cxnLst>
              <a:rect l="0" t="0" r="r" b="b"/>
              <a:pathLst>
                <a:path w="40" h="3">
                  <a:moveTo>
                    <a:pt x="40" y="3"/>
                  </a:moveTo>
                  <a:lnTo>
                    <a:pt x="40" y="3"/>
                  </a:lnTo>
                  <a:lnTo>
                    <a:pt x="0" y="0"/>
                  </a:lnTo>
                  <a:cubicBezTo>
                    <a:pt x="9" y="1"/>
                    <a:pt x="22" y="2"/>
                    <a:pt x="4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1" name="Figura a mano libera 47"/>
            <p:cNvSpPr>
              <a:spLocks/>
            </p:cNvSpPr>
            <p:nvPr/>
          </p:nvSpPr>
          <p:spPr bwMode="invGray">
            <a:xfrm>
              <a:off x="5410200" y="1568636"/>
              <a:ext cx="36512" cy="3693"/>
            </a:xfrm>
            <a:custGeom>
              <a:avLst/>
              <a:gdLst>
                <a:gd name="T0" fmla="*/ 24 w 38"/>
                <a:gd name="T1" fmla="*/ 0 h 5"/>
                <a:gd name="T2" fmla="*/ 24 w 38"/>
                <a:gd name="T3" fmla="*/ 0 h 5"/>
                <a:gd name="T4" fmla="*/ 0 w 38"/>
                <a:gd name="T5" fmla="*/ 5 h 5"/>
                <a:gd name="T6" fmla="*/ 24 w 38"/>
                <a:gd name="T7" fmla="*/ 0 h 5"/>
              </a:gdLst>
              <a:ahLst/>
              <a:cxnLst>
                <a:cxn ang="0">
                  <a:pos x="T0" y="T1"/>
                </a:cxn>
                <a:cxn ang="0">
                  <a:pos x="T2" y="T3"/>
                </a:cxn>
                <a:cxn ang="0">
                  <a:pos x="T4" y="T5"/>
                </a:cxn>
                <a:cxn ang="0">
                  <a:pos x="T6" y="T7"/>
                </a:cxn>
              </a:cxnLst>
              <a:rect l="0" t="0" r="r" b="b"/>
              <a:pathLst>
                <a:path w="38" h="5">
                  <a:moveTo>
                    <a:pt x="24" y="0"/>
                  </a:moveTo>
                  <a:lnTo>
                    <a:pt x="24" y="0"/>
                  </a:lnTo>
                  <a:lnTo>
                    <a:pt x="0" y="5"/>
                  </a:lnTo>
                  <a:cubicBezTo>
                    <a:pt x="38" y="5"/>
                    <a:pt x="21" y="3"/>
                    <a:pt x="24"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2" name="Figura a mano libera 48"/>
            <p:cNvSpPr>
              <a:spLocks/>
            </p:cNvSpPr>
            <p:nvPr/>
          </p:nvSpPr>
          <p:spPr bwMode="invGray">
            <a:xfrm>
              <a:off x="10206038" y="1530477"/>
              <a:ext cx="61912" cy="4924"/>
            </a:xfrm>
            <a:custGeom>
              <a:avLst/>
              <a:gdLst>
                <a:gd name="T0" fmla="*/ 65 w 65"/>
                <a:gd name="T1" fmla="*/ 3 h 6"/>
                <a:gd name="T2" fmla="*/ 65 w 65"/>
                <a:gd name="T3" fmla="*/ 3 h 6"/>
                <a:gd name="T4" fmla="*/ 0 w 65"/>
                <a:gd name="T5" fmla="*/ 0 h 6"/>
                <a:gd name="T6" fmla="*/ 65 w 65"/>
                <a:gd name="T7" fmla="*/ 3 h 6"/>
              </a:gdLst>
              <a:ahLst/>
              <a:cxnLst>
                <a:cxn ang="0">
                  <a:pos x="T0" y="T1"/>
                </a:cxn>
                <a:cxn ang="0">
                  <a:pos x="T2" y="T3"/>
                </a:cxn>
                <a:cxn ang="0">
                  <a:pos x="T4" y="T5"/>
                </a:cxn>
                <a:cxn ang="0">
                  <a:pos x="T6" y="T7"/>
                </a:cxn>
              </a:cxnLst>
              <a:rect l="0" t="0" r="r" b="b"/>
              <a:pathLst>
                <a:path w="65" h="6">
                  <a:moveTo>
                    <a:pt x="65" y="3"/>
                  </a:moveTo>
                  <a:lnTo>
                    <a:pt x="65" y="3"/>
                  </a:lnTo>
                  <a:cubicBezTo>
                    <a:pt x="39" y="1"/>
                    <a:pt x="18" y="0"/>
                    <a:pt x="0" y="0"/>
                  </a:cubicBezTo>
                  <a:cubicBezTo>
                    <a:pt x="32" y="2"/>
                    <a:pt x="57" y="6"/>
                    <a:pt x="65"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3" name="Figura a mano libera 49"/>
            <p:cNvSpPr>
              <a:spLocks/>
            </p:cNvSpPr>
            <p:nvPr/>
          </p:nvSpPr>
          <p:spPr bwMode="invGray">
            <a:xfrm>
              <a:off x="6257925" y="1525554"/>
              <a:ext cx="19050" cy="2462"/>
            </a:xfrm>
            <a:custGeom>
              <a:avLst/>
              <a:gdLst>
                <a:gd name="T0" fmla="*/ 18 w 21"/>
                <a:gd name="T1" fmla="*/ 0 h 2"/>
                <a:gd name="T2" fmla="*/ 18 w 21"/>
                <a:gd name="T3" fmla="*/ 0 h 2"/>
                <a:gd name="T4" fmla="*/ 0 w 21"/>
                <a:gd name="T5" fmla="*/ 2 h 2"/>
                <a:gd name="T6" fmla="*/ 18 w 21"/>
                <a:gd name="T7" fmla="*/ 0 h 2"/>
              </a:gdLst>
              <a:ahLst/>
              <a:cxnLst>
                <a:cxn ang="0">
                  <a:pos x="T0" y="T1"/>
                </a:cxn>
                <a:cxn ang="0">
                  <a:pos x="T2" y="T3"/>
                </a:cxn>
                <a:cxn ang="0">
                  <a:pos x="T4" y="T5"/>
                </a:cxn>
                <a:cxn ang="0">
                  <a:pos x="T6" y="T7"/>
                </a:cxn>
              </a:cxnLst>
              <a:rect l="0" t="0" r="r" b="b"/>
              <a:pathLst>
                <a:path w="21" h="2">
                  <a:moveTo>
                    <a:pt x="18" y="0"/>
                  </a:moveTo>
                  <a:lnTo>
                    <a:pt x="18" y="0"/>
                  </a:lnTo>
                  <a:cubicBezTo>
                    <a:pt x="5" y="1"/>
                    <a:pt x="0" y="2"/>
                    <a:pt x="0" y="2"/>
                  </a:cubicBezTo>
                  <a:cubicBezTo>
                    <a:pt x="13" y="2"/>
                    <a:pt x="21" y="1"/>
                    <a:pt x="1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4" name="Figura a mano libera 50"/>
            <p:cNvSpPr>
              <a:spLocks/>
            </p:cNvSpPr>
            <p:nvPr/>
          </p:nvSpPr>
          <p:spPr bwMode="invGray">
            <a:xfrm>
              <a:off x="10134600" y="1528016"/>
              <a:ext cx="71437" cy="3693"/>
            </a:xfrm>
            <a:custGeom>
              <a:avLst/>
              <a:gdLst>
                <a:gd name="T0" fmla="*/ 0 w 75"/>
                <a:gd name="T1" fmla="*/ 3 h 4"/>
                <a:gd name="T2" fmla="*/ 0 w 75"/>
                <a:gd name="T3" fmla="*/ 3 h 4"/>
                <a:gd name="T4" fmla="*/ 13 w 75"/>
                <a:gd name="T5" fmla="*/ 4 h 4"/>
                <a:gd name="T6" fmla="*/ 75 w 75"/>
                <a:gd name="T7" fmla="*/ 3 h 4"/>
                <a:gd name="T8" fmla="*/ 0 w 75"/>
                <a:gd name="T9" fmla="*/ 3 h 4"/>
              </a:gdLst>
              <a:ahLst/>
              <a:cxnLst>
                <a:cxn ang="0">
                  <a:pos x="T0" y="T1"/>
                </a:cxn>
                <a:cxn ang="0">
                  <a:pos x="T2" y="T3"/>
                </a:cxn>
                <a:cxn ang="0">
                  <a:pos x="T4" y="T5"/>
                </a:cxn>
                <a:cxn ang="0">
                  <a:pos x="T6" y="T7"/>
                </a:cxn>
                <a:cxn ang="0">
                  <a:pos x="T8" y="T9"/>
                </a:cxn>
              </a:cxnLst>
              <a:rect l="0" t="0" r="r" b="b"/>
              <a:pathLst>
                <a:path w="75" h="4">
                  <a:moveTo>
                    <a:pt x="0" y="3"/>
                  </a:moveTo>
                  <a:lnTo>
                    <a:pt x="0" y="3"/>
                  </a:lnTo>
                  <a:lnTo>
                    <a:pt x="13" y="4"/>
                  </a:lnTo>
                  <a:cubicBezTo>
                    <a:pt x="32" y="3"/>
                    <a:pt x="52" y="2"/>
                    <a:pt x="75" y="3"/>
                  </a:cubicBezTo>
                  <a:cubicBezTo>
                    <a:pt x="52" y="1"/>
                    <a:pt x="25" y="0"/>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5" name="Figura a mano libera 51"/>
            <p:cNvSpPr>
              <a:spLocks/>
            </p:cNvSpPr>
            <p:nvPr/>
          </p:nvSpPr>
          <p:spPr bwMode="invGray">
            <a:xfrm>
              <a:off x="2582863" y="1560020"/>
              <a:ext cx="7937" cy="1231"/>
            </a:xfrm>
            <a:custGeom>
              <a:avLst/>
              <a:gdLst>
                <a:gd name="T0" fmla="*/ 8 w 8"/>
                <a:gd name="T1" fmla="*/ 1 h 1"/>
                <a:gd name="T2" fmla="*/ 8 w 8"/>
                <a:gd name="T3" fmla="*/ 1 h 1"/>
                <a:gd name="T4" fmla="*/ 1 w 8"/>
                <a:gd name="T5" fmla="*/ 0 h 1"/>
                <a:gd name="T6" fmla="*/ 8 w 8"/>
                <a:gd name="T7" fmla="*/ 1 h 1"/>
              </a:gdLst>
              <a:ahLst/>
              <a:cxnLst>
                <a:cxn ang="0">
                  <a:pos x="T0" y="T1"/>
                </a:cxn>
                <a:cxn ang="0">
                  <a:pos x="T2" y="T3"/>
                </a:cxn>
                <a:cxn ang="0">
                  <a:pos x="T4" y="T5"/>
                </a:cxn>
                <a:cxn ang="0">
                  <a:pos x="T6" y="T7"/>
                </a:cxn>
              </a:cxnLst>
              <a:rect l="0" t="0" r="r" b="b"/>
              <a:pathLst>
                <a:path w="8" h="1">
                  <a:moveTo>
                    <a:pt x="8" y="1"/>
                  </a:moveTo>
                  <a:lnTo>
                    <a:pt x="8" y="1"/>
                  </a:lnTo>
                  <a:lnTo>
                    <a:pt x="1" y="0"/>
                  </a:lnTo>
                  <a:cubicBezTo>
                    <a:pt x="0" y="1"/>
                    <a:pt x="3" y="1"/>
                    <a:pt x="8"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6" name="Figura a mano libera 52"/>
            <p:cNvSpPr>
              <a:spLocks/>
            </p:cNvSpPr>
            <p:nvPr/>
          </p:nvSpPr>
          <p:spPr bwMode="invGray">
            <a:xfrm>
              <a:off x="1762125" y="1521861"/>
              <a:ext cx="34925" cy="1231"/>
            </a:xfrm>
            <a:custGeom>
              <a:avLst/>
              <a:gdLst>
                <a:gd name="T0" fmla="*/ 0 w 36"/>
                <a:gd name="T1" fmla="*/ 1 h 1"/>
                <a:gd name="T2" fmla="*/ 0 w 36"/>
                <a:gd name="T3" fmla="*/ 1 h 1"/>
                <a:gd name="T4" fmla="*/ 36 w 36"/>
                <a:gd name="T5" fmla="*/ 1 h 1"/>
                <a:gd name="T6" fmla="*/ 0 w 36"/>
                <a:gd name="T7" fmla="*/ 1 h 1"/>
              </a:gdLst>
              <a:ahLst/>
              <a:cxnLst>
                <a:cxn ang="0">
                  <a:pos x="T0" y="T1"/>
                </a:cxn>
                <a:cxn ang="0">
                  <a:pos x="T2" y="T3"/>
                </a:cxn>
                <a:cxn ang="0">
                  <a:pos x="T4" y="T5"/>
                </a:cxn>
                <a:cxn ang="0">
                  <a:pos x="T6" y="T7"/>
                </a:cxn>
              </a:cxnLst>
              <a:rect l="0" t="0" r="r" b="b"/>
              <a:pathLst>
                <a:path w="36" h="1">
                  <a:moveTo>
                    <a:pt x="0" y="1"/>
                  </a:moveTo>
                  <a:lnTo>
                    <a:pt x="0" y="1"/>
                  </a:lnTo>
                  <a:cubicBezTo>
                    <a:pt x="9" y="1"/>
                    <a:pt x="23" y="1"/>
                    <a:pt x="36" y="1"/>
                  </a:cubicBezTo>
                  <a:cubicBezTo>
                    <a:pt x="29" y="0"/>
                    <a:pt x="19"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7" name="Figura a mano libera 53"/>
            <p:cNvSpPr>
              <a:spLocks/>
            </p:cNvSpPr>
            <p:nvPr/>
          </p:nvSpPr>
          <p:spPr bwMode="invGray">
            <a:xfrm>
              <a:off x="10812463" y="1529246"/>
              <a:ext cx="19050" cy="1231"/>
            </a:xfrm>
            <a:custGeom>
              <a:avLst/>
              <a:gdLst>
                <a:gd name="T0" fmla="*/ 0 w 20"/>
                <a:gd name="T1" fmla="*/ 1 h 1"/>
                <a:gd name="T2" fmla="*/ 0 w 20"/>
                <a:gd name="T3" fmla="*/ 1 h 1"/>
                <a:gd name="T4" fmla="*/ 0 w 20"/>
                <a:gd name="T5" fmla="*/ 1 h 1"/>
              </a:gdLst>
              <a:ahLst/>
              <a:cxnLst>
                <a:cxn ang="0">
                  <a:pos x="T0" y="T1"/>
                </a:cxn>
                <a:cxn ang="0">
                  <a:pos x="T2" y="T3"/>
                </a:cxn>
                <a:cxn ang="0">
                  <a:pos x="T4" y="T5"/>
                </a:cxn>
              </a:cxnLst>
              <a:rect l="0" t="0" r="r" b="b"/>
              <a:pathLst>
                <a:path w="20" h="1">
                  <a:moveTo>
                    <a:pt x="0" y="1"/>
                  </a:moveTo>
                  <a:lnTo>
                    <a:pt x="0" y="1"/>
                  </a:lnTo>
                  <a:cubicBezTo>
                    <a:pt x="20" y="1"/>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8" name="Figura a mano libera 54"/>
            <p:cNvSpPr>
              <a:spLocks/>
            </p:cNvSpPr>
            <p:nvPr/>
          </p:nvSpPr>
          <p:spPr bwMode="invGray">
            <a:xfrm>
              <a:off x="10896600" y="1545248"/>
              <a:ext cx="7937" cy="2462"/>
            </a:xfrm>
            <a:custGeom>
              <a:avLst/>
              <a:gdLst>
                <a:gd name="T0" fmla="*/ 8 w 8"/>
                <a:gd name="T1" fmla="*/ 0 h 3"/>
                <a:gd name="T2" fmla="*/ 8 w 8"/>
                <a:gd name="T3" fmla="*/ 0 h 3"/>
                <a:gd name="T4" fmla="*/ 0 w 8"/>
                <a:gd name="T5" fmla="*/ 3 h 3"/>
                <a:gd name="T6" fmla="*/ 8 w 8"/>
                <a:gd name="T7" fmla="*/ 0 h 3"/>
              </a:gdLst>
              <a:ahLst/>
              <a:cxnLst>
                <a:cxn ang="0">
                  <a:pos x="T0" y="T1"/>
                </a:cxn>
                <a:cxn ang="0">
                  <a:pos x="T2" y="T3"/>
                </a:cxn>
                <a:cxn ang="0">
                  <a:pos x="T4" y="T5"/>
                </a:cxn>
                <a:cxn ang="0">
                  <a:pos x="T6" y="T7"/>
                </a:cxn>
              </a:cxnLst>
              <a:rect l="0" t="0" r="r" b="b"/>
              <a:pathLst>
                <a:path w="8" h="3">
                  <a:moveTo>
                    <a:pt x="8" y="0"/>
                  </a:moveTo>
                  <a:lnTo>
                    <a:pt x="8" y="0"/>
                  </a:lnTo>
                  <a:cubicBezTo>
                    <a:pt x="4" y="1"/>
                    <a:pt x="1" y="2"/>
                    <a:pt x="0" y="3"/>
                  </a:cubicBezTo>
                  <a:cubicBezTo>
                    <a:pt x="2" y="2"/>
                    <a:pt x="4" y="1"/>
                    <a:pt x="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9" name="Figura a mano libera 55"/>
            <p:cNvSpPr>
              <a:spLocks/>
            </p:cNvSpPr>
            <p:nvPr/>
          </p:nvSpPr>
          <p:spPr bwMode="invGray">
            <a:xfrm>
              <a:off x="9947275" y="1553865"/>
              <a:ext cx="4762" cy="1231"/>
            </a:xfrm>
            <a:custGeom>
              <a:avLst/>
              <a:gdLst>
                <a:gd name="T0" fmla="*/ 1 w 5"/>
                <a:gd name="T1" fmla="*/ 0 h 1"/>
                <a:gd name="T2" fmla="*/ 1 w 5"/>
                <a:gd name="T3" fmla="*/ 0 h 1"/>
                <a:gd name="T4" fmla="*/ 0 w 5"/>
                <a:gd name="T5" fmla="*/ 0 h 1"/>
                <a:gd name="T6" fmla="*/ 1 w 5"/>
                <a:gd name="T7" fmla="*/ 0 h 1"/>
              </a:gdLst>
              <a:ahLst/>
              <a:cxnLst>
                <a:cxn ang="0">
                  <a:pos x="T0" y="T1"/>
                </a:cxn>
                <a:cxn ang="0">
                  <a:pos x="T2" y="T3"/>
                </a:cxn>
                <a:cxn ang="0">
                  <a:pos x="T4" y="T5"/>
                </a:cxn>
                <a:cxn ang="0">
                  <a:pos x="T6" y="T7"/>
                </a:cxn>
              </a:cxnLst>
              <a:rect l="0" t="0" r="r" b="b"/>
              <a:pathLst>
                <a:path w="5" h="1">
                  <a:moveTo>
                    <a:pt x="1" y="0"/>
                  </a:moveTo>
                  <a:lnTo>
                    <a:pt x="1" y="0"/>
                  </a:lnTo>
                  <a:lnTo>
                    <a:pt x="0" y="0"/>
                  </a:lnTo>
                  <a:cubicBezTo>
                    <a:pt x="5" y="1"/>
                    <a:pt x="4" y="0"/>
                    <a:pt x="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0" name="Figura a mano libera 56"/>
            <p:cNvSpPr>
              <a:spLocks/>
            </p:cNvSpPr>
            <p:nvPr/>
          </p:nvSpPr>
          <p:spPr bwMode="invGray">
            <a:xfrm>
              <a:off x="10817225" y="1531708"/>
              <a:ext cx="23812" cy="0"/>
            </a:xfrm>
            <a:custGeom>
              <a:avLst/>
              <a:gdLst>
                <a:gd name="T0" fmla="*/ 25 w 25"/>
                <a:gd name="T1" fmla="*/ 1 h 1"/>
                <a:gd name="T2" fmla="*/ 25 w 25"/>
                <a:gd name="T3" fmla="*/ 1 h 1"/>
                <a:gd name="T4" fmla="*/ 0 w 25"/>
                <a:gd name="T5" fmla="*/ 0 h 1"/>
                <a:gd name="T6" fmla="*/ 25 w 25"/>
                <a:gd name="T7" fmla="*/ 1 h 1"/>
              </a:gdLst>
              <a:ahLst/>
              <a:cxnLst>
                <a:cxn ang="0">
                  <a:pos x="T0" y="T1"/>
                </a:cxn>
                <a:cxn ang="0">
                  <a:pos x="T2" y="T3"/>
                </a:cxn>
                <a:cxn ang="0">
                  <a:pos x="T4" y="T5"/>
                </a:cxn>
                <a:cxn ang="0">
                  <a:pos x="T6" y="T7"/>
                </a:cxn>
              </a:cxnLst>
              <a:rect l="0" t="0" r="r" b="b"/>
              <a:pathLst>
                <a:path w="25" h="1">
                  <a:moveTo>
                    <a:pt x="25" y="1"/>
                  </a:moveTo>
                  <a:lnTo>
                    <a:pt x="25" y="1"/>
                  </a:lnTo>
                  <a:cubicBezTo>
                    <a:pt x="18" y="0"/>
                    <a:pt x="10" y="0"/>
                    <a:pt x="0" y="0"/>
                  </a:cubicBezTo>
                  <a:cubicBezTo>
                    <a:pt x="5" y="0"/>
                    <a:pt x="12" y="0"/>
                    <a:pt x="25"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1" name="Figura a mano libera 57"/>
            <p:cNvSpPr>
              <a:spLocks/>
            </p:cNvSpPr>
            <p:nvPr/>
          </p:nvSpPr>
          <p:spPr bwMode="invGray">
            <a:xfrm>
              <a:off x="10836275" y="1529246"/>
              <a:ext cx="19050" cy="1231"/>
            </a:xfrm>
            <a:custGeom>
              <a:avLst/>
              <a:gdLst>
                <a:gd name="T0" fmla="*/ 0 w 20"/>
                <a:gd name="T1" fmla="*/ 1 h 1"/>
                <a:gd name="T2" fmla="*/ 0 w 20"/>
                <a:gd name="T3" fmla="*/ 1 h 1"/>
                <a:gd name="T4" fmla="*/ 18 w 20"/>
                <a:gd name="T5" fmla="*/ 1 h 1"/>
                <a:gd name="T6" fmla="*/ 0 w 20"/>
                <a:gd name="T7" fmla="*/ 1 h 1"/>
              </a:gdLst>
              <a:ahLst/>
              <a:cxnLst>
                <a:cxn ang="0">
                  <a:pos x="T0" y="T1"/>
                </a:cxn>
                <a:cxn ang="0">
                  <a:pos x="T2" y="T3"/>
                </a:cxn>
                <a:cxn ang="0">
                  <a:pos x="T4" y="T5"/>
                </a:cxn>
                <a:cxn ang="0">
                  <a:pos x="T6" y="T7"/>
                </a:cxn>
              </a:cxnLst>
              <a:rect l="0" t="0" r="r" b="b"/>
              <a:pathLst>
                <a:path w="20" h="1">
                  <a:moveTo>
                    <a:pt x="0" y="1"/>
                  </a:moveTo>
                  <a:lnTo>
                    <a:pt x="0" y="1"/>
                  </a:lnTo>
                  <a:lnTo>
                    <a:pt x="18" y="1"/>
                  </a:lnTo>
                  <a:cubicBezTo>
                    <a:pt x="20" y="1"/>
                    <a:pt x="18"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2" name="Figura a mano libera 58"/>
            <p:cNvSpPr>
              <a:spLocks/>
            </p:cNvSpPr>
            <p:nvPr/>
          </p:nvSpPr>
          <p:spPr bwMode="invGray">
            <a:xfrm>
              <a:off x="10787063" y="1530477"/>
              <a:ext cx="30162" cy="1231"/>
            </a:xfrm>
            <a:custGeom>
              <a:avLst/>
              <a:gdLst>
                <a:gd name="T0" fmla="*/ 0 w 31"/>
                <a:gd name="T1" fmla="*/ 0 h 1"/>
                <a:gd name="T2" fmla="*/ 0 w 31"/>
                <a:gd name="T3" fmla="*/ 0 h 1"/>
                <a:gd name="T4" fmla="*/ 31 w 31"/>
                <a:gd name="T5" fmla="*/ 1 h 1"/>
                <a:gd name="T6" fmla="*/ 27 w 31"/>
                <a:gd name="T7" fmla="*/ 0 h 1"/>
                <a:gd name="T8" fmla="*/ 0 w 31"/>
                <a:gd name="T9" fmla="*/ 0 h 1"/>
              </a:gdLst>
              <a:ahLst/>
              <a:cxnLst>
                <a:cxn ang="0">
                  <a:pos x="T0" y="T1"/>
                </a:cxn>
                <a:cxn ang="0">
                  <a:pos x="T2" y="T3"/>
                </a:cxn>
                <a:cxn ang="0">
                  <a:pos x="T4" y="T5"/>
                </a:cxn>
                <a:cxn ang="0">
                  <a:pos x="T6" y="T7"/>
                </a:cxn>
                <a:cxn ang="0">
                  <a:pos x="T8" y="T9"/>
                </a:cxn>
              </a:cxnLst>
              <a:rect l="0" t="0" r="r" b="b"/>
              <a:pathLst>
                <a:path w="31" h="1">
                  <a:moveTo>
                    <a:pt x="0" y="0"/>
                  </a:moveTo>
                  <a:lnTo>
                    <a:pt x="0" y="0"/>
                  </a:lnTo>
                  <a:cubicBezTo>
                    <a:pt x="11" y="0"/>
                    <a:pt x="21" y="0"/>
                    <a:pt x="31" y="1"/>
                  </a:cubicBezTo>
                  <a:cubicBezTo>
                    <a:pt x="28" y="0"/>
                    <a:pt x="26" y="0"/>
                    <a:pt x="27"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3" name="Figura a mano libera 59"/>
            <p:cNvSpPr>
              <a:spLocks/>
            </p:cNvSpPr>
            <p:nvPr/>
          </p:nvSpPr>
          <p:spPr bwMode="invGray">
            <a:xfrm>
              <a:off x="4092575" y="1552634"/>
              <a:ext cx="20637" cy="2462"/>
            </a:xfrm>
            <a:custGeom>
              <a:avLst/>
              <a:gdLst>
                <a:gd name="T0" fmla="*/ 23 w 23"/>
                <a:gd name="T1" fmla="*/ 0 h 2"/>
                <a:gd name="T2" fmla="*/ 23 w 23"/>
                <a:gd name="T3" fmla="*/ 0 h 2"/>
                <a:gd name="T4" fmla="*/ 19 w 23"/>
                <a:gd name="T5" fmla="*/ 0 h 2"/>
                <a:gd name="T6" fmla="*/ 23 w 23"/>
                <a:gd name="T7" fmla="*/ 0 h 2"/>
              </a:gdLst>
              <a:ahLst/>
              <a:cxnLst>
                <a:cxn ang="0">
                  <a:pos x="T0" y="T1"/>
                </a:cxn>
                <a:cxn ang="0">
                  <a:pos x="T2" y="T3"/>
                </a:cxn>
                <a:cxn ang="0">
                  <a:pos x="T4" y="T5"/>
                </a:cxn>
                <a:cxn ang="0">
                  <a:pos x="T6" y="T7"/>
                </a:cxn>
              </a:cxnLst>
              <a:rect l="0" t="0" r="r" b="b"/>
              <a:pathLst>
                <a:path w="23" h="2">
                  <a:moveTo>
                    <a:pt x="23" y="0"/>
                  </a:moveTo>
                  <a:lnTo>
                    <a:pt x="23" y="0"/>
                  </a:lnTo>
                  <a:lnTo>
                    <a:pt x="19" y="0"/>
                  </a:lnTo>
                  <a:cubicBezTo>
                    <a:pt x="0" y="2"/>
                    <a:pt x="8" y="1"/>
                    <a:pt x="2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4" name="Figura a mano libera 60"/>
            <p:cNvSpPr>
              <a:spLocks/>
            </p:cNvSpPr>
            <p:nvPr/>
          </p:nvSpPr>
          <p:spPr bwMode="invGray">
            <a:xfrm>
              <a:off x="8528050" y="1567405"/>
              <a:ext cx="3175" cy="1231"/>
            </a:xfrm>
            <a:custGeom>
              <a:avLst/>
              <a:gdLst>
                <a:gd name="T0" fmla="*/ 1 w 3"/>
                <a:gd name="T1" fmla="*/ 1 h 1"/>
                <a:gd name="T2" fmla="*/ 1 w 3"/>
                <a:gd name="T3" fmla="*/ 1 h 1"/>
                <a:gd name="T4" fmla="*/ 3 w 3"/>
                <a:gd name="T5" fmla="*/ 0 h 1"/>
                <a:gd name="T6" fmla="*/ 0 w 3"/>
                <a:gd name="T7" fmla="*/ 0 h 1"/>
                <a:gd name="T8" fmla="*/ 1 w 3"/>
                <a:gd name="T9" fmla="*/ 1 h 1"/>
              </a:gdLst>
              <a:ahLst/>
              <a:cxnLst>
                <a:cxn ang="0">
                  <a:pos x="T0" y="T1"/>
                </a:cxn>
                <a:cxn ang="0">
                  <a:pos x="T2" y="T3"/>
                </a:cxn>
                <a:cxn ang="0">
                  <a:pos x="T4" y="T5"/>
                </a:cxn>
                <a:cxn ang="0">
                  <a:pos x="T6" y="T7"/>
                </a:cxn>
                <a:cxn ang="0">
                  <a:pos x="T8" y="T9"/>
                </a:cxn>
              </a:cxnLst>
              <a:rect l="0" t="0" r="r" b="b"/>
              <a:pathLst>
                <a:path w="3" h="1">
                  <a:moveTo>
                    <a:pt x="1" y="1"/>
                  </a:moveTo>
                  <a:lnTo>
                    <a:pt x="1" y="1"/>
                  </a:lnTo>
                  <a:lnTo>
                    <a:pt x="3" y="0"/>
                  </a:lnTo>
                  <a:lnTo>
                    <a:pt x="0" y="0"/>
                  </a:lnTo>
                  <a:lnTo>
                    <a:pt x="1"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5" name="Figura a mano libera 61"/>
            <p:cNvSpPr>
              <a:spLocks/>
            </p:cNvSpPr>
            <p:nvPr/>
          </p:nvSpPr>
          <p:spPr bwMode="invGray">
            <a:xfrm>
              <a:off x="8461375" y="1556326"/>
              <a:ext cx="66675" cy="14771"/>
            </a:xfrm>
            <a:custGeom>
              <a:avLst/>
              <a:gdLst>
                <a:gd name="T0" fmla="*/ 0 w 69"/>
                <a:gd name="T1" fmla="*/ 17 h 17"/>
                <a:gd name="T2" fmla="*/ 0 w 69"/>
                <a:gd name="T3" fmla="*/ 17 h 17"/>
                <a:gd name="T4" fmla="*/ 69 w 69"/>
                <a:gd name="T5" fmla="*/ 13 h 17"/>
                <a:gd name="T6" fmla="*/ 46 w 69"/>
                <a:gd name="T7" fmla="*/ 0 h 17"/>
                <a:gd name="T8" fmla="*/ 0 w 69"/>
                <a:gd name="T9" fmla="*/ 17 h 17"/>
              </a:gdLst>
              <a:ahLst/>
              <a:cxnLst>
                <a:cxn ang="0">
                  <a:pos x="T0" y="T1"/>
                </a:cxn>
                <a:cxn ang="0">
                  <a:pos x="T2" y="T3"/>
                </a:cxn>
                <a:cxn ang="0">
                  <a:pos x="T4" y="T5"/>
                </a:cxn>
                <a:cxn ang="0">
                  <a:pos x="T6" y="T7"/>
                </a:cxn>
                <a:cxn ang="0">
                  <a:pos x="T8" y="T9"/>
                </a:cxn>
              </a:cxnLst>
              <a:rect l="0" t="0" r="r" b="b"/>
              <a:pathLst>
                <a:path w="69" h="17">
                  <a:moveTo>
                    <a:pt x="0" y="17"/>
                  </a:moveTo>
                  <a:lnTo>
                    <a:pt x="0" y="17"/>
                  </a:lnTo>
                  <a:cubicBezTo>
                    <a:pt x="30" y="11"/>
                    <a:pt x="47" y="12"/>
                    <a:pt x="69" y="13"/>
                  </a:cubicBezTo>
                  <a:lnTo>
                    <a:pt x="46" y="0"/>
                  </a:lnTo>
                  <a:lnTo>
                    <a:pt x="0" y="17"/>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6" name="Figura a mano libera 62"/>
            <p:cNvSpPr>
              <a:spLocks noEditPoints="1"/>
            </p:cNvSpPr>
            <p:nvPr/>
          </p:nvSpPr>
          <p:spPr bwMode="invGray">
            <a:xfrm>
              <a:off x="1562100" y="1514475"/>
              <a:ext cx="9563100" cy="64008"/>
            </a:xfrm>
            <a:custGeom>
              <a:avLst/>
              <a:gdLst>
                <a:gd name="T0" fmla="*/ 9555 w 10030"/>
                <a:gd name="T1" fmla="*/ 25 h 75"/>
                <a:gd name="T2" fmla="*/ 9488 w 10030"/>
                <a:gd name="T3" fmla="*/ 23 h 75"/>
                <a:gd name="T4" fmla="*/ 5258 w 10030"/>
                <a:gd name="T5" fmla="*/ 60 h 75"/>
                <a:gd name="T6" fmla="*/ 4572 w 10030"/>
                <a:gd name="T7" fmla="*/ 65 h 75"/>
                <a:gd name="T8" fmla="*/ 4884 w 10030"/>
                <a:gd name="T9" fmla="*/ 61 h 75"/>
                <a:gd name="T10" fmla="*/ 5092 w 10030"/>
                <a:gd name="T11" fmla="*/ 56 h 75"/>
                <a:gd name="T12" fmla="*/ 5260 w 10030"/>
                <a:gd name="T13" fmla="*/ 60 h 75"/>
                <a:gd name="T14" fmla="*/ 5560 w 10030"/>
                <a:gd name="T15" fmla="*/ 62 h 75"/>
                <a:gd name="T16" fmla="*/ 6006 w 10030"/>
                <a:gd name="T17" fmla="*/ 56 h 75"/>
                <a:gd name="T18" fmla="*/ 6308 w 10030"/>
                <a:gd name="T19" fmla="*/ 32 h 75"/>
                <a:gd name="T20" fmla="*/ 6269 w 10030"/>
                <a:gd name="T21" fmla="*/ 52 h 75"/>
                <a:gd name="T22" fmla="*/ 6665 w 10030"/>
                <a:gd name="T23" fmla="*/ 41 h 75"/>
                <a:gd name="T24" fmla="*/ 6806 w 10030"/>
                <a:gd name="T25" fmla="*/ 53 h 75"/>
                <a:gd name="T26" fmla="*/ 7204 w 10030"/>
                <a:gd name="T27" fmla="*/ 50 h 75"/>
                <a:gd name="T28" fmla="*/ 7485 w 10030"/>
                <a:gd name="T29" fmla="*/ 62 h 75"/>
                <a:gd name="T30" fmla="*/ 7667 w 10030"/>
                <a:gd name="T31" fmla="*/ 61 h 75"/>
                <a:gd name="T32" fmla="*/ 7919 w 10030"/>
                <a:gd name="T33" fmla="*/ 63 h 75"/>
                <a:gd name="T34" fmla="*/ 8179 w 10030"/>
                <a:gd name="T35" fmla="*/ 51 h 75"/>
                <a:gd name="T36" fmla="*/ 8401 w 10030"/>
                <a:gd name="T37" fmla="*/ 31 h 75"/>
                <a:gd name="T38" fmla="*/ 8692 w 10030"/>
                <a:gd name="T39" fmla="*/ 58 h 75"/>
                <a:gd name="T40" fmla="*/ 9084 w 10030"/>
                <a:gd name="T41" fmla="*/ 61 h 75"/>
                <a:gd name="T42" fmla="*/ 9498 w 10030"/>
                <a:gd name="T43" fmla="*/ 44 h 75"/>
                <a:gd name="T44" fmla="*/ 9670 w 10030"/>
                <a:gd name="T45" fmla="*/ 45 h 75"/>
                <a:gd name="T46" fmla="*/ 9877 w 10030"/>
                <a:gd name="T47" fmla="*/ 32 h 75"/>
                <a:gd name="T48" fmla="*/ 9735 w 10030"/>
                <a:gd name="T49" fmla="*/ 21 h 75"/>
                <a:gd name="T50" fmla="*/ 9636 w 10030"/>
                <a:gd name="T51" fmla="*/ 27 h 75"/>
                <a:gd name="T52" fmla="*/ 9290 w 10030"/>
                <a:gd name="T53" fmla="*/ 22 h 75"/>
                <a:gd name="T54" fmla="*/ 8498 w 10030"/>
                <a:gd name="T55" fmla="*/ 12 h 75"/>
                <a:gd name="T56" fmla="*/ 7899 w 10030"/>
                <a:gd name="T57" fmla="*/ 21 h 75"/>
                <a:gd name="T58" fmla="*/ 7774 w 10030"/>
                <a:gd name="T59" fmla="*/ 22 h 75"/>
                <a:gd name="T60" fmla="*/ 7493 w 10030"/>
                <a:gd name="T61" fmla="*/ 32 h 75"/>
                <a:gd name="T62" fmla="*/ 7190 w 10030"/>
                <a:gd name="T63" fmla="*/ 31 h 75"/>
                <a:gd name="T64" fmla="*/ 6418 w 10030"/>
                <a:gd name="T65" fmla="*/ 20 h 75"/>
                <a:gd name="T66" fmla="*/ 6248 w 10030"/>
                <a:gd name="T67" fmla="*/ 24 h 75"/>
                <a:gd name="T68" fmla="*/ 5823 w 10030"/>
                <a:gd name="T69" fmla="*/ 28 h 75"/>
                <a:gd name="T70" fmla="*/ 5422 w 10030"/>
                <a:gd name="T71" fmla="*/ 11 h 75"/>
                <a:gd name="T72" fmla="*/ 4925 w 10030"/>
                <a:gd name="T73" fmla="*/ 16 h 75"/>
                <a:gd name="T74" fmla="*/ 4310 w 10030"/>
                <a:gd name="T75" fmla="*/ 18 h 75"/>
                <a:gd name="T76" fmla="*/ 3439 w 10030"/>
                <a:gd name="T77" fmla="*/ 21 h 75"/>
                <a:gd name="T78" fmla="*/ 2740 w 10030"/>
                <a:gd name="T79" fmla="*/ 18 h 75"/>
                <a:gd name="T80" fmla="*/ 2597 w 10030"/>
                <a:gd name="T81" fmla="*/ 9 h 75"/>
                <a:gd name="T82" fmla="*/ 2367 w 10030"/>
                <a:gd name="T83" fmla="*/ 21 h 75"/>
                <a:gd name="T84" fmla="*/ 1566 w 10030"/>
                <a:gd name="T85" fmla="*/ 11 h 75"/>
                <a:gd name="T86" fmla="*/ 262 w 10030"/>
                <a:gd name="T87" fmla="*/ 7 h 75"/>
                <a:gd name="T88" fmla="*/ 104 w 10030"/>
                <a:gd name="T89" fmla="*/ 42 h 75"/>
                <a:gd name="T90" fmla="*/ 742 w 10030"/>
                <a:gd name="T91" fmla="*/ 47 h 75"/>
                <a:gd name="T92" fmla="*/ 1060 w 10030"/>
                <a:gd name="T93" fmla="*/ 47 h 75"/>
                <a:gd name="T94" fmla="*/ 1593 w 10030"/>
                <a:gd name="T95" fmla="*/ 46 h 75"/>
                <a:gd name="T96" fmla="*/ 2022 w 10030"/>
                <a:gd name="T97" fmla="*/ 45 h 75"/>
                <a:gd name="T98" fmla="*/ 2481 w 10030"/>
                <a:gd name="T99" fmla="*/ 51 h 75"/>
                <a:gd name="T100" fmla="*/ 2677 w 10030"/>
                <a:gd name="T101" fmla="*/ 45 h 75"/>
                <a:gd name="T102" fmla="*/ 2863 w 10030"/>
                <a:gd name="T103" fmla="*/ 52 h 75"/>
                <a:gd name="T104" fmla="*/ 3163 w 10030"/>
                <a:gd name="T105" fmla="*/ 62 h 75"/>
                <a:gd name="T106" fmla="*/ 3411 w 10030"/>
                <a:gd name="T107" fmla="*/ 54 h 75"/>
                <a:gd name="T108" fmla="*/ 3550 w 10030"/>
                <a:gd name="T109" fmla="*/ 60 h 75"/>
                <a:gd name="T110" fmla="*/ 3740 w 10030"/>
                <a:gd name="T111" fmla="*/ 65 h 75"/>
                <a:gd name="T112" fmla="*/ 4329 w 10030"/>
                <a:gd name="T113" fmla="*/ 68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030" h="75">
                  <a:moveTo>
                    <a:pt x="2469" y="12"/>
                  </a:moveTo>
                  <a:lnTo>
                    <a:pt x="2469" y="12"/>
                  </a:lnTo>
                  <a:lnTo>
                    <a:pt x="2482" y="13"/>
                  </a:lnTo>
                  <a:cubicBezTo>
                    <a:pt x="2453" y="15"/>
                    <a:pt x="2461" y="13"/>
                    <a:pt x="2469" y="12"/>
                  </a:cubicBezTo>
                  <a:close/>
                  <a:moveTo>
                    <a:pt x="9555" y="25"/>
                  </a:moveTo>
                  <a:lnTo>
                    <a:pt x="9555" y="25"/>
                  </a:lnTo>
                  <a:cubicBezTo>
                    <a:pt x="9562" y="24"/>
                    <a:pt x="9561" y="23"/>
                    <a:pt x="9559" y="23"/>
                  </a:cubicBezTo>
                  <a:cubicBezTo>
                    <a:pt x="9554" y="24"/>
                    <a:pt x="9539" y="24"/>
                    <a:pt x="9522" y="24"/>
                  </a:cubicBezTo>
                  <a:cubicBezTo>
                    <a:pt x="9527" y="25"/>
                    <a:pt x="9536" y="26"/>
                    <a:pt x="9555" y="25"/>
                  </a:cubicBezTo>
                  <a:close/>
                  <a:moveTo>
                    <a:pt x="9489" y="23"/>
                  </a:moveTo>
                  <a:lnTo>
                    <a:pt x="9489" y="23"/>
                  </a:lnTo>
                  <a:lnTo>
                    <a:pt x="9488" y="23"/>
                  </a:lnTo>
                  <a:cubicBezTo>
                    <a:pt x="9456" y="21"/>
                    <a:pt x="9467" y="22"/>
                    <a:pt x="9489" y="23"/>
                  </a:cubicBezTo>
                  <a:close/>
                  <a:moveTo>
                    <a:pt x="6376" y="50"/>
                  </a:moveTo>
                  <a:lnTo>
                    <a:pt x="6376" y="50"/>
                  </a:lnTo>
                  <a:cubicBezTo>
                    <a:pt x="6365" y="52"/>
                    <a:pt x="6349" y="51"/>
                    <a:pt x="6330" y="49"/>
                  </a:cubicBezTo>
                  <a:cubicBezTo>
                    <a:pt x="6344" y="49"/>
                    <a:pt x="6359" y="49"/>
                    <a:pt x="6376" y="50"/>
                  </a:cubicBezTo>
                  <a:close/>
                  <a:moveTo>
                    <a:pt x="5258" y="60"/>
                  </a:moveTo>
                  <a:lnTo>
                    <a:pt x="5258" y="60"/>
                  </a:lnTo>
                  <a:cubicBezTo>
                    <a:pt x="5244" y="61"/>
                    <a:pt x="5216" y="64"/>
                    <a:pt x="5205" y="61"/>
                  </a:cubicBezTo>
                  <a:cubicBezTo>
                    <a:pt x="5222" y="55"/>
                    <a:pt x="5234" y="58"/>
                    <a:pt x="5258" y="60"/>
                  </a:cubicBezTo>
                  <a:close/>
                  <a:moveTo>
                    <a:pt x="4523" y="61"/>
                  </a:moveTo>
                  <a:lnTo>
                    <a:pt x="4523" y="61"/>
                  </a:lnTo>
                  <a:lnTo>
                    <a:pt x="4572" y="65"/>
                  </a:lnTo>
                  <a:cubicBezTo>
                    <a:pt x="4513" y="71"/>
                    <a:pt x="4470" y="69"/>
                    <a:pt x="4516" y="75"/>
                  </a:cubicBezTo>
                  <a:cubicBezTo>
                    <a:pt x="4523" y="61"/>
                    <a:pt x="4707" y="74"/>
                    <a:pt x="4714" y="60"/>
                  </a:cubicBezTo>
                  <a:lnTo>
                    <a:pt x="4747" y="63"/>
                  </a:lnTo>
                  <a:cubicBezTo>
                    <a:pt x="4737" y="63"/>
                    <a:pt x="4736" y="64"/>
                    <a:pt x="4727" y="64"/>
                  </a:cubicBezTo>
                  <a:cubicBezTo>
                    <a:pt x="4790" y="70"/>
                    <a:pt x="4774" y="54"/>
                    <a:pt x="4855" y="56"/>
                  </a:cubicBezTo>
                  <a:cubicBezTo>
                    <a:pt x="4883" y="57"/>
                    <a:pt x="4903" y="59"/>
                    <a:pt x="4884" y="61"/>
                  </a:cubicBezTo>
                  <a:lnTo>
                    <a:pt x="4947" y="57"/>
                  </a:lnTo>
                  <a:cubicBezTo>
                    <a:pt x="4965" y="58"/>
                    <a:pt x="4961" y="60"/>
                    <a:pt x="4942" y="60"/>
                  </a:cubicBezTo>
                  <a:lnTo>
                    <a:pt x="5039" y="59"/>
                  </a:lnTo>
                  <a:lnTo>
                    <a:pt x="5038" y="59"/>
                  </a:lnTo>
                  <a:cubicBezTo>
                    <a:pt x="5052" y="57"/>
                    <a:pt x="5083" y="54"/>
                    <a:pt x="5098" y="52"/>
                  </a:cubicBezTo>
                  <a:cubicBezTo>
                    <a:pt x="5122" y="54"/>
                    <a:pt x="5086" y="54"/>
                    <a:pt x="5092" y="56"/>
                  </a:cubicBezTo>
                  <a:lnTo>
                    <a:pt x="5145" y="52"/>
                  </a:lnTo>
                  <a:cubicBezTo>
                    <a:pt x="5167" y="56"/>
                    <a:pt x="5123" y="59"/>
                    <a:pt x="5086" y="59"/>
                  </a:cubicBezTo>
                  <a:cubicBezTo>
                    <a:pt x="5136" y="73"/>
                    <a:pt x="5130" y="55"/>
                    <a:pt x="5238" y="64"/>
                  </a:cubicBezTo>
                  <a:lnTo>
                    <a:pt x="5187" y="65"/>
                  </a:lnTo>
                  <a:cubicBezTo>
                    <a:pt x="5220" y="73"/>
                    <a:pt x="5259" y="70"/>
                    <a:pt x="5316" y="75"/>
                  </a:cubicBezTo>
                  <a:cubicBezTo>
                    <a:pt x="5302" y="73"/>
                    <a:pt x="5202" y="63"/>
                    <a:pt x="5260" y="60"/>
                  </a:cubicBezTo>
                  <a:cubicBezTo>
                    <a:pt x="5276" y="61"/>
                    <a:pt x="5298" y="61"/>
                    <a:pt x="5329" y="59"/>
                  </a:cubicBezTo>
                  <a:cubicBezTo>
                    <a:pt x="5329" y="63"/>
                    <a:pt x="5359" y="62"/>
                    <a:pt x="5398" y="62"/>
                  </a:cubicBezTo>
                  <a:lnTo>
                    <a:pt x="5395" y="69"/>
                  </a:lnTo>
                  <a:cubicBezTo>
                    <a:pt x="5436" y="67"/>
                    <a:pt x="5433" y="64"/>
                    <a:pt x="5457" y="61"/>
                  </a:cubicBezTo>
                  <a:cubicBezTo>
                    <a:pt x="5503" y="61"/>
                    <a:pt x="5513" y="66"/>
                    <a:pt x="5523" y="71"/>
                  </a:cubicBezTo>
                  <a:cubicBezTo>
                    <a:pt x="5597" y="72"/>
                    <a:pt x="5473" y="63"/>
                    <a:pt x="5560" y="62"/>
                  </a:cubicBezTo>
                  <a:cubicBezTo>
                    <a:pt x="5621" y="64"/>
                    <a:pt x="5664" y="62"/>
                    <a:pt x="5737" y="58"/>
                  </a:cubicBezTo>
                  <a:cubicBezTo>
                    <a:pt x="5780" y="60"/>
                    <a:pt x="5730" y="62"/>
                    <a:pt x="5745" y="64"/>
                  </a:cubicBezTo>
                  <a:lnTo>
                    <a:pt x="5783" y="59"/>
                  </a:lnTo>
                  <a:cubicBezTo>
                    <a:pt x="5792" y="59"/>
                    <a:pt x="5789" y="60"/>
                    <a:pt x="5788" y="61"/>
                  </a:cubicBezTo>
                  <a:cubicBezTo>
                    <a:pt x="5820" y="59"/>
                    <a:pt x="5790" y="55"/>
                    <a:pt x="5841" y="53"/>
                  </a:cubicBezTo>
                  <a:cubicBezTo>
                    <a:pt x="5854" y="46"/>
                    <a:pt x="5944" y="64"/>
                    <a:pt x="6006" y="56"/>
                  </a:cubicBezTo>
                  <a:cubicBezTo>
                    <a:pt x="6021" y="58"/>
                    <a:pt x="5999" y="60"/>
                    <a:pt x="6003" y="62"/>
                  </a:cubicBezTo>
                  <a:cubicBezTo>
                    <a:pt x="6089" y="57"/>
                    <a:pt x="6077" y="59"/>
                    <a:pt x="6147" y="52"/>
                  </a:cubicBezTo>
                  <a:lnTo>
                    <a:pt x="6206" y="56"/>
                  </a:lnTo>
                  <a:cubicBezTo>
                    <a:pt x="6163" y="51"/>
                    <a:pt x="6219" y="45"/>
                    <a:pt x="6268" y="41"/>
                  </a:cubicBezTo>
                  <a:cubicBezTo>
                    <a:pt x="6252" y="38"/>
                    <a:pt x="6239" y="36"/>
                    <a:pt x="6230" y="35"/>
                  </a:cubicBezTo>
                  <a:lnTo>
                    <a:pt x="6308" y="32"/>
                  </a:lnTo>
                  <a:cubicBezTo>
                    <a:pt x="6318" y="33"/>
                    <a:pt x="6310" y="35"/>
                    <a:pt x="6297" y="38"/>
                  </a:cubicBezTo>
                  <a:lnTo>
                    <a:pt x="6311" y="36"/>
                  </a:lnTo>
                  <a:cubicBezTo>
                    <a:pt x="6339" y="39"/>
                    <a:pt x="6325" y="43"/>
                    <a:pt x="6305" y="46"/>
                  </a:cubicBezTo>
                  <a:lnTo>
                    <a:pt x="6277" y="42"/>
                  </a:lnTo>
                  <a:cubicBezTo>
                    <a:pt x="6257" y="46"/>
                    <a:pt x="6239" y="50"/>
                    <a:pt x="6243" y="54"/>
                  </a:cubicBezTo>
                  <a:cubicBezTo>
                    <a:pt x="6248" y="53"/>
                    <a:pt x="6258" y="53"/>
                    <a:pt x="6269" y="52"/>
                  </a:cubicBezTo>
                  <a:cubicBezTo>
                    <a:pt x="6264" y="53"/>
                    <a:pt x="6261" y="54"/>
                    <a:pt x="6263" y="55"/>
                  </a:cubicBezTo>
                  <a:cubicBezTo>
                    <a:pt x="6266" y="56"/>
                    <a:pt x="6274" y="54"/>
                    <a:pt x="6287" y="53"/>
                  </a:cubicBezTo>
                  <a:lnTo>
                    <a:pt x="6304" y="60"/>
                  </a:lnTo>
                  <a:lnTo>
                    <a:pt x="6309" y="57"/>
                  </a:lnTo>
                  <a:lnTo>
                    <a:pt x="6411" y="62"/>
                  </a:lnTo>
                  <a:cubicBezTo>
                    <a:pt x="6485" y="55"/>
                    <a:pt x="6548" y="44"/>
                    <a:pt x="6665" y="41"/>
                  </a:cubicBezTo>
                  <a:cubicBezTo>
                    <a:pt x="6636" y="47"/>
                    <a:pt x="6659" y="50"/>
                    <a:pt x="6657" y="56"/>
                  </a:cubicBezTo>
                  <a:cubicBezTo>
                    <a:pt x="6625" y="50"/>
                    <a:pt x="6567" y="59"/>
                    <a:pt x="6507" y="58"/>
                  </a:cubicBezTo>
                  <a:cubicBezTo>
                    <a:pt x="6538" y="58"/>
                    <a:pt x="6531" y="61"/>
                    <a:pt x="6523" y="62"/>
                  </a:cubicBezTo>
                  <a:lnTo>
                    <a:pt x="6631" y="57"/>
                  </a:lnTo>
                  <a:cubicBezTo>
                    <a:pt x="6628" y="62"/>
                    <a:pt x="6654" y="60"/>
                    <a:pt x="6682" y="63"/>
                  </a:cubicBezTo>
                  <a:cubicBezTo>
                    <a:pt x="6660" y="52"/>
                    <a:pt x="6762" y="56"/>
                    <a:pt x="6806" y="53"/>
                  </a:cubicBezTo>
                  <a:cubicBezTo>
                    <a:pt x="6808" y="56"/>
                    <a:pt x="6798" y="60"/>
                    <a:pt x="6744" y="59"/>
                  </a:cubicBezTo>
                  <a:cubicBezTo>
                    <a:pt x="6803" y="67"/>
                    <a:pt x="6821" y="47"/>
                    <a:pt x="6879" y="54"/>
                  </a:cubicBezTo>
                  <a:cubicBezTo>
                    <a:pt x="6865" y="54"/>
                    <a:pt x="6858" y="53"/>
                    <a:pt x="6853" y="55"/>
                  </a:cubicBezTo>
                  <a:cubicBezTo>
                    <a:pt x="6884" y="52"/>
                    <a:pt x="6958" y="55"/>
                    <a:pt x="6941" y="58"/>
                  </a:cubicBezTo>
                  <a:lnTo>
                    <a:pt x="6928" y="58"/>
                  </a:lnTo>
                  <a:cubicBezTo>
                    <a:pt x="7014" y="59"/>
                    <a:pt x="7191" y="58"/>
                    <a:pt x="7204" y="50"/>
                  </a:cubicBezTo>
                  <a:cubicBezTo>
                    <a:pt x="7205" y="51"/>
                    <a:pt x="7193" y="60"/>
                    <a:pt x="7188" y="62"/>
                  </a:cubicBezTo>
                  <a:lnTo>
                    <a:pt x="7342" y="33"/>
                  </a:lnTo>
                  <a:cubicBezTo>
                    <a:pt x="7329" y="41"/>
                    <a:pt x="7381" y="58"/>
                    <a:pt x="7309" y="62"/>
                  </a:cubicBezTo>
                  <a:cubicBezTo>
                    <a:pt x="7330" y="63"/>
                    <a:pt x="7355" y="65"/>
                    <a:pt x="7399" y="62"/>
                  </a:cubicBezTo>
                  <a:cubicBezTo>
                    <a:pt x="7385" y="61"/>
                    <a:pt x="7364" y="51"/>
                    <a:pt x="7383" y="51"/>
                  </a:cubicBezTo>
                  <a:cubicBezTo>
                    <a:pt x="7436" y="59"/>
                    <a:pt x="7420" y="55"/>
                    <a:pt x="7485" y="62"/>
                  </a:cubicBezTo>
                  <a:cubicBezTo>
                    <a:pt x="7463" y="61"/>
                    <a:pt x="7487" y="49"/>
                    <a:pt x="7520" y="50"/>
                  </a:cubicBezTo>
                  <a:cubicBezTo>
                    <a:pt x="7515" y="51"/>
                    <a:pt x="7523" y="61"/>
                    <a:pt x="7511" y="62"/>
                  </a:cubicBezTo>
                  <a:lnTo>
                    <a:pt x="7594" y="51"/>
                  </a:lnTo>
                  <a:cubicBezTo>
                    <a:pt x="7573" y="53"/>
                    <a:pt x="7590" y="61"/>
                    <a:pt x="7609" y="64"/>
                  </a:cubicBezTo>
                  <a:cubicBezTo>
                    <a:pt x="7600" y="62"/>
                    <a:pt x="7680" y="64"/>
                    <a:pt x="7702" y="63"/>
                  </a:cubicBezTo>
                  <a:lnTo>
                    <a:pt x="7667" y="61"/>
                  </a:lnTo>
                  <a:cubicBezTo>
                    <a:pt x="7761" y="63"/>
                    <a:pt x="7760" y="45"/>
                    <a:pt x="7853" y="46"/>
                  </a:cubicBezTo>
                  <a:cubicBezTo>
                    <a:pt x="7842" y="48"/>
                    <a:pt x="7825" y="60"/>
                    <a:pt x="7872" y="62"/>
                  </a:cubicBezTo>
                  <a:cubicBezTo>
                    <a:pt x="7894" y="56"/>
                    <a:pt x="7968" y="34"/>
                    <a:pt x="8050" y="29"/>
                  </a:cubicBezTo>
                  <a:lnTo>
                    <a:pt x="8066" y="33"/>
                  </a:lnTo>
                  <a:lnTo>
                    <a:pt x="8129" y="29"/>
                  </a:lnTo>
                  <a:cubicBezTo>
                    <a:pt x="8090" y="38"/>
                    <a:pt x="7980" y="56"/>
                    <a:pt x="7919" y="63"/>
                  </a:cubicBezTo>
                  <a:cubicBezTo>
                    <a:pt x="7954" y="66"/>
                    <a:pt x="7929" y="67"/>
                    <a:pt x="7982" y="67"/>
                  </a:cubicBezTo>
                  <a:cubicBezTo>
                    <a:pt x="8000" y="70"/>
                    <a:pt x="7953" y="72"/>
                    <a:pt x="7938" y="72"/>
                  </a:cubicBezTo>
                  <a:lnTo>
                    <a:pt x="8060" y="74"/>
                  </a:lnTo>
                  <a:cubicBezTo>
                    <a:pt x="8054" y="67"/>
                    <a:pt x="8153" y="67"/>
                    <a:pt x="8149" y="62"/>
                  </a:cubicBezTo>
                  <a:lnTo>
                    <a:pt x="8016" y="68"/>
                  </a:lnTo>
                  <a:cubicBezTo>
                    <a:pt x="8011" y="62"/>
                    <a:pt x="8093" y="49"/>
                    <a:pt x="8179" y="51"/>
                  </a:cubicBezTo>
                  <a:cubicBezTo>
                    <a:pt x="8201" y="53"/>
                    <a:pt x="8163" y="63"/>
                    <a:pt x="8165" y="65"/>
                  </a:cubicBezTo>
                  <a:cubicBezTo>
                    <a:pt x="8176" y="63"/>
                    <a:pt x="8247" y="61"/>
                    <a:pt x="8255" y="62"/>
                  </a:cubicBezTo>
                  <a:lnTo>
                    <a:pt x="8218" y="66"/>
                  </a:lnTo>
                  <a:cubicBezTo>
                    <a:pt x="8266" y="69"/>
                    <a:pt x="8297" y="57"/>
                    <a:pt x="8355" y="64"/>
                  </a:cubicBezTo>
                  <a:cubicBezTo>
                    <a:pt x="8375" y="64"/>
                    <a:pt x="8414" y="73"/>
                    <a:pt x="8418" y="69"/>
                  </a:cubicBezTo>
                  <a:cubicBezTo>
                    <a:pt x="8385" y="61"/>
                    <a:pt x="8379" y="37"/>
                    <a:pt x="8401" y="31"/>
                  </a:cubicBezTo>
                  <a:cubicBezTo>
                    <a:pt x="8408" y="31"/>
                    <a:pt x="8505" y="38"/>
                    <a:pt x="8528" y="42"/>
                  </a:cubicBezTo>
                  <a:cubicBezTo>
                    <a:pt x="8561" y="48"/>
                    <a:pt x="8479" y="57"/>
                    <a:pt x="8507" y="62"/>
                  </a:cubicBezTo>
                  <a:cubicBezTo>
                    <a:pt x="8508" y="60"/>
                    <a:pt x="8526" y="58"/>
                    <a:pt x="8534" y="57"/>
                  </a:cubicBezTo>
                  <a:cubicBezTo>
                    <a:pt x="8555" y="59"/>
                    <a:pt x="8525" y="63"/>
                    <a:pt x="8571" y="62"/>
                  </a:cubicBezTo>
                  <a:cubicBezTo>
                    <a:pt x="8578" y="55"/>
                    <a:pt x="8664" y="63"/>
                    <a:pt x="8592" y="56"/>
                  </a:cubicBezTo>
                  <a:cubicBezTo>
                    <a:pt x="8637" y="55"/>
                    <a:pt x="8640" y="58"/>
                    <a:pt x="8692" y="58"/>
                  </a:cubicBezTo>
                  <a:cubicBezTo>
                    <a:pt x="8675" y="53"/>
                    <a:pt x="8739" y="43"/>
                    <a:pt x="8784" y="41"/>
                  </a:cubicBezTo>
                  <a:cubicBezTo>
                    <a:pt x="8781" y="42"/>
                    <a:pt x="8791" y="45"/>
                    <a:pt x="8796" y="46"/>
                  </a:cubicBezTo>
                  <a:cubicBezTo>
                    <a:pt x="8888" y="47"/>
                    <a:pt x="8937" y="50"/>
                    <a:pt x="9022" y="50"/>
                  </a:cubicBezTo>
                  <a:cubicBezTo>
                    <a:pt x="9030" y="52"/>
                    <a:pt x="9071" y="54"/>
                    <a:pt x="9054" y="57"/>
                  </a:cubicBezTo>
                  <a:cubicBezTo>
                    <a:pt x="9066" y="56"/>
                    <a:pt x="9077" y="53"/>
                    <a:pt x="9103" y="53"/>
                  </a:cubicBezTo>
                  <a:cubicBezTo>
                    <a:pt x="9154" y="59"/>
                    <a:pt x="9045" y="54"/>
                    <a:pt x="9084" y="61"/>
                  </a:cubicBezTo>
                  <a:cubicBezTo>
                    <a:pt x="9087" y="57"/>
                    <a:pt x="9152" y="56"/>
                    <a:pt x="9189" y="53"/>
                  </a:cubicBezTo>
                  <a:cubicBezTo>
                    <a:pt x="9178" y="47"/>
                    <a:pt x="9103" y="52"/>
                    <a:pt x="9065" y="54"/>
                  </a:cubicBezTo>
                  <a:cubicBezTo>
                    <a:pt x="9065" y="46"/>
                    <a:pt x="9130" y="37"/>
                    <a:pt x="9219" y="33"/>
                  </a:cubicBezTo>
                  <a:cubicBezTo>
                    <a:pt x="9290" y="31"/>
                    <a:pt x="9250" y="39"/>
                    <a:pt x="9262" y="38"/>
                  </a:cubicBezTo>
                  <a:cubicBezTo>
                    <a:pt x="9395" y="39"/>
                    <a:pt x="9376" y="23"/>
                    <a:pt x="9486" y="29"/>
                  </a:cubicBezTo>
                  <a:cubicBezTo>
                    <a:pt x="9530" y="35"/>
                    <a:pt x="9488" y="40"/>
                    <a:pt x="9498" y="44"/>
                  </a:cubicBezTo>
                  <a:cubicBezTo>
                    <a:pt x="9440" y="46"/>
                    <a:pt x="9409" y="40"/>
                    <a:pt x="9370" y="40"/>
                  </a:cubicBezTo>
                  <a:lnTo>
                    <a:pt x="9418" y="43"/>
                  </a:lnTo>
                  <a:cubicBezTo>
                    <a:pt x="9400" y="45"/>
                    <a:pt x="9361" y="46"/>
                    <a:pt x="9340" y="45"/>
                  </a:cubicBezTo>
                  <a:cubicBezTo>
                    <a:pt x="9377" y="50"/>
                    <a:pt x="9565" y="46"/>
                    <a:pt x="9668" y="51"/>
                  </a:cubicBezTo>
                  <a:cubicBezTo>
                    <a:pt x="9686" y="49"/>
                    <a:pt x="9718" y="47"/>
                    <a:pt x="9703" y="45"/>
                  </a:cubicBezTo>
                  <a:lnTo>
                    <a:pt x="9670" y="45"/>
                  </a:lnTo>
                  <a:cubicBezTo>
                    <a:pt x="9640" y="41"/>
                    <a:pt x="9732" y="39"/>
                    <a:pt x="9690" y="37"/>
                  </a:cubicBezTo>
                  <a:cubicBezTo>
                    <a:pt x="9734" y="34"/>
                    <a:pt x="9783" y="29"/>
                    <a:pt x="9844" y="32"/>
                  </a:cubicBezTo>
                  <a:lnTo>
                    <a:pt x="9856" y="38"/>
                  </a:lnTo>
                  <a:cubicBezTo>
                    <a:pt x="9854" y="36"/>
                    <a:pt x="9816" y="35"/>
                    <a:pt x="9798" y="36"/>
                  </a:cubicBezTo>
                  <a:cubicBezTo>
                    <a:pt x="9824" y="34"/>
                    <a:pt x="9892" y="45"/>
                    <a:pt x="9920" y="37"/>
                  </a:cubicBezTo>
                  <a:lnTo>
                    <a:pt x="9877" y="32"/>
                  </a:lnTo>
                  <a:cubicBezTo>
                    <a:pt x="9921" y="29"/>
                    <a:pt x="9975" y="23"/>
                    <a:pt x="10030" y="25"/>
                  </a:cubicBezTo>
                  <a:cubicBezTo>
                    <a:pt x="10005" y="19"/>
                    <a:pt x="10017" y="26"/>
                    <a:pt x="9979" y="18"/>
                  </a:cubicBezTo>
                  <a:cubicBezTo>
                    <a:pt x="10012" y="27"/>
                    <a:pt x="9839" y="18"/>
                    <a:pt x="9893" y="27"/>
                  </a:cubicBezTo>
                  <a:cubicBezTo>
                    <a:pt x="9854" y="19"/>
                    <a:pt x="9825" y="24"/>
                    <a:pt x="9773" y="16"/>
                  </a:cubicBezTo>
                  <a:cubicBezTo>
                    <a:pt x="9774" y="18"/>
                    <a:pt x="9791" y="20"/>
                    <a:pt x="9746" y="19"/>
                  </a:cubicBezTo>
                  <a:cubicBezTo>
                    <a:pt x="9743" y="20"/>
                    <a:pt x="9739" y="21"/>
                    <a:pt x="9735" y="21"/>
                  </a:cubicBezTo>
                  <a:lnTo>
                    <a:pt x="9732" y="21"/>
                  </a:lnTo>
                  <a:lnTo>
                    <a:pt x="9735" y="21"/>
                  </a:lnTo>
                  <a:cubicBezTo>
                    <a:pt x="9733" y="21"/>
                    <a:pt x="9733" y="22"/>
                    <a:pt x="9736" y="21"/>
                  </a:cubicBezTo>
                  <a:cubicBezTo>
                    <a:pt x="9747" y="22"/>
                    <a:pt x="9756" y="23"/>
                    <a:pt x="9759" y="24"/>
                  </a:cubicBezTo>
                  <a:cubicBezTo>
                    <a:pt x="9736" y="29"/>
                    <a:pt x="9664" y="29"/>
                    <a:pt x="9639" y="31"/>
                  </a:cubicBezTo>
                  <a:cubicBezTo>
                    <a:pt x="9612" y="30"/>
                    <a:pt x="9651" y="29"/>
                    <a:pt x="9636" y="27"/>
                  </a:cubicBezTo>
                  <a:lnTo>
                    <a:pt x="9599" y="30"/>
                  </a:lnTo>
                  <a:cubicBezTo>
                    <a:pt x="9596" y="26"/>
                    <a:pt x="9527" y="23"/>
                    <a:pt x="9591" y="20"/>
                  </a:cubicBezTo>
                  <a:lnTo>
                    <a:pt x="9534" y="20"/>
                  </a:lnTo>
                  <a:cubicBezTo>
                    <a:pt x="9500" y="17"/>
                    <a:pt x="9453" y="16"/>
                    <a:pt x="9425" y="18"/>
                  </a:cubicBezTo>
                  <a:cubicBezTo>
                    <a:pt x="9398" y="17"/>
                    <a:pt x="9356" y="23"/>
                    <a:pt x="9380" y="19"/>
                  </a:cubicBezTo>
                  <a:lnTo>
                    <a:pt x="9290" y="22"/>
                  </a:lnTo>
                  <a:lnTo>
                    <a:pt x="9289" y="21"/>
                  </a:lnTo>
                  <a:cubicBezTo>
                    <a:pt x="9200" y="20"/>
                    <a:pt x="9106" y="28"/>
                    <a:pt x="9004" y="20"/>
                  </a:cubicBezTo>
                  <a:cubicBezTo>
                    <a:pt x="8974" y="21"/>
                    <a:pt x="8944" y="22"/>
                    <a:pt x="8893" y="21"/>
                  </a:cubicBezTo>
                  <a:lnTo>
                    <a:pt x="8884" y="17"/>
                  </a:lnTo>
                  <a:cubicBezTo>
                    <a:pt x="8845" y="18"/>
                    <a:pt x="8768" y="13"/>
                    <a:pt x="8752" y="17"/>
                  </a:cubicBezTo>
                  <a:cubicBezTo>
                    <a:pt x="8710" y="7"/>
                    <a:pt x="8565" y="14"/>
                    <a:pt x="8498" y="12"/>
                  </a:cubicBezTo>
                  <a:lnTo>
                    <a:pt x="8495" y="17"/>
                  </a:lnTo>
                  <a:cubicBezTo>
                    <a:pt x="8449" y="17"/>
                    <a:pt x="8404" y="18"/>
                    <a:pt x="8346" y="20"/>
                  </a:cubicBezTo>
                  <a:lnTo>
                    <a:pt x="8350" y="25"/>
                  </a:lnTo>
                  <a:cubicBezTo>
                    <a:pt x="8300" y="28"/>
                    <a:pt x="8222" y="21"/>
                    <a:pt x="8143" y="22"/>
                  </a:cubicBezTo>
                  <a:cubicBezTo>
                    <a:pt x="8149" y="20"/>
                    <a:pt x="8169" y="20"/>
                    <a:pt x="8183" y="21"/>
                  </a:cubicBezTo>
                  <a:cubicBezTo>
                    <a:pt x="8089" y="11"/>
                    <a:pt x="7984" y="28"/>
                    <a:pt x="7899" y="21"/>
                  </a:cubicBezTo>
                  <a:cubicBezTo>
                    <a:pt x="7878" y="22"/>
                    <a:pt x="7862" y="22"/>
                    <a:pt x="7848" y="21"/>
                  </a:cubicBezTo>
                  <a:cubicBezTo>
                    <a:pt x="7850" y="21"/>
                    <a:pt x="7851" y="21"/>
                    <a:pt x="7853" y="20"/>
                  </a:cubicBezTo>
                  <a:lnTo>
                    <a:pt x="7844" y="20"/>
                  </a:lnTo>
                  <a:lnTo>
                    <a:pt x="7815" y="18"/>
                  </a:lnTo>
                  <a:cubicBezTo>
                    <a:pt x="7823" y="19"/>
                    <a:pt x="7832" y="20"/>
                    <a:pt x="7839" y="20"/>
                  </a:cubicBezTo>
                  <a:cubicBezTo>
                    <a:pt x="7823" y="20"/>
                    <a:pt x="7798" y="21"/>
                    <a:pt x="7774" y="22"/>
                  </a:cubicBezTo>
                  <a:lnTo>
                    <a:pt x="7763" y="17"/>
                  </a:lnTo>
                  <a:lnTo>
                    <a:pt x="7758" y="17"/>
                  </a:lnTo>
                  <a:cubicBezTo>
                    <a:pt x="7734" y="15"/>
                    <a:pt x="7739" y="19"/>
                    <a:pt x="7751" y="23"/>
                  </a:cubicBezTo>
                  <a:cubicBezTo>
                    <a:pt x="7739" y="24"/>
                    <a:pt x="7728" y="25"/>
                    <a:pt x="7719" y="26"/>
                  </a:cubicBezTo>
                  <a:cubicBezTo>
                    <a:pt x="7700" y="18"/>
                    <a:pt x="7655" y="29"/>
                    <a:pt x="7629" y="20"/>
                  </a:cubicBezTo>
                  <a:cubicBezTo>
                    <a:pt x="7612" y="24"/>
                    <a:pt x="7506" y="23"/>
                    <a:pt x="7493" y="32"/>
                  </a:cubicBezTo>
                  <a:cubicBezTo>
                    <a:pt x="7492" y="30"/>
                    <a:pt x="7485" y="30"/>
                    <a:pt x="7498" y="30"/>
                  </a:cubicBezTo>
                  <a:cubicBezTo>
                    <a:pt x="7471" y="29"/>
                    <a:pt x="7444" y="28"/>
                    <a:pt x="7420" y="30"/>
                  </a:cubicBezTo>
                  <a:lnTo>
                    <a:pt x="7408" y="24"/>
                  </a:lnTo>
                  <a:lnTo>
                    <a:pt x="7349" y="32"/>
                  </a:lnTo>
                  <a:cubicBezTo>
                    <a:pt x="7313" y="28"/>
                    <a:pt x="7298" y="26"/>
                    <a:pt x="7334" y="21"/>
                  </a:cubicBezTo>
                  <a:cubicBezTo>
                    <a:pt x="7247" y="28"/>
                    <a:pt x="7263" y="24"/>
                    <a:pt x="7190" y="31"/>
                  </a:cubicBezTo>
                  <a:lnTo>
                    <a:pt x="7194" y="27"/>
                  </a:lnTo>
                  <a:cubicBezTo>
                    <a:pt x="7167" y="27"/>
                    <a:pt x="7125" y="32"/>
                    <a:pt x="7109" y="29"/>
                  </a:cubicBezTo>
                  <a:cubicBezTo>
                    <a:pt x="7051" y="21"/>
                    <a:pt x="6819" y="27"/>
                    <a:pt x="6668" y="20"/>
                  </a:cubicBezTo>
                  <a:cubicBezTo>
                    <a:pt x="6697" y="32"/>
                    <a:pt x="6598" y="14"/>
                    <a:pt x="6592" y="24"/>
                  </a:cubicBezTo>
                  <a:cubicBezTo>
                    <a:pt x="6583" y="21"/>
                    <a:pt x="6562" y="19"/>
                    <a:pt x="6586" y="17"/>
                  </a:cubicBezTo>
                  <a:cubicBezTo>
                    <a:pt x="6509" y="19"/>
                    <a:pt x="6471" y="12"/>
                    <a:pt x="6418" y="20"/>
                  </a:cubicBezTo>
                  <a:cubicBezTo>
                    <a:pt x="6409" y="17"/>
                    <a:pt x="6434" y="16"/>
                    <a:pt x="6426" y="14"/>
                  </a:cubicBezTo>
                  <a:cubicBezTo>
                    <a:pt x="6420" y="14"/>
                    <a:pt x="6402" y="16"/>
                    <a:pt x="6394" y="15"/>
                  </a:cubicBezTo>
                  <a:cubicBezTo>
                    <a:pt x="6386" y="13"/>
                    <a:pt x="6405" y="12"/>
                    <a:pt x="6417" y="11"/>
                  </a:cubicBezTo>
                  <a:cubicBezTo>
                    <a:pt x="6339" y="11"/>
                    <a:pt x="6331" y="20"/>
                    <a:pt x="6325" y="28"/>
                  </a:cubicBezTo>
                  <a:cubicBezTo>
                    <a:pt x="6285" y="24"/>
                    <a:pt x="6265" y="25"/>
                    <a:pt x="6236" y="30"/>
                  </a:cubicBezTo>
                  <a:cubicBezTo>
                    <a:pt x="6223" y="27"/>
                    <a:pt x="6199" y="24"/>
                    <a:pt x="6248" y="24"/>
                  </a:cubicBezTo>
                  <a:cubicBezTo>
                    <a:pt x="6221" y="23"/>
                    <a:pt x="6080" y="19"/>
                    <a:pt x="6078" y="26"/>
                  </a:cubicBezTo>
                  <a:cubicBezTo>
                    <a:pt x="6069" y="24"/>
                    <a:pt x="6039" y="25"/>
                    <a:pt x="6032" y="26"/>
                  </a:cubicBezTo>
                  <a:cubicBezTo>
                    <a:pt x="5970" y="25"/>
                    <a:pt x="5965" y="25"/>
                    <a:pt x="5904" y="25"/>
                  </a:cubicBezTo>
                  <a:lnTo>
                    <a:pt x="5921" y="26"/>
                  </a:lnTo>
                  <a:cubicBezTo>
                    <a:pt x="5897" y="34"/>
                    <a:pt x="5871" y="28"/>
                    <a:pt x="5822" y="29"/>
                  </a:cubicBezTo>
                  <a:lnTo>
                    <a:pt x="5823" y="28"/>
                  </a:lnTo>
                  <a:cubicBezTo>
                    <a:pt x="5711" y="22"/>
                    <a:pt x="5775" y="31"/>
                    <a:pt x="5665" y="24"/>
                  </a:cubicBezTo>
                  <a:lnTo>
                    <a:pt x="5671" y="29"/>
                  </a:lnTo>
                  <a:cubicBezTo>
                    <a:pt x="5660" y="39"/>
                    <a:pt x="5573" y="22"/>
                    <a:pt x="5509" y="26"/>
                  </a:cubicBezTo>
                  <a:lnTo>
                    <a:pt x="5532" y="29"/>
                  </a:lnTo>
                  <a:cubicBezTo>
                    <a:pt x="5497" y="33"/>
                    <a:pt x="5434" y="15"/>
                    <a:pt x="5399" y="13"/>
                  </a:cubicBezTo>
                  <a:cubicBezTo>
                    <a:pt x="5391" y="12"/>
                    <a:pt x="5411" y="12"/>
                    <a:pt x="5422" y="11"/>
                  </a:cubicBezTo>
                  <a:cubicBezTo>
                    <a:pt x="5330" y="6"/>
                    <a:pt x="5410" y="17"/>
                    <a:pt x="5341" y="19"/>
                  </a:cubicBezTo>
                  <a:cubicBezTo>
                    <a:pt x="5328" y="15"/>
                    <a:pt x="5357" y="10"/>
                    <a:pt x="5311" y="9"/>
                  </a:cubicBezTo>
                  <a:cubicBezTo>
                    <a:pt x="5288" y="7"/>
                    <a:pt x="5177" y="20"/>
                    <a:pt x="5114" y="13"/>
                  </a:cubicBezTo>
                  <a:cubicBezTo>
                    <a:pt x="5128" y="16"/>
                    <a:pt x="5142" y="19"/>
                    <a:pt x="5110" y="21"/>
                  </a:cubicBezTo>
                  <a:cubicBezTo>
                    <a:pt x="5061" y="21"/>
                    <a:pt x="4978" y="10"/>
                    <a:pt x="4934" y="19"/>
                  </a:cubicBezTo>
                  <a:cubicBezTo>
                    <a:pt x="4928" y="18"/>
                    <a:pt x="4925" y="17"/>
                    <a:pt x="4925" y="16"/>
                  </a:cubicBezTo>
                  <a:cubicBezTo>
                    <a:pt x="4888" y="19"/>
                    <a:pt x="4804" y="20"/>
                    <a:pt x="4781" y="24"/>
                  </a:cubicBezTo>
                  <a:cubicBezTo>
                    <a:pt x="4747" y="8"/>
                    <a:pt x="4549" y="32"/>
                    <a:pt x="4550" y="16"/>
                  </a:cubicBezTo>
                  <a:lnTo>
                    <a:pt x="4435" y="17"/>
                  </a:lnTo>
                  <a:lnTo>
                    <a:pt x="4438" y="15"/>
                  </a:lnTo>
                  <a:cubicBezTo>
                    <a:pt x="4365" y="14"/>
                    <a:pt x="4339" y="18"/>
                    <a:pt x="4313" y="22"/>
                  </a:cubicBezTo>
                  <a:cubicBezTo>
                    <a:pt x="4296" y="20"/>
                    <a:pt x="4309" y="19"/>
                    <a:pt x="4310" y="18"/>
                  </a:cubicBezTo>
                  <a:cubicBezTo>
                    <a:pt x="4203" y="15"/>
                    <a:pt x="4192" y="15"/>
                    <a:pt x="4102" y="23"/>
                  </a:cubicBezTo>
                  <a:lnTo>
                    <a:pt x="4093" y="18"/>
                  </a:lnTo>
                  <a:cubicBezTo>
                    <a:pt x="4068" y="21"/>
                    <a:pt x="3938" y="10"/>
                    <a:pt x="3833" y="15"/>
                  </a:cubicBezTo>
                  <a:cubicBezTo>
                    <a:pt x="3834" y="15"/>
                    <a:pt x="3836" y="14"/>
                    <a:pt x="3844" y="13"/>
                  </a:cubicBezTo>
                  <a:cubicBezTo>
                    <a:pt x="3726" y="19"/>
                    <a:pt x="3561" y="0"/>
                    <a:pt x="3518" y="17"/>
                  </a:cubicBezTo>
                  <a:lnTo>
                    <a:pt x="3439" y="21"/>
                  </a:lnTo>
                  <a:cubicBezTo>
                    <a:pt x="3540" y="23"/>
                    <a:pt x="3424" y="29"/>
                    <a:pt x="3466" y="32"/>
                  </a:cubicBezTo>
                  <a:cubicBezTo>
                    <a:pt x="3426" y="33"/>
                    <a:pt x="3363" y="27"/>
                    <a:pt x="3412" y="26"/>
                  </a:cubicBezTo>
                  <a:lnTo>
                    <a:pt x="3420" y="27"/>
                  </a:lnTo>
                  <a:cubicBezTo>
                    <a:pt x="3438" y="17"/>
                    <a:pt x="3294" y="23"/>
                    <a:pt x="3297" y="16"/>
                  </a:cubicBezTo>
                  <a:cubicBezTo>
                    <a:pt x="3098" y="17"/>
                    <a:pt x="2904" y="11"/>
                    <a:pt x="2718" y="10"/>
                  </a:cubicBezTo>
                  <a:lnTo>
                    <a:pt x="2740" y="18"/>
                  </a:lnTo>
                  <a:lnTo>
                    <a:pt x="2675" y="17"/>
                  </a:lnTo>
                  <a:cubicBezTo>
                    <a:pt x="2658" y="15"/>
                    <a:pt x="2652" y="11"/>
                    <a:pt x="2698" y="12"/>
                  </a:cubicBezTo>
                  <a:cubicBezTo>
                    <a:pt x="2674" y="8"/>
                    <a:pt x="2620" y="15"/>
                    <a:pt x="2619" y="17"/>
                  </a:cubicBezTo>
                  <a:cubicBezTo>
                    <a:pt x="2528" y="14"/>
                    <a:pt x="2655" y="9"/>
                    <a:pt x="2627" y="9"/>
                  </a:cubicBezTo>
                  <a:lnTo>
                    <a:pt x="2589" y="9"/>
                  </a:lnTo>
                  <a:lnTo>
                    <a:pt x="2597" y="9"/>
                  </a:lnTo>
                  <a:cubicBezTo>
                    <a:pt x="2567" y="12"/>
                    <a:pt x="2564" y="15"/>
                    <a:pt x="2508" y="15"/>
                  </a:cubicBezTo>
                  <a:cubicBezTo>
                    <a:pt x="2473" y="13"/>
                    <a:pt x="2490" y="10"/>
                    <a:pt x="2476" y="10"/>
                  </a:cubicBezTo>
                  <a:cubicBezTo>
                    <a:pt x="2477" y="10"/>
                    <a:pt x="2472" y="9"/>
                    <a:pt x="2455" y="10"/>
                  </a:cubicBezTo>
                  <a:lnTo>
                    <a:pt x="2373" y="9"/>
                  </a:lnTo>
                  <a:lnTo>
                    <a:pt x="2406" y="15"/>
                  </a:lnTo>
                  <a:cubicBezTo>
                    <a:pt x="2370" y="18"/>
                    <a:pt x="2329" y="15"/>
                    <a:pt x="2367" y="21"/>
                  </a:cubicBezTo>
                  <a:cubicBezTo>
                    <a:pt x="2311" y="11"/>
                    <a:pt x="2062" y="17"/>
                    <a:pt x="2028" y="14"/>
                  </a:cubicBezTo>
                  <a:cubicBezTo>
                    <a:pt x="1977" y="18"/>
                    <a:pt x="1927" y="18"/>
                    <a:pt x="1864" y="17"/>
                  </a:cubicBezTo>
                  <a:cubicBezTo>
                    <a:pt x="1880" y="19"/>
                    <a:pt x="1889" y="25"/>
                    <a:pt x="1836" y="24"/>
                  </a:cubicBezTo>
                  <a:cubicBezTo>
                    <a:pt x="1855" y="11"/>
                    <a:pt x="1737" y="18"/>
                    <a:pt x="1694" y="9"/>
                  </a:cubicBezTo>
                  <a:cubicBezTo>
                    <a:pt x="1733" y="15"/>
                    <a:pt x="1542" y="10"/>
                    <a:pt x="1603" y="19"/>
                  </a:cubicBezTo>
                  <a:cubicBezTo>
                    <a:pt x="1558" y="18"/>
                    <a:pt x="1600" y="14"/>
                    <a:pt x="1566" y="11"/>
                  </a:cubicBezTo>
                  <a:cubicBezTo>
                    <a:pt x="1460" y="16"/>
                    <a:pt x="1331" y="8"/>
                    <a:pt x="1200" y="9"/>
                  </a:cubicBezTo>
                  <a:cubicBezTo>
                    <a:pt x="1198" y="11"/>
                    <a:pt x="1220" y="13"/>
                    <a:pt x="1192" y="16"/>
                  </a:cubicBezTo>
                  <a:lnTo>
                    <a:pt x="1122" y="8"/>
                  </a:lnTo>
                  <a:cubicBezTo>
                    <a:pt x="1096" y="9"/>
                    <a:pt x="1098" y="17"/>
                    <a:pt x="1051" y="11"/>
                  </a:cubicBezTo>
                  <a:cubicBezTo>
                    <a:pt x="1058" y="13"/>
                    <a:pt x="1068" y="15"/>
                    <a:pt x="1050" y="15"/>
                  </a:cubicBezTo>
                  <a:cubicBezTo>
                    <a:pt x="792" y="7"/>
                    <a:pt x="524" y="22"/>
                    <a:pt x="262" y="7"/>
                  </a:cubicBezTo>
                  <a:cubicBezTo>
                    <a:pt x="297" y="9"/>
                    <a:pt x="274" y="10"/>
                    <a:pt x="247" y="10"/>
                  </a:cubicBezTo>
                  <a:cubicBezTo>
                    <a:pt x="264" y="11"/>
                    <a:pt x="246" y="14"/>
                    <a:pt x="250" y="17"/>
                  </a:cubicBezTo>
                  <a:lnTo>
                    <a:pt x="140" y="10"/>
                  </a:lnTo>
                  <a:cubicBezTo>
                    <a:pt x="120" y="17"/>
                    <a:pt x="23" y="10"/>
                    <a:pt x="11" y="17"/>
                  </a:cubicBezTo>
                  <a:lnTo>
                    <a:pt x="46" y="15"/>
                  </a:lnTo>
                  <a:cubicBezTo>
                    <a:pt x="0" y="23"/>
                    <a:pt x="111" y="32"/>
                    <a:pt x="104" y="42"/>
                  </a:cubicBezTo>
                  <a:cubicBezTo>
                    <a:pt x="156" y="33"/>
                    <a:pt x="240" y="55"/>
                    <a:pt x="325" y="43"/>
                  </a:cubicBezTo>
                  <a:cubicBezTo>
                    <a:pt x="344" y="45"/>
                    <a:pt x="309" y="46"/>
                    <a:pt x="319" y="48"/>
                  </a:cubicBezTo>
                  <a:cubicBezTo>
                    <a:pt x="340" y="44"/>
                    <a:pt x="366" y="43"/>
                    <a:pt x="414" y="45"/>
                  </a:cubicBezTo>
                  <a:lnTo>
                    <a:pt x="409" y="46"/>
                  </a:lnTo>
                  <a:cubicBezTo>
                    <a:pt x="544" y="45"/>
                    <a:pt x="602" y="49"/>
                    <a:pt x="754" y="52"/>
                  </a:cubicBezTo>
                  <a:lnTo>
                    <a:pt x="742" y="47"/>
                  </a:lnTo>
                  <a:cubicBezTo>
                    <a:pt x="775" y="48"/>
                    <a:pt x="782" y="49"/>
                    <a:pt x="797" y="50"/>
                  </a:cubicBezTo>
                  <a:cubicBezTo>
                    <a:pt x="835" y="43"/>
                    <a:pt x="706" y="50"/>
                    <a:pt x="740" y="42"/>
                  </a:cubicBezTo>
                  <a:cubicBezTo>
                    <a:pt x="783" y="52"/>
                    <a:pt x="970" y="42"/>
                    <a:pt x="999" y="53"/>
                  </a:cubicBezTo>
                  <a:cubicBezTo>
                    <a:pt x="1049" y="54"/>
                    <a:pt x="984" y="48"/>
                    <a:pt x="1034" y="48"/>
                  </a:cubicBezTo>
                  <a:lnTo>
                    <a:pt x="1048" y="51"/>
                  </a:lnTo>
                  <a:lnTo>
                    <a:pt x="1060" y="47"/>
                  </a:lnTo>
                  <a:cubicBezTo>
                    <a:pt x="1093" y="48"/>
                    <a:pt x="1110" y="52"/>
                    <a:pt x="1111" y="54"/>
                  </a:cubicBezTo>
                  <a:cubicBezTo>
                    <a:pt x="1103" y="54"/>
                    <a:pt x="1088" y="55"/>
                    <a:pt x="1080" y="55"/>
                  </a:cubicBezTo>
                  <a:cubicBezTo>
                    <a:pt x="1122" y="59"/>
                    <a:pt x="1200" y="54"/>
                    <a:pt x="1215" y="55"/>
                  </a:cubicBezTo>
                  <a:lnTo>
                    <a:pt x="1166" y="53"/>
                  </a:lnTo>
                  <a:cubicBezTo>
                    <a:pt x="1303" y="50"/>
                    <a:pt x="1470" y="55"/>
                    <a:pt x="1603" y="49"/>
                  </a:cubicBezTo>
                  <a:lnTo>
                    <a:pt x="1593" y="46"/>
                  </a:lnTo>
                  <a:cubicBezTo>
                    <a:pt x="1694" y="42"/>
                    <a:pt x="1674" y="49"/>
                    <a:pt x="1784" y="47"/>
                  </a:cubicBezTo>
                  <a:lnTo>
                    <a:pt x="1780" y="48"/>
                  </a:lnTo>
                  <a:cubicBezTo>
                    <a:pt x="1803" y="45"/>
                    <a:pt x="1832" y="44"/>
                    <a:pt x="1863" y="45"/>
                  </a:cubicBezTo>
                  <a:cubicBezTo>
                    <a:pt x="1835" y="47"/>
                    <a:pt x="1915" y="50"/>
                    <a:pt x="1879" y="53"/>
                  </a:cubicBezTo>
                  <a:cubicBezTo>
                    <a:pt x="1988" y="48"/>
                    <a:pt x="1933" y="49"/>
                    <a:pt x="2005" y="41"/>
                  </a:cubicBezTo>
                  <a:lnTo>
                    <a:pt x="2022" y="45"/>
                  </a:lnTo>
                  <a:cubicBezTo>
                    <a:pt x="2046" y="41"/>
                    <a:pt x="2048" y="40"/>
                    <a:pt x="2104" y="39"/>
                  </a:cubicBezTo>
                  <a:cubicBezTo>
                    <a:pt x="2058" y="42"/>
                    <a:pt x="2139" y="44"/>
                    <a:pt x="2088" y="49"/>
                  </a:cubicBezTo>
                  <a:cubicBezTo>
                    <a:pt x="2205" y="57"/>
                    <a:pt x="2261" y="41"/>
                    <a:pt x="2314" y="53"/>
                  </a:cubicBezTo>
                  <a:cubicBezTo>
                    <a:pt x="2368" y="42"/>
                    <a:pt x="2214" y="47"/>
                    <a:pt x="2244" y="45"/>
                  </a:cubicBezTo>
                  <a:cubicBezTo>
                    <a:pt x="2219" y="41"/>
                    <a:pt x="2288" y="37"/>
                    <a:pt x="2324" y="38"/>
                  </a:cubicBezTo>
                  <a:cubicBezTo>
                    <a:pt x="2361" y="38"/>
                    <a:pt x="2387" y="51"/>
                    <a:pt x="2481" y="51"/>
                  </a:cubicBezTo>
                  <a:cubicBezTo>
                    <a:pt x="2471" y="51"/>
                    <a:pt x="2471" y="52"/>
                    <a:pt x="2461" y="52"/>
                  </a:cubicBezTo>
                  <a:cubicBezTo>
                    <a:pt x="2496" y="55"/>
                    <a:pt x="2530" y="48"/>
                    <a:pt x="2573" y="53"/>
                  </a:cubicBezTo>
                  <a:cubicBezTo>
                    <a:pt x="2597" y="47"/>
                    <a:pt x="2628" y="53"/>
                    <a:pt x="2635" y="45"/>
                  </a:cubicBezTo>
                  <a:lnTo>
                    <a:pt x="2550" y="47"/>
                  </a:lnTo>
                  <a:cubicBezTo>
                    <a:pt x="2598" y="45"/>
                    <a:pt x="2644" y="36"/>
                    <a:pt x="2724" y="40"/>
                  </a:cubicBezTo>
                  <a:cubicBezTo>
                    <a:pt x="2718" y="42"/>
                    <a:pt x="2694" y="44"/>
                    <a:pt x="2677" y="45"/>
                  </a:cubicBezTo>
                  <a:cubicBezTo>
                    <a:pt x="2701" y="48"/>
                    <a:pt x="2722" y="44"/>
                    <a:pt x="2747" y="46"/>
                  </a:cubicBezTo>
                  <a:cubicBezTo>
                    <a:pt x="2740" y="54"/>
                    <a:pt x="2643" y="48"/>
                    <a:pt x="2591" y="54"/>
                  </a:cubicBezTo>
                  <a:cubicBezTo>
                    <a:pt x="2616" y="57"/>
                    <a:pt x="2689" y="48"/>
                    <a:pt x="2663" y="57"/>
                  </a:cubicBezTo>
                  <a:cubicBezTo>
                    <a:pt x="2700" y="46"/>
                    <a:pt x="2755" y="58"/>
                    <a:pt x="2818" y="50"/>
                  </a:cubicBezTo>
                  <a:lnTo>
                    <a:pt x="2814" y="55"/>
                  </a:lnTo>
                  <a:cubicBezTo>
                    <a:pt x="2824" y="54"/>
                    <a:pt x="2845" y="52"/>
                    <a:pt x="2863" y="52"/>
                  </a:cubicBezTo>
                  <a:lnTo>
                    <a:pt x="2830" y="58"/>
                  </a:lnTo>
                  <a:cubicBezTo>
                    <a:pt x="2881" y="53"/>
                    <a:pt x="2928" y="63"/>
                    <a:pt x="2977" y="60"/>
                  </a:cubicBezTo>
                  <a:cubicBezTo>
                    <a:pt x="2875" y="60"/>
                    <a:pt x="2954" y="54"/>
                    <a:pt x="2911" y="51"/>
                  </a:cubicBezTo>
                  <a:cubicBezTo>
                    <a:pt x="3038" y="45"/>
                    <a:pt x="2984" y="64"/>
                    <a:pt x="3126" y="62"/>
                  </a:cubicBezTo>
                  <a:cubicBezTo>
                    <a:pt x="3107" y="62"/>
                    <a:pt x="3054" y="58"/>
                    <a:pt x="3084" y="56"/>
                  </a:cubicBezTo>
                  <a:cubicBezTo>
                    <a:pt x="3111" y="57"/>
                    <a:pt x="3146" y="59"/>
                    <a:pt x="3163" y="62"/>
                  </a:cubicBezTo>
                  <a:cubicBezTo>
                    <a:pt x="3257" y="61"/>
                    <a:pt x="3149" y="57"/>
                    <a:pt x="3189" y="54"/>
                  </a:cubicBezTo>
                  <a:cubicBezTo>
                    <a:pt x="3221" y="60"/>
                    <a:pt x="3235" y="52"/>
                    <a:pt x="3276" y="50"/>
                  </a:cubicBezTo>
                  <a:lnTo>
                    <a:pt x="3276" y="55"/>
                  </a:lnTo>
                  <a:cubicBezTo>
                    <a:pt x="3384" y="58"/>
                    <a:pt x="3305" y="45"/>
                    <a:pt x="3401" y="49"/>
                  </a:cubicBezTo>
                  <a:lnTo>
                    <a:pt x="3361" y="55"/>
                  </a:lnTo>
                  <a:lnTo>
                    <a:pt x="3411" y="54"/>
                  </a:lnTo>
                  <a:lnTo>
                    <a:pt x="3400" y="59"/>
                  </a:lnTo>
                  <a:cubicBezTo>
                    <a:pt x="3455" y="55"/>
                    <a:pt x="3472" y="56"/>
                    <a:pt x="3526" y="58"/>
                  </a:cubicBezTo>
                  <a:cubicBezTo>
                    <a:pt x="3513" y="54"/>
                    <a:pt x="3533" y="49"/>
                    <a:pt x="3580" y="49"/>
                  </a:cubicBezTo>
                  <a:cubicBezTo>
                    <a:pt x="3613" y="52"/>
                    <a:pt x="3562" y="54"/>
                    <a:pt x="3630" y="53"/>
                  </a:cubicBezTo>
                  <a:cubicBezTo>
                    <a:pt x="3614" y="56"/>
                    <a:pt x="3598" y="60"/>
                    <a:pt x="3568" y="55"/>
                  </a:cubicBezTo>
                  <a:cubicBezTo>
                    <a:pt x="3565" y="57"/>
                    <a:pt x="3553" y="58"/>
                    <a:pt x="3550" y="60"/>
                  </a:cubicBezTo>
                  <a:cubicBezTo>
                    <a:pt x="3585" y="63"/>
                    <a:pt x="3638" y="61"/>
                    <a:pt x="3662" y="61"/>
                  </a:cubicBezTo>
                  <a:cubicBezTo>
                    <a:pt x="3653" y="61"/>
                    <a:pt x="3642" y="60"/>
                    <a:pt x="3636" y="60"/>
                  </a:cubicBezTo>
                  <a:lnTo>
                    <a:pt x="3734" y="53"/>
                  </a:lnTo>
                  <a:cubicBezTo>
                    <a:pt x="3749" y="55"/>
                    <a:pt x="3737" y="56"/>
                    <a:pt x="3725" y="58"/>
                  </a:cubicBezTo>
                  <a:cubicBezTo>
                    <a:pt x="3744" y="57"/>
                    <a:pt x="3758" y="55"/>
                    <a:pt x="3787" y="55"/>
                  </a:cubicBezTo>
                  <a:cubicBezTo>
                    <a:pt x="3780" y="59"/>
                    <a:pt x="3781" y="63"/>
                    <a:pt x="3740" y="65"/>
                  </a:cubicBezTo>
                  <a:lnTo>
                    <a:pt x="3833" y="60"/>
                  </a:lnTo>
                  <a:cubicBezTo>
                    <a:pt x="3839" y="62"/>
                    <a:pt x="3881" y="65"/>
                    <a:pt x="3869" y="67"/>
                  </a:cubicBezTo>
                  <a:cubicBezTo>
                    <a:pt x="3920" y="69"/>
                    <a:pt x="3995" y="59"/>
                    <a:pt x="4064" y="62"/>
                  </a:cubicBezTo>
                  <a:cubicBezTo>
                    <a:pt x="4067" y="62"/>
                    <a:pt x="4074" y="61"/>
                    <a:pt x="4089" y="60"/>
                  </a:cubicBezTo>
                  <a:cubicBezTo>
                    <a:pt x="4153" y="62"/>
                    <a:pt x="4210" y="67"/>
                    <a:pt x="4286" y="61"/>
                  </a:cubicBezTo>
                  <a:lnTo>
                    <a:pt x="4329" y="68"/>
                  </a:lnTo>
                  <a:cubicBezTo>
                    <a:pt x="4389" y="67"/>
                    <a:pt x="4271" y="59"/>
                    <a:pt x="4370" y="57"/>
                  </a:cubicBezTo>
                  <a:cubicBezTo>
                    <a:pt x="4440" y="55"/>
                    <a:pt x="4396" y="63"/>
                    <a:pt x="4421" y="65"/>
                  </a:cubicBezTo>
                  <a:cubicBezTo>
                    <a:pt x="4456" y="62"/>
                    <a:pt x="4517" y="54"/>
                    <a:pt x="4581" y="60"/>
                  </a:cubicBezTo>
                  <a:cubicBezTo>
                    <a:pt x="4560" y="62"/>
                    <a:pt x="4543" y="60"/>
                    <a:pt x="4523" y="6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7" name="Figura a mano libera 63"/>
            <p:cNvSpPr>
              <a:spLocks/>
            </p:cNvSpPr>
            <p:nvPr/>
          </p:nvSpPr>
          <p:spPr bwMode="invGray">
            <a:xfrm>
              <a:off x="7508875" y="1560020"/>
              <a:ext cx="11112" cy="3693"/>
            </a:xfrm>
            <a:custGeom>
              <a:avLst/>
              <a:gdLst>
                <a:gd name="T0" fmla="*/ 12 w 12"/>
                <a:gd name="T1" fmla="*/ 3 h 3"/>
                <a:gd name="T2" fmla="*/ 12 w 12"/>
                <a:gd name="T3" fmla="*/ 3 h 3"/>
                <a:gd name="T4" fmla="*/ 6 w 12"/>
                <a:gd name="T5" fmla="*/ 0 h 3"/>
                <a:gd name="T6" fmla="*/ 12 w 12"/>
                <a:gd name="T7" fmla="*/ 3 h 3"/>
              </a:gdLst>
              <a:ahLst/>
              <a:cxnLst>
                <a:cxn ang="0">
                  <a:pos x="T0" y="T1"/>
                </a:cxn>
                <a:cxn ang="0">
                  <a:pos x="T2" y="T3"/>
                </a:cxn>
                <a:cxn ang="0">
                  <a:pos x="T4" y="T5"/>
                </a:cxn>
                <a:cxn ang="0">
                  <a:pos x="T6" y="T7"/>
                </a:cxn>
              </a:cxnLst>
              <a:rect l="0" t="0" r="r" b="b"/>
              <a:pathLst>
                <a:path w="12" h="3">
                  <a:moveTo>
                    <a:pt x="12" y="3"/>
                  </a:moveTo>
                  <a:lnTo>
                    <a:pt x="12" y="3"/>
                  </a:lnTo>
                  <a:cubicBezTo>
                    <a:pt x="8" y="2"/>
                    <a:pt x="7" y="1"/>
                    <a:pt x="6" y="0"/>
                  </a:cubicBezTo>
                  <a:cubicBezTo>
                    <a:pt x="1" y="1"/>
                    <a:pt x="0" y="2"/>
                    <a:pt x="12"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8" name="Figura a mano libera 64"/>
            <p:cNvSpPr>
              <a:spLocks/>
            </p:cNvSpPr>
            <p:nvPr/>
          </p:nvSpPr>
          <p:spPr bwMode="invGray">
            <a:xfrm>
              <a:off x="5434013" y="1567405"/>
              <a:ext cx="4762" cy="1231"/>
            </a:xfrm>
            <a:custGeom>
              <a:avLst/>
              <a:gdLst>
                <a:gd name="T0" fmla="*/ 5 w 5"/>
                <a:gd name="T1" fmla="*/ 1 h 1"/>
                <a:gd name="T2" fmla="*/ 5 w 5"/>
                <a:gd name="T3" fmla="*/ 1 h 1"/>
                <a:gd name="T4" fmla="*/ 3 w 5"/>
                <a:gd name="T5" fmla="*/ 0 h 1"/>
                <a:gd name="T6" fmla="*/ 0 w 5"/>
                <a:gd name="T7" fmla="*/ 1 h 1"/>
                <a:gd name="T8" fmla="*/ 5 w 5"/>
                <a:gd name="T9" fmla="*/ 1 h 1"/>
              </a:gdLst>
              <a:ahLst/>
              <a:cxnLst>
                <a:cxn ang="0">
                  <a:pos x="T0" y="T1"/>
                </a:cxn>
                <a:cxn ang="0">
                  <a:pos x="T2" y="T3"/>
                </a:cxn>
                <a:cxn ang="0">
                  <a:pos x="T4" y="T5"/>
                </a:cxn>
                <a:cxn ang="0">
                  <a:pos x="T6" y="T7"/>
                </a:cxn>
                <a:cxn ang="0">
                  <a:pos x="T8" y="T9"/>
                </a:cxn>
              </a:cxnLst>
              <a:rect l="0" t="0" r="r" b="b"/>
              <a:pathLst>
                <a:path w="5" h="1">
                  <a:moveTo>
                    <a:pt x="5" y="1"/>
                  </a:moveTo>
                  <a:lnTo>
                    <a:pt x="5" y="1"/>
                  </a:lnTo>
                  <a:lnTo>
                    <a:pt x="3" y="0"/>
                  </a:lnTo>
                  <a:cubicBezTo>
                    <a:pt x="1" y="1"/>
                    <a:pt x="1" y="1"/>
                    <a:pt x="0" y="1"/>
                  </a:cubicBezTo>
                  <a:lnTo>
                    <a:pt x="5"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9" name="Figura a mano libera 65"/>
            <p:cNvSpPr>
              <a:spLocks/>
            </p:cNvSpPr>
            <p:nvPr/>
          </p:nvSpPr>
          <p:spPr bwMode="invGray">
            <a:xfrm>
              <a:off x="9672638" y="1567405"/>
              <a:ext cx="25400" cy="2462"/>
            </a:xfrm>
            <a:custGeom>
              <a:avLst/>
              <a:gdLst>
                <a:gd name="T0" fmla="*/ 27 w 27"/>
                <a:gd name="T1" fmla="*/ 3 h 3"/>
                <a:gd name="T2" fmla="*/ 27 w 27"/>
                <a:gd name="T3" fmla="*/ 3 h 3"/>
                <a:gd name="T4" fmla="*/ 1 w 27"/>
                <a:gd name="T5" fmla="*/ 0 h 3"/>
                <a:gd name="T6" fmla="*/ 27 w 27"/>
                <a:gd name="T7" fmla="*/ 3 h 3"/>
              </a:gdLst>
              <a:ahLst/>
              <a:cxnLst>
                <a:cxn ang="0">
                  <a:pos x="T0" y="T1"/>
                </a:cxn>
                <a:cxn ang="0">
                  <a:pos x="T2" y="T3"/>
                </a:cxn>
                <a:cxn ang="0">
                  <a:pos x="T4" y="T5"/>
                </a:cxn>
                <a:cxn ang="0">
                  <a:pos x="T6" y="T7"/>
                </a:cxn>
              </a:cxnLst>
              <a:rect l="0" t="0" r="r" b="b"/>
              <a:pathLst>
                <a:path w="27" h="3">
                  <a:moveTo>
                    <a:pt x="27" y="3"/>
                  </a:moveTo>
                  <a:lnTo>
                    <a:pt x="27" y="3"/>
                  </a:lnTo>
                  <a:cubicBezTo>
                    <a:pt x="13" y="2"/>
                    <a:pt x="6" y="1"/>
                    <a:pt x="1" y="0"/>
                  </a:cubicBezTo>
                  <a:cubicBezTo>
                    <a:pt x="0" y="1"/>
                    <a:pt x="6"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0" name="Figura a mano libera 66"/>
            <p:cNvSpPr>
              <a:spLocks/>
            </p:cNvSpPr>
            <p:nvPr/>
          </p:nvSpPr>
          <p:spPr bwMode="invGray">
            <a:xfrm>
              <a:off x="10966450" y="1529246"/>
              <a:ext cx="39687" cy="2462"/>
            </a:xfrm>
            <a:custGeom>
              <a:avLst/>
              <a:gdLst>
                <a:gd name="T0" fmla="*/ 42 w 42"/>
                <a:gd name="T1" fmla="*/ 0 h 3"/>
                <a:gd name="T2" fmla="*/ 42 w 42"/>
                <a:gd name="T3" fmla="*/ 0 h 3"/>
                <a:gd name="T4" fmla="*/ 0 w 42"/>
                <a:gd name="T5" fmla="*/ 1 h 3"/>
                <a:gd name="T6" fmla="*/ 38 w 42"/>
                <a:gd name="T7" fmla="*/ 3 h 3"/>
                <a:gd name="T8" fmla="*/ 42 w 42"/>
                <a:gd name="T9" fmla="*/ 0 h 3"/>
              </a:gdLst>
              <a:ahLst/>
              <a:cxnLst>
                <a:cxn ang="0">
                  <a:pos x="T0" y="T1"/>
                </a:cxn>
                <a:cxn ang="0">
                  <a:pos x="T2" y="T3"/>
                </a:cxn>
                <a:cxn ang="0">
                  <a:pos x="T4" y="T5"/>
                </a:cxn>
                <a:cxn ang="0">
                  <a:pos x="T6" y="T7"/>
                </a:cxn>
                <a:cxn ang="0">
                  <a:pos x="T8" y="T9"/>
                </a:cxn>
              </a:cxnLst>
              <a:rect l="0" t="0" r="r" b="b"/>
              <a:pathLst>
                <a:path w="42" h="3">
                  <a:moveTo>
                    <a:pt x="42" y="0"/>
                  </a:moveTo>
                  <a:lnTo>
                    <a:pt x="42" y="0"/>
                  </a:lnTo>
                  <a:lnTo>
                    <a:pt x="0" y="1"/>
                  </a:lnTo>
                  <a:cubicBezTo>
                    <a:pt x="20" y="1"/>
                    <a:pt x="27" y="2"/>
                    <a:pt x="38" y="3"/>
                  </a:cubicBezTo>
                  <a:cubicBezTo>
                    <a:pt x="37" y="2"/>
                    <a:pt x="29" y="0"/>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1" name="Figura a mano libera 67"/>
            <p:cNvSpPr>
              <a:spLocks/>
            </p:cNvSpPr>
            <p:nvPr/>
          </p:nvSpPr>
          <p:spPr bwMode="invGray">
            <a:xfrm>
              <a:off x="11329988" y="1552634"/>
              <a:ext cx="44450" cy="2462"/>
            </a:xfrm>
            <a:custGeom>
              <a:avLst/>
              <a:gdLst>
                <a:gd name="T0" fmla="*/ 27 w 46"/>
                <a:gd name="T1" fmla="*/ 3 h 3"/>
                <a:gd name="T2" fmla="*/ 27 w 46"/>
                <a:gd name="T3" fmla="*/ 3 h 3"/>
                <a:gd name="T4" fmla="*/ 46 w 46"/>
                <a:gd name="T5" fmla="*/ 2 h 3"/>
                <a:gd name="T6" fmla="*/ 44 w 46"/>
                <a:gd name="T7" fmla="*/ 0 h 3"/>
                <a:gd name="T8" fmla="*/ 27 w 46"/>
                <a:gd name="T9" fmla="*/ 3 h 3"/>
              </a:gdLst>
              <a:ahLst/>
              <a:cxnLst>
                <a:cxn ang="0">
                  <a:pos x="T0" y="T1"/>
                </a:cxn>
                <a:cxn ang="0">
                  <a:pos x="T2" y="T3"/>
                </a:cxn>
                <a:cxn ang="0">
                  <a:pos x="T4" y="T5"/>
                </a:cxn>
                <a:cxn ang="0">
                  <a:pos x="T6" y="T7"/>
                </a:cxn>
                <a:cxn ang="0">
                  <a:pos x="T8" y="T9"/>
                </a:cxn>
              </a:cxnLst>
              <a:rect l="0" t="0" r="r" b="b"/>
              <a:pathLst>
                <a:path w="46" h="3">
                  <a:moveTo>
                    <a:pt x="27" y="3"/>
                  </a:moveTo>
                  <a:lnTo>
                    <a:pt x="27" y="3"/>
                  </a:lnTo>
                  <a:cubicBezTo>
                    <a:pt x="33" y="2"/>
                    <a:pt x="40" y="3"/>
                    <a:pt x="46" y="2"/>
                  </a:cubicBezTo>
                  <a:lnTo>
                    <a:pt x="44" y="0"/>
                  </a:lnTo>
                  <a:cubicBezTo>
                    <a:pt x="18" y="0"/>
                    <a:pt x="0"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2" name="Figura a mano libera 68"/>
            <p:cNvSpPr>
              <a:spLocks/>
            </p:cNvSpPr>
            <p:nvPr/>
          </p:nvSpPr>
          <p:spPr bwMode="invGray">
            <a:xfrm>
              <a:off x="11042650" y="1540325"/>
              <a:ext cx="60325" cy="6155"/>
            </a:xfrm>
            <a:custGeom>
              <a:avLst/>
              <a:gdLst>
                <a:gd name="T0" fmla="*/ 0 w 63"/>
                <a:gd name="T1" fmla="*/ 3 h 7"/>
                <a:gd name="T2" fmla="*/ 0 w 63"/>
                <a:gd name="T3" fmla="*/ 3 h 7"/>
                <a:gd name="T4" fmla="*/ 60 w 63"/>
                <a:gd name="T5" fmla="*/ 5 h 7"/>
                <a:gd name="T6" fmla="*/ 54 w 63"/>
                <a:gd name="T7" fmla="*/ 5 h 7"/>
                <a:gd name="T8" fmla="*/ 0 w 63"/>
                <a:gd name="T9" fmla="*/ 3 h 7"/>
              </a:gdLst>
              <a:ahLst/>
              <a:cxnLst>
                <a:cxn ang="0">
                  <a:pos x="T0" y="T1"/>
                </a:cxn>
                <a:cxn ang="0">
                  <a:pos x="T2" y="T3"/>
                </a:cxn>
                <a:cxn ang="0">
                  <a:pos x="T4" y="T5"/>
                </a:cxn>
                <a:cxn ang="0">
                  <a:pos x="T6" y="T7"/>
                </a:cxn>
                <a:cxn ang="0">
                  <a:pos x="T8" y="T9"/>
                </a:cxn>
              </a:cxnLst>
              <a:rect l="0" t="0" r="r" b="b"/>
              <a:pathLst>
                <a:path w="63" h="7">
                  <a:moveTo>
                    <a:pt x="0" y="3"/>
                  </a:moveTo>
                  <a:lnTo>
                    <a:pt x="0" y="3"/>
                  </a:lnTo>
                  <a:cubicBezTo>
                    <a:pt x="3" y="7"/>
                    <a:pt x="30" y="6"/>
                    <a:pt x="60" y="5"/>
                  </a:cubicBezTo>
                  <a:lnTo>
                    <a:pt x="54" y="5"/>
                  </a:lnTo>
                  <a:cubicBezTo>
                    <a:pt x="63" y="0"/>
                    <a:pt x="31"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3" name="Figura a mano libera 69"/>
            <p:cNvSpPr>
              <a:spLocks/>
            </p:cNvSpPr>
            <p:nvPr/>
          </p:nvSpPr>
          <p:spPr bwMode="invGray">
            <a:xfrm>
              <a:off x="11106150" y="1542787"/>
              <a:ext cx="28575" cy="1231"/>
            </a:xfrm>
            <a:custGeom>
              <a:avLst/>
              <a:gdLst>
                <a:gd name="T0" fmla="*/ 0 w 31"/>
                <a:gd name="T1" fmla="*/ 2 h 2"/>
                <a:gd name="T2" fmla="*/ 0 w 31"/>
                <a:gd name="T3" fmla="*/ 2 h 2"/>
                <a:gd name="T4" fmla="*/ 28 w 31"/>
                <a:gd name="T5" fmla="*/ 2 h 2"/>
                <a:gd name="T6" fmla="*/ 0 w 31"/>
                <a:gd name="T7" fmla="*/ 2 h 2"/>
              </a:gdLst>
              <a:ahLst/>
              <a:cxnLst>
                <a:cxn ang="0">
                  <a:pos x="T0" y="T1"/>
                </a:cxn>
                <a:cxn ang="0">
                  <a:pos x="T2" y="T3"/>
                </a:cxn>
                <a:cxn ang="0">
                  <a:pos x="T4" y="T5"/>
                </a:cxn>
                <a:cxn ang="0">
                  <a:pos x="T6" y="T7"/>
                </a:cxn>
              </a:cxnLst>
              <a:rect l="0" t="0" r="r" b="b"/>
              <a:pathLst>
                <a:path w="31" h="2">
                  <a:moveTo>
                    <a:pt x="0" y="2"/>
                  </a:moveTo>
                  <a:lnTo>
                    <a:pt x="0" y="2"/>
                  </a:lnTo>
                  <a:cubicBezTo>
                    <a:pt x="10" y="2"/>
                    <a:pt x="19" y="2"/>
                    <a:pt x="28" y="2"/>
                  </a:cubicBezTo>
                  <a:cubicBezTo>
                    <a:pt x="31" y="0"/>
                    <a:pt x="17" y="2"/>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4" name="Figura a mano libera 70"/>
            <p:cNvSpPr>
              <a:spLocks/>
            </p:cNvSpPr>
            <p:nvPr/>
          </p:nvSpPr>
          <p:spPr bwMode="invGray">
            <a:xfrm>
              <a:off x="10679113" y="1525554"/>
              <a:ext cx="103187" cy="9847"/>
            </a:xfrm>
            <a:custGeom>
              <a:avLst/>
              <a:gdLst>
                <a:gd name="T0" fmla="*/ 77 w 109"/>
                <a:gd name="T1" fmla="*/ 9 h 12"/>
                <a:gd name="T2" fmla="*/ 77 w 109"/>
                <a:gd name="T3" fmla="*/ 9 h 12"/>
                <a:gd name="T4" fmla="*/ 94 w 109"/>
                <a:gd name="T5" fmla="*/ 6 h 12"/>
                <a:gd name="T6" fmla="*/ 77 w 109"/>
                <a:gd name="T7" fmla="*/ 9 h 12"/>
              </a:gdLst>
              <a:ahLst/>
              <a:cxnLst>
                <a:cxn ang="0">
                  <a:pos x="T0" y="T1"/>
                </a:cxn>
                <a:cxn ang="0">
                  <a:pos x="T2" y="T3"/>
                </a:cxn>
                <a:cxn ang="0">
                  <a:pos x="T4" y="T5"/>
                </a:cxn>
                <a:cxn ang="0">
                  <a:pos x="T6" y="T7"/>
                </a:cxn>
              </a:cxnLst>
              <a:rect l="0" t="0" r="r" b="b"/>
              <a:pathLst>
                <a:path w="109" h="12">
                  <a:moveTo>
                    <a:pt x="77" y="9"/>
                  </a:moveTo>
                  <a:lnTo>
                    <a:pt x="77" y="9"/>
                  </a:lnTo>
                  <a:cubicBezTo>
                    <a:pt x="91" y="10"/>
                    <a:pt x="86" y="4"/>
                    <a:pt x="94" y="6"/>
                  </a:cubicBezTo>
                  <a:cubicBezTo>
                    <a:pt x="109" y="0"/>
                    <a:pt x="0" y="12"/>
                    <a:pt x="77"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5" name="Figura a mano libera 71"/>
            <p:cNvSpPr>
              <a:spLocks/>
            </p:cNvSpPr>
            <p:nvPr/>
          </p:nvSpPr>
          <p:spPr bwMode="invGray">
            <a:xfrm>
              <a:off x="11039475" y="1550172"/>
              <a:ext cx="26987" cy="4924"/>
            </a:xfrm>
            <a:custGeom>
              <a:avLst/>
              <a:gdLst>
                <a:gd name="T0" fmla="*/ 27 w 27"/>
                <a:gd name="T1" fmla="*/ 5 h 5"/>
                <a:gd name="T2" fmla="*/ 27 w 27"/>
                <a:gd name="T3" fmla="*/ 5 h 5"/>
                <a:gd name="T4" fmla="*/ 16 w 27"/>
                <a:gd name="T5" fmla="*/ 0 h 5"/>
                <a:gd name="T6" fmla="*/ 0 w 27"/>
                <a:gd name="T7" fmla="*/ 4 h 5"/>
                <a:gd name="T8" fmla="*/ 27 w 27"/>
                <a:gd name="T9" fmla="*/ 5 h 5"/>
              </a:gdLst>
              <a:ahLst/>
              <a:cxnLst>
                <a:cxn ang="0">
                  <a:pos x="T0" y="T1"/>
                </a:cxn>
                <a:cxn ang="0">
                  <a:pos x="T2" y="T3"/>
                </a:cxn>
                <a:cxn ang="0">
                  <a:pos x="T4" y="T5"/>
                </a:cxn>
                <a:cxn ang="0">
                  <a:pos x="T6" y="T7"/>
                </a:cxn>
                <a:cxn ang="0">
                  <a:pos x="T8" y="T9"/>
                </a:cxn>
              </a:cxnLst>
              <a:rect l="0" t="0" r="r" b="b"/>
              <a:pathLst>
                <a:path w="27" h="5">
                  <a:moveTo>
                    <a:pt x="27" y="5"/>
                  </a:moveTo>
                  <a:lnTo>
                    <a:pt x="27" y="5"/>
                  </a:lnTo>
                  <a:lnTo>
                    <a:pt x="16" y="0"/>
                  </a:lnTo>
                  <a:lnTo>
                    <a:pt x="0" y="4"/>
                  </a:lnTo>
                  <a:lnTo>
                    <a:pt x="27"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6" name="Figura a mano libera 72"/>
            <p:cNvSpPr>
              <a:spLocks/>
            </p:cNvSpPr>
            <p:nvPr/>
          </p:nvSpPr>
          <p:spPr bwMode="invGray">
            <a:xfrm>
              <a:off x="10841038" y="1548941"/>
              <a:ext cx="58737" cy="2462"/>
            </a:xfrm>
            <a:custGeom>
              <a:avLst/>
              <a:gdLst>
                <a:gd name="T0" fmla="*/ 1 w 61"/>
                <a:gd name="T1" fmla="*/ 2 h 3"/>
                <a:gd name="T2" fmla="*/ 1 w 61"/>
                <a:gd name="T3" fmla="*/ 2 h 3"/>
                <a:gd name="T4" fmla="*/ 49 w 61"/>
                <a:gd name="T5" fmla="*/ 3 h 3"/>
                <a:gd name="T6" fmla="*/ 61 w 61"/>
                <a:gd name="T7" fmla="*/ 2 h 3"/>
                <a:gd name="T8" fmla="*/ 1 w 61"/>
                <a:gd name="T9" fmla="*/ 2 h 3"/>
              </a:gdLst>
              <a:ahLst/>
              <a:cxnLst>
                <a:cxn ang="0">
                  <a:pos x="T0" y="T1"/>
                </a:cxn>
                <a:cxn ang="0">
                  <a:pos x="T2" y="T3"/>
                </a:cxn>
                <a:cxn ang="0">
                  <a:pos x="T4" y="T5"/>
                </a:cxn>
                <a:cxn ang="0">
                  <a:pos x="T6" y="T7"/>
                </a:cxn>
                <a:cxn ang="0">
                  <a:pos x="T8" y="T9"/>
                </a:cxn>
              </a:cxnLst>
              <a:rect l="0" t="0" r="r" b="b"/>
              <a:pathLst>
                <a:path w="61" h="3">
                  <a:moveTo>
                    <a:pt x="1" y="2"/>
                  </a:moveTo>
                  <a:lnTo>
                    <a:pt x="1" y="2"/>
                  </a:lnTo>
                  <a:lnTo>
                    <a:pt x="49" y="3"/>
                  </a:lnTo>
                  <a:cubicBezTo>
                    <a:pt x="48" y="2"/>
                    <a:pt x="54" y="2"/>
                    <a:pt x="61" y="2"/>
                  </a:cubicBezTo>
                  <a:cubicBezTo>
                    <a:pt x="32" y="1"/>
                    <a:pt x="0" y="0"/>
                    <a:pt x="1"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7" name="Figura a mano libera 73"/>
            <p:cNvSpPr>
              <a:spLocks/>
            </p:cNvSpPr>
            <p:nvPr/>
          </p:nvSpPr>
          <p:spPr bwMode="invGray">
            <a:xfrm>
              <a:off x="10899775" y="1550172"/>
              <a:ext cx="36512" cy="1231"/>
            </a:xfrm>
            <a:custGeom>
              <a:avLst/>
              <a:gdLst>
                <a:gd name="T0" fmla="*/ 0 w 38"/>
                <a:gd name="T1" fmla="*/ 1 h 1"/>
                <a:gd name="T2" fmla="*/ 0 w 38"/>
                <a:gd name="T3" fmla="*/ 1 h 1"/>
                <a:gd name="T4" fmla="*/ 38 w 38"/>
                <a:gd name="T5" fmla="*/ 0 h 1"/>
                <a:gd name="T6" fmla="*/ 0 w 38"/>
                <a:gd name="T7" fmla="*/ 1 h 1"/>
              </a:gdLst>
              <a:ahLst/>
              <a:cxnLst>
                <a:cxn ang="0">
                  <a:pos x="T0" y="T1"/>
                </a:cxn>
                <a:cxn ang="0">
                  <a:pos x="T2" y="T3"/>
                </a:cxn>
                <a:cxn ang="0">
                  <a:pos x="T4" y="T5"/>
                </a:cxn>
                <a:cxn ang="0">
                  <a:pos x="T6" y="T7"/>
                </a:cxn>
              </a:cxnLst>
              <a:rect l="0" t="0" r="r" b="b"/>
              <a:pathLst>
                <a:path w="38" h="1">
                  <a:moveTo>
                    <a:pt x="0" y="1"/>
                  </a:moveTo>
                  <a:lnTo>
                    <a:pt x="0" y="1"/>
                  </a:lnTo>
                  <a:cubicBezTo>
                    <a:pt x="15" y="1"/>
                    <a:pt x="30" y="1"/>
                    <a:pt x="38" y="0"/>
                  </a:cubicBezTo>
                  <a:cubicBezTo>
                    <a:pt x="30" y="0"/>
                    <a:pt x="12"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8" name="Figura a mano libera 74"/>
            <p:cNvSpPr>
              <a:spLocks/>
            </p:cNvSpPr>
            <p:nvPr/>
          </p:nvSpPr>
          <p:spPr bwMode="invGray">
            <a:xfrm>
              <a:off x="10958513" y="1555096"/>
              <a:ext cx="46037" cy="0"/>
            </a:xfrm>
            <a:custGeom>
              <a:avLst/>
              <a:gdLst>
                <a:gd name="T0" fmla="*/ 47 w 47"/>
                <a:gd name="T1" fmla="*/ 1 h 1"/>
                <a:gd name="T2" fmla="*/ 47 w 47"/>
                <a:gd name="T3" fmla="*/ 1 h 1"/>
                <a:gd name="T4" fmla="*/ 33 w 47"/>
                <a:gd name="T5" fmla="*/ 0 h 1"/>
                <a:gd name="T6" fmla="*/ 0 w 47"/>
                <a:gd name="T7" fmla="*/ 0 h 1"/>
                <a:gd name="T8" fmla="*/ 47 w 47"/>
                <a:gd name="T9" fmla="*/ 1 h 1"/>
              </a:gdLst>
              <a:ahLst/>
              <a:cxnLst>
                <a:cxn ang="0">
                  <a:pos x="T0" y="T1"/>
                </a:cxn>
                <a:cxn ang="0">
                  <a:pos x="T2" y="T3"/>
                </a:cxn>
                <a:cxn ang="0">
                  <a:pos x="T4" y="T5"/>
                </a:cxn>
                <a:cxn ang="0">
                  <a:pos x="T6" y="T7"/>
                </a:cxn>
                <a:cxn ang="0">
                  <a:pos x="T8" y="T9"/>
                </a:cxn>
              </a:cxnLst>
              <a:rect l="0" t="0" r="r" b="b"/>
              <a:pathLst>
                <a:path w="47" h="1">
                  <a:moveTo>
                    <a:pt x="47" y="1"/>
                  </a:moveTo>
                  <a:lnTo>
                    <a:pt x="47" y="1"/>
                  </a:lnTo>
                  <a:lnTo>
                    <a:pt x="33" y="0"/>
                  </a:lnTo>
                  <a:lnTo>
                    <a:pt x="0" y="0"/>
                  </a:lnTo>
                  <a:lnTo>
                    <a:pt x="47"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9" name="Figura a mano libera 75"/>
            <p:cNvSpPr>
              <a:spLocks/>
            </p:cNvSpPr>
            <p:nvPr/>
          </p:nvSpPr>
          <p:spPr bwMode="invGray">
            <a:xfrm>
              <a:off x="10304463" y="1548941"/>
              <a:ext cx="61912" cy="3693"/>
            </a:xfrm>
            <a:custGeom>
              <a:avLst/>
              <a:gdLst>
                <a:gd name="T0" fmla="*/ 57 w 65"/>
                <a:gd name="T1" fmla="*/ 0 h 4"/>
                <a:gd name="T2" fmla="*/ 57 w 65"/>
                <a:gd name="T3" fmla="*/ 0 h 4"/>
                <a:gd name="T4" fmla="*/ 5 w 65"/>
                <a:gd name="T5" fmla="*/ 1 h 4"/>
                <a:gd name="T6" fmla="*/ 33 w 65"/>
                <a:gd name="T7" fmla="*/ 4 h 4"/>
                <a:gd name="T8" fmla="*/ 57 w 65"/>
                <a:gd name="T9" fmla="*/ 0 h 4"/>
              </a:gdLst>
              <a:ahLst/>
              <a:cxnLst>
                <a:cxn ang="0">
                  <a:pos x="T0" y="T1"/>
                </a:cxn>
                <a:cxn ang="0">
                  <a:pos x="T2" y="T3"/>
                </a:cxn>
                <a:cxn ang="0">
                  <a:pos x="T4" y="T5"/>
                </a:cxn>
                <a:cxn ang="0">
                  <a:pos x="T6" y="T7"/>
                </a:cxn>
                <a:cxn ang="0">
                  <a:pos x="T8" y="T9"/>
                </a:cxn>
              </a:cxnLst>
              <a:rect l="0" t="0" r="r" b="b"/>
              <a:pathLst>
                <a:path w="65" h="4">
                  <a:moveTo>
                    <a:pt x="57" y="0"/>
                  </a:moveTo>
                  <a:lnTo>
                    <a:pt x="57" y="0"/>
                  </a:lnTo>
                  <a:lnTo>
                    <a:pt x="5" y="1"/>
                  </a:lnTo>
                  <a:cubicBezTo>
                    <a:pt x="0" y="3"/>
                    <a:pt x="14" y="4"/>
                    <a:pt x="33" y="4"/>
                  </a:cubicBezTo>
                  <a:cubicBezTo>
                    <a:pt x="45" y="2"/>
                    <a:pt x="65" y="2"/>
                    <a:pt x="57"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0" name="Figura a mano libera 76"/>
            <p:cNvSpPr>
              <a:spLocks/>
            </p:cNvSpPr>
            <p:nvPr/>
          </p:nvSpPr>
          <p:spPr bwMode="invGray">
            <a:xfrm>
              <a:off x="10483850" y="1557558"/>
              <a:ext cx="23812" cy="6155"/>
            </a:xfrm>
            <a:custGeom>
              <a:avLst/>
              <a:gdLst>
                <a:gd name="T0" fmla="*/ 25 w 25"/>
                <a:gd name="T1" fmla="*/ 4 h 7"/>
                <a:gd name="T2" fmla="*/ 25 w 25"/>
                <a:gd name="T3" fmla="*/ 4 h 7"/>
                <a:gd name="T4" fmla="*/ 2 w 25"/>
                <a:gd name="T5" fmla="*/ 0 h 7"/>
                <a:gd name="T6" fmla="*/ 0 w 25"/>
                <a:gd name="T7" fmla="*/ 7 h 7"/>
                <a:gd name="T8" fmla="*/ 25 w 25"/>
                <a:gd name="T9" fmla="*/ 4 h 7"/>
              </a:gdLst>
              <a:ahLst/>
              <a:cxnLst>
                <a:cxn ang="0">
                  <a:pos x="T0" y="T1"/>
                </a:cxn>
                <a:cxn ang="0">
                  <a:pos x="T2" y="T3"/>
                </a:cxn>
                <a:cxn ang="0">
                  <a:pos x="T4" y="T5"/>
                </a:cxn>
                <a:cxn ang="0">
                  <a:pos x="T6" y="T7"/>
                </a:cxn>
                <a:cxn ang="0">
                  <a:pos x="T8" y="T9"/>
                </a:cxn>
              </a:cxnLst>
              <a:rect l="0" t="0" r="r" b="b"/>
              <a:pathLst>
                <a:path w="25" h="7">
                  <a:moveTo>
                    <a:pt x="25" y="4"/>
                  </a:moveTo>
                  <a:lnTo>
                    <a:pt x="25" y="4"/>
                  </a:lnTo>
                  <a:cubicBezTo>
                    <a:pt x="11" y="3"/>
                    <a:pt x="10" y="2"/>
                    <a:pt x="2" y="0"/>
                  </a:cubicBezTo>
                  <a:lnTo>
                    <a:pt x="0" y="7"/>
                  </a:lnTo>
                  <a:lnTo>
                    <a:pt x="25"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1" name="Figura a mano libera 77"/>
            <p:cNvSpPr>
              <a:spLocks/>
            </p:cNvSpPr>
            <p:nvPr/>
          </p:nvSpPr>
          <p:spPr bwMode="invGray">
            <a:xfrm>
              <a:off x="10291763" y="1563712"/>
              <a:ext cx="117475" cy="2462"/>
            </a:xfrm>
            <a:custGeom>
              <a:avLst/>
              <a:gdLst>
                <a:gd name="T0" fmla="*/ 75 w 123"/>
                <a:gd name="T1" fmla="*/ 0 h 4"/>
                <a:gd name="T2" fmla="*/ 75 w 123"/>
                <a:gd name="T3" fmla="*/ 0 h 4"/>
                <a:gd name="T4" fmla="*/ 66 w 123"/>
                <a:gd name="T5" fmla="*/ 4 h 4"/>
                <a:gd name="T6" fmla="*/ 75 w 123"/>
                <a:gd name="T7" fmla="*/ 0 h 4"/>
              </a:gdLst>
              <a:ahLst/>
              <a:cxnLst>
                <a:cxn ang="0">
                  <a:pos x="T0" y="T1"/>
                </a:cxn>
                <a:cxn ang="0">
                  <a:pos x="T2" y="T3"/>
                </a:cxn>
                <a:cxn ang="0">
                  <a:pos x="T4" y="T5"/>
                </a:cxn>
                <a:cxn ang="0">
                  <a:pos x="T6" y="T7"/>
                </a:cxn>
              </a:cxnLst>
              <a:rect l="0" t="0" r="r" b="b"/>
              <a:pathLst>
                <a:path w="123" h="4">
                  <a:moveTo>
                    <a:pt x="75" y="0"/>
                  </a:moveTo>
                  <a:lnTo>
                    <a:pt x="75" y="0"/>
                  </a:lnTo>
                  <a:cubicBezTo>
                    <a:pt x="70" y="1"/>
                    <a:pt x="0" y="4"/>
                    <a:pt x="66" y="4"/>
                  </a:cubicBezTo>
                  <a:cubicBezTo>
                    <a:pt x="71" y="2"/>
                    <a:pt x="123" y="1"/>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2" name="Figura a mano libera 78"/>
            <p:cNvSpPr>
              <a:spLocks/>
            </p:cNvSpPr>
            <p:nvPr/>
          </p:nvSpPr>
          <p:spPr bwMode="invGray">
            <a:xfrm>
              <a:off x="9621838" y="1546479"/>
              <a:ext cx="11112" cy="8617"/>
            </a:xfrm>
            <a:custGeom>
              <a:avLst/>
              <a:gdLst>
                <a:gd name="T0" fmla="*/ 0 w 13"/>
                <a:gd name="T1" fmla="*/ 10 h 10"/>
                <a:gd name="T2" fmla="*/ 0 w 13"/>
                <a:gd name="T3" fmla="*/ 10 h 10"/>
                <a:gd name="T4" fmla="*/ 13 w 13"/>
                <a:gd name="T5" fmla="*/ 10 h 10"/>
                <a:gd name="T6" fmla="*/ 12 w 13"/>
                <a:gd name="T7" fmla="*/ 0 h 10"/>
                <a:gd name="T8" fmla="*/ 0 w 13"/>
                <a:gd name="T9" fmla="*/ 10 h 10"/>
              </a:gdLst>
              <a:ahLst/>
              <a:cxnLst>
                <a:cxn ang="0">
                  <a:pos x="T0" y="T1"/>
                </a:cxn>
                <a:cxn ang="0">
                  <a:pos x="T2" y="T3"/>
                </a:cxn>
                <a:cxn ang="0">
                  <a:pos x="T4" y="T5"/>
                </a:cxn>
                <a:cxn ang="0">
                  <a:pos x="T6" y="T7"/>
                </a:cxn>
                <a:cxn ang="0">
                  <a:pos x="T8" y="T9"/>
                </a:cxn>
              </a:cxnLst>
              <a:rect l="0" t="0" r="r" b="b"/>
              <a:pathLst>
                <a:path w="13" h="10">
                  <a:moveTo>
                    <a:pt x="0" y="10"/>
                  </a:moveTo>
                  <a:lnTo>
                    <a:pt x="0" y="10"/>
                  </a:lnTo>
                  <a:lnTo>
                    <a:pt x="13" y="10"/>
                  </a:lnTo>
                  <a:lnTo>
                    <a:pt x="12" y="0"/>
                  </a:lnTo>
                  <a:lnTo>
                    <a:pt x="0" y="1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3" name="Figura a mano libera 79"/>
            <p:cNvSpPr>
              <a:spLocks/>
            </p:cNvSpPr>
            <p:nvPr/>
          </p:nvSpPr>
          <p:spPr bwMode="invGray">
            <a:xfrm>
              <a:off x="8951913" y="1568636"/>
              <a:ext cx="96837" cy="8617"/>
            </a:xfrm>
            <a:custGeom>
              <a:avLst/>
              <a:gdLst>
                <a:gd name="T0" fmla="*/ 16 w 101"/>
                <a:gd name="T1" fmla="*/ 8 h 10"/>
                <a:gd name="T2" fmla="*/ 16 w 101"/>
                <a:gd name="T3" fmla="*/ 8 h 10"/>
                <a:gd name="T4" fmla="*/ 86 w 101"/>
                <a:gd name="T5" fmla="*/ 4 h 10"/>
                <a:gd name="T6" fmla="*/ 56 w 101"/>
                <a:gd name="T7" fmla="*/ 0 h 10"/>
                <a:gd name="T8" fmla="*/ 16 w 101"/>
                <a:gd name="T9" fmla="*/ 8 h 10"/>
              </a:gdLst>
              <a:ahLst/>
              <a:cxnLst>
                <a:cxn ang="0">
                  <a:pos x="T0" y="T1"/>
                </a:cxn>
                <a:cxn ang="0">
                  <a:pos x="T2" y="T3"/>
                </a:cxn>
                <a:cxn ang="0">
                  <a:pos x="T4" y="T5"/>
                </a:cxn>
                <a:cxn ang="0">
                  <a:pos x="T6" y="T7"/>
                </a:cxn>
                <a:cxn ang="0">
                  <a:pos x="T8" y="T9"/>
                </a:cxn>
              </a:cxnLst>
              <a:rect l="0" t="0" r="r" b="b"/>
              <a:pathLst>
                <a:path w="101" h="10">
                  <a:moveTo>
                    <a:pt x="16" y="8"/>
                  </a:moveTo>
                  <a:lnTo>
                    <a:pt x="16" y="8"/>
                  </a:lnTo>
                  <a:cubicBezTo>
                    <a:pt x="78" y="10"/>
                    <a:pt x="31" y="1"/>
                    <a:pt x="86" y="4"/>
                  </a:cubicBezTo>
                  <a:cubicBezTo>
                    <a:pt x="101" y="2"/>
                    <a:pt x="41" y="2"/>
                    <a:pt x="56" y="0"/>
                  </a:cubicBezTo>
                  <a:cubicBezTo>
                    <a:pt x="19" y="2"/>
                    <a:pt x="0" y="1"/>
                    <a:pt x="16" y="8"/>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4" name="Figura a mano libera 80"/>
            <p:cNvSpPr>
              <a:spLocks/>
            </p:cNvSpPr>
            <p:nvPr/>
          </p:nvSpPr>
          <p:spPr bwMode="invGray">
            <a:xfrm>
              <a:off x="9005888" y="1566174"/>
              <a:ext cx="17462" cy="2462"/>
            </a:xfrm>
            <a:custGeom>
              <a:avLst/>
              <a:gdLst>
                <a:gd name="T0" fmla="*/ 0 w 19"/>
                <a:gd name="T1" fmla="*/ 2 h 2"/>
                <a:gd name="T2" fmla="*/ 0 w 19"/>
                <a:gd name="T3" fmla="*/ 2 h 2"/>
                <a:gd name="T4" fmla="*/ 19 w 19"/>
                <a:gd name="T5" fmla="*/ 0 h 2"/>
                <a:gd name="T6" fmla="*/ 0 w 19"/>
                <a:gd name="T7" fmla="*/ 2 h 2"/>
              </a:gdLst>
              <a:ahLst/>
              <a:cxnLst>
                <a:cxn ang="0">
                  <a:pos x="T0" y="T1"/>
                </a:cxn>
                <a:cxn ang="0">
                  <a:pos x="T2" y="T3"/>
                </a:cxn>
                <a:cxn ang="0">
                  <a:pos x="T4" y="T5"/>
                </a:cxn>
                <a:cxn ang="0">
                  <a:pos x="T6" y="T7"/>
                </a:cxn>
              </a:cxnLst>
              <a:rect l="0" t="0" r="r" b="b"/>
              <a:pathLst>
                <a:path w="19" h="2">
                  <a:moveTo>
                    <a:pt x="0" y="2"/>
                  </a:moveTo>
                  <a:lnTo>
                    <a:pt x="0" y="2"/>
                  </a:lnTo>
                  <a:lnTo>
                    <a:pt x="19" y="0"/>
                  </a:lnTo>
                  <a:cubicBezTo>
                    <a:pt x="8" y="1"/>
                    <a:pt x="3" y="1"/>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5" name="Figura a mano libera 81"/>
            <p:cNvSpPr>
              <a:spLocks/>
            </p:cNvSpPr>
            <p:nvPr/>
          </p:nvSpPr>
          <p:spPr bwMode="invGray">
            <a:xfrm>
              <a:off x="1587500" y="1516937"/>
              <a:ext cx="38100" cy="3693"/>
            </a:xfrm>
            <a:custGeom>
              <a:avLst/>
              <a:gdLst>
                <a:gd name="T0" fmla="*/ 39 w 39"/>
                <a:gd name="T1" fmla="*/ 2 h 4"/>
                <a:gd name="T2" fmla="*/ 39 w 39"/>
                <a:gd name="T3" fmla="*/ 2 h 4"/>
                <a:gd name="T4" fmla="*/ 0 w 39"/>
                <a:gd name="T5" fmla="*/ 0 h 4"/>
                <a:gd name="T6" fmla="*/ 25 w 39"/>
                <a:gd name="T7" fmla="*/ 4 h 4"/>
                <a:gd name="T8" fmla="*/ 39 w 39"/>
                <a:gd name="T9" fmla="*/ 2 h 4"/>
              </a:gdLst>
              <a:ahLst/>
              <a:cxnLst>
                <a:cxn ang="0">
                  <a:pos x="T0" y="T1"/>
                </a:cxn>
                <a:cxn ang="0">
                  <a:pos x="T2" y="T3"/>
                </a:cxn>
                <a:cxn ang="0">
                  <a:pos x="T4" y="T5"/>
                </a:cxn>
                <a:cxn ang="0">
                  <a:pos x="T6" y="T7"/>
                </a:cxn>
                <a:cxn ang="0">
                  <a:pos x="T8" y="T9"/>
                </a:cxn>
              </a:cxnLst>
              <a:rect l="0" t="0" r="r" b="b"/>
              <a:pathLst>
                <a:path w="39" h="4">
                  <a:moveTo>
                    <a:pt x="39" y="2"/>
                  </a:moveTo>
                  <a:lnTo>
                    <a:pt x="39" y="2"/>
                  </a:lnTo>
                  <a:lnTo>
                    <a:pt x="0" y="0"/>
                  </a:lnTo>
                  <a:lnTo>
                    <a:pt x="25" y="4"/>
                  </a:lnTo>
                  <a:lnTo>
                    <a:pt x="39"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6" name="Figura a mano libera 82"/>
            <p:cNvSpPr>
              <a:spLocks/>
            </p:cNvSpPr>
            <p:nvPr/>
          </p:nvSpPr>
          <p:spPr bwMode="invGray">
            <a:xfrm>
              <a:off x="1522413" y="1519399"/>
              <a:ext cx="30162" cy="4924"/>
            </a:xfrm>
            <a:custGeom>
              <a:avLst/>
              <a:gdLst>
                <a:gd name="T0" fmla="*/ 32 w 32"/>
                <a:gd name="T1" fmla="*/ 6 h 6"/>
                <a:gd name="T2" fmla="*/ 32 w 32"/>
                <a:gd name="T3" fmla="*/ 6 h 6"/>
                <a:gd name="T4" fmla="*/ 23 w 32"/>
                <a:gd name="T5" fmla="*/ 0 h 6"/>
                <a:gd name="T6" fmla="*/ 0 w 32"/>
                <a:gd name="T7" fmla="*/ 5 h 6"/>
                <a:gd name="T8" fmla="*/ 32 w 32"/>
                <a:gd name="T9" fmla="*/ 6 h 6"/>
              </a:gdLst>
              <a:ahLst/>
              <a:cxnLst>
                <a:cxn ang="0">
                  <a:pos x="T0" y="T1"/>
                </a:cxn>
                <a:cxn ang="0">
                  <a:pos x="T2" y="T3"/>
                </a:cxn>
                <a:cxn ang="0">
                  <a:pos x="T4" y="T5"/>
                </a:cxn>
                <a:cxn ang="0">
                  <a:pos x="T6" y="T7"/>
                </a:cxn>
                <a:cxn ang="0">
                  <a:pos x="T8" y="T9"/>
                </a:cxn>
              </a:cxnLst>
              <a:rect l="0" t="0" r="r" b="b"/>
              <a:pathLst>
                <a:path w="32" h="6">
                  <a:moveTo>
                    <a:pt x="32" y="6"/>
                  </a:moveTo>
                  <a:lnTo>
                    <a:pt x="32" y="6"/>
                  </a:lnTo>
                  <a:lnTo>
                    <a:pt x="23" y="0"/>
                  </a:lnTo>
                  <a:lnTo>
                    <a:pt x="0" y="5"/>
                  </a:lnTo>
                  <a:cubicBezTo>
                    <a:pt x="8" y="5"/>
                    <a:pt x="26" y="5"/>
                    <a:pt x="32"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7" name="Figura a mano libera 83"/>
            <p:cNvSpPr>
              <a:spLocks/>
            </p:cNvSpPr>
            <p:nvPr/>
          </p:nvSpPr>
          <p:spPr bwMode="invGray">
            <a:xfrm>
              <a:off x="6650038" y="1573559"/>
              <a:ext cx="33337" cy="3693"/>
            </a:xfrm>
            <a:custGeom>
              <a:avLst/>
              <a:gdLst>
                <a:gd name="T0" fmla="*/ 31 w 34"/>
                <a:gd name="T1" fmla="*/ 4 h 4"/>
                <a:gd name="T2" fmla="*/ 31 w 34"/>
                <a:gd name="T3" fmla="*/ 4 h 4"/>
                <a:gd name="T4" fmla="*/ 34 w 34"/>
                <a:gd name="T5" fmla="*/ 2 h 4"/>
                <a:gd name="T6" fmla="*/ 0 w 34"/>
                <a:gd name="T7" fmla="*/ 0 h 4"/>
                <a:gd name="T8" fmla="*/ 31 w 34"/>
                <a:gd name="T9" fmla="*/ 4 h 4"/>
              </a:gdLst>
              <a:ahLst/>
              <a:cxnLst>
                <a:cxn ang="0">
                  <a:pos x="T0" y="T1"/>
                </a:cxn>
                <a:cxn ang="0">
                  <a:pos x="T2" y="T3"/>
                </a:cxn>
                <a:cxn ang="0">
                  <a:pos x="T4" y="T5"/>
                </a:cxn>
                <a:cxn ang="0">
                  <a:pos x="T6" y="T7"/>
                </a:cxn>
                <a:cxn ang="0">
                  <a:pos x="T8" y="T9"/>
                </a:cxn>
              </a:cxnLst>
              <a:rect l="0" t="0" r="r" b="b"/>
              <a:pathLst>
                <a:path w="34" h="4">
                  <a:moveTo>
                    <a:pt x="31" y="4"/>
                  </a:moveTo>
                  <a:lnTo>
                    <a:pt x="31" y="4"/>
                  </a:lnTo>
                  <a:lnTo>
                    <a:pt x="34" y="2"/>
                  </a:lnTo>
                  <a:cubicBezTo>
                    <a:pt x="28" y="1"/>
                    <a:pt x="18" y="1"/>
                    <a:pt x="0" y="0"/>
                  </a:cubicBezTo>
                  <a:lnTo>
                    <a:pt x="3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8" name="Figura a mano libera 84"/>
            <p:cNvSpPr>
              <a:spLocks/>
            </p:cNvSpPr>
            <p:nvPr/>
          </p:nvSpPr>
          <p:spPr bwMode="invGray">
            <a:xfrm>
              <a:off x="6162675" y="1566174"/>
              <a:ext cx="15875" cy="4924"/>
            </a:xfrm>
            <a:custGeom>
              <a:avLst/>
              <a:gdLst>
                <a:gd name="T0" fmla="*/ 8 w 17"/>
                <a:gd name="T1" fmla="*/ 6 h 6"/>
                <a:gd name="T2" fmla="*/ 8 w 17"/>
                <a:gd name="T3" fmla="*/ 6 h 6"/>
                <a:gd name="T4" fmla="*/ 17 w 17"/>
                <a:gd name="T5" fmla="*/ 6 h 6"/>
                <a:gd name="T6" fmla="*/ 0 w 17"/>
                <a:gd name="T7" fmla="*/ 0 h 6"/>
                <a:gd name="T8" fmla="*/ 8 w 17"/>
                <a:gd name="T9" fmla="*/ 6 h 6"/>
              </a:gdLst>
              <a:ahLst/>
              <a:cxnLst>
                <a:cxn ang="0">
                  <a:pos x="T0" y="T1"/>
                </a:cxn>
                <a:cxn ang="0">
                  <a:pos x="T2" y="T3"/>
                </a:cxn>
                <a:cxn ang="0">
                  <a:pos x="T4" y="T5"/>
                </a:cxn>
                <a:cxn ang="0">
                  <a:pos x="T6" y="T7"/>
                </a:cxn>
                <a:cxn ang="0">
                  <a:pos x="T8" y="T9"/>
                </a:cxn>
              </a:cxnLst>
              <a:rect l="0" t="0" r="r" b="b"/>
              <a:pathLst>
                <a:path w="17" h="6">
                  <a:moveTo>
                    <a:pt x="8" y="6"/>
                  </a:moveTo>
                  <a:lnTo>
                    <a:pt x="8" y="6"/>
                  </a:lnTo>
                  <a:lnTo>
                    <a:pt x="17" y="6"/>
                  </a:lnTo>
                  <a:lnTo>
                    <a:pt x="0" y="0"/>
                  </a:lnTo>
                  <a:lnTo>
                    <a:pt x="8"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9" name="Figura a mano libera 85"/>
            <p:cNvSpPr>
              <a:spLocks/>
            </p:cNvSpPr>
            <p:nvPr/>
          </p:nvSpPr>
          <p:spPr bwMode="invGray">
            <a:xfrm>
              <a:off x="5738813" y="1571097"/>
              <a:ext cx="60325" cy="6155"/>
            </a:xfrm>
            <a:custGeom>
              <a:avLst/>
              <a:gdLst>
                <a:gd name="T0" fmla="*/ 5 w 63"/>
                <a:gd name="T1" fmla="*/ 7 h 8"/>
                <a:gd name="T2" fmla="*/ 5 w 63"/>
                <a:gd name="T3" fmla="*/ 7 h 8"/>
                <a:gd name="T4" fmla="*/ 63 w 63"/>
                <a:gd name="T5" fmla="*/ 7 h 8"/>
                <a:gd name="T6" fmla="*/ 5 w 63"/>
                <a:gd name="T7" fmla="*/ 7 h 8"/>
              </a:gdLst>
              <a:ahLst/>
              <a:cxnLst>
                <a:cxn ang="0">
                  <a:pos x="T0" y="T1"/>
                </a:cxn>
                <a:cxn ang="0">
                  <a:pos x="T2" y="T3"/>
                </a:cxn>
                <a:cxn ang="0">
                  <a:pos x="T4" y="T5"/>
                </a:cxn>
                <a:cxn ang="0">
                  <a:pos x="T6" y="T7"/>
                </a:cxn>
              </a:cxnLst>
              <a:rect l="0" t="0" r="r" b="b"/>
              <a:pathLst>
                <a:path w="63" h="8">
                  <a:moveTo>
                    <a:pt x="5" y="7"/>
                  </a:moveTo>
                  <a:lnTo>
                    <a:pt x="5" y="7"/>
                  </a:lnTo>
                  <a:cubicBezTo>
                    <a:pt x="23" y="8"/>
                    <a:pt x="45" y="6"/>
                    <a:pt x="63" y="7"/>
                  </a:cubicBezTo>
                  <a:cubicBezTo>
                    <a:pt x="23" y="8"/>
                    <a:pt x="0" y="0"/>
                    <a:pt x="5" y="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grpSp>
      <p:sp>
        <p:nvSpPr>
          <p:cNvPr id="80" name="Footer Placeholder 4">
            <a:extLst>
              <a:ext uri="{FF2B5EF4-FFF2-40B4-BE49-F238E27FC236}">
                <a16:creationId xmlns:a16="http://schemas.microsoft.com/office/drawing/2014/main" id="{E4BE8164-996A-474C-978A-F0A76F8C91BF}"/>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
        <p:nvSpPr>
          <p:cNvPr id="81" name="Slide Number Placeholder 5">
            <a:extLst>
              <a:ext uri="{FF2B5EF4-FFF2-40B4-BE49-F238E27FC236}">
                <a16:creationId xmlns:a16="http://schemas.microsoft.com/office/drawing/2014/main" id="{39CA8FFC-AF78-45E6-98A9-C8B0B8648A64}"/>
              </a:ext>
            </a:extLst>
          </p:cNvPr>
          <p:cNvSpPr>
            <a:spLocks noGrp="1"/>
          </p:cNvSpPr>
          <p:nvPr>
            <p:ph type="sldNum" sz="quarter" idx="4"/>
          </p:nvPr>
        </p:nvSpPr>
        <p:spPr>
          <a:xfrm>
            <a:off x="8556706" y="6588890"/>
            <a:ext cx="533400" cy="304800"/>
          </a:xfrm>
          <a:prstGeom prst="rect">
            <a:avLst/>
          </a:prstGeom>
        </p:spPr>
        <p:txBody>
          <a:bodyPr vert="horz" lIns="91440" tIns="45720" rIns="91440" bIns="45720" rtlCol="0" anchor="ctr"/>
          <a:lstStyle>
            <a:lvl1pPr algn="r">
              <a:defRPr sz="1100">
                <a:solidFill>
                  <a:schemeClr val="tx1"/>
                </a:solidFill>
              </a:defRPr>
            </a:lvl1pPr>
          </a:lstStyle>
          <a:p>
            <a:pPr>
              <a:defRPr/>
            </a:pPr>
            <a:fld id="{476DEB1C-3253-4C07-8F02-456B7B2AD41D}" type="slidenum">
              <a:rPr lang="it-IT" smtClean="0"/>
              <a:pPr>
                <a:defRPr/>
              </a:pPr>
              <a:t>‹#›</a:t>
            </a:fld>
            <a:endParaRPr lang="it-IT" dirty="0"/>
          </a:p>
        </p:txBody>
      </p:sp>
    </p:spTree>
    <p:extLst>
      <p:ext uri="{BB962C8B-B14F-4D97-AF65-F5344CB8AC3E}">
        <p14:creationId xmlns:p14="http://schemas.microsoft.com/office/powerpoint/2010/main" val="2061530991"/>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476DEB1C-3253-4C07-8F02-456B7B2AD41D}" type="slidenum">
              <a:rPr lang="it-IT" smtClean="0"/>
              <a:pPr>
                <a:defRPr/>
              </a:pPr>
              <a:t>‹#›</a:t>
            </a:fld>
            <a:endParaRPr lang="it-IT" dirty="0"/>
          </a:p>
        </p:txBody>
      </p:sp>
      <p:sp>
        <p:nvSpPr>
          <p:cNvPr id="2" name="Title 1"/>
          <p:cNvSpPr>
            <a:spLocks noGrp="1"/>
          </p:cNvSpPr>
          <p:nvPr>
            <p:ph type="title"/>
          </p:nvPr>
        </p:nvSpPr>
        <p:spPr/>
        <p:txBody>
          <a:bodyPr/>
          <a:lstStyle/>
          <a:p>
            <a:r>
              <a:rPr lang="en-US"/>
              <a:t>Click to edit Master title style</a:t>
            </a:r>
            <a:endParaRPr/>
          </a:p>
        </p:txBody>
      </p:sp>
      <p:grpSp>
        <p:nvGrpSpPr>
          <p:cNvPr id="6" name="linea"/>
          <p:cNvGrpSpPr/>
          <p:nvPr/>
        </p:nvGrpSpPr>
        <p:grpSpPr bwMode="invGray">
          <a:xfrm>
            <a:off x="315162" y="840518"/>
            <a:ext cx="7929246" cy="64008"/>
            <a:chOff x="1522413" y="1514475"/>
            <a:chExt cx="10569575" cy="64008"/>
          </a:xfrm>
          <a:solidFill>
            <a:schemeClr val="accent2">
              <a:lumMod val="75000"/>
            </a:schemeClr>
          </a:solidFill>
        </p:grpSpPr>
        <p:sp>
          <p:nvSpPr>
            <p:cNvPr id="7" name="Figura a mano libera 10"/>
            <p:cNvSpPr>
              <a:spLocks/>
            </p:cNvSpPr>
            <p:nvPr/>
          </p:nvSpPr>
          <p:spPr bwMode="invGray">
            <a:xfrm>
              <a:off x="12028488" y="1525554"/>
              <a:ext cx="63500" cy="4924"/>
            </a:xfrm>
            <a:custGeom>
              <a:avLst/>
              <a:gdLst>
                <a:gd name="T0" fmla="*/ 30 w 67"/>
                <a:gd name="T1" fmla="*/ 6 h 6"/>
                <a:gd name="T2" fmla="*/ 30 w 67"/>
                <a:gd name="T3" fmla="*/ 6 h 6"/>
                <a:gd name="T4" fmla="*/ 67 w 67"/>
                <a:gd name="T5" fmla="*/ 3 h 6"/>
                <a:gd name="T6" fmla="*/ 39 w 67"/>
                <a:gd name="T7" fmla="*/ 0 h 6"/>
                <a:gd name="T8" fmla="*/ 30 w 67"/>
                <a:gd name="T9" fmla="*/ 6 h 6"/>
              </a:gdLst>
              <a:ahLst/>
              <a:cxnLst>
                <a:cxn ang="0">
                  <a:pos x="T0" y="T1"/>
                </a:cxn>
                <a:cxn ang="0">
                  <a:pos x="T2" y="T3"/>
                </a:cxn>
                <a:cxn ang="0">
                  <a:pos x="T4" y="T5"/>
                </a:cxn>
                <a:cxn ang="0">
                  <a:pos x="T6" y="T7"/>
                </a:cxn>
                <a:cxn ang="0">
                  <a:pos x="T8" y="T9"/>
                </a:cxn>
              </a:cxnLst>
              <a:rect l="0" t="0" r="r" b="b"/>
              <a:pathLst>
                <a:path w="67" h="6">
                  <a:moveTo>
                    <a:pt x="30" y="6"/>
                  </a:moveTo>
                  <a:lnTo>
                    <a:pt x="30" y="6"/>
                  </a:lnTo>
                  <a:lnTo>
                    <a:pt x="67" y="3"/>
                  </a:lnTo>
                  <a:cubicBezTo>
                    <a:pt x="60" y="2"/>
                    <a:pt x="26" y="1"/>
                    <a:pt x="39" y="0"/>
                  </a:cubicBezTo>
                  <a:cubicBezTo>
                    <a:pt x="0" y="1"/>
                    <a:pt x="8" y="3"/>
                    <a:pt x="30"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 name="Figura a mano libera 11"/>
            <p:cNvSpPr>
              <a:spLocks/>
            </p:cNvSpPr>
            <p:nvPr/>
          </p:nvSpPr>
          <p:spPr bwMode="invGray">
            <a:xfrm>
              <a:off x="12022138" y="1532939"/>
              <a:ext cx="19050" cy="1231"/>
            </a:xfrm>
            <a:custGeom>
              <a:avLst/>
              <a:gdLst>
                <a:gd name="T0" fmla="*/ 0 w 20"/>
                <a:gd name="T1" fmla="*/ 2 h 2"/>
                <a:gd name="T2" fmla="*/ 0 w 20"/>
                <a:gd name="T3" fmla="*/ 2 h 2"/>
                <a:gd name="T4" fmla="*/ 20 w 20"/>
                <a:gd name="T5" fmla="*/ 1 h 2"/>
                <a:gd name="T6" fmla="*/ 0 w 20"/>
                <a:gd name="T7" fmla="*/ 2 h 2"/>
              </a:gdLst>
              <a:ahLst/>
              <a:cxnLst>
                <a:cxn ang="0">
                  <a:pos x="T0" y="T1"/>
                </a:cxn>
                <a:cxn ang="0">
                  <a:pos x="T2" y="T3"/>
                </a:cxn>
                <a:cxn ang="0">
                  <a:pos x="T4" y="T5"/>
                </a:cxn>
                <a:cxn ang="0">
                  <a:pos x="T6" y="T7"/>
                </a:cxn>
              </a:cxnLst>
              <a:rect l="0" t="0" r="r" b="b"/>
              <a:pathLst>
                <a:path w="20" h="2">
                  <a:moveTo>
                    <a:pt x="0" y="2"/>
                  </a:moveTo>
                  <a:lnTo>
                    <a:pt x="0" y="2"/>
                  </a:lnTo>
                  <a:lnTo>
                    <a:pt x="20" y="1"/>
                  </a:lnTo>
                  <a:cubicBezTo>
                    <a:pt x="16" y="0"/>
                    <a:pt x="11" y="0"/>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9" name="Figura a mano libera 12"/>
            <p:cNvSpPr>
              <a:spLocks/>
            </p:cNvSpPr>
            <p:nvPr/>
          </p:nvSpPr>
          <p:spPr bwMode="invGray">
            <a:xfrm>
              <a:off x="12041188" y="1531708"/>
              <a:ext cx="39687" cy="6155"/>
            </a:xfrm>
            <a:custGeom>
              <a:avLst/>
              <a:gdLst>
                <a:gd name="T0" fmla="*/ 41 w 41"/>
                <a:gd name="T1" fmla="*/ 0 h 6"/>
                <a:gd name="T2" fmla="*/ 41 w 41"/>
                <a:gd name="T3" fmla="*/ 0 h 6"/>
                <a:gd name="T4" fmla="*/ 0 w 41"/>
                <a:gd name="T5" fmla="*/ 2 h 6"/>
                <a:gd name="T6" fmla="*/ 19 w 41"/>
                <a:gd name="T7" fmla="*/ 1 h 6"/>
                <a:gd name="T8" fmla="*/ 41 w 41"/>
                <a:gd name="T9" fmla="*/ 0 h 6"/>
              </a:gdLst>
              <a:ahLst/>
              <a:cxnLst>
                <a:cxn ang="0">
                  <a:pos x="T0" y="T1"/>
                </a:cxn>
                <a:cxn ang="0">
                  <a:pos x="T2" y="T3"/>
                </a:cxn>
                <a:cxn ang="0">
                  <a:pos x="T4" y="T5"/>
                </a:cxn>
                <a:cxn ang="0">
                  <a:pos x="T6" y="T7"/>
                </a:cxn>
                <a:cxn ang="0">
                  <a:pos x="T8" y="T9"/>
                </a:cxn>
              </a:cxnLst>
              <a:rect l="0" t="0" r="r" b="b"/>
              <a:pathLst>
                <a:path w="41" h="6">
                  <a:moveTo>
                    <a:pt x="41" y="0"/>
                  </a:moveTo>
                  <a:lnTo>
                    <a:pt x="41" y="0"/>
                  </a:lnTo>
                  <a:lnTo>
                    <a:pt x="0" y="2"/>
                  </a:lnTo>
                  <a:cubicBezTo>
                    <a:pt x="5" y="3"/>
                    <a:pt x="6" y="6"/>
                    <a:pt x="19" y="1"/>
                  </a:cubicBezTo>
                  <a:cubicBezTo>
                    <a:pt x="15" y="3"/>
                    <a:pt x="23" y="1"/>
                    <a:pt x="4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0" name="Figura a mano libera 15"/>
            <p:cNvSpPr>
              <a:spLocks/>
            </p:cNvSpPr>
            <p:nvPr/>
          </p:nvSpPr>
          <p:spPr bwMode="invGray">
            <a:xfrm>
              <a:off x="11831638" y="1526784"/>
              <a:ext cx="42862" cy="4924"/>
            </a:xfrm>
            <a:custGeom>
              <a:avLst/>
              <a:gdLst>
                <a:gd name="T0" fmla="*/ 2 w 45"/>
                <a:gd name="T1" fmla="*/ 0 h 6"/>
                <a:gd name="T2" fmla="*/ 2 w 45"/>
                <a:gd name="T3" fmla="*/ 0 h 6"/>
                <a:gd name="T4" fmla="*/ 18 w 45"/>
                <a:gd name="T5" fmla="*/ 6 h 6"/>
                <a:gd name="T6" fmla="*/ 45 w 45"/>
                <a:gd name="T7" fmla="*/ 4 h 6"/>
                <a:gd name="T8" fmla="*/ 2 w 45"/>
                <a:gd name="T9" fmla="*/ 0 h 6"/>
              </a:gdLst>
              <a:ahLst/>
              <a:cxnLst>
                <a:cxn ang="0">
                  <a:pos x="T0" y="T1"/>
                </a:cxn>
                <a:cxn ang="0">
                  <a:pos x="T2" y="T3"/>
                </a:cxn>
                <a:cxn ang="0">
                  <a:pos x="T4" y="T5"/>
                </a:cxn>
                <a:cxn ang="0">
                  <a:pos x="T6" y="T7"/>
                </a:cxn>
                <a:cxn ang="0">
                  <a:pos x="T8" y="T9"/>
                </a:cxn>
              </a:cxnLst>
              <a:rect l="0" t="0" r="r" b="b"/>
              <a:pathLst>
                <a:path w="45" h="6">
                  <a:moveTo>
                    <a:pt x="2" y="0"/>
                  </a:moveTo>
                  <a:lnTo>
                    <a:pt x="2" y="0"/>
                  </a:lnTo>
                  <a:cubicBezTo>
                    <a:pt x="0" y="1"/>
                    <a:pt x="15" y="4"/>
                    <a:pt x="18" y="6"/>
                  </a:cubicBezTo>
                  <a:lnTo>
                    <a:pt x="45" y="4"/>
                  </a:lnTo>
                  <a:cubicBezTo>
                    <a:pt x="31" y="3"/>
                    <a:pt x="4" y="2"/>
                    <a:pt x="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1" name="Figura a mano libera 16"/>
            <p:cNvSpPr>
              <a:spLocks/>
            </p:cNvSpPr>
            <p:nvPr/>
          </p:nvSpPr>
          <p:spPr bwMode="invGray">
            <a:xfrm>
              <a:off x="11809413" y="1531708"/>
              <a:ext cx="41275" cy="2462"/>
            </a:xfrm>
            <a:custGeom>
              <a:avLst/>
              <a:gdLst>
                <a:gd name="T0" fmla="*/ 42 w 44"/>
                <a:gd name="T1" fmla="*/ 0 h 3"/>
                <a:gd name="T2" fmla="*/ 42 w 44"/>
                <a:gd name="T3" fmla="*/ 0 h 3"/>
                <a:gd name="T4" fmla="*/ 0 w 44"/>
                <a:gd name="T5" fmla="*/ 3 h 3"/>
                <a:gd name="T6" fmla="*/ 42 w 44"/>
                <a:gd name="T7" fmla="*/ 0 h 3"/>
              </a:gdLst>
              <a:ahLst/>
              <a:cxnLst>
                <a:cxn ang="0">
                  <a:pos x="T0" y="T1"/>
                </a:cxn>
                <a:cxn ang="0">
                  <a:pos x="T2" y="T3"/>
                </a:cxn>
                <a:cxn ang="0">
                  <a:pos x="T4" y="T5"/>
                </a:cxn>
                <a:cxn ang="0">
                  <a:pos x="T6" y="T7"/>
                </a:cxn>
              </a:cxnLst>
              <a:rect l="0" t="0" r="r" b="b"/>
              <a:pathLst>
                <a:path w="44" h="3">
                  <a:moveTo>
                    <a:pt x="42" y="0"/>
                  </a:moveTo>
                  <a:lnTo>
                    <a:pt x="42" y="0"/>
                  </a:lnTo>
                  <a:lnTo>
                    <a:pt x="0" y="3"/>
                  </a:lnTo>
                  <a:cubicBezTo>
                    <a:pt x="37" y="3"/>
                    <a:pt x="44" y="2"/>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2" name="Figura a mano libera 17"/>
            <p:cNvSpPr>
              <a:spLocks/>
            </p:cNvSpPr>
            <p:nvPr/>
          </p:nvSpPr>
          <p:spPr bwMode="invGray">
            <a:xfrm>
              <a:off x="12003088" y="1537863"/>
              <a:ext cx="77787" cy="3693"/>
            </a:xfrm>
            <a:custGeom>
              <a:avLst/>
              <a:gdLst>
                <a:gd name="T0" fmla="*/ 14 w 82"/>
                <a:gd name="T1" fmla="*/ 5 h 5"/>
                <a:gd name="T2" fmla="*/ 14 w 82"/>
                <a:gd name="T3" fmla="*/ 5 h 5"/>
                <a:gd name="T4" fmla="*/ 82 w 82"/>
                <a:gd name="T5" fmla="*/ 0 h 5"/>
                <a:gd name="T6" fmla="*/ 0 w 82"/>
                <a:gd name="T7" fmla="*/ 5 h 5"/>
                <a:gd name="T8" fmla="*/ 14 w 82"/>
                <a:gd name="T9" fmla="*/ 5 h 5"/>
              </a:gdLst>
              <a:ahLst/>
              <a:cxnLst>
                <a:cxn ang="0">
                  <a:pos x="T0" y="T1"/>
                </a:cxn>
                <a:cxn ang="0">
                  <a:pos x="T2" y="T3"/>
                </a:cxn>
                <a:cxn ang="0">
                  <a:pos x="T4" y="T5"/>
                </a:cxn>
                <a:cxn ang="0">
                  <a:pos x="T6" y="T7"/>
                </a:cxn>
                <a:cxn ang="0">
                  <a:pos x="T8" y="T9"/>
                </a:cxn>
              </a:cxnLst>
              <a:rect l="0" t="0" r="r" b="b"/>
              <a:pathLst>
                <a:path w="82" h="5">
                  <a:moveTo>
                    <a:pt x="14" y="5"/>
                  </a:moveTo>
                  <a:lnTo>
                    <a:pt x="14" y="5"/>
                  </a:lnTo>
                  <a:lnTo>
                    <a:pt x="82" y="0"/>
                  </a:lnTo>
                  <a:lnTo>
                    <a:pt x="0" y="5"/>
                  </a:lnTo>
                  <a:lnTo>
                    <a:pt x="14"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3" name="Figura a mano libera 18"/>
            <p:cNvSpPr>
              <a:spLocks/>
            </p:cNvSpPr>
            <p:nvPr/>
          </p:nvSpPr>
          <p:spPr bwMode="invGray">
            <a:xfrm>
              <a:off x="11664950" y="1523092"/>
              <a:ext cx="39687" cy="4924"/>
            </a:xfrm>
            <a:custGeom>
              <a:avLst/>
              <a:gdLst>
                <a:gd name="T0" fmla="*/ 19 w 42"/>
                <a:gd name="T1" fmla="*/ 4 h 5"/>
                <a:gd name="T2" fmla="*/ 19 w 42"/>
                <a:gd name="T3" fmla="*/ 4 h 5"/>
                <a:gd name="T4" fmla="*/ 42 w 42"/>
                <a:gd name="T5" fmla="*/ 0 h 5"/>
                <a:gd name="T6" fmla="*/ 0 w 42"/>
                <a:gd name="T7" fmla="*/ 5 h 5"/>
                <a:gd name="T8" fmla="*/ 19 w 42"/>
                <a:gd name="T9" fmla="*/ 4 h 5"/>
              </a:gdLst>
              <a:ahLst/>
              <a:cxnLst>
                <a:cxn ang="0">
                  <a:pos x="T0" y="T1"/>
                </a:cxn>
                <a:cxn ang="0">
                  <a:pos x="T2" y="T3"/>
                </a:cxn>
                <a:cxn ang="0">
                  <a:pos x="T4" y="T5"/>
                </a:cxn>
                <a:cxn ang="0">
                  <a:pos x="T6" y="T7"/>
                </a:cxn>
                <a:cxn ang="0">
                  <a:pos x="T8" y="T9"/>
                </a:cxn>
              </a:cxnLst>
              <a:rect l="0" t="0" r="r" b="b"/>
              <a:pathLst>
                <a:path w="42" h="5">
                  <a:moveTo>
                    <a:pt x="19" y="4"/>
                  </a:moveTo>
                  <a:lnTo>
                    <a:pt x="19" y="4"/>
                  </a:lnTo>
                  <a:lnTo>
                    <a:pt x="42" y="0"/>
                  </a:lnTo>
                  <a:lnTo>
                    <a:pt x="0" y="5"/>
                  </a:lnTo>
                  <a:lnTo>
                    <a:pt x="19"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4" name="Figura a mano libera 19"/>
            <p:cNvSpPr>
              <a:spLocks/>
            </p:cNvSpPr>
            <p:nvPr/>
          </p:nvSpPr>
          <p:spPr bwMode="invGray">
            <a:xfrm>
              <a:off x="11506200" y="1521861"/>
              <a:ext cx="92075" cy="4924"/>
            </a:xfrm>
            <a:custGeom>
              <a:avLst/>
              <a:gdLst>
                <a:gd name="T0" fmla="*/ 81 w 98"/>
                <a:gd name="T1" fmla="*/ 6 h 6"/>
                <a:gd name="T2" fmla="*/ 81 w 98"/>
                <a:gd name="T3" fmla="*/ 6 h 6"/>
                <a:gd name="T4" fmla="*/ 75 w 98"/>
                <a:gd name="T5" fmla="*/ 0 h 6"/>
                <a:gd name="T6" fmla="*/ 0 w 98"/>
                <a:gd name="T7" fmla="*/ 5 h 6"/>
                <a:gd name="T8" fmla="*/ 81 w 98"/>
                <a:gd name="T9" fmla="*/ 6 h 6"/>
              </a:gdLst>
              <a:ahLst/>
              <a:cxnLst>
                <a:cxn ang="0">
                  <a:pos x="T0" y="T1"/>
                </a:cxn>
                <a:cxn ang="0">
                  <a:pos x="T2" y="T3"/>
                </a:cxn>
                <a:cxn ang="0">
                  <a:pos x="T4" y="T5"/>
                </a:cxn>
                <a:cxn ang="0">
                  <a:pos x="T6" y="T7"/>
                </a:cxn>
                <a:cxn ang="0">
                  <a:pos x="T8" y="T9"/>
                </a:cxn>
              </a:cxnLst>
              <a:rect l="0" t="0" r="r" b="b"/>
              <a:pathLst>
                <a:path w="98" h="6">
                  <a:moveTo>
                    <a:pt x="81" y="6"/>
                  </a:moveTo>
                  <a:lnTo>
                    <a:pt x="81" y="6"/>
                  </a:lnTo>
                  <a:cubicBezTo>
                    <a:pt x="98" y="3"/>
                    <a:pt x="57" y="1"/>
                    <a:pt x="75" y="0"/>
                  </a:cubicBezTo>
                  <a:cubicBezTo>
                    <a:pt x="47" y="0"/>
                    <a:pt x="22" y="2"/>
                    <a:pt x="0" y="5"/>
                  </a:cubicBezTo>
                  <a:cubicBezTo>
                    <a:pt x="24" y="3"/>
                    <a:pt x="49" y="4"/>
                    <a:pt x="81"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5" name="Figura a mano libera 20"/>
            <p:cNvSpPr>
              <a:spLocks/>
            </p:cNvSpPr>
            <p:nvPr/>
          </p:nvSpPr>
          <p:spPr bwMode="invGray">
            <a:xfrm>
              <a:off x="11471275" y="1525554"/>
              <a:ext cx="34925" cy="3693"/>
            </a:xfrm>
            <a:custGeom>
              <a:avLst/>
              <a:gdLst>
                <a:gd name="T0" fmla="*/ 0 w 36"/>
                <a:gd name="T1" fmla="*/ 3 h 3"/>
                <a:gd name="T2" fmla="*/ 0 w 36"/>
                <a:gd name="T3" fmla="*/ 3 h 3"/>
                <a:gd name="T4" fmla="*/ 36 w 36"/>
                <a:gd name="T5" fmla="*/ 0 h 3"/>
                <a:gd name="T6" fmla="*/ 0 w 36"/>
                <a:gd name="T7" fmla="*/ 3 h 3"/>
              </a:gdLst>
              <a:ahLst/>
              <a:cxnLst>
                <a:cxn ang="0">
                  <a:pos x="T0" y="T1"/>
                </a:cxn>
                <a:cxn ang="0">
                  <a:pos x="T2" y="T3"/>
                </a:cxn>
                <a:cxn ang="0">
                  <a:pos x="T4" y="T5"/>
                </a:cxn>
                <a:cxn ang="0">
                  <a:pos x="T6" y="T7"/>
                </a:cxn>
              </a:cxnLst>
              <a:rect l="0" t="0" r="r" b="b"/>
              <a:pathLst>
                <a:path w="36" h="3">
                  <a:moveTo>
                    <a:pt x="0" y="3"/>
                  </a:moveTo>
                  <a:lnTo>
                    <a:pt x="0" y="3"/>
                  </a:lnTo>
                  <a:cubicBezTo>
                    <a:pt x="11" y="2"/>
                    <a:pt x="23" y="1"/>
                    <a:pt x="36" y="0"/>
                  </a:cubicBezTo>
                  <a:cubicBezTo>
                    <a:pt x="24" y="0"/>
                    <a:pt x="12"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6" name="Figura a mano libera 21"/>
            <p:cNvSpPr>
              <a:spLocks/>
            </p:cNvSpPr>
            <p:nvPr/>
          </p:nvSpPr>
          <p:spPr bwMode="invGray">
            <a:xfrm>
              <a:off x="11710988" y="1529246"/>
              <a:ext cx="30162" cy="4924"/>
            </a:xfrm>
            <a:custGeom>
              <a:avLst/>
              <a:gdLst>
                <a:gd name="T0" fmla="*/ 32 w 32"/>
                <a:gd name="T1" fmla="*/ 5 h 5"/>
                <a:gd name="T2" fmla="*/ 32 w 32"/>
                <a:gd name="T3" fmla="*/ 5 h 5"/>
                <a:gd name="T4" fmla="*/ 0 w 32"/>
                <a:gd name="T5" fmla="*/ 0 h 5"/>
                <a:gd name="T6" fmla="*/ 16 w 32"/>
                <a:gd name="T7" fmla="*/ 5 h 5"/>
                <a:gd name="T8" fmla="*/ 32 w 32"/>
                <a:gd name="T9" fmla="*/ 5 h 5"/>
              </a:gdLst>
              <a:ahLst/>
              <a:cxnLst>
                <a:cxn ang="0">
                  <a:pos x="T0" y="T1"/>
                </a:cxn>
                <a:cxn ang="0">
                  <a:pos x="T2" y="T3"/>
                </a:cxn>
                <a:cxn ang="0">
                  <a:pos x="T4" y="T5"/>
                </a:cxn>
                <a:cxn ang="0">
                  <a:pos x="T6" y="T7"/>
                </a:cxn>
                <a:cxn ang="0">
                  <a:pos x="T8" y="T9"/>
                </a:cxn>
              </a:cxnLst>
              <a:rect l="0" t="0" r="r" b="b"/>
              <a:pathLst>
                <a:path w="32" h="5">
                  <a:moveTo>
                    <a:pt x="32" y="5"/>
                  </a:moveTo>
                  <a:lnTo>
                    <a:pt x="32" y="5"/>
                  </a:lnTo>
                  <a:cubicBezTo>
                    <a:pt x="29" y="4"/>
                    <a:pt x="23" y="1"/>
                    <a:pt x="0" y="0"/>
                  </a:cubicBezTo>
                  <a:lnTo>
                    <a:pt x="16" y="5"/>
                  </a:lnTo>
                  <a:lnTo>
                    <a:pt x="32"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7" name="Figura a mano libera 22"/>
            <p:cNvSpPr>
              <a:spLocks/>
            </p:cNvSpPr>
            <p:nvPr/>
          </p:nvSpPr>
          <p:spPr bwMode="invGray">
            <a:xfrm>
              <a:off x="11691938" y="1532939"/>
              <a:ext cx="34925" cy="1231"/>
            </a:xfrm>
            <a:custGeom>
              <a:avLst/>
              <a:gdLst>
                <a:gd name="T0" fmla="*/ 36 w 36"/>
                <a:gd name="T1" fmla="*/ 1 h 1"/>
                <a:gd name="T2" fmla="*/ 36 w 36"/>
                <a:gd name="T3" fmla="*/ 1 h 1"/>
                <a:gd name="T4" fmla="*/ 35 w 36"/>
                <a:gd name="T5" fmla="*/ 1 h 1"/>
                <a:gd name="T6" fmla="*/ 0 w 36"/>
                <a:gd name="T7" fmla="*/ 0 h 1"/>
                <a:gd name="T8" fmla="*/ 36 w 36"/>
                <a:gd name="T9" fmla="*/ 1 h 1"/>
              </a:gdLst>
              <a:ahLst/>
              <a:cxnLst>
                <a:cxn ang="0">
                  <a:pos x="T0" y="T1"/>
                </a:cxn>
                <a:cxn ang="0">
                  <a:pos x="T2" y="T3"/>
                </a:cxn>
                <a:cxn ang="0">
                  <a:pos x="T4" y="T5"/>
                </a:cxn>
                <a:cxn ang="0">
                  <a:pos x="T6" y="T7"/>
                </a:cxn>
                <a:cxn ang="0">
                  <a:pos x="T8" y="T9"/>
                </a:cxn>
              </a:cxnLst>
              <a:rect l="0" t="0" r="r" b="b"/>
              <a:pathLst>
                <a:path w="36" h="1">
                  <a:moveTo>
                    <a:pt x="36" y="1"/>
                  </a:moveTo>
                  <a:lnTo>
                    <a:pt x="36" y="1"/>
                  </a:lnTo>
                  <a:lnTo>
                    <a:pt x="35" y="1"/>
                  </a:lnTo>
                  <a:lnTo>
                    <a:pt x="0" y="0"/>
                  </a:lnTo>
                  <a:lnTo>
                    <a:pt x="36"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8" name="Figura a mano libera 23"/>
            <p:cNvSpPr>
              <a:spLocks/>
            </p:cNvSpPr>
            <p:nvPr/>
          </p:nvSpPr>
          <p:spPr bwMode="invGray">
            <a:xfrm>
              <a:off x="11741150" y="1534170"/>
              <a:ext cx="4762" cy="0"/>
            </a:xfrm>
            <a:custGeom>
              <a:avLst/>
              <a:gdLst>
                <a:gd name="T0" fmla="*/ 5 w 5"/>
                <a:gd name="T1" fmla="*/ 5 w 5"/>
                <a:gd name="T2" fmla="*/ 0 w 5"/>
                <a:gd name="T3" fmla="*/ 5 w 5"/>
              </a:gdLst>
              <a:ahLst/>
              <a:cxnLst>
                <a:cxn ang="0">
                  <a:pos x="T0" y="0"/>
                </a:cxn>
                <a:cxn ang="0">
                  <a:pos x="T1" y="0"/>
                </a:cxn>
                <a:cxn ang="0">
                  <a:pos x="T2" y="0"/>
                </a:cxn>
                <a:cxn ang="0">
                  <a:pos x="T3" y="0"/>
                </a:cxn>
              </a:cxnLst>
              <a:rect l="0" t="0" r="r" b="b"/>
              <a:pathLst>
                <a:path w="5">
                  <a:moveTo>
                    <a:pt x="5" y="0"/>
                  </a:moveTo>
                  <a:lnTo>
                    <a:pt x="5" y="0"/>
                  </a:lnTo>
                  <a:lnTo>
                    <a:pt x="0" y="0"/>
                  </a:lnTo>
                  <a:cubicBezTo>
                    <a:pt x="2" y="0"/>
                    <a:pt x="3" y="0"/>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9" name="Figura a mano libera 24"/>
            <p:cNvSpPr>
              <a:spLocks/>
            </p:cNvSpPr>
            <p:nvPr/>
          </p:nvSpPr>
          <p:spPr bwMode="invGray">
            <a:xfrm>
              <a:off x="11841163" y="1537863"/>
              <a:ext cx="71437" cy="8617"/>
            </a:xfrm>
            <a:custGeom>
              <a:avLst/>
              <a:gdLst>
                <a:gd name="T0" fmla="*/ 75 w 75"/>
                <a:gd name="T1" fmla="*/ 0 h 9"/>
                <a:gd name="T2" fmla="*/ 75 w 75"/>
                <a:gd name="T3" fmla="*/ 0 h 9"/>
                <a:gd name="T4" fmla="*/ 49 w 75"/>
                <a:gd name="T5" fmla="*/ 9 h 9"/>
                <a:gd name="T6" fmla="*/ 75 w 75"/>
                <a:gd name="T7" fmla="*/ 0 h 9"/>
              </a:gdLst>
              <a:ahLst/>
              <a:cxnLst>
                <a:cxn ang="0">
                  <a:pos x="T0" y="T1"/>
                </a:cxn>
                <a:cxn ang="0">
                  <a:pos x="T2" y="T3"/>
                </a:cxn>
                <a:cxn ang="0">
                  <a:pos x="T4" y="T5"/>
                </a:cxn>
                <a:cxn ang="0">
                  <a:pos x="T6" y="T7"/>
                </a:cxn>
              </a:cxnLst>
              <a:rect l="0" t="0" r="r" b="b"/>
              <a:pathLst>
                <a:path w="75" h="9">
                  <a:moveTo>
                    <a:pt x="75" y="0"/>
                  </a:moveTo>
                  <a:lnTo>
                    <a:pt x="75" y="0"/>
                  </a:lnTo>
                  <a:cubicBezTo>
                    <a:pt x="51" y="3"/>
                    <a:pt x="0" y="5"/>
                    <a:pt x="49" y="9"/>
                  </a:cubicBezTo>
                  <a:cubicBezTo>
                    <a:pt x="66" y="6"/>
                    <a:pt x="38" y="4"/>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0" name="Figura a mano libera 25"/>
            <p:cNvSpPr>
              <a:spLocks/>
            </p:cNvSpPr>
            <p:nvPr/>
          </p:nvSpPr>
          <p:spPr bwMode="invGray">
            <a:xfrm>
              <a:off x="11764963" y="1535401"/>
              <a:ext cx="44450" cy="3693"/>
            </a:xfrm>
            <a:custGeom>
              <a:avLst/>
              <a:gdLst>
                <a:gd name="T0" fmla="*/ 0 w 47"/>
                <a:gd name="T1" fmla="*/ 3 h 4"/>
                <a:gd name="T2" fmla="*/ 0 w 47"/>
                <a:gd name="T3" fmla="*/ 3 h 4"/>
                <a:gd name="T4" fmla="*/ 44 w 47"/>
                <a:gd name="T5" fmla="*/ 4 h 4"/>
                <a:gd name="T6" fmla="*/ 47 w 47"/>
                <a:gd name="T7" fmla="*/ 0 h 4"/>
                <a:gd name="T8" fmla="*/ 0 w 47"/>
                <a:gd name="T9" fmla="*/ 3 h 4"/>
              </a:gdLst>
              <a:ahLst/>
              <a:cxnLst>
                <a:cxn ang="0">
                  <a:pos x="T0" y="T1"/>
                </a:cxn>
                <a:cxn ang="0">
                  <a:pos x="T2" y="T3"/>
                </a:cxn>
                <a:cxn ang="0">
                  <a:pos x="T4" y="T5"/>
                </a:cxn>
                <a:cxn ang="0">
                  <a:pos x="T6" y="T7"/>
                </a:cxn>
                <a:cxn ang="0">
                  <a:pos x="T8" y="T9"/>
                </a:cxn>
              </a:cxnLst>
              <a:rect l="0" t="0" r="r" b="b"/>
              <a:pathLst>
                <a:path w="47" h="4">
                  <a:moveTo>
                    <a:pt x="0" y="3"/>
                  </a:moveTo>
                  <a:lnTo>
                    <a:pt x="0" y="3"/>
                  </a:lnTo>
                  <a:lnTo>
                    <a:pt x="44" y="4"/>
                  </a:lnTo>
                  <a:cubicBezTo>
                    <a:pt x="43" y="3"/>
                    <a:pt x="35" y="1"/>
                    <a:pt x="47" y="0"/>
                  </a:cubicBez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1" name="Figura a mano libera 26"/>
            <p:cNvSpPr>
              <a:spLocks/>
            </p:cNvSpPr>
            <p:nvPr/>
          </p:nvSpPr>
          <p:spPr bwMode="invGray">
            <a:xfrm>
              <a:off x="11744325" y="1537863"/>
              <a:ext cx="20637" cy="2462"/>
            </a:xfrm>
            <a:custGeom>
              <a:avLst/>
              <a:gdLst>
                <a:gd name="T0" fmla="*/ 0 w 22"/>
                <a:gd name="T1" fmla="*/ 2 h 2"/>
                <a:gd name="T2" fmla="*/ 0 w 22"/>
                <a:gd name="T3" fmla="*/ 2 h 2"/>
                <a:gd name="T4" fmla="*/ 22 w 22"/>
                <a:gd name="T5" fmla="*/ 0 h 2"/>
                <a:gd name="T6" fmla="*/ 5 w 22"/>
                <a:gd name="T7" fmla="*/ 0 h 2"/>
                <a:gd name="T8" fmla="*/ 0 w 22"/>
                <a:gd name="T9" fmla="*/ 2 h 2"/>
              </a:gdLst>
              <a:ahLst/>
              <a:cxnLst>
                <a:cxn ang="0">
                  <a:pos x="T0" y="T1"/>
                </a:cxn>
                <a:cxn ang="0">
                  <a:pos x="T2" y="T3"/>
                </a:cxn>
                <a:cxn ang="0">
                  <a:pos x="T4" y="T5"/>
                </a:cxn>
                <a:cxn ang="0">
                  <a:pos x="T6" y="T7"/>
                </a:cxn>
                <a:cxn ang="0">
                  <a:pos x="T8" y="T9"/>
                </a:cxn>
              </a:cxnLst>
              <a:rect l="0" t="0" r="r" b="b"/>
              <a:pathLst>
                <a:path w="22" h="2">
                  <a:moveTo>
                    <a:pt x="0" y="2"/>
                  </a:moveTo>
                  <a:lnTo>
                    <a:pt x="0" y="2"/>
                  </a:lnTo>
                  <a:lnTo>
                    <a:pt x="22" y="0"/>
                  </a:lnTo>
                  <a:lnTo>
                    <a:pt x="5" y="0"/>
                  </a:lnTo>
                  <a:lnTo>
                    <a:pt x="0"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2" name="Figura a mano libera 27"/>
            <p:cNvSpPr>
              <a:spLocks/>
            </p:cNvSpPr>
            <p:nvPr/>
          </p:nvSpPr>
          <p:spPr bwMode="invGray">
            <a:xfrm>
              <a:off x="11482388" y="1531708"/>
              <a:ext cx="85725" cy="3693"/>
            </a:xfrm>
            <a:custGeom>
              <a:avLst/>
              <a:gdLst>
                <a:gd name="T0" fmla="*/ 63 w 90"/>
                <a:gd name="T1" fmla="*/ 0 h 4"/>
                <a:gd name="T2" fmla="*/ 63 w 90"/>
                <a:gd name="T3" fmla="*/ 0 h 4"/>
                <a:gd name="T4" fmla="*/ 0 w 90"/>
                <a:gd name="T5" fmla="*/ 2 h 4"/>
                <a:gd name="T6" fmla="*/ 76 w 90"/>
                <a:gd name="T7" fmla="*/ 4 h 4"/>
                <a:gd name="T8" fmla="*/ 63 w 90"/>
                <a:gd name="T9" fmla="*/ 0 h 4"/>
              </a:gdLst>
              <a:ahLst/>
              <a:cxnLst>
                <a:cxn ang="0">
                  <a:pos x="T0" y="T1"/>
                </a:cxn>
                <a:cxn ang="0">
                  <a:pos x="T2" y="T3"/>
                </a:cxn>
                <a:cxn ang="0">
                  <a:pos x="T4" y="T5"/>
                </a:cxn>
                <a:cxn ang="0">
                  <a:pos x="T6" y="T7"/>
                </a:cxn>
                <a:cxn ang="0">
                  <a:pos x="T8" y="T9"/>
                </a:cxn>
              </a:cxnLst>
              <a:rect l="0" t="0" r="r" b="b"/>
              <a:pathLst>
                <a:path w="90" h="4">
                  <a:moveTo>
                    <a:pt x="63" y="0"/>
                  </a:moveTo>
                  <a:lnTo>
                    <a:pt x="63" y="0"/>
                  </a:lnTo>
                  <a:cubicBezTo>
                    <a:pt x="44" y="2"/>
                    <a:pt x="23" y="2"/>
                    <a:pt x="0" y="2"/>
                  </a:cubicBezTo>
                  <a:cubicBezTo>
                    <a:pt x="25" y="3"/>
                    <a:pt x="51" y="4"/>
                    <a:pt x="76" y="4"/>
                  </a:cubicBezTo>
                  <a:cubicBezTo>
                    <a:pt x="79" y="2"/>
                    <a:pt x="90" y="0"/>
                    <a:pt x="6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3" name="Figura a mano libera 28"/>
            <p:cNvSpPr>
              <a:spLocks/>
            </p:cNvSpPr>
            <p:nvPr/>
          </p:nvSpPr>
          <p:spPr bwMode="invGray">
            <a:xfrm>
              <a:off x="11626850" y="1532939"/>
              <a:ext cx="4762" cy="1231"/>
            </a:xfrm>
            <a:custGeom>
              <a:avLst/>
              <a:gdLst>
                <a:gd name="T0" fmla="*/ 5 w 5"/>
                <a:gd name="T1" fmla="*/ 0 h 1"/>
                <a:gd name="T2" fmla="*/ 5 w 5"/>
                <a:gd name="T3" fmla="*/ 0 h 1"/>
                <a:gd name="T4" fmla="*/ 0 w 5"/>
                <a:gd name="T5" fmla="*/ 1 h 1"/>
                <a:gd name="T6" fmla="*/ 5 w 5"/>
                <a:gd name="T7" fmla="*/ 0 h 1"/>
              </a:gdLst>
              <a:ahLst/>
              <a:cxnLst>
                <a:cxn ang="0">
                  <a:pos x="T0" y="T1"/>
                </a:cxn>
                <a:cxn ang="0">
                  <a:pos x="T2" y="T3"/>
                </a:cxn>
                <a:cxn ang="0">
                  <a:pos x="T4" y="T5"/>
                </a:cxn>
                <a:cxn ang="0">
                  <a:pos x="T6" y="T7"/>
                </a:cxn>
              </a:cxnLst>
              <a:rect l="0" t="0" r="r" b="b"/>
              <a:pathLst>
                <a:path w="5" h="1">
                  <a:moveTo>
                    <a:pt x="5" y="0"/>
                  </a:moveTo>
                  <a:lnTo>
                    <a:pt x="5" y="0"/>
                  </a:lnTo>
                  <a:lnTo>
                    <a:pt x="0" y="1"/>
                  </a:lnTo>
                  <a:cubicBezTo>
                    <a:pt x="3" y="1"/>
                    <a:pt x="5" y="1"/>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4" name="Figura a mano libera 29"/>
            <p:cNvSpPr>
              <a:spLocks/>
            </p:cNvSpPr>
            <p:nvPr/>
          </p:nvSpPr>
          <p:spPr bwMode="invGray">
            <a:xfrm>
              <a:off x="11261725" y="1534170"/>
              <a:ext cx="4762" cy="0"/>
            </a:xfrm>
            <a:custGeom>
              <a:avLst/>
              <a:gdLst>
                <a:gd name="T0" fmla="*/ 0 w 5"/>
                <a:gd name="T1" fmla="*/ 0 h 1"/>
                <a:gd name="T2" fmla="*/ 0 w 5"/>
                <a:gd name="T3" fmla="*/ 0 h 1"/>
                <a:gd name="T4" fmla="*/ 4 w 5"/>
                <a:gd name="T5" fmla="*/ 1 h 1"/>
                <a:gd name="T6" fmla="*/ 5 w 5"/>
                <a:gd name="T7" fmla="*/ 0 h 1"/>
                <a:gd name="T8" fmla="*/ 0 w 5"/>
                <a:gd name="T9" fmla="*/ 0 h 1"/>
              </a:gdLst>
              <a:ahLst/>
              <a:cxnLst>
                <a:cxn ang="0">
                  <a:pos x="T0" y="T1"/>
                </a:cxn>
                <a:cxn ang="0">
                  <a:pos x="T2" y="T3"/>
                </a:cxn>
                <a:cxn ang="0">
                  <a:pos x="T4" y="T5"/>
                </a:cxn>
                <a:cxn ang="0">
                  <a:pos x="T6" y="T7"/>
                </a:cxn>
                <a:cxn ang="0">
                  <a:pos x="T8" y="T9"/>
                </a:cxn>
              </a:cxnLst>
              <a:rect l="0" t="0" r="r" b="b"/>
              <a:pathLst>
                <a:path w="5" h="1">
                  <a:moveTo>
                    <a:pt x="0" y="0"/>
                  </a:moveTo>
                  <a:lnTo>
                    <a:pt x="0" y="0"/>
                  </a:lnTo>
                  <a:lnTo>
                    <a:pt x="4" y="1"/>
                  </a:lnTo>
                  <a:cubicBezTo>
                    <a:pt x="4" y="1"/>
                    <a:pt x="4" y="0"/>
                    <a:pt x="5"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5" name="Figura a mano libera 30"/>
            <p:cNvSpPr>
              <a:spLocks/>
            </p:cNvSpPr>
            <p:nvPr/>
          </p:nvSpPr>
          <p:spPr bwMode="invGray">
            <a:xfrm>
              <a:off x="11553825" y="1534170"/>
              <a:ext cx="44450" cy="2462"/>
            </a:xfrm>
            <a:custGeom>
              <a:avLst/>
              <a:gdLst>
                <a:gd name="T0" fmla="*/ 6 w 47"/>
                <a:gd name="T1" fmla="*/ 2 h 2"/>
                <a:gd name="T2" fmla="*/ 6 w 47"/>
                <a:gd name="T3" fmla="*/ 2 h 2"/>
                <a:gd name="T4" fmla="*/ 47 w 47"/>
                <a:gd name="T5" fmla="*/ 0 h 2"/>
                <a:gd name="T6" fmla="*/ 2 w 47"/>
                <a:gd name="T7" fmla="*/ 1 h 2"/>
                <a:gd name="T8" fmla="*/ 6 w 47"/>
                <a:gd name="T9" fmla="*/ 2 h 2"/>
              </a:gdLst>
              <a:ahLst/>
              <a:cxnLst>
                <a:cxn ang="0">
                  <a:pos x="T0" y="T1"/>
                </a:cxn>
                <a:cxn ang="0">
                  <a:pos x="T2" y="T3"/>
                </a:cxn>
                <a:cxn ang="0">
                  <a:pos x="T4" y="T5"/>
                </a:cxn>
                <a:cxn ang="0">
                  <a:pos x="T6" y="T7"/>
                </a:cxn>
                <a:cxn ang="0">
                  <a:pos x="T8" y="T9"/>
                </a:cxn>
              </a:cxnLst>
              <a:rect l="0" t="0" r="r" b="b"/>
              <a:pathLst>
                <a:path w="47" h="2">
                  <a:moveTo>
                    <a:pt x="6" y="2"/>
                  </a:moveTo>
                  <a:lnTo>
                    <a:pt x="6" y="2"/>
                  </a:lnTo>
                  <a:cubicBezTo>
                    <a:pt x="25" y="2"/>
                    <a:pt x="36" y="1"/>
                    <a:pt x="47" y="0"/>
                  </a:cubicBezTo>
                  <a:cubicBezTo>
                    <a:pt x="33" y="0"/>
                    <a:pt x="18" y="1"/>
                    <a:pt x="2" y="1"/>
                  </a:cubicBezTo>
                  <a:cubicBezTo>
                    <a:pt x="0"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6" name="Figura a mano libera 31"/>
            <p:cNvSpPr>
              <a:spLocks/>
            </p:cNvSpPr>
            <p:nvPr/>
          </p:nvSpPr>
          <p:spPr bwMode="invGray">
            <a:xfrm>
              <a:off x="11409363" y="1529246"/>
              <a:ext cx="31750" cy="2462"/>
            </a:xfrm>
            <a:custGeom>
              <a:avLst/>
              <a:gdLst>
                <a:gd name="T0" fmla="*/ 0 w 33"/>
                <a:gd name="T1" fmla="*/ 1 h 3"/>
                <a:gd name="T2" fmla="*/ 0 w 33"/>
                <a:gd name="T3" fmla="*/ 1 h 3"/>
                <a:gd name="T4" fmla="*/ 33 w 33"/>
                <a:gd name="T5" fmla="*/ 3 h 3"/>
                <a:gd name="T6" fmla="*/ 0 w 33"/>
                <a:gd name="T7" fmla="*/ 1 h 3"/>
              </a:gdLst>
              <a:ahLst/>
              <a:cxnLst>
                <a:cxn ang="0">
                  <a:pos x="T0" y="T1"/>
                </a:cxn>
                <a:cxn ang="0">
                  <a:pos x="T2" y="T3"/>
                </a:cxn>
                <a:cxn ang="0">
                  <a:pos x="T4" y="T5"/>
                </a:cxn>
                <a:cxn ang="0">
                  <a:pos x="T6" y="T7"/>
                </a:cxn>
              </a:cxnLst>
              <a:rect l="0" t="0" r="r" b="b"/>
              <a:pathLst>
                <a:path w="33" h="3">
                  <a:moveTo>
                    <a:pt x="0" y="1"/>
                  </a:moveTo>
                  <a:lnTo>
                    <a:pt x="0" y="1"/>
                  </a:lnTo>
                  <a:cubicBezTo>
                    <a:pt x="10" y="2"/>
                    <a:pt x="21" y="3"/>
                    <a:pt x="33" y="3"/>
                  </a:cubicBezTo>
                  <a:cubicBezTo>
                    <a:pt x="23" y="2"/>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7" name="Figura a mano libera 32"/>
            <p:cNvSpPr>
              <a:spLocks/>
            </p:cNvSpPr>
            <p:nvPr/>
          </p:nvSpPr>
          <p:spPr bwMode="invGray">
            <a:xfrm>
              <a:off x="11618913" y="1531708"/>
              <a:ext cx="6350" cy="0"/>
            </a:xfrm>
            <a:custGeom>
              <a:avLst/>
              <a:gdLst>
                <a:gd name="T0" fmla="*/ 3 w 6"/>
                <a:gd name="T1" fmla="*/ 1 h 1"/>
                <a:gd name="T2" fmla="*/ 3 w 6"/>
                <a:gd name="T3" fmla="*/ 1 h 1"/>
                <a:gd name="T4" fmla="*/ 6 w 6"/>
                <a:gd name="T5" fmla="*/ 1 h 1"/>
                <a:gd name="T6" fmla="*/ 3 w 6"/>
                <a:gd name="T7" fmla="*/ 1 h 1"/>
              </a:gdLst>
              <a:ahLst/>
              <a:cxnLst>
                <a:cxn ang="0">
                  <a:pos x="T0" y="T1"/>
                </a:cxn>
                <a:cxn ang="0">
                  <a:pos x="T2" y="T3"/>
                </a:cxn>
                <a:cxn ang="0">
                  <a:pos x="T4" y="T5"/>
                </a:cxn>
                <a:cxn ang="0">
                  <a:pos x="T6" y="T7"/>
                </a:cxn>
              </a:cxnLst>
              <a:rect l="0" t="0" r="r" b="b"/>
              <a:pathLst>
                <a:path w="6" h="1">
                  <a:moveTo>
                    <a:pt x="3" y="1"/>
                  </a:moveTo>
                  <a:lnTo>
                    <a:pt x="3" y="1"/>
                  </a:lnTo>
                  <a:lnTo>
                    <a:pt x="6" y="1"/>
                  </a:lnTo>
                  <a:cubicBezTo>
                    <a:pt x="0" y="0"/>
                    <a:pt x="0" y="1"/>
                    <a:pt x="3"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8" name="Figura a mano libera 33"/>
            <p:cNvSpPr>
              <a:spLocks/>
            </p:cNvSpPr>
            <p:nvPr/>
          </p:nvSpPr>
          <p:spPr bwMode="invGray">
            <a:xfrm>
              <a:off x="11598275" y="1531708"/>
              <a:ext cx="28575" cy="2462"/>
            </a:xfrm>
            <a:custGeom>
              <a:avLst/>
              <a:gdLst>
                <a:gd name="T0" fmla="*/ 25 w 31"/>
                <a:gd name="T1" fmla="*/ 0 h 3"/>
                <a:gd name="T2" fmla="*/ 25 w 31"/>
                <a:gd name="T3" fmla="*/ 0 h 3"/>
                <a:gd name="T4" fmla="*/ 0 w 31"/>
                <a:gd name="T5" fmla="*/ 3 h 3"/>
                <a:gd name="T6" fmla="*/ 31 w 31"/>
                <a:gd name="T7" fmla="*/ 2 h 3"/>
                <a:gd name="T8" fmla="*/ 25 w 31"/>
                <a:gd name="T9" fmla="*/ 0 h 3"/>
              </a:gdLst>
              <a:ahLst/>
              <a:cxnLst>
                <a:cxn ang="0">
                  <a:pos x="T0" y="T1"/>
                </a:cxn>
                <a:cxn ang="0">
                  <a:pos x="T2" y="T3"/>
                </a:cxn>
                <a:cxn ang="0">
                  <a:pos x="T4" y="T5"/>
                </a:cxn>
                <a:cxn ang="0">
                  <a:pos x="T6" y="T7"/>
                </a:cxn>
                <a:cxn ang="0">
                  <a:pos x="T8" y="T9"/>
                </a:cxn>
              </a:cxnLst>
              <a:rect l="0" t="0" r="r" b="b"/>
              <a:pathLst>
                <a:path w="31" h="3">
                  <a:moveTo>
                    <a:pt x="25" y="0"/>
                  </a:moveTo>
                  <a:lnTo>
                    <a:pt x="25" y="0"/>
                  </a:lnTo>
                  <a:cubicBezTo>
                    <a:pt x="15" y="1"/>
                    <a:pt x="8" y="2"/>
                    <a:pt x="0" y="3"/>
                  </a:cubicBezTo>
                  <a:cubicBezTo>
                    <a:pt x="11" y="3"/>
                    <a:pt x="22" y="2"/>
                    <a:pt x="31" y="2"/>
                  </a:cubicBezTo>
                  <a:cubicBezTo>
                    <a:pt x="29" y="1"/>
                    <a:pt x="27" y="1"/>
                    <a:pt x="2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9" name="Figura a mano libera 34"/>
            <p:cNvSpPr>
              <a:spLocks/>
            </p:cNvSpPr>
            <p:nvPr/>
          </p:nvSpPr>
          <p:spPr bwMode="invGray">
            <a:xfrm>
              <a:off x="11137900" y="1534170"/>
              <a:ext cx="188912" cy="23388"/>
            </a:xfrm>
            <a:custGeom>
              <a:avLst/>
              <a:gdLst>
                <a:gd name="T0" fmla="*/ 60 w 198"/>
                <a:gd name="T1" fmla="*/ 27 h 27"/>
                <a:gd name="T2" fmla="*/ 60 w 198"/>
                <a:gd name="T3" fmla="*/ 27 h 27"/>
                <a:gd name="T4" fmla="*/ 156 w 198"/>
                <a:gd name="T5" fmla="*/ 24 h 27"/>
                <a:gd name="T6" fmla="*/ 134 w 198"/>
                <a:gd name="T7" fmla="*/ 0 h 27"/>
                <a:gd name="T8" fmla="*/ 89 w 198"/>
                <a:gd name="T9" fmla="*/ 6 h 27"/>
                <a:gd name="T10" fmla="*/ 149 w 198"/>
                <a:gd name="T11" fmla="*/ 14 h 27"/>
                <a:gd name="T12" fmla="*/ 74 w 198"/>
                <a:gd name="T13" fmla="*/ 11 h 27"/>
                <a:gd name="T14" fmla="*/ 13 w 198"/>
                <a:gd name="T15" fmla="*/ 25 h 27"/>
                <a:gd name="T16" fmla="*/ 63 w 198"/>
                <a:gd name="T17" fmla="*/ 23 h 27"/>
                <a:gd name="T18" fmla="*/ 60 w 198"/>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8" h="27">
                  <a:moveTo>
                    <a:pt x="60" y="27"/>
                  </a:moveTo>
                  <a:lnTo>
                    <a:pt x="60" y="27"/>
                  </a:lnTo>
                  <a:cubicBezTo>
                    <a:pt x="63" y="23"/>
                    <a:pt x="113" y="19"/>
                    <a:pt x="156" y="24"/>
                  </a:cubicBezTo>
                  <a:cubicBezTo>
                    <a:pt x="198" y="21"/>
                    <a:pt x="171" y="7"/>
                    <a:pt x="134" y="0"/>
                  </a:cubicBezTo>
                  <a:cubicBezTo>
                    <a:pt x="133" y="2"/>
                    <a:pt x="133" y="3"/>
                    <a:pt x="89" y="6"/>
                  </a:cubicBezTo>
                  <a:cubicBezTo>
                    <a:pt x="104" y="8"/>
                    <a:pt x="186" y="11"/>
                    <a:pt x="149" y="14"/>
                  </a:cubicBezTo>
                  <a:cubicBezTo>
                    <a:pt x="91" y="16"/>
                    <a:pt x="102" y="13"/>
                    <a:pt x="74" y="11"/>
                  </a:cubicBezTo>
                  <a:cubicBezTo>
                    <a:pt x="97" y="16"/>
                    <a:pt x="0" y="18"/>
                    <a:pt x="13" y="25"/>
                  </a:cubicBezTo>
                  <a:lnTo>
                    <a:pt x="63" y="23"/>
                  </a:lnTo>
                  <a:cubicBezTo>
                    <a:pt x="64" y="24"/>
                    <a:pt x="46" y="26"/>
                    <a:pt x="60" y="2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0" name="Figura a mano libera 35"/>
            <p:cNvSpPr>
              <a:spLocks/>
            </p:cNvSpPr>
            <p:nvPr/>
          </p:nvSpPr>
          <p:spPr bwMode="invGray">
            <a:xfrm>
              <a:off x="11266488" y="1529246"/>
              <a:ext cx="95250" cy="4924"/>
            </a:xfrm>
            <a:custGeom>
              <a:avLst/>
              <a:gdLst>
                <a:gd name="T0" fmla="*/ 82 w 100"/>
                <a:gd name="T1" fmla="*/ 6 h 6"/>
                <a:gd name="T2" fmla="*/ 82 w 100"/>
                <a:gd name="T3" fmla="*/ 6 h 6"/>
                <a:gd name="T4" fmla="*/ 100 w 100"/>
                <a:gd name="T5" fmla="*/ 6 h 6"/>
                <a:gd name="T6" fmla="*/ 38 w 100"/>
                <a:gd name="T7" fmla="*/ 0 h 6"/>
                <a:gd name="T8" fmla="*/ 0 w 100"/>
                <a:gd name="T9" fmla="*/ 5 h 6"/>
                <a:gd name="T10" fmla="*/ 88 w 100"/>
                <a:gd name="T11" fmla="*/ 6 h 6"/>
                <a:gd name="T12" fmla="*/ 82 w 100"/>
                <a:gd name="T13" fmla="*/ 6 h 6"/>
              </a:gdLst>
              <a:ahLst/>
              <a:cxnLst>
                <a:cxn ang="0">
                  <a:pos x="T0" y="T1"/>
                </a:cxn>
                <a:cxn ang="0">
                  <a:pos x="T2" y="T3"/>
                </a:cxn>
                <a:cxn ang="0">
                  <a:pos x="T4" y="T5"/>
                </a:cxn>
                <a:cxn ang="0">
                  <a:pos x="T6" y="T7"/>
                </a:cxn>
                <a:cxn ang="0">
                  <a:pos x="T8" y="T9"/>
                </a:cxn>
                <a:cxn ang="0">
                  <a:pos x="T10" y="T11"/>
                </a:cxn>
                <a:cxn ang="0">
                  <a:pos x="T12" y="T13"/>
                </a:cxn>
              </a:cxnLst>
              <a:rect l="0" t="0" r="r" b="b"/>
              <a:pathLst>
                <a:path w="100" h="6">
                  <a:moveTo>
                    <a:pt x="82" y="6"/>
                  </a:moveTo>
                  <a:lnTo>
                    <a:pt x="82" y="6"/>
                  </a:lnTo>
                  <a:lnTo>
                    <a:pt x="100" y="6"/>
                  </a:lnTo>
                  <a:cubicBezTo>
                    <a:pt x="79" y="5"/>
                    <a:pt x="65" y="4"/>
                    <a:pt x="38" y="0"/>
                  </a:cubicBezTo>
                  <a:cubicBezTo>
                    <a:pt x="8" y="2"/>
                    <a:pt x="2" y="4"/>
                    <a:pt x="0" y="5"/>
                  </a:cubicBezTo>
                  <a:lnTo>
                    <a:pt x="88" y="6"/>
                  </a:lnTo>
                  <a:lnTo>
                    <a:pt x="82"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1" name="Figura a mano libera 36"/>
            <p:cNvSpPr>
              <a:spLocks/>
            </p:cNvSpPr>
            <p:nvPr/>
          </p:nvSpPr>
          <p:spPr bwMode="invGray">
            <a:xfrm>
              <a:off x="11361738" y="1531708"/>
              <a:ext cx="134937" cy="12309"/>
            </a:xfrm>
            <a:custGeom>
              <a:avLst/>
              <a:gdLst>
                <a:gd name="T0" fmla="*/ 80 w 142"/>
                <a:gd name="T1" fmla="*/ 3 h 14"/>
                <a:gd name="T2" fmla="*/ 80 w 142"/>
                <a:gd name="T3" fmla="*/ 3 h 14"/>
                <a:gd name="T4" fmla="*/ 49 w 142"/>
                <a:gd name="T5" fmla="*/ 14 h 14"/>
                <a:gd name="T6" fmla="*/ 118 w 142"/>
                <a:gd name="T7" fmla="*/ 8 h 14"/>
                <a:gd name="T8" fmla="*/ 81 w 142"/>
                <a:gd name="T9" fmla="*/ 3 h 14"/>
                <a:gd name="T10" fmla="*/ 127 w 142"/>
                <a:gd name="T11" fmla="*/ 2 h 14"/>
                <a:gd name="T12" fmla="*/ 83 w 142"/>
                <a:gd name="T13" fmla="*/ 0 h 14"/>
                <a:gd name="T14" fmla="*/ 85 w 142"/>
                <a:gd name="T15" fmla="*/ 1 h 14"/>
                <a:gd name="T16" fmla="*/ 85 w 142"/>
                <a:gd name="T17" fmla="*/ 1 h 14"/>
                <a:gd name="T18" fmla="*/ 85 w 142"/>
                <a:gd name="T19" fmla="*/ 1 h 14"/>
                <a:gd name="T20" fmla="*/ 86 w 142"/>
                <a:gd name="T21" fmla="*/ 1 h 14"/>
                <a:gd name="T22" fmla="*/ 84 w 142"/>
                <a:gd name="T23" fmla="*/ 1 h 14"/>
                <a:gd name="T24" fmla="*/ 80 w 142"/>
                <a:gd name="T25" fmla="*/ 3 h 14"/>
                <a:gd name="T26" fmla="*/ 84 w 142"/>
                <a:gd name="T27" fmla="*/ 1 h 14"/>
                <a:gd name="T28" fmla="*/ 85 w 142"/>
                <a:gd name="T29" fmla="*/ 1 h 14"/>
                <a:gd name="T30" fmla="*/ 85 w 142"/>
                <a:gd name="T31" fmla="*/ 1 h 14"/>
                <a:gd name="T32" fmla="*/ 0 w 142"/>
                <a:gd name="T33" fmla="*/ 3 h 14"/>
                <a:gd name="T34" fmla="*/ 80 w 142"/>
                <a:gd name="T35" fmla="*/ 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2" h="14">
                  <a:moveTo>
                    <a:pt x="80" y="3"/>
                  </a:moveTo>
                  <a:lnTo>
                    <a:pt x="80" y="3"/>
                  </a:lnTo>
                  <a:cubicBezTo>
                    <a:pt x="66" y="7"/>
                    <a:pt x="23" y="9"/>
                    <a:pt x="49" y="14"/>
                  </a:cubicBezTo>
                  <a:cubicBezTo>
                    <a:pt x="102" y="14"/>
                    <a:pt x="86" y="10"/>
                    <a:pt x="118" y="8"/>
                  </a:cubicBezTo>
                  <a:cubicBezTo>
                    <a:pt x="33" y="9"/>
                    <a:pt x="142" y="6"/>
                    <a:pt x="81" y="3"/>
                  </a:cubicBezTo>
                  <a:cubicBezTo>
                    <a:pt x="97" y="3"/>
                    <a:pt x="112" y="2"/>
                    <a:pt x="127" y="2"/>
                  </a:cubicBezTo>
                  <a:cubicBezTo>
                    <a:pt x="111" y="2"/>
                    <a:pt x="97" y="1"/>
                    <a:pt x="83" y="0"/>
                  </a:cubicBezTo>
                  <a:lnTo>
                    <a:pt x="85" y="1"/>
                  </a:lnTo>
                  <a:lnTo>
                    <a:pt x="85" y="1"/>
                  </a:lnTo>
                  <a:cubicBezTo>
                    <a:pt x="85" y="1"/>
                    <a:pt x="85" y="1"/>
                    <a:pt x="85" y="1"/>
                  </a:cubicBezTo>
                  <a:cubicBezTo>
                    <a:pt x="89" y="1"/>
                    <a:pt x="90" y="1"/>
                    <a:pt x="86" y="1"/>
                  </a:cubicBezTo>
                  <a:lnTo>
                    <a:pt x="84" y="1"/>
                  </a:lnTo>
                  <a:cubicBezTo>
                    <a:pt x="83" y="2"/>
                    <a:pt x="82" y="2"/>
                    <a:pt x="80" y="3"/>
                  </a:cubicBezTo>
                  <a:cubicBezTo>
                    <a:pt x="56" y="2"/>
                    <a:pt x="76" y="2"/>
                    <a:pt x="84" y="1"/>
                  </a:cubicBezTo>
                  <a:cubicBezTo>
                    <a:pt x="84" y="1"/>
                    <a:pt x="85" y="1"/>
                    <a:pt x="85" y="1"/>
                  </a:cubicBezTo>
                  <a:lnTo>
                    <a:pt x="85" y="1"/>
                  </a:lnTo>
                  <a:lnTo>
                    <a:pt x="0" y="3"/>
                  </a:lnTo>
                  <a:cubicBezTo>
                    <a:pt x="18" y="3"/>
                    <a:pt x="40" y="3"/>
                    <a:pt x="8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2" name="Figura a mano libera 37"/>
            <p:cNvSpPr>
              <a:spLocks/>
            </p:cNvSpPr>
            <p:nvPr/>
          </p:nvSpPr>
          <p:spPr bwMode="invGray">
            <a:xfrm>
              <a:off x="11834813" y="1552634"/>
              <a:ext cx="9525" cy="1231"/>
            </a:xfrm>
            <a:custGeom>
              <a:avLst/>
              <a:gdLst>
                <a:gd name="T0" fmla="*/ 11 w 11"/>
                <a:gd name="T1" fmla="*/ 1 h 1"/>
                <a:gd name="T2" fmla="*/ 11 w 11"/>
                <a:gd name="T3" fmla="*/ 1 h 1"/>
                <a:gd name="T4" fmla="*/ 8 w 11"/>
                <a:gd name="T5" fmla="*/ 0 h 1"/>
                <a:gd name="T6" fmla="*/ 11 w 11"/>
                <a:gd name="T7" fmla="*/ 1 h 1"/>
              </a:gdLst>
              <a:ahLst/>
              <a:cxnLst>
                <a:cxn ang="0">
                  <a:pos x="T0" y="T1"/>
                </a:cxn>
                <a:cxn ang="0">
                  <a:pos x="T2" y="T3"/>
                </a:cxn>
                <a:cxn ang="0">
                  <a:pos x="T4" y="T5"/>
                </a:cxn>
                <a:cxn ang="0">
                  <a:pos x="T6" y="T7"/>
                </a:cxn>
              </a:cxnLst>
              <a:rect l="0" t="0" r="r" b="b"/>
              <a:pathLst>
                <a:path w="11" h="1">
                  <a:moveTo>
                    <a:pt x="11" y="1"/>
                  </a:moveTo>
                  <a:lnTo>
                    <a:pt x="11" y="1"/>
                  </a:lnTo>
                  <a:cubicBezTo>
                    <a:pt x="8" y="1"/>
                    <a:pt x="8" y="1"/>
                    <a:pt x="8" y="0"/>
                  </a:cubicBezTo>
                  <a:cubicBezTo>
                    <a:pt x="2" y="1"/>
                    <a:pt x="0" y="1"/>
                    <a:pt x="11"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3" name="Figura a mano libera 38"/>
            <p:cNvSpPr>
              <a:spLocks/>
            </p:cNvSpPr>
            <p:nvPr/>
          </p:nvSpPr>
          <p:spPr bwMode="invGray">
            <a:xfrm>
              <a:off x="11764963" y="1542787"/>
              <a:ext cx="117475" cy="9847"/>
            </a:xfrm>
            <a:custGeom>
              <a:avLst/>
              <a:gdLst>
                <a:gd name="T0" fmla="*/ 48 w 122"/>
                <a:gd name="T1" fmla="*/ 11 h 12"/>
                <a:gd name="T2" fmla="*/ 48 w 122"/>
                <a:gd name="T3" fmla="*/ 11 h 12"/>
                <a:gd name="T4" fmla="*/ 79 w 122"/>
                <a:gd name="T5" fmla="*/ 9 h 12"/>
                <a:gd name="T6" fmla="*/ 80 w 122"/>
                <a:gd name="T7" fmla="*/ 12 h 12"/>
                <a:gd name="T8" fmla="*/ 84 w 122"/>
                <a:gd name="T9" fmla="*/ 7 h 12"/>
                <a:gd name="T10" fmla="*/ 78 w 122"/>
                <a:gd name="T11" fmla="*/ 8 h 12"/>
                <a:gd name="T12" fmla="*/ 6 w 122"/>
                <a:gd name="T13" fmla="*/ 0 h 12"/>
                <a:gd name="T14" fmla="*/ 48 w 122"/>
                <a:gd name="T15" fmla="*/ 11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12">
                  <a:moveTo>
                    <a:pt x="48" y="11"/>
                  </a:moveTo>
                  <a:lnTo>
                    <a:pt x="48" y="11"/>
                  </a:lnTo>
                  <a:cubicBezTo>
                    <a:pt x="54" y="10"/>
                    <a:pt x="59" y="8"/>
                    <a:pt x="79" y="9"/>
                  </a:cubicBezTo>
                  <a:cubicBezTo>
                    <a:pt x="96" y="10"/>
                    <a:pt x="79" y="11"/>
                    <a:pt x="80" y="12"/>
                  </a:cubicBezTo>
                  <a:cubicBezTo>
                    <a:pt x="92" y="11"/>
                    <a:pt x="122" y="9"/>
                    <a:pt x="84" y="7"/>
                  </a:cubicBezTo>
                  <a:lnTo>
                    <a:pt x="78" y="8"/>
                  </a:lnTo>
                  <a:cubicBezTo>
                    <a:pt x="44" y="6"/>
                    <a:pt x="0" y="1"/>
                    <a:pt x="6" y="0"/>
                  </a:cubicBezTo>
                  <a:cubicBezTo>
                    <a:pt x="16" y="4"/>
                    <a:pt x="25" y="7"/>
                    <a:pt x="48" y="1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4" name="Figura a mano libera 39"/>
            <p:cNvSpPr>
              <a:spLocks/>
            </p:cNvSpPr>
            <p:nvPr/>
          </p:nvSpPr>
          <p:spPr bwMode="invGray">
            <a:xfrm>
              <a:off x="11555413" y="1544017"/>
              <a:ext cx="69850" cy="4924"/>
            </a:xfrm>
            <a:custGeom>
              <a:avLst/>
              <a:gdLst>
                <a:gd name="T0" fmla="*/ 70 w 74"/>
                <a:gd name="T1" fmla="*/ 0 h 6"/>
                <a:gd name="T2" fmla="*/ 70 w 74"/>
                <a:gd name="T3" fmla="*/ 0 h 6"/>
                <a:gd name="T4" fmla="*/ 0 w 74"/>
                <a:gd name="T5" fmla="*/ 2 h 6"/>
                <a:gd name="T6" fmla="*/ 36 w 74"/>
                <a:gd name="T7" fmla="*/ 6 h 6"/>
                <a:gd name="T8" fmla="*/ 34 w 74"/>
                <a:gd name="T9" fmla="*/ 4 h 6"/>
                <a:gd name="T10" fmla="*/ 70 w 74"/>
                <a:gd name="T11" fmla="*/ 0 h 6"/>
              </a:gdLst>
              <a:ahLst/>
              <a:cxnLst>
                <a:cxn ang="0">
                  <a:pos x="T0" y="T1"/>
                </a:cxn>
                <a:cxn ang="0">
                  <a:pos x="T2" y="T3"/>
                </a:cxn>
                <a:cxn ang="0">
                  <a:pos x="T4" y="T5"/>
                </a:cxn>
                <a:cxn ang="0">
                  <a:pos x="T6" y="T7"/>
                </a:cxn>
                <a:cxn ang="0">
                  <a:pos x="T8" y="T9"/>
                </a:cxn>
                <a:cxn ang="0">
                  <a:pos x="T10" y="T11"/>
                </a:cxn>
              </a:cxnLst>
              <a:rect l="0" t="0" r="r" b="b"/>
              <a:pathLst>
                <a:path w="74" h="6">
                  <a:moveTo>
                    <a:pt x="70" y="0"/>
                  </a:moveTo>
                  <a:lnTo>
                    <a:pt x="70" y="0"/>
                  </a:lnTo>
                  <a:lnTo>
                    <a:pt x="0" y="2"/>
                  </a:lnTo>
                  <a:lnTo>
                    <a:pt x="36" y="6"/>
                  </a:lnTo>
                  <a:lnTo>
                    <a:pt x="34" y="4"/>
                  </a:lnTo>
                  <a:cubicBezTo>
                    <a:pt x="74" y="4"/>
                    <a:pt x="65" y="2"/>
                    <a:pt x="70"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5" name="Figura a mano libera 40"/>
            <p:cNvSpPr>
              <a:spLocks/>
            </p:cNvSpPr>
            <p:nvPr/>
          </p:nvSpPr>
          <p:spPr bwMode="invGray">
            <a:xfrm>
              <a:off x="11223625" y="1528016"/>
              <a:ext cx="38100" cy="6155"/>
            </a:xfrm>
            <a:custGeom>
              <a:avLst/>
              <a:gdLst>
                <a:gd name="T0" fmla="*/ 31 w 40"/>
                <a:gd name="T1" fmla="*/ 5 h 7"/>
                <a:gd name="T2" fmla="*/ 31 w 40"/>
                <a:gd name="T3" fmla="*/ 5 h 7"/>
                <a:gd name="T4" fmla="*/ 40 w 40"/>
                <a:gd name="T5" fmla="*/ 0 h 7"/>
                <a:gd name="T6" fmla="*/ 0 w 40"/>
                <a:gd name="T7" fmla="*/ 7 h 7"/>
                <a:gd name="T8" fmla="*/ 31 w 40"/>
                <a:gd name="T9" fmla="*/ 5 h 7"/>
              </a:gdLst>
              <a:ahLst/>
              <a:cxnLst>
                <a:cxn ang="0">
                  <a:pos x="T0" y="T1"/>
                </a:cxn>
                <a:cxn ang="0">
                  <a:pos x="T2" y="T3"/>
                </a:cxn>
                <a:cxn ang="0">
                  <a:pos x="T4" y="T5"/>
                </a:cxn>
                <a:cxn ang="0">
                  <a:pos x="T6" y="T7"/>
                </a:cxn>
                <a:cxn ang="0">
                  <a:pos x="T8" y="T9"/>
                </a:cxn>
              </a:cxnLst>
              <a:rect l="0" t="0" r="r" b="b"/>
              <a:pathLst>
                <a:path w="40" h="7">
                  <a:moveTo>
                    <a:pt x="31" y="5"/>
                  </a:moveTo>
                  <a:lnTo>
                    <a:pt x="31" y="5"/>
                  </a:lnTo>
                  <a:lnTo>
                    <a:pt x="40" y="0"/>
                  </a:lnTo>
                  <a:lnTo>
                    <a:pt x="0" y="7"/>
                  </a:lnTo>
                  <a:lnTo>
                    <a:pt x="31"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6" name="Figura a mano libera 41"/>
            <p:cNvSpPr>
              <a:spLocks/>
            </p:cNvSpPr>
            <p:nvPr/>
          </p:nvSpPr>
          <p:spPr bwMode="invGray">
            <a:xfrm>
              <a:off x="11145838" y="1529246"/>
              <a:ext cx="22225" cy="2462"/>
            </a:xfrm>
            <a:custGeom>
              <a:avLst/>
              <a:gdLst>
                <a:gd name="T0" fmla="*/ 21 w 24"/>
                <a:gd name="T1" fmla="*/ 4 h 4"/>
                <a:gd name="T2" fmla="*/ 21 w 24"/>
                <a:gd name="T3" fmla="*/ 4 h 4"/>
                <a:gd name="T4" fmla="*/ 24 w 24"/>
                <a:gd name="T5" fmla="*/ 0 h 4"/>
                <a:gd name="T6" fmla="*/ 0 w 24"/>
                <a:gd name="T7" fmla="*/ 3 h 4"/>
                <a:gd name="T8" fmla="*/ 21 w 24"/>
                <a:gd name="T9" fmla="*/ 4 h 4"/>
              </a:gdLst>
              <a:ahLst/>
              <a:cxnLst>
                <a:cxn ang="0">
                  <a:pos x="T0" y="T1"/>
                </a:cxn>
                <a:cxn ang="0">
                  <a:pos x="T2" y="T3"/>
                </a:cxn>
                <a:cxn ang="0">
                  <a:pos x="T4" y="T5"/>
                </a:cxn>
                <a:cxn ang="0">
                  <a:pos x="T6" y="T7"/>
                </a:cxn>
                <a:cxn ang="0">
                  <a:pos x="T8" y="T9"/>
                </a:cxn>
              </a:cxnLst>
              <a:rect l="0" t="0" r="r" b="b"/>
              <a:pathLst>
                <a:path w="24" h="4">
                  <a:moveTo>
                    <a:pt x="21" y="4"/>
                  </a:moveTo>
                  <a:lnTo>
                    <a:pt x="21" y="4"/>
                  </a:lnTo>
                  <a:lnTo>
                    <a:pt x="24" y="0"/>
                  </a:lnTo>
                  <a:lnTo>
                    <a:pt x="0" y="3"/>
                  </a:lnTo>
                  <a:lnTo>
                    <a:pt x="2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7" name="Figura a mano libera 42"/>
            <p:cNvSpPr>
              <a:spLocks/>
            </p:cNvSpPr>
            <p:nvPr/>
          </p:nvSpPr>
          <p:spPr bwMode="invGray">
            <a:xfrm>
              <a:off x="6197600" y="1566174"/>
              <a:ext cx="20637" cy="1231"/>
            </a:xfrm>
            <a:custGeom>
              <a:avLst/>
              <a:gdLst>
                <a:gd name="T0" fmla="*/ 21 w 21"/>
                <a:gd name="T1" fmla="*/ 0 h 1"/>
                <a:gd name="T2" fmla="*/ 21 w 21"/>
                <a:gd name="T3" fmla="*/ 0 h 1"/>
                <a:gd name="T4" fmla="*/ 0 w 21"/>
                <a:gd name="T5" fmla="*/ 1 h 1"/>
                <a:gd name="T6" fmla="*/ 21 w 21"/>
                <a:gd name="T7" fmla="*/ 0 h 1"/>
              </a:gdLst>
              <a:ahLst/>
              <a:cxnLst>
                <a:cxn ang="0">
                  <a:pos x="T0" y="T1"/>
                </a:cxn>
                <a:cxn ang="0">
                  <a:pos x="T2" y="T3"/>
                </a:cxn>
                <a:cxn ang="0">
                  <a:pos x="T4" y="T5"/>
                </a:cxn>
                <a:cxn ang="0">
                  <a:pos x="T6" y="T7"/>
                </a:cxn>
              </a:cxnLst>
              <a:rect l="0" t="0" r="r" b="b"/>
              <a:pathLst>
                <a:path w="21" h="1">
                  <a:moveTo>
                    <a:pt x="21" y="0"/>
                  </a:moveTo>
                  <a:lnTo>
                    <a:pt x="21" y="0"/>
                  </a:lnTo>
                  <a:lnTo>
                    <a:pt x="0" y="1"/>
                  </a:lnTo>
                  <a:cubicBezTo>
                    <a:pt x="10" y="0"/>
                    <a:pt x="16" y="0"/>
                    <a:pt x="2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8" name="Figura a mano libera 43"/>
            <p:cNvSpPr>
              <a:spLocks/>
            </p:cNvSpPr>
            <p:nvPr/>
          </p:nvSpPr>
          <p:spPr bwMode="invGray">
            <a:xfrm>
              <a:off x="6356350" y="1564943"/>
              <a:ext cx="9525" cy="1231"/>
            </a:xfrm>
            <a:custGeom>
              <a:avLst/>
              <a:gdLst>
                <a:gd name="T0" fmla="*/ 6 w 10"/>
                <a:gd name="T1" fmla="*/ 2 h 2"/>
                <a:gd name="T2" fmla="*/ 6 w 10"/>
                <a:gd name="T3" fmla="*/ 2 h 2"/>
                <a:gd name="T4" fmla="*/ 10 w 10"/>
                <a:gd name="T5" fmla="*/ 0 h 2"/>
                <a:gd name="T6" fmla="*/ 6 w 10"/>
                <a:gd name="T7" fmla="*/ 2 h 2"/>
              </a:gdLst>
              <a:ahLst/>
              <a:cxnLst>
                <a:cxn ang="0">
                  <a:pos x="T0" y="T1"/>
                </a:cxn>
                <a:cxn ang="0">
                  <a:pos x="T2" y="T3"/>
                </a:cxn>
                <a:cxn ang="0">
                  <a:pos x="T4" y="T5"/>
                </a:cxn>
                <a:cxn ang="0">
                  <a:pos x="T6" y="T7"/>
                </a:cxn>
              </a:cxnLst>
              <a:rect l="0" t="0" r="r" b="b"/>
              <a:pathLst>
                <a:path w="10" h="2">
                  <a:moveTo>
                    <a:pt x="6" y="2"/>
                  </a:moveTo>
                  <a:lnTo>
                    <a:pt x="6" y="2"/>
                  </a:lnTo>
                  <a:lnTo>
                    <a:pt x="10" y="0"/>
                  </a:lnTo>
                  <a:cubicBezTo>
                    <a:pt x="3"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9" name="Figura a mano libera 44"/>
            <p:cNvSpPr>
              <a:spLocks/>
            </p:cNvSpPr>
            <p:nvPr/>
          </p:nvSpPr>
          <p:spPr bwMode="invGray">
            <a:xfrm>
              <a:off x="8950325" y="1521861"/>
              <a:ext cx="61912" cy="7386"/>
            </a:xfrm>
            <a:custGeom>
              <a:avLst/>
              <a:gdLst>
                <a:gd name="T0" fmla="*/ 65 w 65"/>
                <a:gd name="T1" fmla="*/ 9 h 9"/>
                <a:gd name="T2" fmla="*/ 65 w 65"/>
                <a:gd name="T3" fmla="*/ 9 h 9"/>
                <a:gd name="T4" fmla="*/ 4 w 65"/>
                <a:gd name="T5" fmla="*/ 4 h 9"/>
                <a:gd name="T6" fmla="*/ 13 w 65"/>
                <a:gd name="T7" fmla="*/ 8 h 9"/>
                <a:gd name="T8" fmla="*/ 65 w 65"/>
                <a:gd name="T9" fmla="*/ 9 h 9"/>
              </a:gdLst>
              <a:ahLst/>
              <a:cxnLst>
                <a:cxn ang="0">
                  <a:pos x="T0" y="T1"/>
                </a:cxn>
                <a:cxn ang="0">
                  <a:pos x="T2" y="T3"/>
                </a:cxn>
                <a:cxn ang="0">
                  <a:pos x="T4" y="T5"/>
                </a:cxn>
                <a:cxn ang="0">
                  <a:pos x="T6" y="T7"/>
                </a:cxn>
                <a:cxn ang="0">
                  <a:pos x="T8" y="T9"/>
                </a:cxn>
              </a:cxnLst>
              <a:rect l="0" t="0" r="r" b="b"/>
              <a:pathLst>
                <a:path w="65" h="9">
                  <a:moveTo>
                    <a:pt x="65" y="9"/>
                  </a:moveTo>
                  <a:lnTo>
                    <a:pt x="65" y="9"/>
                  </a:lnTo>
                  <a:cubicBezTo>
                    <a:pt x="34" y="5"/>
                    <a:pt x="0" y="0"/>
                    <a:pt x="4" y="4"/>
                  </a:cubicBezTo>
                  <a:lnTo>
                    <a:pt x="13" y="8"/>
                  </a:lnTo>
                  <a:cubicBezTo>
                    <a:pt x="35" y="7"/>
                    <a:pt x="51" y="8"/>
                    <a:pt x="65"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0" name="Figura a mano libera 45"/>
            <p:cNvSpPr>
              <a:spLocks/>
            </p:cNvSpPr>
            <p:nvPr/>
          </p:nvSpPr>
          <p:spPr bwMode="invGray">
            <a:xfrm>
              <a:off x="7537450" y="1546479"/>
              <a:ext cx="28575" cy="3693"/>
            </a:xfrm>
            <a:custGeom>
              <a:avLst/>
              <a:gdLst>
                <a:gd name="T0" fmla="*/ 0 w 29"/>
                <a:gd name="T1" fmla="*/ 3 h 4"/>
                <a:gd name="T2" fmla="*/ 0 w 29"/>
                <a:gd name="T3" fmla="*/ 3 h 4"/>
                <a:gd name="T4" fmla="*/ 9 w 29"/>
                <a:gd name="T5" fmla="*/ 4 h 4"/>
                <a:gd name="T6" fmla="*/ 29 w 29"/>
                <a:gd name="T7" fmla="*/ 0 h 4"/>
                <a:gd name="T8" fmla="*/ 0 w 29"/>
                <a:gd name="T9" fmla="*/ 3 h 4"/>
              </a:gdLst>
              <a:ahLst/>
              <a:cxnLst>
                <a:cxn ang="0">
                  <a:pos x="T0" y="T1"/>
                </a:cxn>
                <a:cxn ang="0">
                  <a:pos x="T2" y="T3"/>
                </a:cxn>
                <a:cxn ang="0">
                  <a:pos x="T4" y="T5"/>
                </a:cxn>
                <a:cxn ang="0">
                  <a:pos x="T6" y="T7"/>
                </a:cxn>
                <a:cxn ang="0">
                  <a:pos x="T8" y="T9"/>
                </a:cxn>
              </a:cxnLst>
              <a:rect l="0" t="0" r="r" b="b"/>
              <a:pathLst>
                <a:path w="29" h="4">
                  <a:moveTo>
                    <a:pt x="0" y="3"/>
                  </a:moveTo>
                  <a:lnTo>
                    <a:pt x="0" y="3"/>
                  </a:lnTo>
                  <a:lnTo>
                    <a:pt x="9" y="4"/>
                  </a:lnTo>
                  <a:lnTo>
                    <a:pt x="29" y="0"/>
                  </a:ln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1" name="Figura a mano libera 46"/>
            <p:cNvSpPr>
              <a:spLocks/>
            </p:cNvSpPr>
            <p:nvPr/>
          </p:nvSpPr>
          <p:spPr bwMode="invGray">
            <a:xfrm>
              <a:off x="7478713" y="1562481"/>
              <a:ext cx="38100" cy="2462"/>
            </a:xfrm>
            <a:custGeom>
              <a:avLst/>
              <a:gdLst>
                <a:gd name="T0" fmla="*/ 40 w 40"/>
                <a:gd name="T1" fmla="*/ 3 h 3"/>
                <a:gd name="T2" fmla="*/ 40 w 40"/>
                <a:gd name="T3" fmla="*/ 3 h 3"/>
                <a:gd name="T4" fmla="*/ 0 w 40"/>
                <a:gd name="T5" fmla="*/ 0 h 3"/>
                <a:gd name="T6" fmla="*/ 40 w 40"/>
                <a:gd name="T7" fmla="*/ 3 h 3"/>
              </a:gdLst>
              <a:ahLst/>
              <a:cxnLst>
                <a:cxn ang="0">
                  <a:pos x="T0" y="T1"/>
                </a:cxn>
                <a:cxn ang="0">
                  <a:pos x="T2" y="T3"/>
                </a:cxn>
                <a:cxn ang="0">
                  <a:pos x="T4" y="T5"/>
                </a:cxn>
                <a:cxn ang="0">
                  <a:pos x="T6" y="T7"/>
                </a:cxn>
              </a:cxnLst>
              <a:rect l="0" t="0" r="r" b="b"/>
              <a:pathLst>
                <a:path w="40" h="3">
                  <a:moveTo>
                    <a:pt x="40" y="3"/>
                  </a:moveTo>
                  <a:lnTo>
                    <a:pt x="40" y="3"/>
                  </a:lnTo>
                  <a:lnTo>
                    <a:pt x="0" y="0"/>
                  </a:lnTo>
                  <a:cubicBezTo>
                    <a:pt x="9" y="1"/>
                    <a:pt x="22" y="2"/>
                    <a:pt x="4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2" name="Figura a mano libera 47"/>
            <p:cNvSpPr>
              <a:spLocks/>
            </p:cNvSpPr>
            <p:nvPr/>
          </p:nvSpPr>
          <p:spPr bwMode="invGray">
            <a:xfrm>
              <a:off x="5410200" y="1568636"/>
              <a:ext cx="36512" cy="3693"/>
            </a:xfrm>
            <a:custGeom>
              <a:avLst/>
              <a:gdLst>
                <a:gd name="T0" fmla="*/ 24 w 38"/>
                <a:gd name="T1" fmla="*/ 0 h 5"/>
                <a:gd name="T2" fmla="*/ 24 w 38"/>
                <a:gd name="T3" fmla="*/ 0 h 5"/>
                <a:gd name="T4" fmla="*/ 0 w 38"/>
                <a:gd name="T5" fmla="*/ 5 h 5"/>
                <a:gd name="T6" fmla="*/ 24 w 38"/>
                <a:gd name="T7" fmla="*/ 0 h 5"/>
              </a:gdLst>
              <a:ahLst/>
              <a:cxnLst>
                <a:cxn ang="0">
                  <a:pos x="T0" y="T1"/>
                </a:cxn>
                <a:cxn ang="0">
                  <a:pos x="T2" y="T3"/>
                </a:cxn>
                <a:cxn ang="0">
                  <a:pos x="T4" y="T5"/>
                </a:cxn>
                <a:cxn ang="0">
                  <a:pos x="T6" y="T7"/>
                </a:cxn>
              </a:cxnLst>
              <a:rect l="0" t="0" r="r" b="b"/>
              <a:pathLst>
                <a:path w="38" h="5">
                  <a:moveTo>
                    <a:pt x="24" y="0"/>
                  </a:moveTo>
                  <a:lnTo>
                    <a:pt x="24" y="0"/>
                  </a:lnTo>
                  <a:lnTo>
                    <a:pt x="0" y="5"/>
                  </a:lnTo>
                  <a:cubicBezTo>
                    <a:pt x="38" y="5"/>
                    <a:pt x="21" y="3"/>
                    <a:pt x="24"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3" name="Figura a mano libera 48"/>
            <p:cNvSpPr>
              <a:spLocks/>
            </p:cNvSpPr>
            <p:nvPr/>
          </p:nvSpPr>
          <p:spPr bwMode="invGray">
            <a:xfrm>
              <a:off x="10206038" y="1530477"/>
              <a:ext cx="61912" cy="4924"/>
            </a:xfrm>
            <a:custGeom>
              <a:avLst/>
              <a:gdLst>
                <a:gd name="T0" fmla="*/ 65 w 65"/>
                <a:gd name="T1" fmla="*/ 3 h 6"/>
                <a:gd name="T2" fmla="*/ 65 w 65"/>
                <a:gd name="T3" fmla="*/ 3 h 6"/>
                <a:gd name="T4" fmla="*/ 0 w 65"/>
                <a:gd name="T5" fmla="*/ 0 h 6"/>
                <a:gd name="T6" fmla="*/ 65 w 65"/>
                <a:gd name="T7" fmla="*/ 3 h 6"/>
              </a:gdLst>
              <a:ahLst/>
              <a:cxnLst>
                <a:cxn ang="0">
                  <a:pos x="T0" y="T1"/>
                </a:cxn>
                <a:cxn ang="0">
                  <a:pos x="T2" y="T3"/>
                </a:cxn>
                <a:cxn ang="0">
                  <a:pos x="T4" y="T5"/>
                </a:cxn>
                <a:cxn ang="0">
                  <a:pos x="T6" y="T7"/>
                </a:cxn>
              </a:cxnLst>
              <a:rect l="0" t="0" r="r" b="b"/>
              <a:pathLst>
                <a:path w="65" h="6">
                  <a:moveTo>
                    <a:pt x="65" y="3"/>
                  </a:moveTo>
                  <a:lnTo>
                    <a:pt x="65" y="3"/>
                  </a:lnTo>
                  <a:cubicBezTo>
                    <a:pt x="39" y="1"/>
                    <a:pt x="18" y="0"/>
                    <a:pt x="0" y="0"/>
                  </a:cubicBezTo>
                  <a:cubicBezTo>
                    <a:pt x="32" y="2"/>
                    <a:pt x="57" y="6"/>
                    <a:pt x="65"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4" name="Figura a mano libera 49"/>
            <p:cNvSpPr>
              <a:spLocks/>
            </p:cNvSpPr>
            <p:nvPr/>
          </p:nvSpPr>
          <p:spPr bwMode="invGray">
            <a:xfrm>
              <a:off x="6257925" y="1525554"/>
              <a:ext cx="19050" cy="2462"/>
            </a:xfrm>
            <a:custGeom>
              <a:avLst/>
              <a:gdLst>
                <a:gd name="T0" fmla="*/ 18 w 21"/>
                <a:gd name="T1" fmla="*/ 0 h 2"/>
                <a:gd name="T2" fmla="*/ 18 w 21"/>
                <a:gd name="T3" fmla="*/ 0 h 2"/>
                <a:gd name="T4" fmla="*/ 0 w 21"/>
                <a:gd name="T5" fmla="*/ 2 h 2"/>
                <a:gd name="T6" fmla="*/ 18 w 21"/>
                <a:gd name="T7" fmla="*/ 0 h 2"/>
              </a:gdLst>
              <a:ahLst/>
              <a:cxnLst>
                <a:cxn ang="0">
                  <a:pos x="T0" y="T1"/>
                </a:cxn>
                <a:cxn ang="0">
                  <a:pos x="T2" y="T3"/>
                </a:cxn>
                <a:cxn ang="0">
                  <a:pos x="T4" y="T5"/>
                </a:cxn>
                <a:cxn ang="0">
                  <a:pos x="T6" y="T7"/>
                </a:cxn>
              </a:cxnLst>
              <a:rect l="0" t="0" r="r" b="b"/>
              <a:pathLst>
                <a:path w="21" h="2">
                  <a:moveTo>
                    <a:pt x="18" y="0"/>
                  </a:moveTo>
                  <a:lnTo>
                    <a:pt x="18" y="0"/>
                  </a:lnTo>
                  <a:cubicBezTo>
                    <a:pt x="5" y="1"/>
                    <a:pt x="0" y="2"/>
                    <a:pt x="0" y="2"/>
                  </a:cubicBezTo>
                  <a:cubicBezTo>
                    <a:pt x="13" y="2"/>
                    <a:pt x="21" y="1"/>
                    <a:pt x="1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5" name="Figura a mano libera 50"/>
            <p:cNvSpPr>
              <a:spLocks/>
            </p:cNvSpPr>
            <p:nvPr/>
          </p:nvSpPr>
          <p:spPr bwMode="invGray">
            <a:xfrm>
              <a:off x="10134600" y="1528016"/>
              <a:ext cx="71437" cy="3693"/>
            </a:xfrm>
            <a:custGeom>
              <a:avLst/>
              <a:gdLst>
                <a:gd name="T0" fmla="*/ 0 w 75"/>
                <a:gd name="T1" fmla="*/ 3 h 4"/>
                <a:gd name="T2" fmla="*/ 0 w 75"/>
                <a:gd name="T3" fmla="*/ 3 h 4"/>
                <a:gd name="T4" fmla="*/ 13 w 75"/>
                <a:gd name="T5" fmla="*/ 4 h 4"/>
                <a:gd name="T6" fmla="*/ 75 w 75"/>
                <a:gd name="T7" fmla="*/ 3 h 4"/>
                <a:gd name="T8" fmla="*/ 0 w 75"/>
                <a:gd name="T9" fmla="*/ 3 h 4"/>
              </a:gdLst>
              <a:ahLst/>
              <a:cxnLst>
                <a:cxn ang="0">
                  <a:pos x="T0" y="T1"/>
                </a:cxn>
                <a:cxn ang="0">
                  <a:pos x="T2" y="T3"/>
                </a:cxn>
                <a:cxn ang="0">
                  <a:pos x="T4" y="T5"/>
                </a:cxn>
                <a:cxn ang="0">
                  <a:pos x="T6" y="T7"/>
                </a:cxn>
                <a:cxn ang="0">
                  <a:pos x="T8" y="T9"/>
                </a:cxn>
              </a:cxnLst>
              <a:rect l="0" t="0" r="r" b="b"/>
              <a:pathLst>
                <a:path w="75" h="4">
                  <a:moveTo>
                    <a:pt x="0" y="3"/>
                  </a:moveTo>
                  <a:lnTo>
                    <a:pt x="0" y="3"/>
                  </a:lnTo>
                  <a:lnTo>
                    <a:pt x="13" y="4"/>
                  </a:lnTo>
                  <a:cubicBezTo>
                    <a:pt x="32" y="3"/>
                    <a:pt x="52" y="2"/>
                    <a:pt x="75" y="3"/>
                  </a:cubicBezTo>
                  <a:cubicBezTo>
                    <a:pt x="52" y="1"/>
                    <a:pt x="25" y="0"/>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6" name="Figura a mano libera 51"/>
            <p:cNvSpPr>
              <a:spLocks/>
            </p:cNvSpPr>
            <p:nvPr/>
          </p:nvSpPr>
          <p:spPr bwMode="invGray">
            <a:xfrm>
              <a:off x="2582863" y="1560020"/>
              <a:ext cx="7937" cy="1231"/>
            </a:xfrm>
            <a:custGeom>
              <a:avLst/>
              <a:gdLst>
                <a:gd name="T0" fmla="*/ 8 w 8"/>
                <a:gd name="T1" fmla="*/ 1 h 1"/>
                <a:gd name="T2" fmla="*/ 8 w 8"/>
                <a:gd name="T3" fmla="*/ 1 h 1"/>
                <a:gd name="T4" fmla="*/ 1 w 8"/>
                <a:gd name="T5" fmla="*/ 0 h 1"/>
                <a:gd name="T6" fmla="*/ 8 w 8"/>
                <a:gd name="T7" fmla="*/ 1 h 1"/>
              </a:gdLst>
              <a:ahLst/>
              <a:cxnLst>
                <a:cxn ang="0">
                  <a:pos x="T0" y="T1"/>
                </a:cxn>
                <a:cxn ang="0">
                  <a:pos x="T2" y="T3"/>
                </a:cxn>
                <a:cxn ang="0">
                  <a:pos x="T4" y="T5"/>
                </a:cxn>
                <a:cxn ang="0">
                  <a:pos x="T6" y="T7"/>
                </a:cxn>
              </a:cxnLst>
              <a:rect l="0" t="0" r="r" b="b"/>
              <a:pathLst>
                <a:path w="8" h="1">
                  <a:moveTo>
                    <a:pt x="8" y="1"/>
                  </a:moveTo>
                  <a:lnTo>
                    <a:pt x="8" y="1"/>
                  </a:lnTo>
                  <a:lnTo>
                    <a:pt x="1" y="0"/>
                  </a:lnTo>
                  <a:cubicBezTo>
                    <a:pt x="0" y="1"/>
                    <a:pt x="3" y="1"/>
                    <a:pt x="8"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7" name="Figura a mano libera 52"/>
            <p:cNvSpPr>
              <a:spLocks/>
            </p:cNvSpPr>
            <p:nvPr/>
          </p:nvSpPr>
          <p:spPr bwMode="invGray">
            <a:xfrm>
              <a:off x="1762125" y="1521861"/>
              <a:ext cx="34925" cy="1231"/>
            </a:xfrm>
            <a:custGeom>
              <a:avLst/>
              <a:gdLst>
                <a:gd name="T0" fmla="*/ 0 w 36"/>
                <a:gd name="T1" fmla="*/ 1 h 1"/>
                <a:gd name="T2" fmla="*/ 0 w 36"/>
                <a:gd name="T3" fmla="*/ 1 h 1"/>
                <a:gd name="T4" fmla="*/ 36 w 36"/>
                <a:gd name="T5" fmla="*/ 1 h 1"/>
                <a:gd name="T6" fmla="*/ 0 w 36"/>
                <a:gd name="T7" fmla="*/ 1 h 1"/>
              </a:gdLst>
              <a:ahLst/>
              <a:cxnLst>
                <a:cxn ang="0">
                  <a:pos x="T0" y="T1"/>
                </a:cxn>
                <a:cxn ang="0">
                  <a:pos x="T2" y="T3"/>
                </a:cxn>
                <a:cxn ang="0">
                  <a:pos x="T4" y="T5"/>
                </a:cxn>
                <a:cxn ang="0">
                  <a:pos x="T6" y="T7"/>
                </a:cxn>
              </a:cxnLst>
              <a:rect l="0" t="0" r="r" b="b"/>
              <a:pathLst>
                <a:path w="36" h="1">
                  <a:moveTo>
                    <a:pt x="0" y="1"/>
                  </a:moveTo>
                  <a:lnTo>
                    <a:pt x="0" y="1"/>
                  </a:lnTo>
                  <a:cubicBezTo>
                    <a:pt x="9" y="1"/>
                    <a:pt x="23" y="1"/>
                    <a:pt x="36" y="1"/>
                  </a:cubicBezTo>
                  <a:cubicBezTo>
                    <a:pt x="29" y="0"/>
                    <a:pt x="19"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8" name="Figura a mano libera 53"/>
            <p:cNvSpPr>
              <a:spLocks/>
            </p:cNvSpPr>
            <p:nvPr/>
          </p:nvSpPr>
          <p:spPr bwMode="invGray">
            <a:xfrm>
              <a:off x="10812463" y="1529246"/>
              <a:ext cx="19050" cy="1231"/>
            </a:xfrm>
            <a:custGeom>
              <a:avLst/>
              <a:gdLst>
                <a:gd name="T0" fmla="*/ 0 w 20"/>
                <a:gd name="T1" fmla="*/ 1 h 1"/>
                <a:gd name="T2" fmla="*/ 0 w 20"/>
                <a:gd name="T3" fmla="*/ 1 h 1"/>
                <a:gd name="T4" fmla="*/ 0 w 20"/>
                <a:gd name="T5" fmla="*/ 1 h 1"/>
              </a:gdLst>
              <a:ahLst/>
              <a:cxnLst>
                <a:cxn ang="0">
                  <a:pos x="T0" y="T1"/>
                </a:cxn>
                <a:cxn ang="0">
                  <a:pos x="T2" y="T3"/>
                </a:cxn>
                <a:cxn ang="0">
                  <a:pos x="T4" y="T5"/>
                </a:cxn>
              </a:cxnLst>
              <a:rect l="0" t="0" r="r" b="b"/>
              <a:pathLst>
                <a:path w="20" h="1">
                  <a:moveTo>
                    <a:pt x="0" y="1"/>
                  </a:moveTo>
                  <a:lnTo>
                    <a:pt x="0" y="1"/>
                  </a:lnTo>
                  <a:cubicBezTo>
                    <a:pt x="20" y="1"/>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9" name="Figura a mano libera 54"/>
            <p:cNvSpPr>
              <a:spLocks/>
            </p:cNvSpPr>
            <p:nvPr/>
          </p:nvSpPr>
          <p:spPr bwMode="invGray">
            <a:xfrm>
              <a:off x="10896600" y="1545248"/>
              <a:ext cx="7937" cy="2462"/>
            </a:xfrm>
            <a:custGeom>
              <a:avLst/>
              <a:gdLst>
                <a:gd name="T0" fmla="*/ 8 w 8"/>
                <a:gd name="T1" fmla="*/ 0 h 3"/>
                <a:gd name="T2" fmla="*/ 8 w 8"/>
                <a:gd name="T3" fmla="*/ 0 h 3"/>
                <a:gd name="T4" fmla="*/ 0 w 8"/>
                <a:gd name="T5" fmla="*/ 3 h 3"/>
                <a:gd name="T6" fmla="*/ 8 w 8"/>
                <a:gd name="T7" fmla="*/ 0 h 3"/>
              </a:gdLst>
              <a:ahLst/>
              <a:cxnLst>
                <a:cxn ang="0">
                  <a:pos x="T0" y="T1"/>
                </a:cxn>
                <a:cxn ang="0">
                  <a:pos x="T2" y="T3"/>
                </a:cxn>
                <a:cxn ang="0">
                  <a:pos x="T4" y="T5"/>
                </a:cxn>
                <a:cxn ang="0">
                  <a:pos x="T6" y="T7"/>
                </a:cxn>
              </a:cxnLst>
              <a:rect l="0" t="0" r="r" b="b"/>
              <a:pathLst>
                <a:path w="8" h="3">
                  <a:moveTo>
                    <a:pt x="8" y="0"/>
                  </a:moveTo>
                  <a:lnTo>
                    <a:pt x="8" y="0"/>
                  </a:lnTo>
                  <a:cubicBezTo>
                    <a:pt x="4" y="1"/>
                    <a:pt x="1" y="2"/>
                    <a:pt x="0" y="3"/>
                  </a:cubicBezTo>
                  <a:cubicBezTo>
                    <a:pt x="2" y="2"/>
                    <a:pt x="4" y="1"/>
                    <a:pt x="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0" name="Figura a mano libera 55"/>
            <p:cNvSpPr>
              <a:spLocks/>
            </p:cNvSpPr>
            <p:nvPr/>
          </p:nvSpPr>
          <p:spPr bwMode="invGray">
            <a:xfrm>
              <a:off x="9947275" y="1553865"/>
              <a:ext cx="4762" cy="1231"/>
            </a:xfrm>
            <a:custGeom>
              <a:avLst/>
              <a:gdLst>
                <a:gd name="T0" fmla="*/ 1 w 5"/>
                <a:gd name="T1" fmla="*/ 0 h 1"/>
                <a:gd name="T2" fmla="*/ 1 w 5"/>
                <a:gd name="T3" fmla="*/ 0 h 1"/>
                <a:gd name="T4" fmla="*/ 0 w 5"/>
                <a:gd name="T5" fmla="*/ 0 h 1"/>
                <a:gd name="T6" fmla="*/ 1 w 5"/>
                <a:gd name="T7" fmla="*/ 0 h 1"/>
              </a:gdLst>
              <a:ahLst/>
              <a:cxnLst>
                <a:cxn ang="0">
                  <a:pos x="T0" y="T1"/>
                </a:cxn>
                <a:cxn ang="0">
                  <a:pos x="T2" y="T3"/>
                </a:cxn>
                <a:cxn ang="0">
                  <a:pos x="T4" y="T5"/>
                </a:cxn>
                <a:cxn ang="0">
                  <a:pos x="T6" y="T7"/>
                </a:cxn>
              </a:cxnLst>
              <a:rect l="0" t="0" r="r" b="b"/>
              <a:pathLst>
                <a:path w="5" h="1">
                  <a:moveTo>
                    <a:pt x="1" y="0"/>
                  </a:moveTo>
                  <a:lnTo>
                    <a:pt x="1" y="0"/>
                  </a:lnTo>
                  <a:lnTo>
                    <a:pt x="0" y="0"/>
                  </a:lnTo>
                  <a:cubicBezTo>
                    <a:pt x="5" y="1"/>
                    <a:pt x="4" y="0"/>
                    <a:pt x="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1" name="Figura a mano libera 56"/>
            <p:cNvSpPr>
              <a:spLocks/>
            </p:cNvSpPr>
            <p:nvPr/>
          </p:nvSpPr>
          <p:spPr bwMode="invGray">
            <a:xfrm>
              <a:off x="10817225" y="1531708"/>
              <a:ext cx="23812" cy="0"/>
            </a:xfrm>
            <a:custGeom>
              <a:avLst/>
              <a:gdLst>
                <a:gd name="T0" fmla="*/ 25 w 25"/>
                <a:gd name="T1" fmla="*/ 1 h 1"/>
                <a:gd name="T2" fmla="*/ 25 w 25"/>
                <a:gd name="T3" fmla="*/ 1 h 1"/>
                <a:gd name="T4" fmla="*/ 0 w 25"/>
                <a:gd name="T5" fmla="*/ 0 h 1"/>
                <a:gd name="T6" fmla="*/ 25 w 25"/>
                <a:gd name="T7" fmla="*/ 1 h 1"/>
              </a:gdLst>
              <a:ahLst/>
              <a:cxnLst>
                <a:cxn ang="0">
                  <a:pos x="T0" y="T1"/>
                </a:cxn>
                <a:cxn ang="0">
                  <a:pos x="T2" y="T3"/>
                </a:cxn>
                <a:cxn ang="0">
                  <a:pos x="T4" y="T5"/>
                </a:cxn>
                <a:cxn ang="0">
                  <a:pos x="T6" y="T7"/>
                </a:cxn>
              </a:cxnLst>
              <a:rect l="0" t="0" r="r" b="b"/>
              <a:pathLst>
                <a:path w="25" h="1">
                  <a:moveTo>
                    <a:pt x="25" y="1"/>
                  </a:moveTo>
                  <a:lnTo>
                    <a:pt x="25" y="1"/>
                  </a:lnTo>
                  <a:cubicBezTo>
                    <a:pt x="18" y="0"/>
                    <a:pt x="10" y="0"/>
                    <a:pt x="0" y="0"/>
                  </a:cubicBezTo>
                  <a:cubicBezTo>
                    <a:pt x="5" y="0"/>
                    <a:pt x="12" y="0"/>
                    <a:pt x="25"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2" name="Figura a mano libera 57"/>
            <p:cNvSpPr>
              <a:spLocks/>
            </p:cNvSpPr>
            <p:nvPr/>
          </p:nvSpPr>
          <p:spPr bwMode="invGray">
            <a:xfrm>
              <a:off x="10836275" y="1529246"/>
              <a:ext cx="19050" cy="1231"/>
            </a:xfrm>
            <a:custGeom>
              <a:avLst/>
              <a:gdLst>
                <a:gd name="T0" fmla="*/ 0 w 20"/>
                <a:gd name="T1" fmla="*/ 1 h 1"/>
                <a:gd name="T2" fmla="*/ 0 w 20"/>
                <a:gd name="T3" fmla="*/ 1 h 1"/>
                <a:gd name="T4" fmla="*/ 18 w 20"/>
                <a:gd name="T5" fmla="*/ 1 h 1"/>
                <a:gd name="T6" fmla="*/ 0 w 20"/>
                <a:gd name="T7" fmla="*/ 1 h 1"/>
              </a:gdLst>
              <a:ahLst/>
              <a:cxnLst>
                <a:cxn ang="0">
                  <a:pos x="T0" y="T1"/>
                </a:cxn>
                <a:cxn ang="0">
                  <a:pos x="T2" y="T3"/>
                </a:cxn>
                <a:cxn ang="0">
                  <a:pos x="T4" y="T5"/>
                </a:cxn>
                <a:cxn ang="0">
                  <a:pos x="T6" y="T7"/>
                </a:cxn>
              </a:cxnLst>
              <a:rect l="0" t="0" r="r" b="b"/>
              <a:pathLst>
                <a:path w="20" h="1">
                  <a:moveTo>
                    <a:pt x="0" y="1"/>
                  </a:moveTo>
                  <a:lnTo>
                    <a:pt x="0" y="1"/>
                  </a:lnTo>
                  <a:lnTo>
                    <a:pt x="18" y="1"/>
                  </a:lnTo>
                  <a:cubicBezTo>
                    <a:pt x="20" y="1"/>
                    <a:pt x="18"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3" name="Figura a mano libera 58"/>
            <p:cNvSpPr>
              <a:spLocks/>
            </p:cNvSpPr>
            <p:nvPr/>
          </p:nvSpPr>
          <p:spPr bwMode="invGray">
            <a:xfrm>
              <a:off x="10787063" y="1530477"/>
              <a:ext cx="30162" cy="1231"/>
            </a:xfrm>
            <a:custGeom>
              <a:avLst/>
              <a:gdLst>
                <a:gd name="T0" fmla="*/ 0 w 31"/>
                <a:gd name="T1" fmla="*/ 0 h 1"/>
                <a:gd name="T2" fmla="*/ 0 w 31"/>
                <a:gd name="T3" fmla="*/ 0 h 1"/>
                <a:gd name="T4" fmla="*/ 31 w 31"/>
                <a:gd name="T5" fmla="*/ 1 h 1"/>
                <a:gd name="T6" fmla="*/ 27 w 31"/>
                <a:gd name="T7" fmla="*/ 0 h 1"/>
                <a:gd name="T8" fmla="*/ 0 w 31"/>
                <a:gd name="T9" fmla="*/ 0 h 1"/>
              </a:gdLst>
              <a:ahLst/>
              <a:cxnLst>
                <a:cxn ang="0">
                  <a:pos x="T0" y="T1"/>
                </a:cxn>
                <a:cxn ang="0">
                  <a:pos x="T2" y="T3"/>
                </a:cxn>
                <a:cxn ang="0">
                  <a:pos x="T4" y="T5"/>
                </a:cxn>
                <a:cxn ang="0">
                  <a:pos x="T6" y="T7"/>
                </a:cxn>
                <a:cxn ang="0">
                  <a:pos x="T8" y="T9"/>
                </a:cxn>
              </a:cxnLst>
              <a:rect l="0" t="0" r="r" b="b"/>
              <a:pathLst>
                <a:path w="31" h="1">
                  <a:moveTo>
                    <a:pt x="0" y="0"/>
                  </a:moveTo>
                  <a:lnTo>
                    <a:pt x="0" y="0"/>
                  </a:lnTo>
                  <a:cubicBezTo>
                    <a:pt x="11" y="0"/>
                    <a:pt x="21" y="0"/>
                    <a:pt x="31" y="1"/>
                  </a:cubicBezTo>
                  <a:cubicBezTo>
                    <a:pt x="28" y="0"/>
                    <a:pt x="26" y="0"/>
                    <a:pt x="27"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4" name="Figura a mano libera 59"/>
            <p:cNvSpPr>
              <a:spLocks/>
            </p:cNvSpPr>
            <p:nvPr/>
          </p:nvSpPr>
          <p:spPr bwMode="invGray">
            <a:xfrm>
              <a:off x="4092575" y="1552634"/>
              <a:ext cx="20637" cy="2462"/>
            </a:xfrm>
            <a:custGeom>
              <a:avLst/>
              <a:gdLst>
                <a:gd name="T0" fmla="*/ 23 w 23"/>
                <a:gd name="T1" fmla="*/ 0 h 2"/>
                <a:gd name="T2" fmla="*/ 23 w 23"/>
                <a:gd name="T3" fmla="*/ 0 h 2"/>
                <a:gd name="T4" fmla="*/ 19 w 23"/>
                <a:gd name="T5" fmla="*/ 0 h 2"/>
                <a:gd name="T6" fmla="*/ 23 w 23"/>
                <a:gd name="T7" fmla="*/ 0 h 2"/>
              </a:gdLst>
              <a:ahLst/>
              <a:cxnLst>
                <a:cxn ang="0">
                  <a:pos x="T0" y="T1"/>
                </a:cxn>
                <a:cxn ang="0">
                  <a:pos x="T2" y="T3"/>
                </a:cxn>
                <a:cxn ang="0">
                  <a:pos x="T4" y="T5"/>
                </a:cxn>
                <a:cxn ang="0">
                  <a:pos x="T6" y="T7"/>
                </a:cxn>
              </a:cxnLst>
              <a:rect l="0" t="0" r="r" b="b"/>
              <a:pathLst>
                <a:path w="23" h="2">
                  <a:moveTo>
                    <a:pt x="23" y="0"/>
                  </a:moveTo>
                  <a:lnTo>
                    <a:pt x="23" y="0"/>
                  </a:lnTo>
                  <a:lnTo>
                    <a:pt x="19" y="0"/>
                  </a:lnTo>
                  <a:cubicBezTo>
                    <a:pt x="0" y="2"/>
                    <a:pt x="8" y="1"/>
                    <a:pt x="2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5" name="Figura a mano libera 60"/>
            <p:cNvSpPr>
              <a:spLocks/>
            </p:cNvSpPr>
            <p:nvPr/>
          </p:nvSpPr>
          <p:spPr bwMode="invGray">
            <a:xfrm>
              <a:off x="8528050" y="1567405"/>
              <a:ext cx="3175" cy="1231"/>
            </a:xfrm>
            <a:custGeom>
              <a:avLst/>
              <a:gdLst>
                <a:gd name="T0" fmla="*/ 1 w 3"/>
                <a:gd name="T1" fmla="*/ 1 h 1"/>
                <a:gd name="T2" fmla="*/ 1 w 3"/>
                <a:gd name="T3" fmla="*/ 1 h 1"/>
                <a:gd name="T4" fmla="*/ 3 w 3"/>
                <a:gd name="T5" fmla="*/ 0 h 1"/>
                <a:gd name="T6" fmla="*/ 0 w 3"/>
                <a:gd name="T7" fmla="*/ 0 h 1"/>
                <a:gd name="T8" fmla="*/ 1 w 3"/>
                <a:gd name="T9" fmla="*/ 1 h 1"/>
              </a:gdLst>
              <a:ahLst/>
              <a:cxnLst>
                <a:cxn ang="0">
                  <a:pos x="T0" y="T1"/>
                </a:cxn>
                <a:cxn ang="0">
                  <a:pos x="T2" y="T3"/>
                </a:cxn>
                <a:cxn ang="0">
                  <a:pos x="T4" y="T5"/>
                </a:cxn>
                <a:cxn ang="0">
                  <a:pos x="T6" y="T7"/>
                </a:cxn>
                <a:cxn ang="0">
                  <a:pos x="T8" y="T9"/>
                </a:cxn>
              </a:cxnLst>
              <a:rect l="0" t="0" r="r" b="b"/>
              <a:pathLst>
                <a:path w="3" h="1">
                  <a:moveTo>
                    <a:pt x="1" y="1"/>
                  </a:moveTo>
                  <a:lnTo>
                    <a:pt x="1" y="1"/>
                  </a:lnTo>
                  <a:lnTo>
                    <a:pt x="3" y="0"/>
                  </a:lnTo>
                  <a:lnTo>
                    <a:pt x="0" y="0"/>
                  </a:lnTo>
                  <a:lnTo>
                    <a:pt x="1"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6" name="Figura a mano libera 61"/>
            <p:cNvSpPr>
              <a:spLocks/>
            </p:cNvSpPr>
            <p:nvPr/>
          </p:nvSpPr>
          <p:spPr bwMode="invGray">
            <a:xfrm>
              <a:off x="8461375" y="1556326"/>
              <a:ext cx="66675" cy="14771"/>
            </a:xfrm>
            <a:custGeom>
              <a:avLst/>
              <a:gdLst>
                <a:gd name="T0" fmla="*/ 0 w 69"/>
                <a:gd name="T1" fmla="*/ 17 h 17"/>
                <a:gd name="T2" fmla="*/ 0 w 69"/>
                <a:gd name="T3" fmla="*/ 17 h 17"/>
                <a:gd name="T4" fmla="*/ 69 w 69"/>
                <a:gd name="T5" fmla="*/ 13 h 17"/>
                <a:gd name="T6" fmla="*/ 46 w 69"/>
                <a:gd name="T7" fmla="*/ 0 h 17"/>
                <a:gd name="T8" fmla="*/ 0 w 69"/>
                <a:gd name="T9" fmla="*/ 17 h 17"/>
              </a:gdLst>
              <a:ahLst/>
              <a:cxnLst>
                <a:cxn ang="0">
                  <a:pos x="T0" y="T1"/>
                </a:cxn>
                <a:cxn ang="0">
                  <a:pos x="T2" y="T3"/>
                </a:cxn>
                <a:cxn ang="0">
                  <a:pos x="T4" y="T5"/>
                </a:cxn>
                <a:cxn ang="0">
                  <a:pos x="T6" y="T7"/>
                </a:cxn>
                <a:cxn ang="0">
                  <a:pos x="T8" y="T9"/>
                </a:cxn>
              </a:cxnLst>
              <a:rect l="0" t="0" r="r" b="b"/>
              <a:pathLst>
                <a:path w="69" h="17">
                  <a:moveTo>
                    <a:pt x="0" y="17"/>
                  </a:moveTo>
                  <a:lnTo>
                    <a:pt x="0" y="17"/>
                  </a:lnTo>
                  <a:cubicBezTo>
                    <a:pt x="30" y="11"/>
                    <a:pt x="47" y="12"/>
                    <a:pt x="69" y="13"/>
                  </a:cubicBezTo>
                  <a:lnTo>
                    <a:pt x="46" y="0"/>
                  </a:lnTo>
                  <a:lnTo>
                    <a:pt x="0" y="17"/>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7" name="Figura a mano libera 62"/>
            <p:cNvSpPr>
              <a:spLocks noEditPoints="1"/>
            </p:cNvSpPr>
            <p:nvPr/>
          </p:nvSpPr>
          <p:spPr bwMode="invGray">
            <a:xfrm>
              <a:off x="1562100" y="1514475"/>
              <a:ext cx="9563100" cy="64008"/>
            </a:xfrm>
            <a:custGeom>
              <a:avLst/>
              <a:gdLst>
                <a:gd name="T0" fmla="*/ 9555 w 10030"/>
                <a:gd name="T1" fmla="*/ 25 h 75"/>
                <a:gd name="T2" fmla="*/ 9488 w 10030"/>
                <a:gd name="T3" fmla="*/ 23 h 75"/>
                <a:gd name="T4" fmla="*/ 5258 w 10030"/>
                <a:gd name="T5" fmla="*/ 60 h 75"/>
                <a:gd name="T6" fmla="*/ 4572 w 10030"/>
                <a:gd name="T7" fmla="*/ 65 h 75"/>
                <a:gd name="T8" fmla="*/ 4884 w 10030"/>
                <a:gd name="T9" fmla="*/ 61 h 75"/>
                <a:gd name="T10" fmla="*/ 5092 w 10030"/>
                <a:gd name="T11" fmla="*/ 56 h 75"/>
                <a:gd name="T12" fmla="*/ 5260 w 10030"/>
                <a:gd name="T13" fmla="*/ 60 h 75"/>
                <a:gd name="T14" fmla="*/ 5560 w 10030"/>
                <a:gd name="T15" fmla="*/ 62 h 75"/>
                <a:gd name="T16" fmla="*/ 6006 w 10030"/>
                <a:gd name="T17" fmla="*/ 56 h 75"/>
                <a:gd name="T18" fmla="*/ 6308 w 10030"/>
                <a:gd name="T19" fmla="*/ 32 h 75"/>
                <a:gd name="T20" fmla="*/ 6269 w 10030"/>
                <a:gd name="T21" fmla="*/ 52 h 75"/>
                <a:gd name="T22" fmla="*/ 6665 w 10030"/>
                <a:gd name="T23" fmla="*/ 41 h 75"/>
                <a:gd name="T24" fmla="*/ 6806 w 10030"/>
                <a:gd name="T25" fmla="*/ 53 h 75"/>
                <a:gd name="T26" fmla="*/ 7204 w 10030"/>
                <a:gd name="T27" fmla="*/ 50 h 75"/>
                <a:gd name="T28" fmla="*/ 7485 w 10030"/>
                <a:gd name="T29" fmla="*/ 62 h 75"/>
                <a:gd name="T30" fmla="*/ 7667 w 10030"/>
                <a:gd name="T31" fmla="*/ 61 h 75"/>
                <a:gd name="T32" fmla="*/ 7919 w 10030"/>
                <a:gd name="T33" fmla="*/ 63 h 75"/>
                <a:gd name="T34" fmla="*/ 8179 w 10030"/>
                <a:gd name="T35" fmla="*/ 51 h 75"/>
                <a:gd name="T36" fmla="*/ 8401 w 10030"/>
                <a:gd name="T37" fmla="*/ 31 h 75"/>
                <a:gd name="T38" fmla="*/ 8692 w 10030"/>
                <a:gd name="T39" fmla="*/ 58 h 75"/>
                <a:gd name="T40" fmla="*/ 9084 w 10030"/>
                <a:gd name="T41" fmla="*/ 61 h 75"/>
                <a:gd name="T42" fmla="*/ 9498 w 10030"/>
                <a:gd name="T43" fmla="*/ 44 h 75"/>
                <a:gd name="T44" fmla="*/ 9670 w 10030"/>
                <a:gd name="T45" fmla="*/ 45 h 75"/>
                <a:gd name="T46" fmla="*/ 9877 w 10030"/>
                <a:gd name="T47" fmla="*/ 32 h 75"/>
                <a:gd name="T48" fmla="*/ 9735 w 10030"/>
                <a:gd name="T49" fmla="*/ 21 h 75"/>
                <a:gd name="T50" fmla="*/ 9636 w 10030"/>
                <a:gd name="T51" fmla="*/ 27 h 75"/>
                <a:gd name="T52" fmla="*/ 9290 w 10030"/>
                <a:gd name="T53" fmla="*/ 22 h 75"/>
                <a:gd name="T54" fmla="*/ 8498 w 10030"/>
                <a:gd name="T55" fmla="*/ 12 h 75"/>
                <a:gd name="T56" fmla="*/ 7899 w 10030"/>
                <a:gd name="T57" fmla="*/ 21 h 75"/>
                <a:gd name="T58" fmla="*/ 7774 w 10030"/>
                <a:gd name="T59" fmla="*/ 22 h 75"/>
                <a:gd name="T60" fmla="*/ 7493 w 10030"/>
                <a:gd name="T61" fmla="*/ 32 h 75"/>
                <a:gd name="T62" fmla="*/ 7190 w 10030"/>
                <a:gd name="T63" fmla="*/ 31 h 75"/>
                <a:gd name="T64" fmla="*/ 6418 w 10030"/>
                <a:gd name="T65" fmla="*/ 20 h 75"/>
                <a:gd name="T66" fmla="*/ 6248 w 10030"/>
                <a:gd name="T67" fmla="*/ 24 h 75"/>
                <a:gd name="T68" fmla="*/ 5823 w 10030"/>
                <a:gd name="T69" fmla="*/ 28 h 75"/>
                <a:gd name="T70" fmla="*/ 5422 w 10030"/>
                <a:gd name="T71" fmla="*/ 11 h 75"/>
                <a:gd name="T72" fmla="*/ 4925 w 10030"/>
                <a:gd name="T73" fmla="*/ 16 h 75"/>
                <a:gd name="T74" fmla="*/ 4310 w 10030"/>
                <a:gd name="T75" fmla="*/ 18 h 75"/>
                <a:gd name="T76" fmla="*/ 3439 w 10030"/>
                <a:gd name="T77" fmla="*/ 21 h 75"/>
                <a:gd name="T78" fmla="*/ 2740 w 10030"/>
                <a:gd name="T79" fmla="*/ 18 h 75"/>
                <a:gd name="T80" fmla="*/ 2597 w 10030"/>
                <a:gd name="T81" fmla="*/ 9 h 75"/>
                <a:gd name="T82" fmla="*/ 2367 w 10030"/>
                <a:gd name="T83" fmla="*/ 21 h 75"/>
                <a:gd name="T84" fmla="*/ 1566 w 10030"/>
                <a:gd name="T85" fmla="*/ 11 h 75"/>
                <a:gd name="T86" fmla="*/ 262 w 10030"/>
                <a:gd name="T87" fmla="*/ 7 h 75"/>
                <a:gd name="T88" fmla="*/ 104 w 10030"/>
                <a:gd name="T89" fmla="*/ 42 h 75"/>
                <a:gd name="T90" fmla="*/ 742 w 10030"/>
                <a:gd name="T91" fmla="*/ 47 h 75"/>
                <a:gd name="T92" fmla="*/ 1060 w 10030"/>
                <a:gd name="T93" fmla="*/ 47 h 75"/>
                <a:gd name="T94" fmla="*/ 1593 w 10030"/>
                <a:gd name="T95" fmla="*/ 46 h 75"/>
                <a:gd name="T96" fmla="*/ 2022 w 10030"/>
                <a:gd name="T97" fmla="*/ 45 h 75"/>
                <a:gd name="T98" fmla="*/ 2481 w 10030"/>
                <a:gd name="T99" fmla="*/ 51 h 75"/>
                <a:gd name="T100" fmla="*/ 2677 w 10030"/>
                <a:gd name="T101" fmla="*/ 45 h 75"/>
                <a:gd name="T102" fmla="*/ 2863 w 10030"/>
                <a:gd name="T103" fmla="*/ 52 h 75"/>
                <a:gd name="T104" fmla="*/ 3163 w 10030"/>
                <a:gd name="T105" fmla="*/ 62 h 75"/>
                <a:gd name="T106" fmla="*/ 3411 w 10030"/>
                <a:gd name="T107" fmla="*/ 54 h 75"/>
                <a:gd name="T108" fmla="*/ 3550 w 10030"/>
                <a:gd name="T109" fmla="*/ 60 h 75"/>
                <a:gd name="T110" fmla="*/ 3740 w 10030"/>
                <a:gd name="T111" fmla="*/ 65 h 75"/>
                <a:gd name="T112" fmla="*/ 4329 w 10030"/>
                <a:gd name="T113" fmla="*/ 68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030" h="75">
                  <a:moveTo>
                    <a:pt x="2469" y="12"/>
                  </a:moveTo>
                  <a:lnTo>
                    <a:pt x="2469" y="12"/>
                  </a:lnTo>
                  <a:lnTo>
                    <a:pt x="2482" y="13"/>
                  </a:lnTo>
                  <a:cubicBezTo>
                    <a:pt x="2453" y="15"/>
                    <a:pt x="2461" y="13"/>
                    <a:pt x="2469" y="12"/>
                  </a:cubicBezTo>
                  <a:close/>
                  <a:moveTo>
                    <a:pt x="9555" y="25"/>
                  </a:moveTo>
                  <a:lnTo>
                    <a:pt x="9555" y="25"/>
                  </a:lnTo>
                  <a:cubicBezTo>
                    <a:pt x="9562" y="24"/>
                    <a:pt x="9561" y="23"/>
                    <a:pt x="9559" y="23"/>
                  </a:cubicBezTo>
                  <a:cubicBezTo>
                    <a:pt x="9554" y="24"/>
                    <a:pt x="9539" y="24"/>
                    <a:pt x="9522" y="24"/>
                  </a:cubicBezTo>
                  <a:cubicBezTo>
                    <a:pt x="9527" y="25"/>
                    <a:pt x="9536" y="26"/>
                    <a:pt x="9555" y="25"/>
                  </a:cubicBezTo>
                  <a:close/>
                  <a:moveTo>
                    <a:pt x="9489" y="23"/>
                  </a:moveTo>
                  <a:lnTo>
                    <a:pt x="9489" y="23"/>
                  </a:lnTo>
                  <a:lnTo>
                    <a:pt x="9488" y="23"/>
                  </a:lnTo>
                  <a:cubicBezTo>
                    <a:pt x="9456" y="21"/>
                    <a:pt x="9467" y="22"/>
                    <a:pt x="9489" y="23"/>
                  </a:cubicBezTo>
                  <a:close/>
                  <a:moveTo>
                    <a:pt x="6376" y="50"/>
                  </a:moveTo>
                  <a:lnTo>
                    <a:pt x="6376" y="50"/>
                  </a:lnTo>
                  <a:cubicBezTo>
                    <a:pt x="6365" y="52"/>
                    <a:pt x="6349" y="51"/>
                    <a:pt x="6330" y="49"/>
                  </a:cubicBezTo>
                  <a:cubicBezTo>
                    <a:pt x="6344" y="49"/>
                    <a:pt x="6359" y="49"/>
                    <a:pt x="6376" y="50"/>
                  </a:cubicBezTo>
                  <a:close/>
                  <a:moveTo>
                    <a:pt x="5258" y="60"/>
                  </a:moveTo>
                  <a:lnTo>
                    <a:pt x="5258" y="60"/>
                  </a:lnTo>
                  <a:cubicBezTo>
                    <a:pt x="5244" y="61"/>
                    <a:pt x="5216" y="64"/>
                    <a:pt x="5205" y="61"/>
                  </a:cubicBezTo>
                  <a:cubicBezTo>
                    <a:pt x="5222" y="55"/>
                    <a:pt x="5234" y="58"/>
                    <a:pt x="5258" y="60"/>
                  </a:cubicBezTo>
                  <a:close/>
                  <a:moveTo>
                    <a:pt x="4523" y="61"/>
                  </a:moveTo>
                  <a:lnTo>
                    <a:pt x="4523" y="61"/>
                  </a:lnTo>
                  <a:lnTo>
                    <a:pt x="4572" y="65"/>
                  </a:lnTo>
                  <a:cubicBezTo>
                    <a:pt x="4513" y="71"/>
                    <a:pt x="4470" y="69"/>
                    <a:pt x="4516" y="75"/>
                  </a:cubicBezTo>
                  <a:cubicBezTo>
                    <a:pt x="4523" y="61"/>
                    <a:pt x="4707" y="74"/>
                    <a:pt x="4714" y="60"/>
                  </a:cubicBezTo>
                  <a:lnTo>
                    <a:pt x="4747" y="63"/>
                  </a:lnTo>
                  <a:cubicBezTo>
                    <a:pt x="4737" y="63"/>
                    <a:pt x="4736" y="64"/>
                    <a:pt x="4727" y="64"/>
                  </a:cubicBezTo>
                  <a:cubicBezTo>
                    <a:pt x="4790" y="70"/>
                    <a:pt x="4774" y="54"/>
                    <a:pt x="4855" y="56"/>
                  </a:cubicBezTo>
                  <a:cubicBezTo>
                    <a:pt x="4883" y="57"/>
                    <a:pt x="4903" y="59"/>
                    <a:pt x="4884" y="61"/>
                  </a:cubicBezTo>
                  <a:lnTo>
                    <a:pt x="4947" y="57"/>
                  </a:lnTo>
                  <a:cubicBezTo>
                    <a:pt x="4965" y="58"/>
                    <a:pt x="4961" y="60"/>
                    <a:pt x="4942" y="60"/>
                  </a:cubicBezTo>
                  <a:lnTo>
                    <a:pt x="5039" y="59"/>
                  </a:lnTo>
                  <a:lnTo>
                    <a:pt x="5038" y="59"/>
                  </a:lnTo>
                  <a:cubicBezTo>
                    <a:pt x="5052" y="57"/>
                    <a:pt x="5083" y="54"/>
                    <a:pt x="5098" y="52"/>
                  </a:cubicBezTo>
                  <a:cubicBezTo>
                    <a:pt x="5122" y="54"/>
                    <a:pt x="5086" y="54"/>
                    <a:pt x="5092" y="56"/>
                  </a:cubicBezTo>
                  <a:lnTo>
                    <a:pt x="5145" y="52"/>
                  </a:lnTo>
                  <a:cubicBezTo>
                    <a:pt x="5167" y="56"/>
                    <a:pt x="5123" y="59"/>
                    <a:pt x="5086" y="59"/>
                  </a:cubicBezTo>
                  <a:cubicBezTo>
                    <a:pt x="5136" y="73"/>
                    <a:pt x="5130" y="55"/>
                    <a:pt x="5238" y="64"/>
                  </a:cubicBezTo>
                  <a:lnTo>
                    <a:pt x="5187" y="65"/>
                  </a:lnTo>
                  <a:cubicBezTo>
                    <a:pt x="5220" y="73"/>
                    <a:pt x="5259" y="70"/>
                    <a:pt x="5316" y="75"/>
                  </a:cubicBezTo>
                  <a:cubicBezTo>
                    <a:pt x="5302" y="73"/>
                    <a:pt x="5202" y="63"/>
                    <a:pt x="5260" y="60"/>
                  </a:cubicBezTo>
                  <a:cubicBezTo>
                    <a:pt x="5276" y="61"/>
                    <a:pt x="5298" y="61"/>
                    <a:pt x="5329" y="59"/>
                  </a:cubicBezTo>
                  <a:cubicBezTo>
                    <a:pt x="5329" y="63"/>
                    <a:pt x="5359" y="62"/>
                    <a:pt x="5398" y="62"/>
                  </a:cubicBezTo>
                  <a:lnTo>
                    <a:pt x="5395" y="69"/>
                  </a:lnTo>
                  <a:cubicBezTo>
                    <a:pt x="5436" y="67"/>
                    <a:pt x="5433" y="64"/>
                    <a:pt x="5457" y="61"/>
                  </a:cubicBezTo>
                  <a:cubicBezTo>
                    <a:pt x="5503" y="61"/>
                    <a:pt x="5513" y="66"/>
                    <a:pt x="5523" y="71"/>
                  </a:cubicBezTo>
                  <a:cubicBezTo>
                    <a:pt x="5597" y="72"/>
                    <a:pt x="5473" y="63"/>
                    <a:pt x="5560" y="62"/>
                  </a:cubicBezTo>
                  <a:cubicBezTo>
                    <a:pt x="5621" y="64"/>
                    <a:pt x="5664" y="62"/>
                    <a:pt x="5737" y="58"/>
                  </a:cubicBezTo>
                  <a:cubicBezTo>
                    <a:pt x="5780" y="60"/>
                    <a:pt x="5730" y="62"/>
                    <a:pt x="5745" y="64"/>
                  </a:cubicBezTo>
                  <a:lnTo>
                    <a:pt x="5783" y="59"/>
                  </a:lnTo>
                  <a:cubicBezTo>
                    <a:pt x="5792" y="59"/>
                    <a:pt x="5789" y="60"/>
                    <a:pt x="5788" y="61"/>
                  </a:cubicBezTo>
                  <a:cubicBezTo>
                    <a:pt x="5820" y="59"/>
                    <a:pt x="5790" y="55"/>
                    <a:pt x="5841" y="53"/>
                  </a:cubicBezTo>
                  <a:cubicBezTo>
                    <a:pt x="5854" y="46"/>
                    <a:pt x="5944" y="64"/>
                    <a:pt x="6006" y="56"/>
                  </a:cubicBezTo>
                  <a:cubicBezTo>
                    <a:pt x="6021" y="58"/>
                    <a:pt x="5999" y="60"/>
                    <a:pt x="6003" y="62"/>
                  </a:cubicBezTo>
                  <a:cubicBezTo>
                    <a:pt x="6089" y="57"/>
                    <a:pt x="6077" y="59"/>
                    <a:pt x="6147" y="52"/>
                  </a:cubicBezTo>
                  <a:lnTo>
                    <a:pt x="6206" y="56"/>
                  </a:lnTo>
                  <a:cubicBezTo>
                    <a:pt x="6163" y="51"/>
                    <a:pt x="6219" y="45"/>
                    <a:pt x="6268" y="41"/>
                  </a:cubicBezTo>
                  <a:cubicBezTo>
                    <a:pt x="6252" y="38"/>
                    <a:pt x="6239" y="36"/>
                    <a:pt x="6230" y="35"/>
                  </a:cubicBezTo>
                  <a:lnTo>
                    <a:pt x="6308" y="32"/>
                  </a:lnTo>
                  <a:cubicBezTo>
                    <a:pt x="6318" y="33"/>
                    <a:pt x="6310" y="35"/>
                    <a:pt x="6297" y="38"/>
                  </a:cubicBezTo>
                  <a:lnTo>
                    <a:pt x="6311" y="36"/>
                  </a:lnTo>
                  <a:cubicBezTo>
                    <a:pt x="6339" y="39"/>
                    <a:pt x="6325" y="43"/>
                    <a:pt x="6305" y="46"/>
                  </a:cubicBezTo>
                  <a:lnTo>
                    <a:pt x="6277" y="42"/>
                  </a:lnTo>
                  <a:cubicBezTo>
                    <a:pt x="6257" y="46"/>
                    <a:pt x="6239" y="50"/>
                    <a:pt x="6243" y="54"/>
                  </a:cubicBezTo>
                  <a:cubicBezTo>
                    <a:pt x="6248" y="53"/>
                    <a:pt x="6258" y="53"/>
                    <a:pt x="6269" y="52"/>
                  </a:cubicBezTo>
                  <a:cubicBezTo>
                    <a:pt x="6264" y="53"/>
                    <a:pt x="6261" y="54"/>
                    <a:pt x="6263" y="55"/>
                  </a:cubicBezTo>
                  <a:cubicBezTo>
                    <a:pt x="6266" y="56"/>
                    <a:pt x="6274" y="54"/>
                    <a:pt x="6287" y="53"/>
                  </a:cubicBezTo>
                  <a:lnTo>
                    <a:pt x="6304" y="60"/>
                  </a:lnTo>
                  <a:lnTo>
                    <a:pt x="6309" y="57"/>
                  </a:lnTo>
                  <a:lnTo>
                    <a:pt x="6411" y="62"/>
                  </a:lnTo>
                  <a:cubicBezTo>
                    <a:pt x="6485" y="55"/>
                    <a:pt x="6548" y="44"/>
                    <a:pt x="6665" y="41"/>
                  </a:cubicBezTo>
                  <a:cubicBezTo>
                    <a:pt x="6636" y="47"/>
                    <a:pt x="6659" y="50"/>
                    <a:pt x="6657" y="56"/>
                  </a:cubicBezTo>
                  <a:cubicBezTo>
                    <a:pt x="6625" y="50"/>
                    <a:pt x="6567" y="59"/>
                    <a:pt x="6507" y="58"/>
                  </a:cubicBezTo>
                  <a:cubicBezTo>
                    <a:pt x="6538" y="58"/>
                    <a:pt x="6531" y="61"/>
                    <a:pt x="6523" y="62"/>
                  </a:cubicBezTo>
                  <a:lnTo>
                    <a:pt x="6631" y="57"/>
                  </a:lnTo>
                  <a:cubicBezTo>
                    <a:pt x="6628" y="62"/>
                    <a:pt x="6654" y="60"/>
                    <a:pt x="6682" y="63"/>
                  </a:cubicBezTo>
                  <a:cubicBezTo>
                    <a:pt x="6660" y="52"/>
                    <a:pt x="6762" y="56"/>
                    <a:pt x="6806" y="53"/>
                  </a:cubicBezTo>
                  <a:cubicBezTo>
                    <a:pt x="6808" y="56"/>
                    <a:pt x="6798" y="60"/>
                    <a:pt x="6744" y="59"/>
                  </a:cubicBezTo>
                  <a:cubicBezTo>
                    <a:pt x="6803" y="67"/>
                    <a:pt x="6821" y="47"/>
                    <a:pt x="6879" y="54"/>
                  </a:cubicBezTo>
                  <a:cubicBezTo>
                    <a:pt x="6865" y="54"/>
                    <a:pt x="6858" y="53"/>
                    <a:pt x="6853" y="55"/>
                  </a:cubicBezTo>
                  <a:cubicBezTo>
                    <a:pt x="6884" y="52"/>
                    <a:pt x="6958" y="55"/>
                    <a:pt x="6941" y="58"/>
                  </a:cubicBezTo>
                  <a:lnTo>
                    <a:pt x="6928" y="58"/>
                  </a:lnTo>
                  <a:cubicBezTo>
                    <a:pt x="7014" y="59"/>
                    <a:pt x="7191" y="58"/>
                    <a:pt x="7204" y="50"/>
                  </a:cubicBezTo>
                  <a:cubicBezTo>
                    <a:pt x="7205" y="51"/>
                    <a:pt x="7193" y="60"/>
                    <a:pt x="7188" y="62"/>
                  </a:cubicBezTo>
                  <a:lnTo>
                    <a:pt x="7342" y="33"/>
                  </a:lnTo>
                  <a:cubicBezTo>
                    <a:pt x="7329" y="41"/>
                    <a:pt x="7381" y="58"/>
                    <a:pt x="7309" y="62"/>
                  </a:cubicBezTo>
                  <a:cubicBezTo>
                    <a:pt x="7330" y="63"/>
                    <a:pt x="7355" y="65"/>
                    <a:pt x="7399" y="62"/>
                  </a:cubicBezTo>
                  <a:cubicBezTo>
                    <a:pt x="7385" y="61"/>
                    <a:pt x="7364" y="51"/>
                    <a:pt x="7383" y="51"/>
                  </a:cubicBezTo>
                  <a:cubicBezTo>
                    <a:pt x="7436" y="59"/>
                    <a:pt x="7420" y="55"/>
                    <a:pt x="7485" y="62"/>
                  </a:cubicBezTo>
                  <a:cubicBezTo>
                    <a:pt x="7463" y="61"/>
                    <a:pt x="7487" y="49"/>
                    <a:pt x="7520" y="50"/>
                  </a:cubicBezTo>
                  <a:cubicBezTo>
                    <a:pt x="7515" y="51"/>
                    <a:pt x="7523" y="61"/>
                    <a:pt x="7511" y="62"/>
                  </a:cubicBezTo>
                  <a:lnTo>
                    <a:pt x="7594" y="51"/>
                  </a:lnTo>
                  <a:cubicBezTo>
                    <a:pt x="7573" y="53"/>
                    <a:pt x="7590" y="61"/>
                    <a:pt x="7609" y="64"/>
                  </a:cubicBezTo>
                  <a:cubicBezTo>
                    <a:pt x="7600" y="62"/>
                    <a:pt x="7680" y="64"/>
                    <a:pt x="7702" y="63"/>
                  </a:cubicBezTo>
                  <a:lnTo>
                    <a:pt x="7667" y="61"/>
                  </a:lnTo>
                  <a:cubicBezTo>
                    <a:pt x="7761" y="63"/>
                    <a:pt x="7760" y="45"/>
                    <a:pt x="7853" y="46"/>
                  </a:cubicBezTo>
                  <a:cubicBezTo>
                    <a:pt x="7842" y="48"/>
                    <a:pt x="7825" y="60"/>
                    <a:pt x="7872" y="62"/>
                  </a:cubicBezTo>
                  <a:cubicBezTo>
                    <a:pt x="7894" y="56"/>
                    <a:pt x="7968" y="34"/>
                    <a:pt x="8050" y="29"/>
                  </a:cubicBezTo>
                  <a:lnTo>
                    <a:pt x="8066" y="33"/>
                  </a:lnTo>
                  <a:lnTo>
                    <a:pt x="8129" y="29"/>
                  </a:lnTo>
                  <a:cubicBezTo>
                    <a:pt x="8090" y="38"/>
                    <a:pt x="7980" y="56"/>
                    <a:pt x="7919" y="63"/>
                  </a:cubicBezTo>
                  <a:cubicBezTo>
                    <a:pt x="7954" y="66"/>
                    <a:pt x="7929" y="67"/>
                    <a:pt x="7982" y="67"/>
                  </a:cubicBezTo>
                  <a:cubicBezTo>
                    <a:pt x="8000" y="70"/>
                    <a:pt x="7953" y="72"/>
                    <a:pt x="7938" y="72"/>
                  </a:cubicBezTo>
                  <a:lnTo>
                    <a:pt x="8060" y="74"/>
                  </a:lnTo>
                  <a:cubicBezTo>
                    <a:pt x="8054" y="67"/>
                    <a:pt x="8153" y="67"/>
                    <a:pt x="8149" y="62"/>
                  </a:cubicBezTo>
                  <a:lnTo>
                    <a:pt x="8016" y="68"/>
                  </a:lnTo>
                  <a:cubicBezTo>
                    <a:pt x="8011" y="62"/>
                    <a:pt x="8093" y="49"/>
                    <a:pt x="8179" y="51"/>
                  </a:cubicBezTo>
                  <a:cubicBezTo>
                    <a:pt x="8201" y="53"/>
                    <a:pt x="8163" y="63"/>
                    <a:pt x="8165" y="65"/>
                  </a:cubicBezTo>
                  <a:cubicBezTo>
                    <a:pt x="8176" y="63"/>
                    <a:pt x="8247" y="61"/>
                    <a:pt x="8255" y="62"/>
                  </a:cubicBezTo>
                  <a:lnTo>
                    <a:pt x="8218" y="66"/>
                  </a:lnTo>
                  <a:cubicBezTo>
                    <a:pt x="8266" y="69"/>
                    <a:pt x="8297" y="57"/>
                    <a:pt x="8355" y="64"/>
                  </a:cubicBezTo>
                  <a:cubicBezTo>
                    <a:pt x="8375" y="64"/>
                    <a:pt x="8414" y="73"/>
                    <a:pt x="8418" y="69"/>
                  </a:cubicBezTo>
                  <a:cubicBezTo>
                    <a:pt x="8385" y="61"/>
                    <a:pt x="8379" y="37"/>
                    <a:pt x="8401" y="31"/>
                  </a:cubicBezTo>
                  <a:cubicBezTo>
                    <a:pt x="8408" y="31"/>
                    <a:pt x="8505" y="38"/>
                    <a:pt x="8528" y="42"/>
                  </a:cubicBezTo>
                  <a:cubicBezTo>
                    <a:pt x="8561" y="48"/>
                    <a:pt x="8479" y="57"/>
                    <a:pt x="8507" y="62"/>
                  </a:cubicBezTo>
                  <a:cubicBezTo>
                    <a:pt x="8508" y="60"/>
                    <a:pt x="8526" y="58"/>
                    <a:pt x="8534" y="57"/>
                  </a:cubicBezTo>
                  <a:cubicBezTo>
                    <a:pt x="8555" y="59"/>
                    <a:pt x="8525" y="63"/>
                    <a:pt x="8571" y="62"/>
                  </a:cubicBezTo>
                  <a:cubicBezTo>
                    <a:pt x="8578" y="55"/>
                    <a:pt x="8664" y="63"/>
                    <a:pt x="8592" y="56"/>
                  </a:cubicBezTo>
                  <a:cubicBezTo>
                    <a:pt x="8637" y="55"/>
                    <a:pt x="8640" y="58"/>
                    <a:pt x="8692" y="58"/>
                  </a:cubicBezTo>
                  <a:cubicBezTo>
                    <a:pt x="8675" y="53"/>
                    <a:pt x="8739" y="43"/>
                    <a:pt x="8784" y="41"/>
                  </a:cubicBezTo>
                  <a:cubicBezTo>
                    <a:pt x="8781" y="42"/>
                    <a:pt x="8791" y="45"/>
                    <a:pt x="8796" y="46"/>
                  </a:cubicBezTo>
                  <a:cubicBezTo>
                    <a:pt x="8888" y="47"/>
                    <a:pt x="8937" y="50"/>
                    <a:pt x="9022" y="50"/>
                  </a:cubicBezTo>
                  <a:cubicBezTo>
                    <a:pt x="9030" y="52"/>
                    <a:pt x="9071" y="54"/>
                    <a:pt x="9054" y="57"/>
                  </a:cubicBezTo>
                  <a:cubicBezTo>
                    <a:pt x="9066" y="56"/>
                    <a:pt x="9077" y="53"/>
                    <a:pt x="9103" y="53"/>
                  </a:cubicBezTo>
                  <a:cubicBezTo>
                    <a:pt x="9154" y="59"/>
                    <a:pt x="9045" y="54"/>
                    <a:pt x="9084" y="61"/>
                  </a:cubicBezTo>
                  <a:cubicBezTo>
                    <a:pt x="9087" y="57"/>
                    <a:pt x="9152" y="56"/>
                    <a:pt x="9189" y="53"/>
                  </a:cubicBezTo>
                  <a:cubicBezTo>
                    <a:pt x="9178" y="47"/>
                    <a:pt x="9103" y="52"/>
                    <a:pt x="9065" y="54"/>
                  </a:cubicBezTo>
                  <a:cubicBezTo>
                    <a:pt x="9065" y="46"/>
                    <a:pt x="9130" y="37"/>
                    <a:pt x="9219" y="33"/>
                  </a:cubicBezTo>
                  <a:cubicBezTo>
                    <a:pt x="9290" y="31"/>
                    <a:pt x="9250" y="39"/>
                    <a:pt x="9262" y="38"/>
                  </a:cubicBezTo>
                  <a:cubicBezTo>
                    <a:pt x="9395" y="39"/>
                    <a:pt x="9376" y="23"/>
                    <a:pt x="9486" y="29"/>
                  </a:cubicBezTo>
                  <a:cubicBezTo>
                    <a:pt x="9530" y="35"/>
                    <a:pt x="9488" y="40"/>
                    <a:pt x="9498" y="44"/>
                  </a:cubicBezTo>
                  <a:cubicBezTo>
                    <a:pt x="9440" y="46"/>
                    <a:pt x="9409" y="40"/>
                    <a:pt x="9370" y="40"/>
                  </a:cubicBezTo>
                  <a:lnTo>
                    <a:pt x="9418" y="43"/>
                  </a:lnTo>
                  <a:cubicBezTo>
                    <a:pt x="9400" y="45"/>
                    <a:pt x="9361" y="46"/>
                    <a:pt x="9340" y="45"/>
                  </a:cubicBezTo>
                  <a:cubicBezTo>
                    <a:pt x="9377" y="50"/>
                    <a:pt x="9565" y="46"/>
                    <a:pt x="9668" y="51"/>
                  </a:cubicBezTo>
                  <a:cubicBezTo>
                    <a:pt x="9686" y="49"/>
                    <a:pt x="9718" y="47"/>
                    <a:pt x="9703" y="45"/>
                  </a:cubicBezTo>
                  <a:lnTo>
                    <a:pt x="9670" y="45"/>
                  </a:lnTo>
                  <a:cubicBezTo>
                    <a:pt x="9640" y="41"/>
                    <a:pt x="9732" y="39"/>
                    <a:pt x="9690" y="37"/>
                  </a:cubicBezTo>
                  <a:cubicBezTo>
                    <a:pt x="9734" y="34"/>
                    <a:pt x="9783" y="29"/>
                    <a:pt x="9844" y="32"/>
                  </a:cubicBezTo>
                  <a:lnTo>
                    <a:pt x="9856" y="38"/>
                  </a:lnTo>
                  <a:cubicBezTo>
                    <a:pt x="9854" y="36"/>
                    <a:pt x="9816" y="35"/>
                    <a:pt x="9798" y="36"/>
                  </a:cubicBezTo>
                  <a:cubicBezTo>
                    <a:pt x="9824" y="34"/>
                    <a:pt x="9892" y="45"/>
                    <a:pt x="9920" y="37"/>
                  </a:cubicBezTo>
                  <a:lnTo>
                    <a:pt x="9877" y="32"/>
                  </a:lnTo>
                  <a:cubicBezTo>
                    <a:pt x="9921" y="29"/>
                    <a:pt x="9975" y="23"/>
                    <a:pt x="10030" y="25"/>
                  </a:cubicBezTo>
                  <a:cubicBezTo>
                    <a:pt x="10005" y="19"/>
                    <a:pt x="10017" y="26"/>
                    <a:pt x="9979" y="18"/>
                  </a:cubicBezTo>
                  <a:cubicBezTo>
                    <a:pt x="10012" y="27"/>
                    <a:pt x="9839" y="18"/>
                    <a:pt x="9893" y="27"/>
                  </a:cubicBezTo>
                  <a:cubicBezTo>
                    <a:pt x="9854" y="19"/>
                    <a:pt x="9825" y="24"/>
                    <a:pt x="9773" y="16"/>
                  </a:cubicBezTo>
                  <a:cubicBezTo>
                    <a:pt x="9774" y="18"/>
                    <a:pt x="9791" y="20"/>
                    <a:pt x="9746" y="19"/>
                  </a:cubicBezTo>
                  <a:cubicBezTo>
                    <a:pt x="9743" y="20"/>
                    <a:pt x="9739" y="21"/>
                    <a:pt x="9735" y="21"/>
                  </a:cubicBezTo>
                  <a:lnTo>
                    <a:pt x="9732" y="21"/>
                  </a:lnTo>
                  <a:lnTo>
                    <a:pt x="9735" y="21"/>
                  </a:lnTo>
                  <a:cubicBezTo>
                    <a:pt x="9733" y="21"/>
                    <a:pt x="9733" y="22"/>
                    <a:pt x="9736" y="21"/>
                  </a:cubicBezTo>
                  <a:cubicBezTo>
                    <a:pt x="9747" y="22"/>
                    <a:pt x="9756" y="23"/>
                    <a:pt x="9759" y="24"/>
                  </a:cubicBezTo>
                  <a:cubicBezTo>
                    <a:pt x="9736" y="29"/>
                    <a:pt x="9664" y="29"/>
                    <a:pt x="9639" y="31"/>
                  </a:cubicBezTo>
                  <a:cubicBezTo>
                    <a:pt x="9612" y="30"/>
                    <a:pt x="9651" y="29"/>
                    <a:pt x="9636" y="27"/>
                  </a:cubicBezTo>
                  <a:lnTo>
                    <a:pt x="9599" y="30"/>
                  </a:lnTo>
                  <a:cubicBezTo>
                    <a:pt x="9596" y="26"/>
                    <a:pt x="9527" y="23"/>
                    <a:pt x="9591" y="20"/>
                  </a:cubicBezTo>
                  <a:lnTo>
                    <a:pt x="9534" y="20"/>
                  </a:lnTo>
                  <a:cubicBezTo>
                    <a:pt x="9500" y="17"/>
                    <a:pt x="9453" y="16"/>
                    <a:pt x="9425" y="18"/>
                  </a:cubicBezTo>
                  <a:cubicBezTo>
                    <a:pt x="9398" y="17"/>
                    <a:pt x="9356" y="23"/>
                    <a:pt x="9380" y="19"/>
                  </a:cubicBezTo>
                  <a:lnTo>
                    <a:pt x="9290" y="22"/>
                  </a:lnTo>
                  <a:lnTo>
                    <a:pt x="9289" y="21"/>
                  </a:lnTo>
                  <a:cubicBezTo>
                    <a:pt x="9200" y="20"/>
                    <a:pt x="9106" y="28"/>
                    <a:pt x="9004" y="20"/>
                  </a:cubicBezTo>
                  <a:cubicBezTo>
                    <a:pt x="8974" y="21"/>
                    <a:pt x="8944" y="22"/>
                    <a:pt x="8893" y="21"/>
                  </a:cubicBezTo>
                  <a:lnTo>
                    <a:pt x="8884" y="17"/>
                  </a:lnTo>
                  <a:cubicBezTo>
                    <a:pt x="8845" y="18"/>
                    <a:pt x="8768" y="13"/>
                    <a:pt x="8752" y="17"/>
                  </a:cubicBezTo>
                  <a:cubicBezTo>
                    <a:pt x="8710" y="7"/>
                    <a:pt x="8565" y="14"/>
                    <a:pt x="8498" y="12"/>
                  </a:cubicBezTo>
                  <a:lnTo>
                    <a:pt x="8495" y="17"/>
                  </a:lnTo>
                  <a:cubicBezTo>
                    <a:pt x="8449" y="17"/>
                    <a:pt x="8404" y="18"/>
                    <a:pt x="8346" y="20"/>
                  </a:cubicBezTo>
                  <a:lnTo>
                    <a:pt x="8350" y="25"/>
                  </a:lnTo>
                  <a:cubicBezTo>
                    <a:pt x="8300" y="28"/>
                    <a:pt x="8222" y="21"/>
                    <a:pt x="8143" y="22"/>
                  </a:cubicBezTo>
                  <a:cubicBezTo>
                    <a:pt x="8149" y="20"/>
                    <a:pt x="8169" y="20"/>
                    <a:pt x="8183" y="21"/>
                  </a:cubicBezTo>
                  <a:cubicBezTo>
                    <a:pt x="8089" y="11"/>
                    <a:pt x="7984" y="28"/>
                    <a:pt x="7899" y="21"/>
                  </a:cubicBezTo>
                  <a:cubicBezTo>
                    <a:pt x="7878" y="22"/>
                    <a:pt x="7862" y="22"/>
                    <a:pt x="7848" y="21"/>
                  </a:cubicBezTo>
                  <a:cubicBezTo>
                    <a:pt x="7850" y="21"/>
                    <a:pt x="7851" y="21"/>
                    <a:pt x="7853" y="20"/>
                  </a:cubicBezTo>
                  <a:lnTo>
                    <a:pt x="7844" y="20"/>
                  </a:lnTo>
                  <a:lnTo>
                    <a:pt x="7815" y="18"/>
                  </a:lnTo>
                  <a:cubicBezTo>
                    <a:pt x="7823" y="19"/>
                    <a:pt x="7832" y="20"/>
                    <a:pt x="7839" y="20"/>
                  </a:cubicBezTo>
                  <a:cubicBezTo>
                    <a:pt x="7823" y="20"/>
                    <a:pt x="7798" y="21"/>
                    <a:pt x="7774" y="22"/>
                  </a:cubicBezTo>
                  <a:lnTo>
                    <a:pt x="7763" y="17"/>
                  </a:lnTo>
                  <a:lnTo>
                    <a:pt x="7758" y="17"/>
                  </a:lnTo>
                  <a:cubicBezTo>
                    <a:pt x="7734" y="15"/>
                    <a:pt x="7739" y="19"/>
                    <a:pt x="7751" y="23"/>
                  </a:cubicBezTo>
                  <a:cubicBezTo>
                    <a:pt x="7739" y="24"/>
                    <a:pt x="7728" y="25"/>
                    <a:pt x="7719" y="26"/>
                  </a:cubicBezTo>
                  <a:cubicBezTo>
                    <a:pt x="7700" y="18"/>
                    <a:pt x="7655" y="29"/>
                    <a:pt x="7629" y="20"/>
                  </a:cubicBezTo>
                  <a:cubicBezTo>
                    <a:pt x="7612" y="24"/>
                    <a:pt x="7506" y="23"/>
                    <a:pt x="7493" y="32"/>
                  </a:cubicBezTo>
                  <a:cubicBezTo>
                    <a:pt x="7492" y="30"/>
                    <a:pt x="7485" y="30"/>
                    <a:pt x="7498" y="30"/>
                  </a:cubicBezTo>
                  <a:cubicBezTo>
                    <a:pt x="7471" y="29"/>
                    <a:pt x="7444" y="28"/>
                    <a:pt x="7420" y="30"/>
                  </a:cubicBezTo>
                  <a:lnTo>
                    <a:pt x="7408" y="24"/>
                  </a:lnTo>
                  <a:lnTo>
                    <a:pt x="7349" y="32"/>
                  </a:lnTo>
                  <a:cubicBezTo>
                    <a:pt x="7313" y="28"/>
                    <a:pt x="7298" y="26"/>
                    <a:pt x="7334" y="21"/>
                  </a:cubicBezTo>
                  <a:cubicBezTo>
                    <a:pt x="7247" y="28"/>
                    <a:pt x="7263" y="24"/>
                    <a:pt x="7190" y="31"/>
                  </a:cubicBezTo>
                  <a:lnTo>
                    <a:pt x="7194" y="27"/>
                  </a:lnTo>
                  <a:cubicBezTo>
                    <a:pt x="7167" y="27"/>
                    <a:pt x="7125" y="32"/>
                    <a:pt x="7109" y="29"/>
                  </a:cubicBezTo>
                  <a:cubicBezTo>
                    <a:pt x="7051" y="21"/>
                    <a:pt x="6819" y="27"/>
                    <a:pt x="6668" y="20"/>
                  </a:cubicBezTo>
                  <a:cubicBezTo>
                    <a:pt x="6697" y="32"/>
                    <a:pt x="6598" y="14"/>
                    <a:pt x="6592" y="24"/>
                  </a:cubicBezTo>
                  <a:cubicBezTo>
                    <a:pt x="6583" y="21"/>
                    <a:pt x="6562" y="19"/>
                    <a:pt x="6586" y="17"/>
                  </a:cubicBezTo>
                  <a:cubicBezTo>
                    <a:pt x="6509" y="19"/>
                    <a:pt x="6471" y="12"/>
                    <a:pt x="6418" y="20"/>
                  </a:cubicBezTo>
                  <a:cubicBezTo>
                    <a:pt x="6409" y="17"/>
                    <a:pt x="6434" y="16"/>
                    <a:pt x="6426" y="14"/>
                  </a:cubicBezTo>
                  <a:cubicBezTo>
                    <a:pt x="6420" y="14"/>
                    <a:pt x="6402" y="16"/>
                    <a:pt x="6394" y="15"/>
                  </a:cubicBezTo>
                  <a:cubicBezTo>
                    <a:pt x="6386" y="13"/>
                    <a:pt x="6405" y="12"/>
                    <a:pt x="6417" y="11"/>
                  </a:cubicBezTo>
                  <a:cubicBezTo>
                    <a:pt x="6339" y="11"/>
                    <a:pt x="6331" y="20"/>
                    <a:pt x="6325" y="28"/>
                  </a:cubicBezTo>
                  <a:cubicBezTo>
                    <a:pt x="6285" y="24"/>
                    <a:pt x="6265" y="25"/>
                    <a:pt x="6236" y="30"/>
                  </a:cubicBezTo>
                  <a:cubicBezTo>
                    <a:pt x="6223" y="27"/>
                    <a:pt x="6199" y="24"/>
                    <a:pt x="6248" y="24"/>
                  </a:cubicBezTo>
                  <a:cubicBezTo>
                    <a:pt x="6221" y="23"/>
                    <a:pt x="6080" y="19"/>
                    <a:pt x="6078" y="26"/>
                  </a:cubicBezTo>
                  <a:cubicBezTo>
                    <a:pt x="6069" y="24"/>
                    <a:pt x="6039" y="25"/>
                    <a:pt x="6032" y="26"/>
                  </a:cubicBezTo>
                  <a:cubicBezTo>
                    <a:pt x="5970" y="25"/>
                    <a:pt x="5965" y="25"/>
                    <a:pt x="5904" y="25"/>
                  </a:cubicBezTo>
                  <a:lnTo>
                    <a:pt x="5921" y="26"/>
                  </a:lnTo>
                  <a:cubicBezTo>
                    <a:pt x="5897" y="34"/>
                    <a:pt x="5871" y="28"/>
                    <a:pt x="5822" y="29"/>
                  </a:cubicBezTo>
                  <a:lnTo>
                    <a:pt x="5823" y="28"/>
                  </a:lnTo>
                  <a:cubicBezTo>
                    <a:pt x="5711" y="22"/>
                    <a:pt x="5775" y="31"/>
                    <a:pt x="5665" y="24"/>
                  </a:cubicBezTo>
                  <a:lnTo>
                    <a:pt x="5671" y="29"/>
                  </a:lnTo>
                  <a:cubicBezTo>
                    <a:pt x="5660" y="39"/>
                    <a:pt x="5573" y="22"/>
                    <a:pt x="5509" y="26"/>
                  </a:cubicBezTo>
                  <a:lnTo>
                    <a:pt x="5532" y="29"/>
                  </a:lnTo>
                  <a:cubicBezTo>
                    <a:pt x="5497" y="33"/>
                    <a:pt x="5434" y="15"/>
                    <a:pt x="5399" y="13"/>
                  </a:cubicBezTo>
                  <a:cubicBezTo>
                    <a:pt x="5391" y="12"/>
                    <a:pt x="5411" y="12"/>
                    <a:pt x="5422" y="11"/>
                  </a:cubicBezTo>
                  <a:cubicBezTo>
                    <a:pt x="5330" y="6"/>
                    <a:pt x="5410" y="17"/>
                    <a:pt x="5341" y="19"/>
                  </a:cubicBezTo>
                  <a:cubicBezTo>
                    <a:pt x="5328" y="15"/>
                    <a:pt x="5357" y="10"/>
                    <a:pt x="5311" y="9"/>
                  </a:cubicBezTo>
                  <a:cubicBezTo>
                    <a:pt x="5288" y="7"/>
                    <a:pt x="5177" y="20"/>
                    <a:pt x="5114" y="13"/>
                  </a:cubicBezTo>
                  <a:cubicBezTo>
                    <a:pt x="5128" y="16"/>
                    <a:pt x="5142" y="19"/>
                    <a:pt x="5110" y="21"/>
                  </a:cubicBezTo>
                  <a:cubicBezTo>
                    <a:pt x="5061" y="21"/>
                    <a:pt x="4978" y="10"/>
                    <a:pt x="4934" y="19"/>
                  </a:cubicBezTo>
                  <a:cubicBezTo>
                    <a:pt x="4928" y="18"/>
                    <a:pt x="4925" y="17"/>
                    <a:pt x="4925" y="16"/>
                  </a:cubicBezTo>
                  <a:cubicBezTo>
                    <a:pt x="4888" y="19"/>
                    <a:pt x="4804" y="20"/>
                    <a:pt x="4781" y="24"/>
                  </a:cubicBezTo>
                  <a:cubicBezTo>
                    <a:pt x="4747" y="8"/>
                    <a:pt x="4549" y="32"/>
                    <a:pt x="4550" y="16"/>
                  </a:cubicBezTo>
                  <a:lnTo>
                    <a:pt x="4435" y="17"/>
                  </a:lnTo>
                  <a:lnTo>
                    <a:pt x="4438" y="15"/>
                  </a:lnTo>
                  <a:cubicBezTo>
                    <a:pt x="4365" y="14"/>
                    <a:pt x="4339" y="18"/>
                    <a:pt x="4313" y="22"/>
                  </a:cubicBezTo>
                  <a:cubicBezTo>
                    <a:pt x="4296" y="20"/>
                    <a:pt x="4309" y="19"/>
                    <a:pt x="4310" y="18"/>
                  </a:cubicBezTo>
                  <a:cubicBezTo>
                    <a:pt x="4203" y="15"/>
                    <a:pt x="4192" y="15"/>
                    <a:pt x="4102" y="23"/>
                  </a:cubicBezTo>
                  <a:lnTo>
                    <a:pt x="4093" y="18"/>
                  </a:lnTo>
                  <a:cubicBezTo>
                    <a:pt x="4068" y="21"/>
                    <a:pt x="3938" y="10"/>
                    <a:pt x="3833" y="15"/>
                  </a:cubicBezTo>
                  <a:cubicBezTo>
                    <a:pt x="3834" y="15"/>
                    <a:pt x="3836" y="14"/>
                    <a:pt x="3844" y="13"/>
                  </a:cubicBezTo>
                  <a:cubicBezTo>
                    <a:pt x="3726" y="19"/>
                    <a:pt x="3561" y="0"/>
                    <a:pt x="3518" y="17"/>
                  </a:cubicBezTo>
                  <a:lnTo>
                    <a:pt x="3439" y="21"/>
                  </a:lnTo>
                  <a:cubicBezTo>
                    <a:pt x="3540" y="23"/>
                    <a:pt x="3424" y="29"/>
                    <a:pt x="3466" y="32"/>
                  </a:cubicBezTo>
                  <a:cubicBezTo>
                    <a:pt x="3426" y="33"/>
                    <a:pt x="3363" y="27"/>
                    <a:pt x="3412" y="26"/>
                  </a:cubicBezTo>
                  <a:lnTo>
                    <a:pt x="3420" y="27"/>
                  </a:lnTo>
                  <a:cubicBezTo>
                    <a:pt x="3438" y="17"/>
                    <a:pt x="3294" y="23"/>
                    <a:pt x="3297" y="16"/>
                  </a:cubicBezTo>
                  <a:cubicBezTo>
                    <a:pt x="3098" y="17"/>
                    <a:pt x="2904" y="11"/>
                    <a:pt x="2718" y="10"/>
                  </a:cubicBezTo>
                  <a:lnTo>
                    <a:pt x="2740" y="18"/>
                  </a:lnTo>
                  <a:lnTo>
                    <a:pt x="2675" y="17"/>
                  </a:lnTo>
                  <a:cubicBezTo>
                    <a:pt x="2658" y="15"/>
                    <a:pt x="2652" y="11"/>
                    <a:pt x="2698" y="12"/>
                  </a:cubicBezTo>
                  <a:cubicBezTo>
                    <a:pt x="2674" y="8"/>
                    <a:pt x="2620" y="15"/>
                    <a:pt x="2619" y="17"/>
                  </a:cubicBezTo>
                  <a:cubicBezTo>
                    <a:pt x="2528" y="14"/>
                    <a:pt x="2655" y="9"/>
                    <a:pt x="2627" y="9"/>
                  </a:cubicBezTo>
                  <a:lnTo>
                    <a:pt x="2589" y="9"/>
                  </a:lnTo>
                  <a:lnTo>
                    <a:pt x="2597" y="9"/>
                  </a:lnTo>
                  <a:cubicBezTo>
                    <a:pt x="2567" y="12"/>
                    <a:pt x="2564" y="15"/>
                    <a:pt x="2508" y="15"/>
                  </a:cubicBezTo>
                  <a:cubicBezTo>
                    <a:pt x="2473" y="13"/>
                    <a:pt x="2490" y="10"/>
                    <a:pt x="2476" y="10"/>
                  </a:cubicBezTo>
                  <a:cubicBezTo>
                    <a:pt x="2477" y="10"/>
                    <a:pt x="2472" y="9"/>
                    <a:pt x="2455" y="10"/>
                  </a:cubicBezTo>
                  <a:lnTo>
                    <a:pt x="2373" y="9"/>
                  </a:lnTo>
                  <a:lnTo>
                    <a:pt x="2406" y="15"/>
                  </a:lnTo>
                  <a:cubicBezTo>
                    <a:pt x="2370" y="18"/>
                    <a:pt x="2329" y="15"/>
                    <a:pt x="2367" y="21"/>
                  </a:cubicBezTo>
                  <a:cubicBezTo>
                    <a:pt x="2311" y="11"/>
                    <a:pt x="2062" y="17"/>
                    <a:pt x="2028" y="14"/>
                  </a:cubicBezTo>
                  <a:cubicBezTo>
                    <a:pt x="1977" y="18"/>
                    <a:pt x="1927" y="18"/>
                    <a:pt x="1864" y="17"/>
                  </a:cubicBezTo>
                  <a:cubicBezTo>
                    <a:pt x="1880" y="19"/>
                    <a:pt x="1889" y="25"/>
                    <a:pt x="1836" y="24"/>
                  </a:cubicBezTo>
                  <a:cubicBezTo>
                    <a:pt x="1855" y="11"/>
                    <a:pt x="1737" y="18"/>
                    <a:pt x="1694" y="9"/>
                  </a:cubicBezTo>
                  <a:cubicBezTo>
                    <a:pt x="1733" y="15"/>
                    <a:pt x="1542" y="10"/>
                    <a:pt x="1603" y="19"/>
                  </a:cubicBezTo>
                  <a:cubicBezTo>
                    <a:pt x="1558" y="18"/>
                    <a:pt x="1600" y="14"/>
                    <a:pt x="1566" y="11"/>
                  </a:cubicBezTo>
                  <a:cubicBezTo>
                    <a:pt x="1460" y="16"/>
                    <a:pt x="1331" y="8"/>
                    <a:pt x="1200" y="9"/>
                  </a:cubicBezTo>
                  <a:cubicBezTo>
                    <a:pt x="1198" y="11"/>
                    <a:pt x="1220" y="13"/>
                    <a:pt x="1192" y="16"/>
                  </a:cubicBezTo>
                  <a:lnTo>
                    <a:pt x="1122" y="8"/>
                  </a:lnTo>
                  <a:cubicBezTo>
                    <a:pt x="1096" y="9"/>
                    <a:pt x="1098" y="17"/>
                    <a:pt x="1051" y="11"/>
                  </a:cubicBezTo>
                  <a:cubicBezTo>
                    <a:pt x="1058" y="13"/>
                    <a:pt x="1068" y="15"/>
                    <a:pt x="1050" y="15"/>
                  </a:cubicBezTo>
                  <a:cubicBezTo>
                    <a:pt x="792" y="7"/>
                    <a:pt x="524" y="22"/>
                    <a:pt x="262" y="7"/>
                  </a:cubicBezTo>
                  <a:cubicBezTo>
                    <a:pt x="297" y="9"/>
                    <a:pt x="274" y="10"/>
                    <a:pt x="247" y="10"/>
                  </a:cubicBezTo>
                  <a:cubicBezTo>
                    <a:pt x="264" y="11"/>
                    <a:pt x="246" y="14"/>
                    <a:pt x="250" y="17"/>
                  </a:cubicBezTo>
                  <a:lnTo>
                    <a:pt x="140" y="10"/>
                  </a:lnTo>
                  <a:cubicBezTo>
                    <a:pt x="120" y="17"/>
                    <a:pt x="23" y="10"/>
                    <a:pt x="11" y="17"/>
                  </a:cubicBezTo>
                  <a:lnTo>
                    <a:pt x="46" y="15"/>
                  </a:lnTo>
                  <a:cubicBezTo>
                    <a:pt x="0" y="23"/>
                    <a:pt x="111" y="32"/>
                    <a:pt x="104" y="42"/>
                  </a:cubicBezTo>
                  <a:cubicBezTo>
                    <a:pt x="156" y="33"/>
                    <a:pt x="240" y="55"/>
                    <a:pt x="325" y="43"/>
                  </a:cubicBezTo>
                  <a:cubicBezTo>
                    <a:pt x="344" y="45"/>
                    <a:pt x="309" y="46"/>
                    <a:pt x="319" y="48"/>
                  </a:cubicBezTo>
                  <a:cubicBezTo>
                    <a:pt x="340" y="44"/>
                    <a:pt x="366" y="43"/>
                    <a:pt x="414" y="45"/>
                  </a:cubicBezTo>
                  <a:lnTo>
                    <a:pt x="409" y="46"/>
                  </a:lnTo>
                  <a:cubicBezTo>
                    <a:pt x="544" y="45"/>
                    <a:pt x="602" y="49"/>
                    <a:pt x="754" y="52"/>
                  </a:cubicBezTo>
                  <a:lnTo>
                    <a:pt x="742" y="47"/>
                  </a:lnTo>
                  <a:cubicBezTo>
                    <a:pt x="775" y="48"/>
                    <a:pt x="782" y="49"/>
                    <a:pt x="797" y="50"/>
                  </a:cubicBezTo>
                  <a:cubicBezTo>
                    <a:pt x="835" y="43"/>
                    <a:pt x="706" y="50"/>
                    <a:pt x="740" y="42"/>
                  </a:cubicBezTo>
                  <a:cubicBezTo>
                    <a:pt x="783" y="52"/>
                    <a:pt x="970" y="42"/>
                    <a:pt x="999" y="53"/>
                  </a:cubicBezTo>
                  <a:cubicBezTo>
                    <a:pt x="1049" y="54"/>
                    <a:pt x="984" y="48"/>
                    <a:pt x="1034" y="48"/>
                  </a:cubicBezTo>
                  <a:lnTo>
                    <a:pt x="1048" y="51"/>
                  </a:lnTo>
                  <a:lnTo>
                    <a:pt x="1060" y="47"/>
                  </a:lnTo>
                  <a:cubicBezTo>
                    <a:pt x="1093" y="48"/>
                    <a:pt x="1110" y="52"/>
                    <a:pt x="1111" y="54"/>
                  </a:cubicBezTo>
                  <a:cubicBezTo>
                    <a:pt x="1103" y="54"/>
                    <a:pt x="1088" y="55"/>
                    <a:pt x="1080" y="55"/>
                  </a:cubicBezTo>
                  <a:cubicBezTo>
                    <a:pt x="1122" y="59"/>
                    <a:pt x="1200" y="54"/>
                    <a:pt x="1215" y="55"/>
                  </a:cubicBezTo>
                  <a:lnTo>
                    <a:pt x="1166" y="53"/>
                  </a:lnTo>
                  <a:cubicBezTo>
                    <a:pt x="1303" y="50"/>
                    <a:pt x="1470" y="55"/>
                    <a:pt x="1603" y="49"/>
                  </a:cubicBezTo>
                  <a:lnTo>
                    <a:pt x="1593" y="46"/>
                  </a:lnTo>
                  <a:cubicBezTo>
                    <a:pt x="1694" y="42"/>
                    <a:pt x="1674" y="49"/>
                    <a:pt x="1784" y="47"/>
                  </a:cubicBezTo>
                  <a:lnTo>
                    <a:pt x="1780" y="48"/>
                  </a:lnTo>
                  <a:cubicBezTo>
                    <a:pt x="1803" y="45"/>
                    <a:pt x="1832" y="44"/>
                    <a:pt x="1863" y="45"/>
                  </a:cubicBezTo>
                  <a:cubicBezTo>
                    <a:pt x="1835" y="47"/>
                    <a:pt x="1915" y="50"/>
                    <a:pt x="1879" y="53"/>
                  </a:cubicBezTo>
                  <a:cubicBezTo>
                    <a:pt x="1988" y="48"/>
                    <a:pt x="1933" y="49"/>
                    <a:pt x="2005" y="41"/>
                  </a:cubicBezTo>
                  <a:lnTo>
                    <a:pt x="2022" y="45"/>
                  </a:lnTo>
                  <a:cubicBezTo>
                    <a:pt x="2046" y="41"/>
                    <a:pt x="2048" y="40"/>
                    <a:pt x="2104" y="39"/>
                  </a:cubicBezTo>
                  <a:cubicBezTo>
                    <a:pt x="2058" y="42"/>
                    <a:pt x="2139" y="44"/>
                    <a:pt x="2088" y="49"/>
                  </a:cubicBezTo>
                  <a:cubicBezTo>
                    <a:pt x="2205" y="57"/>
                    <a:pt x="2261" y="41"/>
                    <a:pt x="2314" y="53"/>
                  </a:cubicBezTo>
                  <a:cubicBezTo>
                    <a:pt x="2368" y="42"/>
                    <a:pt x="2214" y="47"/>
                    <a:pt x="2244" y="45"/>
                  </a:cubicBezTo>
                  <a:cubicBezTo>
                    <a:pt x="2219" y="41"/>
                    <a:pt x="2288" y="37"/>
                    <a:pt x="2324" y="38"/>
                  </a:cubicBezTo>
                  <a:cubicBezTo>
                    <a:pt x="2361" y="38"/>
                    <a:pt x="2387" y="51"/>
                    <a:pt x="2481" y="51"/>
                  </a:cubicBezTo>
                  <a:cubicBezTo>
                    <a:pt x="2471" y="51"/>
                    <a:pt x="2471" y="52"/>
                    <a:pt x="2461" y="52"/>
                  </a:cubicBezTo>
                  <a:cubicBezTo>
                    <a:pt x="2496" y="55"/>
                    <a:pt x="2530" y="48"/>
                    <a:pt x="2573" y="53"/>
                  </a:cubicBezTo>
                  <a:cubicBezTo>
                    <a:pt x="2597" y="47"/>
                    <a:pt x="2628" y="53"/>
                    <a:pt x="2635" y="45"/>
                  </a:cubicBezTo>
                  <a:lnTo>
                    <a:pt x="2550" y="47"/>
                  </a:lnTo>
                  <a:cubicBezTo>
                    <a:pt x="2598" y="45"/>
                    <a:pt x="2644" y="36"/>
                    <a:pt x="2724" y="40"/>
                  </a:cubicBezTo>
                  <a:cubicBezTo>
                    <a:pt x="2718" y="42"/>
                    <a:pt x="2694" y="44"/>
                    <a:pt x="2677" y="45"/>
                  </a:cubicBezTo>
                  <a:cubicBezTo>
                    <a:pt x="2701" y="48"/>
                    <a:pt x="2722" y="44"/>
                    <a:pt x="2747" y="46"/>
                  </a:cubicBezTo>
                  <a:cubicBezTo>
                    <a:pt x="2740" y="54"/>
                    <a:pt x="2643" y="48"/>
                    <a:pt x="2591" y="54"/>
                  </a:cubicBezTo>
                  <a:cubicBezTo>
                    <a:pt x="2616" y="57"/>
                    <a:pt x="2689" y="48"/>
                    <a:pt x="2663" y="57"/>
                  </a:cubicBezTo>
                  <a:cubicBezTo>
                    <a:pt x="2700" y="46"/>
                    <a:pt x="2755" y="58"/>
                    <a:pt x="2818" y="50"/>
                  </a:cubicBezTo>
                  <a:lnTo>
                    <a:pt x="2814" y="55"/>
                  </a:lnTo>
                  <a:cubicBezTo>
                    <a:pt x="2824" y="54"/>
                    <a:pt x="2845" y="52"/>
                    <a:pt x="2863" y="52"/>
                  </a:cubicBezTo>
                  <a:lnTo>
                    <a:pt x="2830" y="58"/>
                  </a:lnTo>
                  <a:cubicBezTo>
                    <a:pt x="2881" y="53"/>
                    <a:pt x="2928" y="63"/>
                    <a:pt x="2977" y="60"/>
                  </a:cubicBezTo>
                  <a:cubicBezTo>
                    <a:pt x="2875" y="60"/>
                    <a:pt x="2954" y="54"/>
                    <a:pt x="2911" y="51"/>
                  </a:cubicBezTo>
                  <a:cubicBezTo>
                    <a:pt x="3038" y="45"/>
                    <a:pt x="2984" y="64"/>
                    <a:pt x="3126" y="62"/>
                  </a:cubicBezTo>
                  <a:cubicBezTo>
                    <a:pt x="3107" y="62"/>
                    <a:pt x="3054" y="58"/>
                    <a:pt x="3084" y="56"/>
                  </a:cubicBezTo>
                  <a:cubicBezTo>
                    <a:pt x="3111" y="57"/>
                    <a:pt x="3146" y="59"/>
                    <a:pt x="3163" y="62"/>
                  </a:cubicBezTo>
                  <a:cubicBezTo>
                    <a:pt x="3257" y="61"/>
                    <a:pt x="3149" y="57"/>
                    <a:pt x="3189" y="54"/>
                  </a:cubicBezTo>
                  <a:cubicBezTo>
                    <a:pt x="3221" y="60"/>
                    <a:pt x="3235" y="52"/>
                    <a:pt x="3276" y="50"/>
                  </a:cubicBezTo>
                  <a:lnTo>
                    <a:pt x="3276" y="55"/>
                  </a:lnTo>
                  <a:cubicBezTo>
                    <a:pt x="3384" y="58"/>
                    <a:pt x="3305" y="45"/>
                    <a:pt x="3401" y="49"/>
                  </a:cubicBezTo>
                  <a:lnTo>
                    <a:pt x="3361" y="55"/>
                  </a:lnTo>
                  <a:lnTo>
                    <a:pt x="3411" y="54"/>
                  </a:lnTo>
                  <a:lnTo>
                    <a:pt x="3400" y="59"/>
                  </a:lnTo>
                  <a:cubicBezTo>
                    <a:pt x="3455" y="55"/>
                    <a:pt x="3472" y="56"/>
                    <a:pt x="3526" y="58"/>
                  </a:cubicBezTo>
                  <a:cubicBezTo>
                    <a:pt x="3513" y="54"/>
                    <a:pt x="3533" y="49"/>
                    <a:pt x="3580" y="49"/>
                  </a:cubicBezTo>
                  <a:cubicBezTo>
                    <a:pt x="3613" y="52"/>
                    <a:pt x="3562" y="54"/>
                    <a:pt x="3630" y="53"/>
                  </a:cubicBezTo>
                  <a:cubicBezTo>
                    <a:pt x="3614" y="56"/>
                    <a:pt x="3598" y="60"/>
                    <a:pt x="3568" y="55"/>
                  </a:cubicBezTo>
                  <a:cubicBezTo>
                    <a:pt x="3565" y="57"/>
                    <a:pt x="3553" y="58"/>
                    <a:pt x="3550" y="60"/>
                  </a:cubicBezTo>
                  <a:cubicBezTo>
                    <a:pt x="3585" y="63"/>
                    <a:pt x="3638" y="61"/>
                    <a:pt x="3662" y="61"/>
                  </a:cubicBezTo>
                  <a:cubicBezTo>
                    <a:pt x="3653" y="61"/>
                    <a:pt x="3642" y="60"/>
                    <a:pt x="3636" y="60"/>
                  </a:cubicBezTo>
                  <a:lnTo>
                    <a:pt x="3734" y="53"/>
                  </a:lnTo>
                  <a:cubicBezTo>
                    <a:pt x="3749" y="55"/>
                    <a:pt x="3737" y="56"/>
                    <a:pt x="3725" y="58"/>
                  </a:cubicBezTo>
                  <a:cubicBezTo>
                    <a:pt x="3744" y="57"/>
                    <a:pt x="3758" y="55"/>
                    <a:pt x="3787" y="55"/>
                  </a:cubicBezTo>
                  <a:cubicBezTo>
                    <a:pt x="3780" y="59"/>
                    <a:pt x="3781" y="63"/>
                    <a:pt x="3740" y="65"/>
                  </a:cubicBezTo>
                  <a:lnTo>
                    <a:pt x="3833" y="60"/>
                  </a:lnTo>
                  <a:cubicBezTo>
                    <a:pt x="3839" y="62"/>
                    <a:pt x="3881" y="65"/>
                    <a:pt x="3869" y="67"/>
                  </a:cubicBezTo>
                  <a:cubicBezTo>
                    <a:pt x="3920" y="69"/>
                    <a:pt x="3995" y="59"/>
                    <a:pt x="4064" y="62"/>
                  </a:cubicBezTo>
                  <a:cubicBezTo>
                    <a:pt x="4067" y="62"/>
                    <a:pt x="4074" y="61"/>
                    <a:pt x="4089" y="60"/>
                  </a:cubicBezTo>
                  <a:cubicBezTo>
                    <a:pt x="4153" y="62"/>
                    <a:pt x="4210" y="67"/>
                    <a:pt x="4286" y="61"/>
                  </a:cubicBezTo>
                  <a:lnTo>
                    <a:pt x="4329" y="68"/>
                  </a:lnTo>
                  <a:cubicBezTo>
                    <a:pt x="4389" y="67"/>
                    <a:pt x="4271" y="59"/>
                    <a:pt x="4370" y="57"/>
                  </a:cubicBezTo>
                  <a:cubicBezTo>
                    <a:pt x="4440" y="55"/>
                    <a:pt x="4396" y="63"/>
                    <a:pt x="4421" y="65"/>
                  </a:cubicBezTo>
                  <a:cubicBezTo>
                    <a:pt x="4456" y="62"/>
                    <a:pt x="4517" y="54"/>
                    <a:pt x="4581" y="60"/>
                  </a:cubicBezTo>
                  <a:cubicBezTo>
                    <a:pt x="4560" y="62"/>
                    <a:pt x="4543" y="60"/>
                    <a:pt x="4523" y="6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8" name="Figura a mano libera 63"/>
            <p:cNvSpPr>
              <a:spLocks/>
            </p:cNvSpPr>
            <p:nvPr/>
          </p:nvSpPr>
          <p:spPr bwMode="invGray">
            <a:xfrm>
              <a:off x="7508875" y="1560020"/>
              <a:ext cx="11112" cy="3693"/>
            </a:xfrm>
            <a:custGeom>
              <a:avLst/>
              <a:gdLst>
                <a:gd name="T0" fmla="*/ 12 w 12"/>
                <a:gd name="T1" fmla="*/ 3 h 3"/>
                <a:gd name="T2" fmla="*/ 12 w 12"/>
                <a:gd name="T3" fmla="*/ 3 h 3"/>
                <a:gd name="T4" fmla="*/ 6 w 12"/>
                <a:gd name="T5" fmla="*/ 0 h 3"/>
                <a:gd name="T6" fmla="*/ 12 w 12"/>
                <a:gd name="T7" fmla="*/ 3 h 3"/>
              </a:gdLst>
              <a:ahLst/>
              <a:cxnLst>
                <a:cxn ang="0">
                  <a:pos x="T0" y="T1"/>
                </a:cxn>
                <a:cxn ang="0">
                  <a:pos x="T2" y="T3"/>
                </a:cxn>
                <a:cxn ang="0">
                  <a:pos x="T4" y="T5"/>
                </a:cxn>
                <a:cxn ang="0">
                  <a:pos x="T6" y="T7"/>
                </a:cxn>
              </a:cxnLst>
              <a:rect l="0" t="0" r="r" b="b"/>
              <a:pathLst>
                <a:path w="12" h="3">
                  <a:moveTo>
                    <a:pt x="12" y="3"/>
                  </a:moveTo>
                  <a:lnTo>
                    <a:pt x="12" y="3"/>
                  </a:lnTo>
                  <a:cubicBezTo>
                    <a:pt x="8" y="2"/>
                    <a:pt x="7" y="1"/>
                    <a:pt x="6" y="0"/>
                  </a:cubicBezTo>
                  <a:cubicBezTo>
                    <a:pt x="1" y="1"/>
                    <a:pt x="0" y="2"/>
                    <a:pt x="12"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9" name="Figura a mano libera 64"/>
            <p:cNvSpPr>
              <a:spLocks/>
            </p:cNvSpPr>
            <p:nvPr/>
          </p:nvSpPr>
          <p:spPr bwMode="invGray">
            <a:xfrm>
              <a:off x="5434013" y="1567405"/>
              <a:ext cx="4762" cy="1231"/>
            </a:xfrm>
            <a:custGeom>
              <a:avLst/>
              <a:gdLst>
                <a:gd name="T0" fmla="*/ 5 w 5"/>
                <a:gd name="T1" fmla="*/ 1 h 1"/>
                <a:gd name="T2" fmla="*/ 5 w 5"/>
                <a:gd name="T3" fmla="*/ 1 h 1"/>
                <a:gd name="T4" fmla="*/ 3 w 5"/>
                <a:gd name="T5" fmla="*/ 0 h 1"/>
                <a:gd name="T6" fmla="*/ 0 w 5"/>
                <a:gd name="T7" fmla="*/ 1 h 1"/>
                <a:gd name="T8" fmla="*/ 5 w 5"/>
                <a:gd name="T9" fmla="*/ 1 h 1"/>
              </a:gdLst>
              <a:ahLst/>
              <a:cxnLst>
                <a:cxn ang="0">
                  <a:pos x="T0" y="T1"/>
                </a:cxn>
                <a:cxn ang="0">
                  <a:pos x="T2" y="T3"/>
                </a:cxn>
                <a:cxn ang="0">
                  <a:pos x="T4" y="T5"/>
                </a:cxn>
                <a:cxn ang="0">
                  <a:pos x="T6" y="T7"/>
                </a:cxn>
                <a:cxn ang="0">
                  <a:pos x="T8" y="T9"/>
                </a:cxn>
              </a:cxnLst>
              <a:rect l="0" t="0" r="r" b="b"/>
              <a:pathLst>
                <a:path w="5" h="1">
                  <a:moveTo>
                    <a:pt x="5" y="1"/>
                  </a:moveTo>
                  <a:lnTo>
                    <a:pt x="5" y="1"/>
                  </a:lnTo>
                  <a:lnTo>
                    <a:pt x="3" y="0"/>
                  </a:lnTo>
                  <a:cubicBezTo>
                    <a:pt x="1" y="1"/>
                    <a:pt x="1" y="1"/>
                    <a:pt x="0" y="1"/>
                  </a:cubicBezTo>
                  <a:lnTo>
                    <a:pt x="5"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0" name="Figura a mano libera 65"/>
            <p:cNvSpPr>
              <a:spLocks/>
            </p:cNvSpPr>
            <p:nvPr/>
          </p:nvSpPr>
          <p:spPr bwMode="invGray">
            <a:xfrm>
              <a:off x="9672638" y="1567405"/>
              <a:ext cx="25400" cy="2462"/>
            </a:xfrm>
            <a:custGeom>
              <a:avLst/>
              <a:gdLst>
                <a:gd name="T0" fmla="*/ 27 w 27"/>
                <a:gd name="T1" fmla="*/ 3 h 3"/>
                <a:gd name="T2" fmla="*/ 27 w 27"/>
                <a:gd name="T3" fmla="*/ 3 h 3"/>
                <a:gd name="T4" fmla="*/ 1 w 27"/>
                <a:gd name="T5" fmla="*/ 0 h 3"/>
                <a:gd name="T6" fmla="*/ 27 w 27"/>
                <a:gd name="T7" fmla="*/ 3 h 3"/>
              </a:gdLst>
              <a:ahLst/>
              <a:cxnLst>
                <a:cxn ang="0">
                  <a:pos x="T0" y="T1"/>
                </a:cxn>
                <a:cxn ang="0">
                  <a:pos x="T2" y="T3"/>
                </a:cxn>
                <a:cxn ang="0">
                  <a:pos x="T4" y="T5"/>
                </a:cxn>
                <a:cxn ang="0">
                  <a:pos x="T6" y="T7"/>
                </a:cxn>
              </a:cxnLst>
              <a:rect l="0" t="0" r="r" b="b"/>
              <a:pathLst>
                <a:path w="27" h="3">
                  <a:moveTo>
                    <a:pt x="27" y="3"/>
                  </a:moveTo>
                  <a:lnTo>
                    <a:pt x="27" y="3"/>
                  </a:lnTo>
                  <a:cubicBezTo>
                    <a:pt x="13" y="2"/>
                    <a:pt x="6" y="1"/>
                    <a:pt x="1" y="0"/>
                  </a:cubicBezTo>
                  <a:cubicBezTo>
                    <a:pt x="0" y="1"/>
                    <a:pt x="6"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1" name="Figura a mano libera 66"/>
            <p:cNvSpPr>
              <a:spLocks/>
            </p:cNvSpPr>
            <p:nvPr/>
          </p:nvSpPr>
          <p:spPr bwMode="invGray">
            <a:xfrm>
              <a:off x="10966450" y="1529246"/>
              <a:ext cx="39687" cy="2462"/>
            </a:xfrm>
            <a:custGeom>
              <a:avLst/>
              <a:gdLst>
                <a:gd name="T0" fmla="*/ 42 w 42"/>
                <a:gd name="T1" fmla="*/ 0 h 3"/>
                <a:gd name="T2" fmla="*/ 42 w 42"/>
                <a:gd name="T3" fmla="*/ 0 h 3"/>
                <a:gd name="T4" fmla="*/ 0 w 42"/>
                <a:gd name="T5" fmla="*/ 1 h 3"/>
                <a:gd name="T6" fmla="*/ 38 w 42"/>
                <a:gd name="T7" fmla="*/ 3 h 3"/>
                <a:gd name="T8" fmla="*/ 42 w 42"/>
                <a:gd name="T9" fmla="*/ 0 h 3"/>
              </a:gdLst>
              <a:ahLst/>
              <a:cxnLst>
                <a:cxn ang="0">
                  <a:pos x="T0" y="T1"/>
                </a:cxn>
                <a:cxn ang="0">
                  <a:pos x="T2" y="T3"/>
                </a:cxn>
                <a:cxn ang="0">
                  <a:pos x="T4" y="T5"/>
                </a:cxn>
                <a:cxn ang="0">
                  <a:pos x="T6" y="T7"/>
                </a:cxn>
                <a:cxn ang="0">
                  <a:pos x="T8" y="T9"/>
                </a:cxn>
              </a:cxnLst>
              <a:rect l="0" t="0" r="r" b="b"/>
              <a:pathLst>
                <a:path w="42" h="3">
                  <a:moveTo>
                    <a:pt x="42" y="0"/>
                  </a:moveTo>
                  <a:lnTo>
                    <a:pt x="42" y="0"/>
                  </a:lnTo>
                  <a:lnTo>
                    <a:pt x="0" y="1"/>
                  </a:lnTo>
                  <a:cubicBezTo>
                    <a:pt x="20" y="1"/>
                    <a:pt x="27" y="2"/>
                    <a:pt x="38" y="3"/>
                  </a:cubicBezTo>
                  <a:cubicBezTo>
                    <a:pt x="37" y="2"/>
                    <a:pt x="29" y="0"/>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2" name="Figura a mano libera 67"/>
            <p:cNvSpPr>
              <a:spLocks/>
            </p:cNvSpPr>
            <p:nvPr/>
          </p:nvSpPr>
          <p:spPr bwMode="invGray">
            <a:xfrm>
              <a:off x="11329988" y="1552634"/>
              <a:ext cx="44450" cy="2462"/>
            </a:xfrm>
            <a:custGeom>
              <a:avLst/>
              <a:gdLst>
                <a:gd name="T0" fmla="*/ 27 w 46"/>
                <a:gd name="T1" fmla="*/ 3 h 3"/>
                <a:gd name="T2" fmla="*/ 27 w 46"/>
                <a:gd name="T3" fmla="*/ 3 h 3"/>
                <a:gd name="T4" fmla="*/ 46 w 46"/>
                <a:gd name="T5" fmla="*/ 2 h 3"/>
                <a:gd name="T6" fmla="*/ 44 w 46"/>
                <a:gd name="T7" fmla="*/ 0 h 3"/>
                <a:gd name="T8" fmla="*/ 27 w 46"/>
                <a:gd name="T9" fmla="*/ 3 h 3"/>
              </a:gdLst>
              <a:ahLst/>
              <a:cxnLst>
                <a:cxn ang="0">
                  <a:pos x="T0" y="T1"/>
                </a:cxn>
                <a:cxn ang="0">
                  <a:pos x="T2" y="T3"/>
                </a:cxn>
                <a:cxn ang="0">
                  <a:pos x="T4" y="T5"/>
                </a:cxn>
                <a:cxn ang="0">
                  <a:pos x="T6" y="T7"/>
                </a:cxn>
                <a:cxn ang="0">
                  <a:pos x="T8" y="T9"/>
                </a:cxn>
              </a:cxnLst>
              <a:rect l="0" t="0" r="r" b="b"/>
              <a:pathLst>
                <a:path w="46" h="3">
                  <a:moveTo>
                    <a:pt x="27" y="3"/>
                  </a:moveTo>
                  <a:lnTo>
                    <a:pt x="27" y="3"/>
                  </a:lnTo>
                  <a:cubicBezTo>
                    <a:pt x="33" y="2"/>
                    <a:pt x="40" y="3"/>
                    <a:pt x="46" y="2"/>
                  </a:cubicBezTo>
                  <a:lnTo>
                    <a:pt x="44" y="0"/>
                  </a:lnTo>
                  <a:cubicBezTo>
                    <a:pt x="18" y="0"/>
                    <a:pt x="0"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3" name="Figura a mano libera 68"/>
            <p:cNvSpPr>
              <a:spLocks/>
            </p:cNvSpPr>
            <p:nvPr/>
          </p:nvSpPr>
          <p:spPr bwMode="invGray">
            <a:xfrm>
              <a:off x="11042650" y="1540325"/>
              <a:ext cx="60325" cy="6155"/>
            </a:xfrm>
            <a:custGeom>
              <a:avLst/>
              <a:gdLst>
                <a:gd name="T0" fmla="*/ 0 w 63"/>
                <a:gd name="T1" fmla="*/ 3 h 7"/>
                <a:gd name="T2" fmla="*/ 0 w 63"/>
                <a:gd name="T3" fmla="*/ 3 h 7"/>
                <a:gd name="T4" fmla="*/ 60 w 63"/>
                <a:gd name="T5" fmla="*/ 5 h 7"/>
                <a:gd name="T6" fmla="*/ 54 w 63"/>
                <a:gd name="T7" fmla="*/ 5 h 7"/>
                <a:gd name="T8" fmla="*/ 0 w 63"/>
                <a:gd name="T9" fmla="*/ 3 h 7"/>
              </a:gdLst>
              <a:ahLst/>
              <a:cxnLst>
                <a:cxn ang="0">
                  <a:pos x="T0" y="T1"/>
                </a:cxn>
                <a:cxn ang="0">
                  <a:pos x="T2" y="T3"/>
                </a:cxn>
                <a:cxn ang="0">
                  <a:pos x="T4" y="T5"/>
                </a:cxn>
                <a:cxn ang="0">
                  <a:pos x="T6" y="T7"/>
                </a:cxn>
                <a:cxn ang="0">
                  <a:pos x="T8" y="T9"/>
                </a:cxn>
              </a:cxnLst>
              <a:rect l="0" t="0" r="r" b="b"/>
              <a:pathLst>
                <a:path w="63" h="7">
                  <a:moveTo>
                    <a:pt x="0" y="3"/>
                  </a:moveTo>
                  <a:lnTo>
                    <a:pt x="0" y="3"/>
                  </a:lnTo>
                  <a:cubicBezTo>
                    <a:pt x="3" y="7"/>
                    <a:pt x="30" y="6"/>
                    <a:pt x="60" y="5"/>
                  </a:cubicBezTo>
                  <a:lnTo>
                    <a:pt x="54" y="5"/>
                  </a:lnTo>
                  <a:cubicBezTo>
                    <a:pt x="63" y="0"/>
                    <a:pt x="31"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4" name="Figura a mano libera 69"/>
            <p:cNvSpPr>
              <a:spLocks/>
            </p:cNvSpPr>
            <p:nvPr/>
          </p:nvSpPr>
          <p:spPr bwMode="invGray">
            <a:xfrm>
              <a:off x="11106150" y="1542787"/>
              <a:ext cx="28575" cy="1231"/>
            </a:xfrm>
            <a:custGeom>
              <a:avLst/>
              <a:gdLst>
                <a:gd name="T0" fmla="*/ 0 w 31"/>
                <a:gd name="T1" fmla="*/ 2 h 2"/>
                <a:gd name="T2" fmla="*/ 0 w 31"/>
                <a:gd name="T3" fmla="*/ 2 h 2"/>
                <a:gd name="T4" fmla="*/ 28 w 31"/>
                <a:gd name="T5" fmla="*/ 2 h 2"/>
                <a:gd name="T6" fmla="*/ 0 w 31"/>
                <a:gd name="T7" fmla="*/ 2 h 2"/>
              </a:gdLst>
              <a:ahLst/>
              <a:cxnLst>
                <a:cxn ang="0">
                  <a:pos x="T0" y="T1"/>
                </a:cxn>
                <a:cxn ang="0">
                  <a:pos x="T2" y="T3"/>
                </a:cxn>
                <a:cxn ang="0">
                  <a:pos x="T4" y="T5"/>
                </a:cxn>
                <a:cxn ang="0">
                  <a:pos x="T6" y="T7"/>
                </a:cxn>
              </a:cxnLst>
              <a:rect l="0" t="0" r="r" b="b"/>
              <a:pathLst>
                <a:path w="31" h="2">
                  <a:moveTo>
                    <a:pt x="0" y="2"/>
                  </a:moveTo>
                  <a:lnTo>
                    <a:pt x="0" y="2"/>
                  </a:lnTo>
                  <a:cubicBezTo>
                    <a:pt x="10" y="2"/>
                    <a:pt x="19" y="2"/>
                    <a:pt x="28" y="2"/>
                  </a:cubicBezTo>
                  <a:cubicBezTo>
                    <a:pt x="31" y="0"/>
                    <a:pt x="17" y="2"/>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5" name="Figura a mano libera 70"/>
            <p:cNvSpPr>
              <a:spLocks/>
            </p:cNvSpPr>
            <p:nvPr/>
          </p:nvSpPr>
          <p:spPr bwMode="invGray">
            <a:xfrm>
              <a:off x="10679113" y="1525554"/>
              <a:ext cx="103187" cy="9847"/>
            </a:xfrm>
            <a:custGeom>
              <a:avLst/>
              <a:gdLst>
                <a:gd name="T0" fmla="*/ 77 w 109"/>
                <a:gd name="T1" fmla="*/ 9 h 12"/>
                <a:gd name="T2" fmla="*/ 77 w 109"/>
                <a:gd name="T3" fmla="*/ 9 h 12"/>
                <a:gd name="T4" fmla="*/ 94 w 109"/>
                <a:gd name="T5" fmla="*/ 6 h 12"/>
                <a:gd name="T6" fmla="*/ 77 w 109"/>
                <a:gd name="T7" fmla="*/ 9 h 12"/>
              </a:gdLst>
              <a:ahLst/>
              <a:cxnLst>
                <a:cxn ang="0">
                  <a:pos x="T0" y="T1"/>
                </a:cxn>
                <a:cxn ang="0">
                  <a:pos x="T2" y="T3"/>
                </a:cxn>
                <a:cxn ang="0">
                  <a:pos x="T4" y="T5"/>
                </a:cxn>
                <a:cxn ang="0">
                  <a:pos x="T6" y="T7"/>
                </a:cxn>
              </a:cxnLst>
              <a:rect l="0" t="0" r="r" b="b"/>
              <a:pathLst>
                <a:path w="109" h="12">
                  <a:moveTo>
                    <a:pt x="77" y="9"/>
                  </a:moveTo>
                  <a:lnTo>
                    <a:pt x="77" y="9"/>
                  </a:lnTo>
                  <a:cubicBezTo>
                    <a:pt x="91" y="10"/>
                    <a:pt x="86" y="4"/>
                    <a:pt x="94" y="6"/>
                  </a:cubicBezTo>
                  <a:cubicBezTo>
                    <a:pt x="109" y="0"/>
                    <a:pt x="0" y="12"/>
                    <a:pt x="77"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6" name="Figura a mano libera 71"/>
            <p:cNvSpPr>
              <a:spLocks/>
            </p:cNvSpPr>
            <p:nvPr/>
          </p:nvSpPr>
          <p:spPr bwMode="invGray">
            <a:xfrm>
              <a:off x="11039475" y="1550172"/>
              <a:ext cx="26987" cy="4924"/>
            </a:xfrm>
            <a:custGeom>
              <a:avLst/>
              <a:gdLst>
                <a:gd name="T0" fmla="*/ 27 w 27"/>
                <a:gd name="T1" fmla="*/ 5 h 5"/>
                <a:gd name="T2" fmla="*/ 27 w 27"/>
                <a:gd name="T3" fmla="*/ 5 h 5"/>
                <a:gd name="T4" fmla="*/ 16 w 27"/>
                <a:gd name="T5" fmla="*/ 0 h 5"/>
                <a:gd name="T6" fmla="*/ 0 w 27"/>
                <a:gd name="T7" fmla="*/ 4 h 5"/>
                <a:gd name="T8" fmla="*/ 27 w 27"/>
                <a:gd name="T9" fmla="*/ 5 h 5"/>
              </a:gdLst>
              <a:ahLst/>
              <a:cxnLst>
                <a:cxn ang="0">
                  <a:pos x="T0" y="T1"/>
                </a:cxn>
                <a:cxn ang="0">
                  <a:pos x="T2" y="T3"/>
                </a:cxn>
                <a:cxn ang="0">
                  <a:pos x="T4" y="T5"/>
                </a:cxn>
                <a:cxn ang="0">
                  <a:pos x="T6" y="T7"/>
                </a:cxn>
                <a:cxn ang="0">
                  <a:pos x="T8" y="T9"/>
                </a:cxn>
              </a:cxnLst>
              <a:rect l="0" t="0" r="r" b="b"/>
              <a:pathLst>
                <a:path w="27" h="5">
                  <a:moveTo>
                    <a:pt x="27" y="5"/>
                  </a:moveTo>
                  <a:lnTo>
                    <a:pt x="27" y="5"/>
                  </a:lnTo>
                  <a:lnTo>
                    <a:pt x="16" y="0"/>
                  </a:lnTo>
                  <a:lnTo>
                    <a:pt x="0" y="4"/>
                  </a:lnTo>
                  <a:lnTo>
                    <a:pt x="27"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7" name="Figura a mano libera 72"/>
            <p:cNvSpPr>
              <a:spLocks/>
            </p:cNvSpPr>
            <p:nvPr/>
          </p:nvSpPr>
          <p:spPr bwMode="invGray">
            <a:xfrm>
              <a:off x="10841038" y="1548941"/>
              <a:ext cx="58737" cy="2462"/>
            </a:xfrm>
            <a:custGeom>
              <a:avLst/>
              <a:gdLst>
                <a:gd name="T0" fmla="*/ 1 w 61"/>
                <a:gd name="T1" fmla="*/ 2 h 3"/>
                <a:gd name="T2" fmla="*/ 1 w 61"/>
                <a:gd name="T3" fmla="*/ 2 h 3"/>
                <a:gd name="T4" fmla="*/ 49 w 61"/>
                <a:gd name="T5" fmla="*/ 3 h 3"/>
                <a:gd name="T6" fmla="*/ 61 w 61"/>
                <a:gd name="T7" fmla="*/ 2 h 3"/>
                <a:gd name="T8" fmla="*/ 1 w 61"/>
                <a:gd name="T9" fmla="*/ 2 h 3"/>
              </a:gdLst>
              <a:ahLst/>
              <a:cxnLst>
                <a:cxn ang="0">
                  <a:pos x="T0" y="T1"/>
                </a:cxn>
                <a:cxn ang="0">
                  <a:pos x="T2" y="T3"/>
                </a:cxn>
                <a:cxn ang="0">
                  <a:pos x="T4" y="T5"/>
                </a:cxn>
                <a:cxn ang="0">
                  <a:pos x="T6" y="T7"/>
                </a:cxn>
                <a:cxn ang="0">
                  <a:pos x="T8" y="T9"/>
                </a:cxn>
              </a:cxnLst>
              <a:rect l="0" t="0" r="r" b="b"/>
              <a:pathLst>
                <a:path w="61" h="3">
                  <a:moveTo>
                    <a:pt x="1" y="2"/>
                  </a:moveTo>
                  <a:lnTo>
                    <a:pt x="1" y="2"/>
                  </a:lnTo>
                  <a:lnTo>
                    <a:pt x="49" y="3"/>
                  </a:lnTo>
                  <a:cubicBezTo>
                    <a:pt x="48" y="2"/>
                    <a:pt x="54" y="2"/>
                    <a:pt x="61" y="2"/>
                  </a:cubicBezTo>
                  <a:cubicBezTo>
                    <a:pt x="32" y="1"/>
                    <a:pt x="0" y="0"/>
                    <a:pt x="1"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8" name="Figura a mano libera 73"/>
            <p:cNvSpPr>
              <a:spLocks/>
            </p:cNvSpPr>
            <p:nvPr/>
          </p:nvSpPr>
          <p:spPr bwMode="invGray">
            <a:xfrm>
              <a:off x="10899775" y="1550172"/>
              <a:ext cx="36512" cy="1231"/>
            </a:xfrm>
            <a:custGeom>
              <a:avLst/>
              <a:gdLst>
                <a:gd name="T0" fmla="*/ 0 w 38"/>
                <a:gd name="T1" fmla="*/ 1 h 1"/>
                <a:gd name="T2" fmla="*/ 0 w 38"/>
                <a:gd name="T3" fmla="*/ 1 h 1"/>
                <a:gd name="T4" fmla="*/ 38 w 38"/>
                <a:gd name="T5" fmla="*/ 0 h 1"/>
                <a:gd name="T6" fmla="*/ 0 w 38"/>
                <a:gd name="T7" fmla="*/ 1 h 1"/>
              </a:gdLst>
              <a:ahLst/>
              <a:cxnLst>
                <a:cxn ang="0">
                  <a:pos x="T0" y="T1"/>
                </a:cxn>
                <a:cxn ang="0">
                  <a:pos x="T2" y="T3"/>
                </a:cxn>
                <a:cxn ang="0">
                  <a:pos x="T4" y="T5"/>
                </a:cxn>
                <a:cxn ang="0">
                  <a:pos x="T6" y="T7"/>
                </a:cxn>
              </a:cxnLst>
              <a:rect l="0" t="0" r="r" b="b"/>
              <a:pathLst>
                <a:path w="38" h="1">
                  <a:moveTo>
                    <a:pt x="0" y="1"/>
                  </a:moveTo>
                  <a:lnTo>
                    <a:pt x="0" y="1"/>
                  </a:lnTo>
                  <a:cubicBezTo>
                    <a:pt x="15" y="1"/>
                    <a:pt x="30" y="1"/>
                    <a:pt x="38" y="0"/>
                  </a:cubicBezTo>
                  <a:cubicBezTo>
                    <a:pt x="30" y="0"/>
                    <a:pt x="12"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9" name="Figura a mano libera 74"/>
            <p:cNvSpPr>
              <a:spLocks/>
            </p:cNvSpPr>
            <p:nvPr/>
          </p:nvSpPr>
          <p:spPr bwMode="invGray">
            <a:xfrm>
              <a:off x="10958513" y="1555096"/>
              <a:ext cx="46037" cy="0"/>
            </a:xfrm>
            <a:custGeom>
              <a:avLst/>
              <a:gdLst>
                <a:gd name="T0" fmla="*/ 47 w 47"/>
                <a:gd name="T1" fmla="*/ 1 h 1"/>
                <a:gd name="T2" fmla="*/ 47 w 47"/>
                <a:gd name="T3" fmla="*/ 1 h 1"/>
                <a:gd name="T4" fmla="*/ 33 w 47"/>
                <a:gd name="T5" fmla="*/ 0 h 1"/>
                <a:gd name="T6" fmla="*/ 0 w 47"/>
                <a:gd name="T7" fmla="*/ 0 h 1"/>
                <a:gd name="T8" fmla="*/ 47 w 47"/>
                <a:gd name="T9" fmla="*/ 1 h 1"/>
              </a:gdLst>
              <a:ahLst/>
              <a:cxnLst>
                <a:cxn ang="0">
                  <a:pos x="T0" y="T1"/>
                </a:cxn>
                <a:cxn ang="0">
                  <a:pos x="T2" y="T3"/>
                </a:cxn>
                <a:cxn ang="0">
                  <a:pos x="T4" y="T5"/>
                </a:cxn>
                <a:cxn ang="0">
                  <a:pos x="T6" y="T7"/>
                </a:cxn>
                <a:cxn ang="0">
                  <a:pos x="T8" y="T9"/>
                </a:cxn>
              </a:cxnLst>
              <a:rect l="0" t="0" r="r" b="b"/>
              <a:pathLst>
                <a:path w="47" h="1">
                  <a:moveTo>
                    <a:pt x="47" y="1"/>
                  </a:moveTo>
                  <a:lnTo>
                    <a:pt x="47" y="1"/>
                  </a:lnTo>
                  <a:lnTo>
                    <a:pt x="33" y="0"/>
                  </a:lnTo>
                  <a:lnTo>
                    <a:pt x="0" y="0"/>
                  </a:lnTo>
                  <a:lnTo>
                    <a:pt x="47"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0" name="Figura a mano libera 75"/>
            <p:cNvSpPr>
              <a:spLocks/>
            </p:cNvSpPr>
            <p:nvPr/>
          </p:nvSpPr>
          <p:spPr bwMode="invGray">
            <a:xfrm>
              <a:off x="10304463" y="1548941"/>
              <a:ext cx="61912" cy="3693"/>
            </a:xfrm>
            <a:custGeom>
              <a:avLst/>
              <a:gdLst>
                <a:gd name="T0" fmla="*/ 57 w 65"/>
                <a:gd name="T1" fmla="*/ 0 h 4"/>
                <a:gd name="T2" fmla="*/ 57 w 65"/>
                <a:gd name="T3" fmla="*/ 0 h 4"/>
                <a:gd name="T4" fmla="*/ 5 w 65"/>
                <a:gd name="T5" fmla="*/ 1 h 4"/>
                <a:gd name="T6" fmla="*/ 33 w 65"/>
                <a:gd name="T7" fmla="*/ 4 h 4"/>
                <a:gd name="T8" fmla="*/ 57 w 65"/>
                <a:gd name="T9" fmla="*/ 0 h 4"/>
              </a:gdLst>
              <a:ahLst/>
              <a:cxnLst>
                <a:cxn ang="0">
                  <a:pos x="T0" y="T1"/>
                </a:cxn>
                <a:cxn ang="0">
                  <a:pos x="T2" y="T3"/>
                </a:cxn>
                <a:cxn ang="0">
                  <a:pos x="T4" y="T5"/>
                </a:cxn>
                <a:cxn ang="0">
                  <a:pos x="T6" y="T7"/>
                </a:cxn>
                <a:cxn ang="0">
                  <a:pos x="T8" y="T9"/>
                </a:cxn>
              </a:cxnLst>
              <a:rect l="0" t="0" r="r" b="b"/>
              <a:pathLst>
                <a:path w="65" h="4">
                  <a:moveTo>
                    <a:pt x="57" y="0"/>
                  </a:moveTo>
                  <a:lnTo>
                    <a:pt x="57" y="0"/>
                  </a:lnTo>
                  <a:lnTo>
                    <a:pt x="5" y="1"/>
                  </a:lnTo>
                  <a:cubicBezTo>
                    <a:pt x="0" y="3"/>
                    <a:pt x="14" y="4"/>
                    <a:pt x="33" y="4"/>
                  </a:cubicBezTo>
                  <a:cubicBezTo>
                    <a:pt x="45" y="2"/>
                    <a:pt x="65" y="2"/>
                    <a:pt x="57"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1" name="Figura a mano libera 76"/>
            <p:cNvSpPr>
              <a:spLocks/>
            </p:cNvSpPr>
            <p:nvPr/>
          </p:nvSpPr>
          <p:spPr bwMode="invGray">
            <a:xfrm>
              <a:off x="10483850" y="1557558"/>
              <a:ext cx="23812" cy="6155"/>
            </a:xfrm>
            <a:custGeom>
              <a:avLst/>
              <a:gdLst>
                <a:gd name="T0" fmla="*/ 25 w 25"/>
                <a:gd name="T1" fmla="*/ 4 h 7"/>
                <a:gd name="T2" fmla="*/ 25 w 25"/>
                <a:gd name="T3" fmla="*/ 4 h 7"/>
                <a:gd name="T4" fmla="*/ 2 w 25"/>
                <a:gd name="T5" fmla="*/ 0 h 7"/>
                <a:gd name="T6" fmla="*/ 0 w 25"/>
                <a:gd name="T7" fmla="*/ 7 h 7"/>
                <a:gd name="T8" fmla="*/ 25 w 25"/>
                <a:gd name="T9" fmla="*/ 4 h 7"/>
              </a:gdLst>
              <a:ahLst/>
              <a:cxnLst>
                <a:cxn ang="0">
                  <a:pos x="T0" y="T1"/>
                </a:cxn>
                <a:cxn ang="0">
                  <a:pos x="T2" y="T3"/>
                </a:cxn>
                <a:cxn ang="0">
                  <a:pos x="T4" y="T5"/>
                </a:cxn>
                <a:cxn ang="0">
                  <a:pos x="T6" y="T7"/>
                </a:cxn>
                <a:cxn ang="0">
                  <a:pos x="T8" y="T9"/>
                </a:cxn>
              </a:cxnLst>
              <a:rect l="0" t="0" r="r" b="b"/>
              <a:pathLst>
                <a:path w="25" h="7">
                  <a:moveTo>
                    <a:pt x="25" y="4"/>
                  </a:moveTo>
                  <a:lnTo>
                    <a:pt x="25" y="4"/>
                  </a:lnTo>
                  <a:cubicBezTo>
                    <a:pt x="11" y="3"/>
                    <a:pt x="10" y="2"/>
                    <a:pt x="2" y="0"/>
                  </a:cubicBezTo>
                  <a:lnTo>
                    <a:pt x="0" y="7"/>
                  </a:lnTo>
                  <a:lnTo>
                    <a:pt x="25"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2" name="Figura a mano libera 77"/>
            <p:cNvSpPr>
              <a:spLocks/>
            </p:cNvSpPr>
            <p:nvPr/>
          </p:nvSpPr>
          <p:spPr bwMode="invGray">
            <a:xfrm>
              <a:off x="10291763" y="1563712"/>
              <a:ext cx="117475" cy="2462"/>
            </a:xfrm>
            <a:custGeom>
              <a:avLst/>
              <a:gdLst>
                <a:gd name="T0" fmla="*/ 75 w 123"/>
                <a:gd name="T1" fmla="*/ 0 h 4"/>
                <a:gd name="T2" fmla="*/ 75 w 123"/>
                <a:gd name="T3" fmla="*/ 0 h 4"/>
                <a:gd name="T4" fmla="*/ 66 w 123"/>
                <a:gd name="T5" fmla="*/ 4 h 4"/>
                <a:gd name="T6" fmla="*/ 75 w 123"/>
                <a:gd name="T7" fmla="*/ 0 h 4"/>
              </a:gdLst>
              <a:ahLst/>
              <a:cxnLst>
                <a:cxn ang="0">
                  <a:pos x="T0" y="T1"/>
                </a:cxn>
                <a:cxn ang="0">
                  <a:pos x="T2" y="T3"/>
                </a:cxn>
                <a:cxn ang="0">
                  <a:pos x="T4" y="T5"/>
                </a:cxn>
                <a:cxn ang="0">
                  <a:pos x="T6" y="T7"/>
                </a:cxn>
              </a:cxnLst>
              <a:rect l="0" t="0" r="r" b="b"/>
              <a:pathLst>
                <a:path w="123" h="4">
                  <a:moveTo>
                    <a:pt x="75" y="0"/>
                  </a:moveTo>
                  <a:lnTo>
                    <a:pt x="75" y="0"/>
                  </a:lnTo>
                  <a:cubicBezTo>
                    <a:pt x="70" y="1"/>
                    <a:pt x="0" y="4"/>
                    <a:pt x="66" y="4"/>
                  </a:cubicBezTo>
                  <a:cubicBezTo>
                    <a:pt x="71" y="2"/>
                    <a:pt x="123" y="1"/>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3" name="Figura a mano libera 78"/>
            <p:cNvSpPr>
              <a:spLocks/>
            </p:cNvSpPr>
            <p:nvPr/>
          </p:nvSpPr>
          <p:spPr bwMode="invGray">
            <a:xfrm>
              <a:off x="9621838" y="1546479"/>
              <a:ext cx="11112" cy="8617"/>
            </a:xfrm>
            <a:custGeom>
              <a:avLst/>
              <a:gdLst>
                <a:gd name="T0" fmla="*/ 0 w 13"/>
                <a:gd name="T1" fmla="*/ 10 h 10"/>
                <a:gd name="T2" fmla="*/ 0 w 13"/>
                <a:gd name="T3" fmla="*/ 10 h 10"/>
                <a:gd name="T4" fmla="*/ 13 w 13"/>
                <a:gd name="T5" fmla="*/ 10 h 10"/>
                <a:gd name="T6" fmla="*/ 12 w 13"/>
                <a:gd name="T7" fmla="*/ 0 h 10"/>
                <a:gd name="T8" fmla="*/ 0 w 13"/>
                <a:gd name="T9" fmla="*/ 10 h 10"/>
              </a:gdLst>
              <a:ahLst/>
              <a:cxnLst>
                <a:cxn ang="0">
                  <a:pos x="T0" y="T1"/>
                </a:cxn>
                <a:cxn ang="0">
                  <a:pos x="T2" y="T3"/>
                </a:cxn>
                <a:cxn ang="0">
                  <a:pos x="T4" y="T5"/>
                </a:cxn>
                <a:cxn ang="0">
                  <a:pos x="T6" y="T7"/>
                </a:cxn>
                <a:cxn ang="0">
                  <a:pos x="T8" y="T9"/>
                </a:cxn>
              </a:cxnLst>
              <a:rect l="0" t="0" r="r" b="b"/>
              <a:pathLst>
                <a:path w="13" h="10">
                  <a:moveTo>
                    <a:pt x="0" y="10"/>
                  </a:moveTo>
                  <a:lnTo>
                    <a:pt x="0" y="10"/>
                  </a:lnTo>
                  <a:lnTo>
                    <a:pt x="13" y="10"/>
                  </a:lnTo>
                  <a:lnTo>
                    <a:pt x="12" y="0"/>
                  </a:lnTo>
                  <a:lnTo>
                    <a:pt x="0" y="1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4" name="Figura a mano libera 79"/>
            <p:cNvSpPr>
              <a:spLocks/>
            </p:cNvSpPr>
            <p:nvPr/>
          </p:nvSpPr>
          <p:spPr bwMode="invGray">
            <a:xfrm>
              <a:off x="8951913" y="1568636"/>
              <a:ext cx="96837" cy="8617"/>
            </a:xfrm>
            <a:custGeom>
              <a:avLst/>
              <a:gdLst>
                <a:gd name="T0" fmla="*/ 16 w 101"/>
                <a:gd name="T1" fmla="*/ 8 h 10"/>
                <a:gd name="T2" fmla="*/ 16 w 101"/>
                <a:gd name="T3" fmla="*/ 8 h 10"/>
                <a:gd name="T4" fmla="*/ 86 w 101"/>
                <a:gd name="T5" fmla="*/ 4 h 10"/>
                <a:gd name="T6" fmla="*/ 56 w 101"/>
                <a:gd name="T7" fmla="*/ 0 h 10"/>
                <a:gd name="T8" fmla="*/ 16 w 101"/>
                <a:gd name="T9" fmla="*/ 8 h 10"/>
              </a:gdLst>
              <a:ahLst/>
              <a:cxnLst>
                <a:cxn ang="0">
                  <a:pos x="T0" y="T1"/>
                </a:cxn>
                <a:cxn ang="0">
                  <a:pos x="T2" y="T3"/>
                </a:cxn>
                <a:cxn ang="0">
                  <a:pos x="T4" y="T5"/>
                </a:cxn>
                <a:cxn ang="0">
                  <a:pos x="T6" y="T7"/>
                </a:cxn>
                <a:cxn ang="0">
                  <a:pos x="T8" y="T9"/>
                </a:cxn>
              </a:cxnLst>
              <a:rect l="0" t="0" r="r" b="b"/>
              <a:pathLst>
                <a:path w="101" h="10">
                  <a:moveTo>
                    <a:pt x="16" y="8"/>
                  </a:moveTo>
                  <a:lnTo>
                    <a:pt x="16" y="8"/>
                  </a:lnTo>
                  <a:cubicBezTo>
                    <a:pt x="78" y="10"/>
                    <a:pt x="31" y="1"/>
                    <a:pt x="86" y="4"/>
                  </a:cubicBezTo>
                  <a:cubicBezTo>
                    <a:pt x="101" y="2"/>
                    <a:pt x="41" y="2"/>
                    <a:pt x="56" y="0"/>
                  </a:cubicBezTo>
                  <a:cubicBezTo>
                    <a:pt x="19" y="2"/>
                    <a:pt x="0" y="1"/>
                    <a:pt x="16" y="8"/>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5" name="Figura a mano libera 80"/>
            <p:cNvSpPr>
              <a:spLocks/>
            </p:cNvSpPr>
            <p:nvPr/>
          </p:nvSpPr>
          <p:spPr bwMode="invGray">
            <a:xfrm>
              <a:off x="9005888" y="1566174"/>
              <a:ext cx="17462" cy="2462"/>
            </a:xfrm>
            <a:custGeom>
              <a:avLst/>
              <a:gdLst>
                <a:gd name="T0" fmla="*/ 0 w 19"/>
                <a:gd name="T1" fmla="*/ 2 h 2"/>
                <a:gd name="T2" fmla="*/ 0 w 19"/>
                <a:gd name="T3" fmla="*/ 2 h 2"/>
                <a:gd name="T4" fmla="*/ 19 w 19"/>
                <a:gd name="T5" fmla="*/ 0 h 2"/>
                <a:gd name="T6" fmla="*/ 0 w 19"/>
                <a:gd name="T7" fmla="*/ 2 h 2"/>
              </a:gdLst>
              <a:ahLst/>
              <a:cxnLst>
                <a:cxn ang="0">
                  <a:pos x="T0" y="T1"/>
                </a:cxn>
                <a:cxn ang="0">
                  <a:pos x="T2" y="T3"/>
                </a:cxn>
                <a:cxn ang="0">
                  <a:pos x="T4" y="T5"/>
                </a:cxn>
                <a:cxn ang="0">
                  <a:pos x="T6" y="T7"/>
                </a:cxn>
              </a:cxnLst>
              <a:rect l="0" t="0" r="r" b="b"/>
              <a:pathLst>
                <a:path w="19" h="2">
                  <a:moveTo>
                    <a:pt x="0" y="2"/>
                  </a:moveTo>
                  <a:lnTo>
                    <a:pt x="0" y="2"/>
                  </a:lnTo>
                  <a:lnTo>
                    <a:pt x="19" y="0"/>
                  </a:lnTo>
                  <a:cubicBezTo>
                    <a:pt x="8" y="1"/>
                    <a:pt x="3" y="1"/>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6" name="Figura a mano libera 81"/>
            <p:cNvSpPr>
              <a:spLocks/>
            </p:cNvSpPr>
            <p:nvPr/>
          </p:nvSpPr>
          <p:spPr bwMode="invGray">
            <a:xfrm>
              <a:off x="1587500" y="1516937"/>
              <a:ext cx="38100" cy="3693"/>
            </a:xfrm>
            <a:custGeom>
              <a:avLst/>
              <a:gdLst>
                <a:gd name="T0" fmla="*/ 39 w 39"/>
                <a:gd name="T1" fmla="*/ 2 h 4"/>
                <a:gd name="T2" fmla="*/ 39 w 39"/>
                <a:gd name="T3" fmla="*/ 2 h 4"/>
                <a:gd name="T4" fmla="*/ 0 w 39"/>
                <a:gd name="T5" fmla="*/ 0 h 4"/>
                <a:gd name="T6" fmla="*/ 25 w 39"/>
                <a:gd name="T7" fmla="*/ 4 h 4"/>
                <a:gd name="T8" fmla="*/ 39 w 39"/>
                <a:gd name="T9" fmla="*/ 2 h 4"/>
              </a:gdLst>
              <a:ahLst/>
              <a:cxnLst>
                <a:cxn ang="0">
                  <a:pos x="T0" y="T1"/>
                </a:cxn>
                <a:cxn ang="0">
                  <a:pos x="T2" y="T3"/>
                </a:cxn>
                <a:cxn ang="0">
                  <a:pos x="T4" y="T5"/>
                </a:cxn>
                <a:cxn ang="0">
                  <a:pos x="T6" y="T7"/>
                </a:cxn>
                <a:cxn ang="0">
                  <a:pos x="T8" y="T9"/>
                </a:cxn>
              </a:cxnLst>
              <a:rect l="0" t="0" r="r" b="b"/>
              <a:pathLst>
                <a:path w="39" h="4">
                  <a:moveTo>
                    <a:pt x="39" y="2"/>
                  </a:moveTo>
                  <a:lnTo>
                    <a:pt x="39" y="2"/>
                  </a:lnTo>
                  <a:lnTo>
                    <a:pt x="0" y="0"/>
                  </a:lnTo>
                  <a:lnTo>
                    <a:pt x="25" y="4"/>
                  </a:lnTo>
                  <a:lnTo>
                    <a:pt x="39"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7" name="Figura a mano libera 82"/>
            <p:cNvSpPr>
              <a:spLocks/>
            </p:cNvSpPr>
            <p:nvPr/>
          </p:nvSpPr>
          <p:spPr bwMode="invGray">
            <a:xfrm>
              <a:off x="1522413" y="1519399"/>
              <a:ext cx="30162" cy="4924"/>
            </a:xfrm>
            <a:custGeom>
              <a:avLst/>
              <a:gdLst>
                <a:gd name="T0" fmla="*/ 32 w 32"/>
                <a:gd name="T1" fmla="*/ 6 h 6"/>
                <a:gd name="T2" fmla="*/ 32 w 32"/>
                <a:gd name="T3" fmla="*/ 6 h 6"/>
                <a:gd name="T4" fmla="*/ 23 w 32"/>
                <a:gd name="T5" fmla="*/ 0 h 6"/>
                <a:gd name="T6" fmla="*/ 0 w 32"/>
                <a:gd name="T7" fmla="*/ 5 h 6"/>
                <a:gd name="T8" fmla="*/ 32 w 32"/>
                <a:gd name="T9" fmla="*/ 6 h 6"/>
              </a:gdLst>
              <a:ahLst/>
              <a:cxnLst>
                <a:cxn ang="0">
                  <a:pos x="T0" y="T1"/>
                </a:cxn>
                <a:cxn ang="0">
                  <a:pos x="T2" y="T3"/>
                </a:cxn>
                <a:cxn ang="0">
                  <a:pos x="T4" y="T5"/>
                </a:cxn>
                <a:cxn ang="0">
                  <a:pos x="T6" y="T7"/>
                </a:cxn>
                <a:cxn ang="0">
                  <a:pos x="T8" y="T9"/>
                </a:cxn>
              </a:cxnLst>
              <a:rect l="0" t="0" r="r" b="b"/>
              <a:pathLst>
                <a:path w="32" h="6">
                  <a:moveTo>
                    <a:pt x="32" y="6"/>
                  </a:moveTo>
                  <a:lnTo>
                    <a:pt x="32" y="6"/>
                  </a:lnTo>
                  <a:lnTo>
                    <a:pt x="23" y="0"/>
                  </a:lnTo>
                  <a:lnTo>
                    <a:pt x="0" y="5"/>
                  </a:lnTo>
                  <a:cubicBezTo>
                    <a:pt x="8" y="5"/>
                    <a:pt x="26" y="5"/>
                    <a:pt x="32"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8" name="Figura a mano libera 83"/>
            <p:cNvSpPr>
              <a:spLocks/>
            </p:cNvSpPr>
            <p:nvPr/>
          </p:nvSpPr>
          <p:spPr bwMode="invGray">
            <a:xfrm>
              <a:off x="6650038" y="1573559"/>
              <a:ext cx="33337" cy="3693"/>
            </a:xfrm>
            <a:custGeom>
              <a:avLst/>
              <a:gdLst>
                <a:gd name="T0" fmla="*/ 31 w 34"/>
                <a:gd name="T1" fmla="*/ 4 h 4"/>
                <a:gd name="T2" fmla="*/ 31 w 34"/>
                <a:gd name="T3" fmla="*/ 4 h 4"/>
                <a:gd name="T4" fmla="*/ 34 w 34"/>
                <a:gd name="T5" fmla="*/ 2 h 4"/>
                <a:gd name="T6" fmla="*/ 0 w 34"/>
                <a:gd name="T7" fmla="*/ 0 h 4"/>
                <a:gd name="T8" fmla="*/ 31 w 34"/>
                <a:gd name="T9" fmla="*/ 4 h 4"/>
              </a:gdLst>
              <a:ahLst/>
              <a:cxnLst>
                <a:cxn ang="0">
                  <a:pos x="T0" y="T1"/>
                </a:cxn>
                <a:cxn ang="0">
                  <a:pos x="T2" y="T3"/>
                </a:cxn>
                <a:cxn ang="0">
                  <a:pos x="T4" y="T5"/>
                </a:cxn>
                <a:cxn ang="0">
                  <a:pos x="T6" y="T7"/>
                </a:cxn>
                <a:cxn ang="0">
                  <a:pos x="T8" y="T9"/>
                </a:cxn>
              </a:cxnLst>
              <a:rect l="0" t="0" r="r" b="b"/>
              <a:pathLst>
                <a:path w="34" h="4">
                  <a:moveTo>
                    <a:pt x="31" y="4"/>
                  </a:moveTo>
                  <a:lnTo>
                    <a:pt x="31" y="4"/>
                  </a:lnTo>
                  <a:lnTo>
                    <a:pt x="34" y="2"/>
                  </a:lnTo>
                  <a:cubicBezTo>
                    <a:pt x="28" y="1"/>
                    <a:pt x="18" y="1"/>
                    <a:pt x="0" y="0"/>
                  </a:cubicBezTo>
                  <a:lnTo>
                    <a:pt x="3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9" name="Figura a mano libera 84"/>
            <p:cNvSpPr>
              <a:spLocks/>
            </p:cNvSpPr>
            <p:nvPr/>
          </p:nvSpPr>
          <p:spPr bwMode="invGray">
            <a:xfrm>
              <a:off x="6162675" y="1566174"/>
              <a:ext cx="15875" cy="4924"/>
            </a:xfrm>
            <a:custGeom>
              <a:avLst/>
              <a:gdLst>
                <a:gd name="T0" fmla="*/ 8 w 17"/>
                <a:gd name="T1" fmla="*/ 6 h 6"/>
                <a:gd name="T2" fmla="*/ 8 w 17"/>
                <a:gd name="T3" fmla="*/ 6 h 6"/>
                <a:gd name="T4" fmla="*/ 17 w 17"/>
                <a:gd name="T5" fmla="*/ 6 h 6"/>
                <a:gd name="T6" fmla="*/ 0 w 17"/>
                <a:gd name="T7" fmla="*/ 0 h 6"/>
                <a:gd name="T8" fmla="*/ 8 w 17"/>
                <a:gd name="T9" fmla="*/ 6 h 6"/>
              </a:gdLst>
              <a:ahLst/>
              <a:cxnLst>
                <a:cxn ang="0">
                  <a:pos x="T0" y="T1"/>
                </a:cxn>
                <a:cxn ang="0">
                  <a:pos x="T2" y="T3"/>
                </a:cxn>
                <a:cxn ang="0">
                  <a:pos x="T4" y="T5"/>
                </a:cxn>
                <a:cxn ang="0">
                  <a:pos x="T6" y="T7"/>
                </a:cxn>
                <a:cxn ang="0">
                  <a:pos x="T8" y="T9"/>
                </a:cxn>
              </a:cxnLst>
              <a:rect l="0" t="0" r="r" b="b"/>
              <a:pathLst>
                <a:path w="17" h="6">
                  <a:moveTo>
                    <a:pt x="8" y="6"/>
                  </a:moveTo>
                  <a:lnTo>
                    <a:pt x="8" y="6"/>
                  </a:lnTo>
                  <a:lnTo>
                    <a:pt x="17" y="6"/>
                  </a:lnTo>
                  <a:lnTo>
                    <a:pt x="0" y="0"/>
                  </a:lnTo>
                  <a:lnTo>
                    <a:pt x="8"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0" name="Figura a mano libera 85"/>
            <p:cNvSpPr>
              <a:spLocks/>
            </p:cNvSpPr>
            <p:nvPr/>
          </p:nvSpPr>
          <p:spPr bwMode="invGray">
            <a:xfrm>
              <a:off x="5738813" y="1571097"/>
              <a:ext cx="60325" cy="6155"/>
            </a:xfrm>
            <a:custGeom>
              <a:avLst/>
              <a:gdLst>
                <a:gd name="T0" fmla="*/ 5 w 63"/>
                <a:gd name="T1" fmla="*/ 7 h 8"/>
                <a:gd name="T2" fmla="*/ 5 w 63"/>
                <a:gd name="T3" fmla="*/ 7 h 8"/>
                <a:gd name="T4" fmla="*/ 63 w 63"/>
                <a:gd name="T5" fmla="*/ 7 h 8"/>
                <a:gd name="T6" fmla="*/ 5 w 63"/>
                <a:gd name="T7" fmla="*/ 7 h 8"/>
              </a:gdLst>
              <a:ahLst/>
              <a:cxnLst>
                <a:cxn ang="0">
                  <a:pos x="T0" y="T1"/>
                </a:cxn>
                <a:cxn ang="0">
                  <a:pos x="T2" y="T3"/>
                </a:cxn>
                <a:cxn ang="0">
                  <a:pos x="T4" y="T5"/>
                </a:cxn>
                <a:cxn ang="0">
                  <a:pos x="T6" y="T7"/>
                </a:cxn>
              </a:cxnLst>
              <a:rect l="0" t="0" r="r" b="b"/>
              <a:pathLst>
                <a:path w="63" h="8">
                  <a:moveTo>
                    <a:pt x="5" y="7"/>
                  </a:moveTo>
                  <a:lnTo>
                    <a:pt x="5" y="7"/>
                  </a:lnTo>
                  <a:cubicBezTo>
                    <a:pt x="23" y="8"/>
                    <a:pt x="45" y="6"/>
                    <a:pt x="63" y="7"/>
                  </a:cubicBezTo>
                  <a:cubicBezTo>
                    <a:pt x="23" y="8"/>
                    <a:pt x="0" y="0"/>
                    <a:pt x="5" y="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grpSp>
      <p:sp>
        <p:nvSpPr>
          <p:cNvPr id="81" name="Footer Placeholder 4">
            <a:extLst>
              <a:ext uri="{FF2B5EF4-FFF2-40B4-BE49-F238E27FC236}">
                <a16:creationId xmlns:a16="http://schemas.microsoft.com/office/drawing/2014/main" id="{3E84B2B8-6A6C-4172-8F92-776075D81A30}"/>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Tree>
    <p:extLst>
      <p:ext uri="{BB962C8B-B14F-4D97-AF65-F5344CB8AC3E}">
        <p14:creationId xmlns:p14="http://schemas.microsoft.com/office/powerpoint/2010/main" val="12592876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476DEB1C-3253-4C07-8F02-456B7B2AD41D}" type="slidenum">
              <a:rPr lang="it-IT" smtClean="0"/>
              <a:pPr>
                <a:defRPr/>
              </a:pPr>
              <a:t>‹#›</a:t>
            </a:fld>
            <a:endParaRPr lang="it-IT" dirty="0"/>
          </a:p>
        </p:txBody>
      </p:sp>
      <p:sp>
        <p:nvSpPr>
          <p:cNvPr id="5" name="Footer Placeholder 4">
            <a:extLst>
              <a:ext uri="{FF2B5EF4-FFF2-40B4-BE49-F238E27FC236}">
                <a16:creationId xmlns:a16="http://schemas.microsoft.com/office/drawing/2014/main" id="{D98C9A75-8A08-4035-85FB-5EA0B5BB59A8}"/>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Tree>
    <p:extLst>
      <p:ext uri="{BB962C8B-B14F-4D97-AF65-F5344CB8AC3E}">
        <p14:creationId xmlns:p14="http://schemas.microsoft.com/office/powerpoint/2010/main" val="39209088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dirty="0"/>
          </a:p>
        </p:txBody>
      </p:sp>
      <p:sp>
        <p:nvSpPr>
          <p:cNvPr id="3" name="Segnaposto contenuto 2"/>
          <p:cNvSpPr>
            <a:spLocks noGrp="1"/>
          </p:cNvSpPr>
          <p:nvPr>
            <p:ph idx="1"/>
          </p:nvPr>
        </p:nvSpPr>
        <p:spPr/>
        <p:txBody>
          <a:bodyPr/>
          <a:lstStyle>
            <a:lvl1pPr>
              <a:defRPr>
                <a:latin typeface="Calibri Light" panose="020F0302020204030204" pitchFamily="34" charset="0"/>
                <a:cs typeface="Calibri Light" panose="020F0302020204030204" pitchFamily="34" charset="0"/>
              </a:defRPr>
            </a:lvl1pPr>
            <a:lvl2pPr>
              <a:defRPr>
                <a:latin typeface="Calibri Light" panose="020F0302020204030204" pitchFamily="34" charset="0"/>
                <a:cs typeface="Calibri Light" panose="020F0302020204030204" pitchFamily="34" charset="0"/>
              </a:defRPr>
            </a:lvl2pPr>
            <a:lvl3pPr>
              <a:defRPr>
                <a:latin typeface="Calibri Light" panose="020F0302020204030204" pitchFamily="34" charset="0"/>
                <a:cs typeface="Calibri Light" panose="020F0302020204030204" pitchFamily="34" charset="0"/>
              </a:defRPr>
            </a:lvl3pPr>
            <a:lvl4pPr>
              <a:defRPr>
                <a:latin typeface="Calibri Light" panose="020F0302020204030204" pitchFamily="34" charset="0"/>
                <a:cs typeface="Calibri Light" panose="020F0302020204030204" pitchFamily="34" charset="0"/>
              </a:defRPr>
            </a:lvl4pPr>
            <a:lvl5pPr>
              <a:defRPr>
                <a:latin typeface="Calibri Light" panose="020F0302020204030204" pitchFamily="34" charset="0"/>
                <a:cs typeface="Calibri Light" panose="020F03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dirty="0"/>
          </a:p>
        </p:txBody>
      </p:sp>
      <p:sp>
        <p:nvSpPr>
          <p:cNvPr id="4" name="Segnaposto piè di pagina 3"/>
          <p:cNvSpPr>
            <a:spLocks noGrp="1"/>
          </p:cNvSpPr>
          <p:nvPr>
            <p:ph type="ftr" sz="quarter" idx="10"/>
          </p:nvPr>
        </p:nvSpPr>
        <p:spPr>
          <a:xfrm>
            <a:off x="107504" y="6597352"/>
            <a:ext cx="3096344" cy="260648"/>
          </a:xfrm>
        </p:spPr>
        <p:txBody>
          <a:bodyPr/>
          <a:lstStyle>
            <a:lvl1pPr>
              <a:defRPr/>
            </a:lvl1pPr>
          </a:lstStyle>
          <a:p>
            <a:pPr>
              <a:defRPr/>
            </a:pPr>
            <a:r>
              <a:rPr lang="it-IT" dirty="0"/>
              <a:t>Vittorio Maniezzo - </a:t>
            </a:r>
            <a:r>
              <a:rPr lang="it-IT" dirty="0" err="1"/>
              <a:t>University</a:t>
            </a:r>
            <a:r>
              <a:rPr lang="it-IT" dirty="0"/>
              <a:t> of Bologna</a:t>
            </a:r>
          </a:p>
        </p:txBody>
      </p:sp>
      <p:sp>
        <p:nvSpPr>
          <p:cNvPr id="5" name="Segnaposto numero diapositiva 4"/>
          <p:cNvSpPr>
            <a:spLocks noGrp="1"/>
          </p:cNvSpPr>
          <p:nvPr>
            <p:ph type="sldNum" sz="quarter" idx="11"/>
          </p:nvPr>
        </p:nvSpPr>
        <p:spPr/>
        <p:txBody>
          <a:bodyPr/>
          <a:lstStyle>
            <a:lvl1pPr>
              <a:defRPr>
                <a:solidFill>
                  <a:schemeClr val="bg1">
                    <a:lumMod val="95000"/>
                  </a:schemeClr>
                </a:solidFill>
              </a:defRPr>
            </a:lvl1pPr>
          </a:lstStyle>
          <a:p>
            <a:pPr>
              <a:defRPr/>
            </a:pPr>
            <a:fld id="{BF95C6C1-66D2-4A7C-8B60-02391940B58A}" type="slidenum">
              <a:rPr lang="it-IT" smtClean="0"/>
              <a:pPr>
                <a:defRPr/>
              </a:pPr>
              <a:t>‹#›</a:t>
            </a:fld>
            <a:endParaRPr lang="it-IT" dirty="0"/>
          </a:p>
        </p:txBody>
      </p:sp>
    </p:spTree>
    <p:extLst>
      <p:ext uri="{BB962C8B-B14F-4D97-AF65-F5344CB8AC3E}">
        <p14:creationId xmlns:p14="http://schemas.microsoft.com/office/powerpoint/2010/main" val="4936562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grpSp>
        <p:nvGrpSpPr>
          <p:cNvPr id="11" name="Group 3"/>
          <p:cNvGrpSpPr>
            <a:grpSpLocks/>
          </p:cNvGrpSpPr>
          <p:nvPr/>
        </p:nvGrpSpPr>
        <p:grpSpPr bwMode="ltGray">
          <a:xfrm>
            <a:off x="72070" y="37277"/>
            <a:ext cx="9071930" cy="6856413"/>
            <a:chOff x="0" y="0"/>
            <a:chExt cx="5759" cy="4319"/>
          </a:xfrm>
        </p:grpSpPr>
        <p:sp>
          <p:nvSpPr>
            <p:cNvPr id="13" name="Line 4"/>
            <p:cNvSpPr>
              <a:spLocks noChangeShapeType="1"/>
            </p:cNvSpPr>
            <p:nvPr/>
          </p:nvSpPr>
          <p:spPr bwMode="ltGray">
            <a:xfrm>
              <a:off x="0" y="14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4" name="Line 5"/>
            <p:cNvSpPr>
              <a:spLocks noChangeShapeType="1"/>
            </p:cNvSpPr>
            <p:nvPr/>
          </p:nvSpPr>
          <p:spPr bwMode="ltGray">
            <a:xfrm>
              <a:off x="0" y="33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5" name="Line 6"/>
            <p:cNvSpPr>
              <a:spLocks noChangeShapeType="1"/>
            </p:cNvSpPr>
            <p:nvPr/>
          </p:nvSpPr>
          <p:spPr bwMode="ltGray">
            <a:xfrm>
              <a:off x="0" y="52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6" name="Line 7"/>
            <p:cNvSpPr>
              <a:spLocks noChangeShapeType="1"/>
            </p:cNvSpPr>
            <p:nvPr/>
          </p:nvSpPr>
          <p:spPr bwMode="ltGray">
            <a:xfrm>
              <a:off x="0" y="72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7" name="Line 8"/>
            <p:cNvSpPr>
              <a:spLocks noChangeShapeType="1"/>
            </p:cNvSpPr>
            <p:nvPr/>
          </p:nvSpPr>
          <p:spPr bwMode="ltGray">
            <a:xfrm>
              <a:off x="0" y="91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8" name="Line 9"/>
            <p:cNvSpPr>
              <a:spLocks noChangeShapeType="1"/>
            </p:cNvSpPr>
            <p:nvPr/>
          </p:nvSpPr>
          <p:spPr bwMode="ltGray">
            <a:xfrm>
              <a:off x="0" y="110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9" name="Line 10"/>
            <p:cNvSpPr>
              <a:spLocks noChangeShapeType="1"/>
            </p:cNvSpPr>
            <p:nvPr/>
          </p:nvSpPr>
          <p:spPr bwMode="ltGray">
            <a:xfrm>
              <a:off x="0" y="129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0" name="Line 11"/>
            <p:cNvSpPr>
              <a:spLocks noChangeShapeType="1"/>
            </p:cNvSpPr>
            <p:nvPr/>
          </p:nvSpPr>
          <p:spPr bwMode="ltGray">
            <a:xfrm>
              <a:off x="0" y="148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1" name="Line 12"/>
            <p:cNvSpPr>
              <a:spLocks noChangeShapeType="1"/>
            </p:cNvSpPr>
            <p:nvPr/>
          </p:nvSpPr>
          <p:spPr bwMode="ltGray">
            <a:xfrm>
              <a:off x="0" y="168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2" name="Line 13"/>
            <p:cNvSpPr>
              <a:spLocks noChangeShapeType="1"/>
            </p:cNvSpPr>
            <p:nvPr/>
          </p:nvSpPr>
          <p:spPr bwMode="ltGray">
            <a:xfrm>
              <a:off x="0" y="187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3" name="Line 14"/>
            <p:cNvSpPr>
              <a:spLocks noChangeShapeType="1"/>
            </p:cNvSpPr>
            <p:nvPr/>
          </p:nvSpPr>
          <p:spPr bwMode="ltGray">
            <a:xfrm>
              <a:off x="0" y="206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4" name="Line 15"/>
            <p:cNvSpPr>
              <a:spLocks noChangeShapeType="1"/>
            </p:cNvSpPr>
            <p:nvPr/>
          </p:nvSpPr>
          <p:spPr bwMode="ltGray">
            <a:xfrm>
              <a:off x="0" y="225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5" name="Line 16"/>
            <p:cNvSpPr>
              <a:spLocks noChangeShapeType="1"/>
            </p:cNvSpPr>
            <p:nvPr/>
          </p:nvSpPr>
          <p:spPr bwMode="ltGray">
            <a:xfrm>
              <a:off x="0" y="244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6" name="Line 17"/>
            <p:cNvSpPr>
              <a:spLocks noChangeShapeType="1"/>
            </p:cNvSpPr>
            <p:nvPr/>
          </p:nvSpPr>
          <p:spPr bwMode="ltGray">
            <a:xfrm>
              <a:off x="0" y="264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7" name="Line 18"/>
            <p:cNvSpPr>
              <a:spLocks noChangeShapeType="1"/>
            </p:cNvSpPr>
            <p:nvPr/>
          </p:nvSpPr>
          <p:spPr bwMode="ltGray">
            <a:xfrm>
              <a:off x="0" y="283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8" name="Line 19"/>
            <p:cNvSpPr>
              <a:spLocks noChangeShapeType="1"/>
            </p:cNvSpPr>
            <p:nvPr/>
          </p:nvSpPr>
          <p:spPr bwMode="ltGray">
            <a:xfrm>
              <a:off x="0" y="302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9" name="Line 20"/>
            <p:cNvSpPr>
              <a:spLocks noChangeShapeType="1"/>
            </p:cNvSpPr>
            <p:nvPr/>
          </p:nvSpPr>
          <p:spPr bwMode="ltGray">
            <a:xfrm>
              <a:off x="0" y="321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0" name="Line 21"/>
            <p:cNvSpPr>
              <a:spLocks noChangeShapeType="1"/>
            </p:cNvSpPr>
            <p:nvPr/>
          </p:nvSpPr>
          <p:spPr bwMode="ltGray">
            <a:xfrm>
              <a:off x="0" y="340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1" name="Line 22"/>
            <p:cNvSpPr>
              <a:spLocks noChangeShapeType="1"/>
            </p:cNvSpPr>
            <p:nvPr/>
          </p:nvSpPr>
          <p:spPr bwMode="ltGray">
            <a:xfrm>
              <a:off x="0" y="360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2" name="Line 23"/>
            <p:cNvSpPr>
              <a:spLocks noChangeShapeType="1"/>
            </p:cNvSpPr>
            <p:nvPr/>
          </p:nvSpPr>
          <p:spPr bwMode="ltGray">
            <a:xfrm>
              <a:off x="0" y="379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3" name="Line 24"/>
            <p:cNvSpPr>
              <a:spLocks noChangeShapeType="1"/>
            </p:cNvSpPr>
            <p:nvPr/>
          </p:nvSpPr>
          <p:spPr bwMode="ltGray">
            <a:xfrm>
              <a:off x="0" y="398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4" name="Line 25"/>
            <p:cNvSpPr>
              <a:spLocks noChangeShapeType="1"/>
            </p:cNvSpPr>
            <p:nvPr/>
          </p:nvSpPr>
          <p:spPr bwMode="ltGray">
            <a:xfrm>
              <a:off x="0" y="417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5" name="Line 26"/>
            <p:cNvSpPr>
              <a:spLocks noChangeShapeType="1"/>
            </p:cNvSpPr>
            <p:nvPr/>
          </p:nvSpPr>
          <p:spPr bwMode="ltGray">
            <a:xfrm>
              <a:off x="14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dirty="0"/>
            </a:p>
          </p:txBody>
        </p:sp>
        <p:sp>
          <p:nvSpPr>
            <p:cNvPr id="36" name="Line 27"/>
            <p:cNvSpPr>
              <a:spLocks noChangeShapeType="1"/>
            </p:cNvSpPr>
            <p:nvPr/>
          </p:nvSpPr>
          <p:spPr bwMode="ltGray">
            <a:xfrm>
              <a:off x="33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7" name="Line 28"/>
            <p:cNvSpPr>
              <a:spLocks noChangeShapeType="1"/>
            </p:cNvSpPr>
            <p:nvPr/>
          </p:nvSpPr>
          <p:spPr bwMode="ltGray">
            <a:xfrm>
              <a:off x="52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8" name="Line 29"/>
            <p:cNvSpPr>
              <a:spLocks noChangeShapeType="1"/>
            </p:cNvSpPr>
            <p:nvPr/>
          </p:nvSpPr>
          <p:spPr bwMode="ltGray">
            <a:xfrm>
              <a:off x="72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9" name="Line 30"/>
            <p:cNvSpPr>
              <a:spLocks noChangeShapeType="1"/>
            </p:cNvSpPr>
            <p:nvPr/>
          </p:nvSpPr>
          <p:spPr bwMode="ltGray">
            <a:xfrm>
              <a:off x="91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0" name="Line 31"/>
            <p:cNvSpPr>
              <a:spLocks noChangeShapeType="1"/>
            </p:cNvSpPr>
            <p:nvPr/>
          </p:nvSpPr>
          <p:spPr bwMode="ltGray">
            <a:xfrm>
              <a:off x="110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1" name="Line 32"/>
            <p:cNvSpPr>
              <a:spLocks noChangeShapeType="1"/>
            </p:cNvSpPr>
            <p:nvPr/>
          </p:nvSpPr>
          <p:spPr bwMode="ltGray">
            <a:xfrm>
              <a:off x="129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2" name="Line 33"/>
            <p:cNvSpPr>
              <a:spLocks noChangeShapeType="1"/>
            </p:cNvSpPr>
            <p:nvPr/>
          </p:nvSpPr>
          <p:spPr bwMode="ltGray">
            <a:xfrm>
              <a:off x="148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3" name="Line 34"/>
            <p:cNvSpPr>
              <a:spLocks noChangeShapeType="1"/>
            </p:cNvSpPr>
            <p:nvPr/>
          </p:nvSpPr>
          <p:spPr bwMode="ltGray">
            <a:xfrm>
              <a:off x="168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4" name="Line 35"/>
            <p:cNvSpPr>
              <a:spLocks noChangeShapeType="1"/>
            </p:cNvSpPr>
            <p:nvPr/>
          </p:nvSpPr>
          <p:spPr bwMode="ltGray">
            <a:xfrm>
              <a:off x="187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5" name="Line 36"/>
            <p:cNvSpPr>
              <a:spLocks noChangeShapeType="1"/>
            </p:cNvSpPr>
            <p:nvPr/>
          </p:nvSpPr>
          <p:spPr bwMode="ltGray">
            <a:xfrm>
              <a:off x="206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6" name="Line 37"/>
            <p:cNvSpPr>
              <a:spLocks noChangeShapeType="1"/>
            </p:cNvSpPr>
            <p:nvPr/>
          </p:nvSpPr>
          <p:spPr bwMode="ltGray">
            <a:xfrm>
              <a:off x="225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7" name="Line 38"/>
            <p:cNvSpPr>
              <a:spLocks noChangeShapeType="1"/>
            </p:cNvSpPr>
            <p:nvPr/>
          </p:nvSpPr>
          <p:spPr bwMode="ltGray">
            <a:xfrm>
              <a:off x="244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8" name="Line 39"/>
            <p:cNvSpPr>
              <a:spLocks noChangeShapeType="1"/>
            </p:cNvSpPr>
            <p:nvPr/>
          </p:nvSpPr>
          <p:spPr bwMode="ltGray">
            <a:xfrm>
              <a:off x="264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9" name="Line 40"/>
            <p:cNvSpPr>
              <a:spLocks noChangeShapeType="1"/>
            </p:cNvSpPr>
            <p:nvPr/>
          </p:nvSpPr>
          <p:spPr bwMode="ltGray">
            <a:xfrm>
              <a:off x="283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0" name="Line 41"/>
            <p:cNvSpPr>
              <a:spLocks noChangeShapeType="1"/>
            </p:cNvSpPr>
            <p:nvPr/>
          </p:nvSpPr>
          <p:spPr bwMode="ltGray">
            <a:xfrm>
              <a:off x="302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1" name="Line 42"/>
            <p:cNvSpPr>
              <a:spLocks noChangeShapeType="1"/>
            </p:cNvSpPr>
            <p:nvPr/>
          </p:nvSpPr>
          <p:spPr bwMode="ltGray">
            <a:xfrm>
              <a:off x="321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2" name="Line 43"/>
            <p:cNvSpPr>
              <a:spLocks noChangeShapeType="1"/>
            </p:cNvSpPr>
            <p:nvPr/>
          </p:nvSpPr>
          <p:spPr bwMode="ltGray">
            <a:xfrm>
              <a:off x="340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3" name="Line 44"/>
            <p:cNvSpPr>
              <a:spLocks noChangeShapeType="1"/>
            </p:cNvSpPr>
            <p:nvPr/>
          </p:nvSpPr>
          <p:spPr bwMode="ltGray">
            <a:xfrm>
              <a:off x="360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4" name="Line 45"/>
            <p:cNvSpPr>
              <a:spLocks noChangeShapeType="1"/>
            </p:cNvSpPr>
            <p:nvPr/>
          </p:nvSpPr>
          <p:spPr bwMode="ltGray">
            <a:xfrm>
              <a:off x="379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5" name="Line 46"/>
            <p:cNvSpPr>
              <a:spLocks noChangeShapeType="1"/>
            </p:cNvSpPr>
            <p:nvPr/>
          </p:nvSpPr>
          <p:spPr bwMode="ltGray">
            <a:xfrm>
              <a:off x="398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6" name="Line 47"/>
            <p:cNvSpPr>
              <a:spLocks noChangeShapeType="1"/>
            </p:cNvSpPr>
            <p:nvPr/>
          </p:nvSpPr>
          <p:spPr bwMode="ltGray">
            <a:xfrm>
              <a:off x="417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7" name="Line 48"/>
            <p:cNvSpPr>
              <a:spLocks noChangeShapeType="1"/>
            </p:cNvSpPr>
            <p:nvPr/>
          </p:nvSpPr>
          <p:spPr bwMode="ltGray">
            <a:xfrm>
              <a:off x="436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8" name="Line 49"/>
            <p:cNvSpPr>
              <a:spLocks noChangeShapeType="1"/>
            </p:cNvSpPr>
            <p:nvPr/>
          </p:nvSpPr>
          <p:spPr bwMode="ltGray">
            <a:xfrm>
              <a:off x="456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9" name="Line 50"/>
            <p:cNvSpPr>
              <a:spLocks noChangeShapeType="1"/>
            </p:cNvSpPr>
            <p:nvPr/>
          </p:nvSpPr>
          <p:spPr bwMode="ltGray">
            <a:xfrm>
              <a:off x="475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0" name="Line 51"/>
            <p:cNvSpPr>
              <a:spLocks noChangeShapeType="1"/>
            </p:cNvSpPr>
            <p:nvPr/>
          </p:nvSpPr>
          <p:spPr bwMode="ltGray">
            <a:xfrm>
              <a:off x="494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1" name="Line 52"/>
            <p:cNvSpPr>
              <a:spLocks noChangeShapeType="1"/>
            </p:cNvSpPr>
            <p:nvPr/>
          </p:nvSpPr>
          <p:spPr bwMode="ltGray">
            <a:xfrm>
              <a:off x="513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2" name="Line 53"/>
            <p:cNvSpPr>
              <a:spLocks noChangeShapeType="1"/>
            </p:cNvSpPr>
            <p:nvPr/>
          </p:nvSpPr>
          <p:spPr bwMode="ltGray">
            <a:xfrm>
              <a:off x="532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3" name="Line 54"/>
            <p:cNvSpPr>
              <a:spLocks noChangeShapeType="1"/>
            </p:cNvSpPr>
            <p:nvPr/>
          </p:nvSpPr>
          <p:spPr bwMode="ltGray">
            <a:xfrm>
              <a:off x="552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4" name="Line 55"/>
            <p:cNvSpPr>
              <a:spLocks noChangeShapeType="1"/>
            </p:cNvSpPr>
            <p:nvPr/>
          </p:nvSpPr>
          <p:spPr bwMode="ltGray">
            <a:xfrm>
              <a:off x="571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grpSp>
      <p:sp>
        <p:nvSpPr>
          <p:cNvPr id="5" name="Footer Placeholder 4"/>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
        <p:nvSpPr>
          <p:cNvPr id="6" name="Slide Number Placeholder 5"/>
          <p:cNvSpPr>
            <a:spLocks noGrp="1"/>
          </p:cNvSpPr>
          <p:nvPr>
            <p:ph type="sldNum" sz="quarter" idx="4"/>
          </p:nvPr>
        </p:nvSpPr>
        <p:spPr>
          <a:xfrm>
            <a:off x="8556706" y="6588890"/>
            <a:ext cx="533400" cy="304800"/>
          </a:xfrm>
          <a:prstGeom prst="rect">
            <a:avLst/>
          </a:prstGeom>
        </p:spPr>
        <p:txBody>
          <a:bodyPr vert="horz" lIns="91440" tIns="45720" rIns="91440" bIns="45720" rtlCol="0" anchor="ctr"/>
          <a:lstStyle>
            <a:lvl1pPr algn="r">
              <a:defRPr sz="1100">
                <a:solidFill>
                  <a:schemeClr val="tx1"/>
                </a:solidFill>
              </a:defRPr>
            </a:lvl1pPr>
          </a:lstStyle>
          <a:p>
            <a:pPr>
              <a:defRPr/>
            </a:pPr>
            <a:fld id="{476DEB1C-3253-4C07-8F02-456B7B2AD41D}" type="slidenum">
              <a:rPr lang="it-IT" smtClean="0"/>
              <a:pPr>
                <a:defRPr/>
              </a:pPr>
              <a:t>‹#›</a:t>
            </a:fld>
            <a:endParaRPr lang="it-IT" dirty="0"/>
          </a:p>
        </p:txBody>
      </p:sp>
      <p:sp>
        <p:nvSpPr>
          <p:cNvPr id="3" name="Text Placeholder 2"/>
          <p:cNvSpPr>
            <a:spLocks noGrp="1"/>
          </p:cNvSpPr>
          <p:nvPr>
            <p:ph type="body" idx="1"/>
          </p:nvPr>
        </p:nvSpPr>
        <p:spPr>
          <a:xfrm>
            <a:off x="298907" y="1173916"/>
            <a:ext cx="8546175" cy="52593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laceholder 1"/>
          <p:cNvSpPr>
            <a:spLocks noGrp="1"/>
          </p:cNvSpPr>
          <p:nvPr>
            <p:ph type="title"/>
          </p:nvPr>
        </p:nvSpPr>
        <p:spPr>
          <a:xfrm>
            <a:off x="278767" y="37278"/>
            <a:ext cx="8791195" cy="766769"/>
          </a:xfrm>
          <a:prstGeom prst="rect">
            <a:avLst/>
          </a:prstGeom>
        </p:spPr>
        <p:txBody>
          <a:bodyPr vert="horz" lIns="91440" tIns="45720" rIns="91440" bIns="45720" rtlCol="0" anchor="b">
            <a:normAutofit/>
          </a:bodyPr>
          <a:lstStyle/>
          <a:p>
            <a:r>
              <a:rPr lang="en-US" dirty="0"/>
              <a:t>Click to edit Master title style</a:t>
            </a:r>
            <a:endParaRPr dirty="0"/>
          </a:p>
        </p:txBody>
      </p:sp>
    </p:spTree>
    <p:extLst>
      <p:ext uri="{BB962C8B-B14F-4D97-AF65-F5344CB8AC3E}">
        <p14:creationId xmlns:p14="http://schemas.microsoft.com/office/powerpoint/2010/main" val="423081357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hf hdr="0" dt="0"/>
  <p:txStyles>
    <p:titleStyle>
      <a:lvl1pPr algn="l" defTabSz="914400" rtl="0" eaLnBrk="1" latinLnBrk="0" hangingPunct="1">
        <a:spcBef>
          <a:spcPct val="0"/>
        </a:spcBef>
        <a:buNone/>
        <a:defRPr sz="3600" kern="1200">
          <a:solidFill>
            <a:srgbClr val="002060"/>
          </a:solidFill>
          <a:latin typeface="AAchalk" pitchFamily="2" charset="0"/>
          <a:ea typeface="+mj-ea"/>
          <a:cs typeface="+mj-cs"/>
        </a:defRPr>
      </a:lvl1pPr>
    </p:titleStyle>
    <p:body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2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E9AEB7D-37B2-2B36-9DAD-91ED247EAC41}"/>
              </a:ext>
            </a:extLst>
          </p:cNvPr>
          <p:cNvSpPr>
            <a:spLocks noGrp="1"/>
          </p:cNvSpPr>
          <p:nvPr>
            <p:ph type="ctrTitle"/>
          </p:nvPr>
        </p:nvSpPr>
        <p:spPr>
          <a:xfrm>
            <a:off x="631418" y="557784"/>
            <a:ext cx="8283982" cy="3452307"/>
          </a:xfrm>
        </p:spPr>
        <p:txBody>
          <a:bodyPr>
            <a:noAutofit/>
          </a:bodyPr>
          <a:lstStyle/>
          <a:p>
            <a:pPr algn="l">
              <a:lnSpc>
                <a:spcPct val="100000"/>
              </a:lnSpc>
            </a:pPr>
            <a:r>
              <a:rPr lang="en-US" sz="4000" dirty="0"/>
              <a:t>Bootstrap-Enhanced Distributionally Robust Scheduling of Loading Yards</a:t>
            </a:r>
            <a:endParaRPr lang="en-US" sz="4000" dirty="0">
              <a:solidFill>
                <a:srgbClr val="0070C0"/>
              </a:solidFill>
            </a:endParaRPr>
          </a:p>
        </p:txBody>
      </p:sp>
      <p:sp>
        <p:nvSpPr>
          <p:cNvPr id="6" name="Rectangle 3">
            <a:extLst>
              <a:ext uri="{FF2B5EF4-FFF2-40B4-BE49-F238E27FC236}">
                <a16:creationId xmlns:a16="http://schemas.microsoft.com/office/drawing/2014/main" id="{2298ADB6-C24C-444C-3A3E-15DED5363734}"/>
              </a:ext>
            </a:extLst>
          </p:cNvPr>
          <p:cNvSpPr>
            <a:spLocks noGrp="1" noChangeArrowheads="1"/>
          </p:cNvSpPr>
          <p:nvPr>
            <p:ph type="subTitle" idx="1"/>
          </p:nvPr>
        </p:nvSpPr>
        <p:spPr>
          <a:xfrm>
            <a:off x="2852928" y="5909187"/>
            <a:ext cx="6250141" cy="905763"/>
          </a:xfrm>
        </p:spPr>
        <p:txBody>
          <a:bodyPr>
            <a:noAutofit/>
          </a:bodyPr>
          <a:lstStyle/>
          <a:p>
            <a:pPr algn="r" eaLnBrk="1" hangingPunct="1"/>
            <a:r>
              <a:rPr lang="it-IT" altLang="en-US" sz="2800" b="1" dirty="0">
                <a:latin typeface="ManiezzoSlides" pitchFamily="2" charset="0"/>
              </a:rPr>
              <a:t>Vittorio Maniezzo, University of Bologna</a:t>
            </a:r>
            <a:br>
              <a:rPr lang="it-IT" altLang="en-US" sz="2800" b="1" dirty="0">
                <a:latin typeface="ManiezzoSlides" pitchFamily="2" charset="0"/>
              </a:rPr>
            </a:br>
            <a:r>
              <a:rPr lang="it-IT" altLang="en-US" sz="2800" b="1" dirty="0">
                <a:latin typeface="ManiezzoSlides" pitchFamily="2" charset="0"/>
              </a:rPr>
              <a:t>Livio </a:t>
            </a:r>
            <a:r>
              <a:rPr lang="it-IT" altLang="en-US" sz="2800" b="1" dirty="0" err="1">
                <a:latin typeface="ManiezzoSlides" pitchFamily="2" charset="0"/>
              </a:rPr>
              <a:t>Fenga</a:t>
            </a:r>
            <a:r>
              <a:rPr lang="it-IT" altLang="en-US" sz="2800" b="1" dirty="0">
                <a:latin typeface="ManiezzoSlides" pitchFamily="2" charset="0"/>
              </a:rPr>
              <a:t>, University of Exeter</a:t>
            </a:r>
          </a:p>
        </p:txBody>
      </p:sp>
    </p:spTree>
    <p:extLst>
      <p:ext uri="{BB962C8B-B14F-4D97-AF65-F5344CB8AC3E}">
        <p14:creationId xmlns:p14="http://schemas.microsoft.com/office/powerpoint/2010/main" val="13498572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007394-1084-BF6F-A9B7-4A08B0F7A774}"/>
              </a:ext>
            </a:extLst>
          </p:cNvPr>
          <p:cNvSpPr>
            <a:spLocks noGrp="1"/>
          </p:cNvSpPr>
          <p:nvPr>
            <p:ph idx="1"/>
          </p:nvPr>
        </p:nvSpPr>
        <p:spPr/>
        <p:txBody>
          <a:bodyPr/>
          <a:lstStyle/>
          <a:p>
            <a:pPr marL="514350" indent="-514350">
              <a:buAutoNum type="arabicParenR"/>
            </a:pPr>
            <a:r>
              <a:rPr lang="it-IT" dirty="0"/>
              <a:t>The theory </a:t>
            </a:r>
            <a:r>
              <a:rPr lang="it-IT" dirty="0" err="1"/>
              <a:t>behind</a:t>
            </a:r>
            <a:r>
              <a:rPr lang="it-IT" dirty="0"/>
              <a:t> </a:t>
            </a:r>
            <a:r>
              <a:rPr lang="it-IT" dirty="0" err="1"/>
              <a:t>it</a:t>
            </a:r>
            <a:r>
              <a:rPr lang="it-IT" dirty="0"/>
              <a:t> </a:t>
            </a:r>
            <a:r>
              <a:rPr lang="it-IT" dirty="0" err="1"/>
              <a:t>all</a:t>
            </a:r>
            <a:endParaRPr lang="it-IT" dirty="0"/>
          </a:p>
          <a:p>
            <a:pPr marL="514350" indent="-514350">
              <a:buAutoNum type="arabicParenR"/>
            </a:pPr>
            <a:r>
              <a:rPr lang="it-IT" dirty="0"/>
              <a:t>The </a:t>
            </a:r>
            <a:r>
              <a:rPr lang="it-IT" dirty="0" err="1"/>
              <a:t>triggering</a:t>
            </a:r>
            <a:r>
              <a:rPr lang="it-IT" dirty="0"/>
              <a:t> use case: city </a:t>
            </a:r>
            <a:r>
              <a:rPr lang="it-IT" dirty="0" err="1"/>
              <a:t>logistics</a:t>
            </a:r>
            <a:endParaRPr lang="it-IT" dirty="0"/>
          </a:p>
          <a:p>
            <a:pPr marL="514350" indent="-514350">
              <a:buAutoNum type="arabicParenR"/>
            </a:pPr>
            <a:r>
              <a:rPr lang="it-IT" dirty="0"/>
              <a:t>The scheduling use case: loading yards</a:t>
            </a:r>
            <a:endParaRPr lang="en-US" dirty="0"/>
          </a:p>
        </p:txBody>
      </p:sp>
      <p:sp>
        <p:nvSpPr>
          <p:cNvPr id="3" name="Title 2">
            <a:extLst>
              <a:ext uri="{FF2B5EF4-FFF2-40B4-BE49-F238E27FC236}">
                <a16:creationId xmlns:a16="http://schemas.microsoft.com/office/drawing/2014/main" id="{BB2E61FF-A48B-3CC7-674B-14191996E5F4}"/>
              </a:ext>
            </a:extLst>
          </p:cNvPr>
          <p:cNvSpPr>
            <a:spLocks noGrp="1"/>
          </p:cNvSpPr>
          <p:nvPr>
            <p:ph type="title"/>
          </p:nvPr>
        </p:nvSpPr>
        <p:spPr/>
        <p:txBody>
          <a:bodyPr/>
          <a:lstStyle/>
          <a:p>
            <a:r>
              <a:rPr lang="it-IT" dirty="0"/>
              <a:t>Agenda</a:t>
            </a:r>
            <a:endParaRPr lang="en-US" dirty="0"/>
          </a:p>
        </p:txBody>
      </p:sp>
      <p:sp>
        <p:nvSpPr>
          <p:cNvPr id="4" name="Footer Placeholder 3">
            <a:extLst>
              <a:ext uri="{FF2B5EF4-FFF2-40B4-BE49-F238E27FC236}">
                <a16:creationId xmlns:a16="http://schemas.microsoft.com/office/drawing/2014/main" id="{510BBEDF-173C-E5C8-DF08-9D01A692159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6A77E3B-8CF1-F616-B549-9FBA0309F430}"/>
              </a:ext>
            </a:extLst>
          </p:cNvPr>
          <p:cNvSpPr>
            <a:spLocks noGrp="1"/>
          </p:cNvSpPr>
          <p:nvPr>
            <p:ph type="sldNum" sz="quarter" idx="4"/>
          </p:nvPr>
        </p:nvSpPr>
        <p:spPr/>
        <p:txBody>
          <a:bodyPr/>
          <a:lstStyle/>
          <a:p>
            <a:pPr>
              <a:defRPr/>
            </a:pPr>
            <a:fld id="{476DEB1C-3253-4C07-8F02-456B7B2AD41D}" type="slidenum">
              <a:rPr lang="it-IT" smtClean="0"/>
              <a:pPr>
                <a:defRPr/>
              </a:pPr>
              <a:t>2</a:t>
            </a:fld>
            <a:endParaRPr lang="it-IT" dirty="0"/>
          </a:p>
        </p:txBody>
      </p:sp>
    </p:spTree>
    <p:extLst>
      <p:ext uri="{BB962C8B-B14F-4D97-AF65-F5344CB8AC3E}">
        <p14:creationId xmlns:p14="http://schemas.microsoft.com/office/powerpoint/2010/main" val="3472902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0126CD0-0F1B-478E-7F9B-06F1979AEE5A}"/>
              </a:ext>
            </a:extLst>
          </p:cNvPr>
          <p:cNvPicPr>
            <a:picLocks noGrp="1" noChangeAspect="1"/>
          </p:cNvPicPr>
          <p:nvPr>
            <p:ph idx="1"/>
          </p:nvPr>
        </p:nvPicPr>
        <p:blipFill>
          <a:blip r:embed="rId2"/>
          <a:stretch>
            <a:fillRect/>
          </a:stretch>
        </p:blipFill>
        <p:spPr>
          <a:xfrm>
            <a:off x="809542" y="1214842"/>
            <a:ext cx="3483495" cy="3563636"/>
          </a:xfrm>
        </p:spPr>
      </p:pic>
      <p:sp>
        <p:nvSpPr>
          <p:cNvPr id="3" name="Title 2">
            <a:extLst>
              <a:ext uri="{FF2B5EF4-FFF2-40B4-BE49-F238E27FC236}">
                <a16:creationId xmlns:a16="http://schemas.microsoft.com/office/drawing/2014/main" id="{BB0E51CE-27A2-6633-74B6-9143988D0256}"/>
              </a:ext>
            </a:extLst>
          </p:cNvPr>
          <p:cNvSpPr>
            <a:spLocks noGrp="1"/>
          </p:cNvSpPr>
          <p:nvPr>
            <p:ph type="title"/>
          </p:nvPr>
        </p:nvSpPr>
        <p:spPr/>
        <p:txBody>
          <a:bodyPr/>
          <a:lstStyle/>
          <a:p>
            <a:r>
              <a:rPr lang="it-IT" dirty="0"/>
              <a:t>First </a:t>
            </a:r>
            <a:r>
              <a:rPr lang="it-IT" dirty="0" err="1"/>
              <a:t>problem</a:t>
            </a:r>
            <a:endParaRPr lang="it-IT" dirty="0"/>
          </a:p>
        </p:txBody>
      </p:sp>
      <p:sp>
        <p:nvSpPr>
          <p:cNvPr id="4" name="Footer Placeholder 3">
            <a:extLst>
              <a:ext uri="{FF2B5EF4-FFF2-40B4-BE49-F238E27FC236}">
                <a16:creationId xmlns:a16="http://schemas.microsoft.com/office/drawing/2014/main" id="{9B161671-13D8-D261-8D60-A66FF1E1A76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F0EB88C-D1C2-6213-1C9A-73456ED45802}"/>
              </a:ext>
            </a:extLst>
          </p:cNvPr>
          <p:cNvSpPr>
            <a:spLocks noGrp="1"/>
          </p:cNvSpPr>
          <p:nvPr>
            <p:ph type="sldNum" sz="quarter" idx="4"/>
          </p:nvPr>
        </p:nvSpPr>
        <p:spPr/>
        <p:txBody>
          <a:bodyPr/>
          <a:lstStyle/>
          <a:p>
            <a:pPr>
              <a:defRPr/>
            </a:pPr>
            <a:fld id="{476DEB1C-3253-4C07-8F02-456B7B2AD41D}" type="slidenum">
              <a:rPr lang="it-IT" smtClean="0"/>
              <a:pPr>
                <a:defRPr/>
              </a:pPr>
              <a:t>3</a:t>
            </a:fld>
            <a:endParaRPr lang="it-IT" dirty="0"/>
          </a:p>
        </p:txBody>
      </p:sp>
      <p:pic>
        <p:nvPicPr>
          <p:cNvPr id="9" name="Picture 8">
            <a:extLst>
              <a:ext uri="{FF2B5EF4-FFF2-40B4-BE49-F238E27FC236}">
                <a16:creationId xmlns:a16="http://schemas.microsoft.com/office/drawing/2014/main" id="{AA3D0567-66EC-E53F-7623-9294D6E71152}"/>
              </a:ext>
            </a:extLst>
          </p:cNvPr>
          <p:cNvPicPr>
            <a:picLocks noChangeAspect="1"/>
          </p:cNvPicPr>
          <p:nvPr/>
        </p:nvPicPr>
        <p:blipFill>
          <a:blip r:embed="rId3"/>
          <a:stretch>
            <a:fillRect/>
          </a:stretch>
        </p:blipFill>
        <p:spPr>
          <a:xfrm>
            <a:off x="5062086" y="931635"/>
            <a:ext cx="3761320" cy="3825433"/>
          </a:xfrm>
          <a:prstGeom prst="rect">
            <a:avLst/>
          </a:prstGeom>
        </p:spPr>
      </p:pic>
      <p:sp>
        <p:nvSpPr>
          <p:cNvPr id="10" name="TextBox 9">
            <a:extLst>
              <a:ext uri="{FF2B5EF4-FFF2-40B4-BE49-F238E27FC236}">
                <a16:creationId xmlns:a16="http://schemas.microsoft.com/office/drawing/2014/main" id="{EE446776-D964-1763-59BC-1DD94DBCC7F7}"/>
              </a:ext>
            </a:extLst>
          </p:cNvPr>
          <p:cNvSpPr txBox="1"/>
          <p:nvPr/>
        </p:nvSpPr>
        <p:spPr>
          <a:xfrm>
            <a:off x="506940" y="5011965"/>
            <a:ext cx="8563022" cy="1547210"/>
          </a:xfrm>
          <a:prstGeom prst="rect">
            <a:avLst/>
          </a:prstGeom>
          <a:noFill/>
          <a:ln>
            <a:noFill/>
          </a:ln>
        </p:spPr>
        <p:txBody>
          <a:bodyPr wrap="none" rtlCol="0" anchor="t" anchorCtr="0">
            <a:noAutofit/>
          </a:bodyPr>
          <a:lstStyle/>
          <a:p>
            <a:pPr marL="342900" indent="-342900">
              <a:buFont typeface="Arial" panose="020B0604020202020204" pitchFamily="34" charset="0"/>
              <a:buChar char="•"/>
            </a:pPr>
            <a:r>
              <a:rPr lang="it-IT" sz="2400" dirty="0"/>
              <a:t>52 retailer stores</a:t>
            </a:r>
          </a:p>
          <a:p>
            <a:pPr marL="342900" indent="-342900">
              <a:buFont typeface="Arial" panose="020B0604020202020204" pitchFamily="34" charset="0"/>
              <a:buChar char="•"/>
            </a:pPr>
            <a:r>
              <a:rPr lang="it-IT" sz="2400" dirty="0"/>
              <a:t>4 </a:t>
            </a:r>
            <a:r>
              <a:rPr lang="it-IT" sz="2400" dirty="0" err="1"/>
              <a:t>DCs</a:t>
            </a:r>
            <a:r>
              <a:rPr lang="it-IT" sz="2400" dirty="0"/>
              <a:t>: one big, one </a:t>
            </a:r>
            <a:r>
              <a:rPr lang="it-IT" sz="2400" dirty="0" err="1"/>
              <a:t>smaller</a:t>
            </a:r>
            <a:r>
              <a:rPr lang="it-IT" sz="2400" dirty="0"/>
              <a:t>, 2 </a:t>
            </a:r>
            <a:r>
              <a:rPr lang="it-IT" sz="2400" dirty="0" err="1"/>
              <a:t>satellites</a:t>
            </a:r>
            <a:r>
              <a:rPr lang="it-IT" sz="2400" dirty="0"/>
              <a:t> close to city center</a:t>
            </a:r>
          </a:p>
          <a:p>
            <a:pPr>
              <a:spcBef>
                <a:spcPts val="1800"/>
              </a:spcBef>
            </a:pPr>
            <a:r>
              <a:rPr lang="it-IT" sz="2400" dirty="0" err="1"/>
              <a:t>Allocation</a:t>
            </a:r>
            <a:r>
              <a:rPr lang="it-IT" sz="2400" dirty="0"/>
              <a:t> for Christmas season! Preliminary </a:t>
            </a:r>
            <a:r>
              <a:rPr lang="it-IT" sz="2400" dirty="0" err="1"/>
              <a:t>analysis</a:t>
            </a:r>
            <a:r>
              <a:rPr lang="it-IT" sz="2400" dirty="0"/>
              <a:t> </a:t>
            </a:r>
            <a:r>
              <a:rPr lang="it-IT" sz="2400" dirty="0" err="1"/>
              <a:t>during</a:t>
            </a:r>
            <a:r>
              <a:rPr lang="it-IT" sz="2400" dirty="0"/>
              <a:t> </a:t>
            </a:r>
            <a:r>
              <a:rPr lang="it-IT" sz="2400" dirty="0" err="1"/>
              <a:t>summer</a:t>
            </a:r>
            <a:r>
              <a:rPr lang="it-IT" sz="2400" dirty="0"/>
              <a:t>.</a:t>
            </a:r>
          </a:p>
        </p:txBody>
      </p:sp>
    </p:spTree>
    <p:extLst>
      <p:ext uri="{BB962C8B-B14F-4D97-AF65-F5344CB8AC3E}">
        <p14:creationId xmlns:p14="http://schemas.microsoft.com/office/powerpoint/2010/main" val="2457699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1051356-9730-A997-72E2-D0063FE629B1}"/>
              </a:ext>
            </a:extLst>
          </p:cNvPr>
          <p:cNvSpPr>
            <a:spLocks noGrp="1"/>
          </p:cNvSpPr>
          <p:nvPr>
            <p:ph type="title"/>
          </p:nvPr>
        </p:nvSpPr>
        <p:spPr/>
        <p:txBody>
          <a:bodyPr/>
          <a:lstStyle/>
          <a:p>
            <a:r>
              <a:rPr lang="it-IT" dirty="0"/>
              <a:t>Second </a:t>
            </a:r>
            <a:r>
              <a:rPr lang="it-IT" dirty="0" err="1"/>
              <a:t>problem</a:t>
            </a:r>
            <a:endParaRPr lang="en-US" dirty="0"/>
          </a:p>
        </p:txBody>
      </p:sp>
      <p:sp>
        <p:nvSpPr>
          <p:cNvPr id="4" name="Footer Placeholder 3">
            <a:extLst>
              <a:ext uri="{FF2B5EF4-FFF2-40B4-BE49-F238E27FC236}">
                <a16:creationId xmlns:a16="http://schemas.microsoft.com/office/drawing/2014/main" id="{F9C292A2-880F-8C00-6377-5A677F00E1B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2" name="Slide Number Placeholder 1">
            <a:extLst>
              <a:ext uri="{FF2B5EF4-FFF2-40B4-BE49-F238E27FC236}">
                <a16:creationId xmlns:a16="http://schemas.microsoft.com/office/drawing/2014/main" id="{83B7EB85-5A3C-9379-CC79-C2D704881DB4}"/>
              </a:ext>
            </a:extLst>
          </p:cNvPr>
          <p:cNvSpPr>
            <a:spLocks noGrp="1"/>
          </p:cNvSpPr>
          <p:nvPr>
            <p:ph type="sldNum" sz="quarter" idx="4"/>
          </p:nvPr>
        </p:nvSpPr>
        <p:spPr/>
        <p:txBody>
          <a:bodyPr/>
          <a:lstStyle/>
          <a:p>
            <a:pPr>
              <a:defRPr/>
            </a:pPr>
            <a:fld id="{476DEB1C-3253-4C07-8F02-456B7B2AD41D}" type="slidenum">
              <a:rPr lang="it-IT" smtClean="0"/>
              <a:pPr>
                <a:defRPr/>
              </a:pPr>
              <a:t>4</a:t>
            </a:fld>
            <a:endParaRPr lang="it-IT" dirty="0"/>
          </a:p>
        </p:txBody>
      </p:sp>
      <p:pic>
        <p:nvPicPr>
          <p:cNvPr id="10" name="Picture 9">
            <a:extLst>
              <a:ext uri="{FF2B5EF4-FFF2-40B4-BE49-F238E27FC236}">
                <a16:creationId xmlns:a16="http://schemas.microsoft.com/office/drawing/2014/main" id="{80DDFDCA-7DDC-91BE-6248-DC70520D991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077647" y="902220"/>
            <a:ext cx="7122456" cy="5336042"/>
          </a:xfrm>
          <a:prstGeom prst="rect">
            <a:avLst/>
          </a:prstGeom>
        </p:spPr>
      </p:pic>
    </p:spTree>
    <p:extLst>
      <p:ext uri="{BB962C8B-B14F-4D97-AF65-F5344CB8AC3E}">
        <p14:creationId xmlns:p14="http://schemas.microsoft.com/office/powerpoint/2010/main" val="384338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59A0C8-A15E-4972-A669-625C250E5515}"/>
              </a:ext>
            </a:extLst>
          </p:cNvPr>
          <p:cNvSpPr>
            <a:spLocks noGrp="1"/>
          </p:cNvSpPr>
          <p:nvPr>
            <p:ph idx="1"/>
          </p:nvPr>
        </p:nvSpPr>
        <p:spPr/>
        <p:txBody>
          <a:bodyPr>
            <a:normAutofit fontScale="85000" lnSpcReduction="10000"/>
          </a:bodyPr>
          <a:lstStyle/>
          <a:p>
            <a:r>
              <a:rPr lang="en-US" dirty="0"/>
              <a:t>Decisions must often precede the observation of uncertain quantities: stochastic programming describes uncertainty through a probability distribution P.</a:t>
            </a:r>
          </a:p>
          <a:p>
            <a:r>
              <a:rPr lang="en-US" dirty="0"/>
              <a:t>Two-stage setting: the first-stage decision x precedes the realization of ξ; the recourse decision y adapts to it.</a:t>
            </a:r>
          </a:p>
          <a:p>
            <a:r>
              <a:rPr lang="en-US" dirty="0"/>
              <a:t>A common objective is to minimize expected total cost:  first-stage cost plus expected recourse cost. </a:t>
            </a:r>
            <a:r>
              <a:rPr lang="en-US" dirty="0" err="1"/>
              <a:t>min_x</a:t>
            </a:r>
            <a:r>
              <a:rPr lang="en-US" dirty="0"/>
              <a:t> c(x) + E_P[Q(x, ξ)]</a:t>
            </a:r>
          </a:p>
          <a:p>
            <a:r>
              <a:rPr lang="en-US" dirty="0"/>
              <a:t>Sample Average Approximation (SAA) replaces expectations with sample averages, replaces P with the empirical distribution P̂_N of N sampled scenarios, each with probability 1/N</a:t>
            </a:r>
          </a:p>
          <a:p>
            <a:r>
              <a:rPr lang="en-US" dirty="0"/>
              <a:t>Standard SAA can disappoint out of sample, especially when N is small.</a:t>
            </a:r>
          </a:p>
        </p:txBody>
      </p:sp>
      <p:sp>
        <p:nvSpPr>
          <p:cNvPr id="3" name="Title 2">
            <a:extLst>
              <a:ext uri="{FF2B5EF4-FFF2-40B4-BE49-F238E27FC236}">
                <a16:creationId xmlns:a16="http://schemas.microsoft.com/office/drawing/2014/main" id="{34355123-A758-404D-B760-F29FB205C188}"/>
              </a:ext>
            </a:extLst>
          </p:cNvPr>
          <p:cNvSpPr>
            <a:spLocks noGrp="1"/>
          </p:cNvSpPr>
          <p:nvPr>
            <p:ph type="title"/>
          </p:nvPr>
        </p:nvSpPr>
        <p:spPr/>
        <p:txBody>
          <a:bodyPr>
            <a:normAutofit fontScale="90000"/>
          </a:bodyPr>
          <a:lstStyle/>
          <a:p>
            <a:r>
              <a:rPr lang="en-US" dirty="0"/>
              <a:t>Prequel: Stochastic programming and SAA</a:t>
            </a:r>
          </a:p>
        </p:txBody>
      </p:sp>
      <p:sp>
        <p:nvSpPr>
          <p:cNvPr id="4" name="Footer Placeholder 3">
            <a:extLst>
              <a:ext uri="{FF2B5EF4-FFF2-40B4-BE49-F238E27FC236}">
                <a16:creationId xmlns:a16="http://schemas.microsoft.com/office/drawing/2014/main" id="{C885464D-5354-4979-860B-901B5A4BFAB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48F37E-0911-4B30-9750-9A199A9E7D66}"/>
              </a:ext>
            </a:extLst>
          </p:cNvPr>
          <p:cNvSpPr>
            <a:spLocks noGrp="1"/>
          </p:cNvSpPr>
          <p:nvPr>
            <p:ph type="sldNum" sz="quarter" idx="4"/>
          </p:nvPr>
        </p:nvSpPr>
        <p:spPr/>
        <p:txBody>
          <a:bodyPr/>
          <a:lstStyle/>
          <a:p>
            <a:pPr>
              <a:defRPr/>
            </a:pPr>
            <a:fld id="{476DEB1C-3253-4C07-8F02-456B7B2AD41D}" type="slidenum">
              <a:rPr lang="it-IT" smtClean="0"/>
              <a:pPr>
                <a:defRPr/>
              </a:pPr>
              <a:t>5</a:t>
            </a:fld>
            <a:endParaRPr lang="it-IT" dirty="0"/>
          </a:p>
        </p:txBody>
      </p:sp>
    </p:spTree>
    <p:extLst>
      <p:ext uri="{BB962C8B-B14F-4D97-AF65-F5344CB8AC3E}">
        <p14:creationId xmlns:p14="http://schemas.microsoft.com/office/powerpoint/2010/main" val="37092104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72958A-9E82-48D9-96BB-EAE8B7B51454}"/>
              </a:ext>
            </a:extLst>
          </p:cNvPr>
          <p:cNvSpPr>
            <a:spLocks noGrp="1"/>
          </p:cNvSpPr>
          <p:nvPr>
            <p:ph idx="1"/>
          </p:nvPr>
        </p:nvSpPr>
        <p:spPr/>
        <p:txBody>
          <a:bodyPr>
            <a:normAutofit fontScale="92500" lnSpcReduction="20000"/>
          </a:bodyPr>
          <a:lstStyle/>
          <a:p>
            <a:r>
              <a:rPr lang="en-US" dirty="0"/>
              <a:t>Robust optimization describes uncertainty through a set U of possible realizations: this uncertainty set specifies the outcomes requiring protection.</a:t>
            </a:r>
          </a:p>
          <a:p>
            <a:r>
              <a:rPr lang="en-US" dirty="0"/>
              <a:t>No probability distribution over these outcomes is required, </a:t>
            </a:r>
            <a:r>
              <a:rPr lang="en-US" dirty="0" err="1"/>
              <a:t>ncertainty</a:t>
            </a:r>
            <a:r>
              <a:rPr lang="en-US" dirty="0"/>
              <a:t> concerns the distribution itself: an ambiguity set 𝒫 collects the plausible distributions</a:t>
            </a:r>
          </a:p>
          <a:p>
            <a:r>
              <a:rPr lang="en-US" dirty="0"/>
              <a:t>A common objective is to minimize the worst-case cost.</a:t>
            </a:r>
          </a:p>
          <a:p>
            <a:r>
              <a:rPr lang="en-US" dirty="0"/>
              <a:t>Robust constraints must hold for every realization in the uncertainty set. Constraints must hold for every ξ in U. </a:t>
            </a:r>
            <a:r>
              <a:rPr lang="en-US" dirty="0" err="1"/>
              <a:t>min_x</a:t>
            </a:r>
            <a:r>
              <a:rPr lang="en-US" dirty="0"/>
              <a:t> max_{</a:t>
            </a:r>
            <a:r>
              <a:rPr lang="en-US" dirty="0" err="1"/>
              <a:t>ξ∈U</a:t>
            </a:r>
            <a:r>
              <a:rPr lang="en-US" dirty="0"/>
              <a:t>} f(x, ξ)</a:t>
            </a:r>
          </a:p>
          <a:p>
            <a:r>
              <a:rPr lang="en-US" dirty="0"/>
              <a:t>Enlarging U can only increase the optimal value: the choice of U sets the degree of conservatism..</a:t>
            </a:r>
          </a:p>
        </p:txBody>
      </p:sp>
      <p:sp>
        <p:nvSpPr>
          <p:cNvPr id="3" name="Title 2">
            <a:extLst>
              <a:ext uri="{FF2B5EF4-FFF2-40B4-BE49-F238E27FC236}">
                <a16:creationId xmlns:a16="http://schemas.microsoft.com/office/drawing/2014/main" id="{C0D08D39-03C4-4852-9685-D91F4A00E37D}"/>
              </a:ext>
            </a:extLst>
          </p:cNvPr>
          <p:cNvSpPr>
            <a:spLocks noGrp="1"/>
          </p:cNvSpPr>
          <p:nvPr>
            <p:ph type="title"/>
          </p:nvPr>
        </p:nvSpPr>
        <p:spPr/>
        <p:txBody>
          <a:bodyPr>
            <a:normAutofit/>
          </a:bodyPr>
          <a:lstStyle/>
          <a:p>
            <a:r>
              <a:rPr lang="en-US" dirty="0"/>
              <a:t>Prequel: Robust optimization</a:t>
            </a:r>
          </a:p>
        </p:txBody>
      </p:sp>
      <p:sp>
        <p:nvSpPr>
          <p:cNvPr id="4" name="Footer Placeholder 3">
            <a:extLst>
              <a:ext uri="{FF2B5EF4-FFF2-40B4-BE49-F238E27FC236}">
                <a16:creationId xmlns:a16="http://schemas.microsoft.com/office/drawing/2014/main" id="{04F109DF-1AF7-4CD1-9420-D83A8A9225F0}"/>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43467FB-39D5-43BA-B7C5-14C6D22BFB69}"/>
              </a:ext>
            </a:extLst>
          </p:cNvPr>
          <p:cNvSpPr>
            <a:spLocks noGrp="1"/>
          </p:cNvSpPr>
          <p:nvPr>
            <p:ph type="sldNum" sz="quarter" idx="4"/>
          </p:nvPr>
        </p:nvSpPr>
        <p:spPr/>
        <p:txBody>
          <a:bodyPr/>
          <a:lstStyle/>
          <a:p>
            <a:pPr>
              <a:defRPr/>
            </a:pPr>
            <a:fld id="{476DEB1C-3253-4C07-8F02-456B7B2AD41D}" type="slidenum">
              <a:rPr lang="it-IT" smtClean="0"/>
              <a:pPr>
                <a:defRPr/>
              </a:pPr>
              <a:t>6</a:t>
            </a:fld>
            <a:endParaRPr lang="it-IT" dirty="0"/>
          </a:p>
        </p:txBody>
      </p:sp>
    </p:spTree>
    <p:extLst>
      <p:ext uri="{BB962C8B-B14F-4D97-AF65-F5344CB8AC3E}">
        <p14:creationId xmlns:p14="http://schemas.microsoft.com/office/powerpoint/2010/main" val="2236577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B501FB-0A8F-4BC5-AF81-95D1A9E644C2}"/>
              </a:ext>
            </a:extLst>
          </p:cNvPr>
          <p:cNvSpPr>
            <a:spLocks noGrp="1"/>
          </p:cNvSpPr>
          <p:nvPr>
            <p:ph idx="1"/>
          </p:nvPr>
        </p:nvSpPr>
        <p:spPr/>
        <p:txBody>
          <a:bodyPr>
            <a:normAutofit fontScale="77500" lnSpcReduction="20000"/>
          </a:bodyPr>
          <a:lstStyle/>
          <a:p>
            <a:r>
              <a:rPr lang="en-US" dirty="0" err="1"/>
              <a:t>Distributionally</a:t>
            </a:r>
            <a:r>
              <a:rPr lang="en-US" dirty="0"/>
              <a:t> robust optimization (DRO) addresses uncertainty about the probability distribution: an ambiguity set 𝒫 collects the plausible distributions.</a:t>
            </a:r>
          </a:p>
          <a:p>
            <a:r>
              <a:rPr lang="en-US" dirty="0"/>
              <a:t>DRO commonly minimize the worst-case expected cost over 𝒫. </a:t>
            </a:r>
            <a:r>
              <a:rPr lang="en-US" dirty="0" err="1"/>
              <a:t>min_x</a:t>
            </a:r>
            <a:r>
              <a:rPr lang="en-US" dirty="0"/>
              <a:t> sup_{P∈𝒫} E_P[Q(x, ξ)].</a:t>
            </a:r>
          </a:p>
          <a:p>
            <a:r>
              <a:rPr lang="en-US" dirty="0"/>
              <a:t>Two main constructions of 𝒫:</a:t>
            </a:r>
          </a:p>
          <a:p>
            <a:pPr marL="457200" indent="-457200">
              <a:buFont typeface="Arial" panose="020B0604020202020204" pitchFamily="34" charset="0"/>
              <a:buChar char="•"/>
            </a:pPr>
            <a:r>
              <a:rPr lang="en-US" dirty="0"/>
              <a:t>moment-based: support restrictions and moment constraints;</a:t>
            </a:r>
          </a:p>
          <a:p>
            <a:pPr marL="457200" indent="-457200">
              <a:buFont typeface="Arial" panose="020B0604020202020204" pitchFamily="34" charset="0"/>
              <a:buChar char="•"/>
            </a:pPr>
            <a:r>
              <a:rPr lang="en-US" dirty="0"/>
              <a:t>discrepancy-based: all P within radius ε of P̂_N, measured by a Wasserstein distance or a φ-divergence.</a:t>
            </a:r>
          </a:p>
          <a:p>
            <a:r>
              <a:rPr lang="en-US" dirty="0"/>
              <a:t>DRO bridges the two prequels:</a:t>
            </a:r>
          </a:p>
          <a:p>
            <a:r>
              <a:rPr lang="en-US" dirty="0"/>
              <a:t>𝒫 = {P} recovers stochastic programming, and 𝒫 = {P̂_N} (ε = 0) recovers SAA;</a:t>
            </a:r>
          </a:p>
          <a:p>
            <a:r>
              <a:rPr lang="en-US" dirty="0"/>
              <a:t>𝒫 = all distributions supported on U recovers robust optimization. </a:t>
            </a:r>
          </a:p>
        </p:txBody>
      </p:sp>
      <p:sp>
        <p:nvSpPr>
          <p:cNvPr id="3" name="Title 2">
            <a:extLst>
              <a:ext uri="{FF2B5EF4-FFF2-40B4-BE49-F238E27FC236}">
                <a16:creationId xmlns:a16="http://schemas.microsoft.com/office/drawing/2014/main" id="{ED0BCFFD-D031-4046-9471-10F5FFB9F697}"/>
              </a:ext>
            </a:extLst>
          </p:cNvPr>
          <p:cNvSpPr>
            <a:spLocks noGrp="1"/>
          </p:cNvSpPr>
          <p:nvPr>
            <p:ph type="title"/>
          </p:nvPr>
        </p:nvSpPr>
        <p:spPr/>
        <p:txBody>
          <a:bodyPr>
            <a:normAutofit fontScale="90000"/>
          </a:bodyPr>
          <a:lstStyle/>
          <a:p>
            <a:r>
              <a:rPr lang="en-US" dirty="0"/>
              <a:t>Prequel: </a:t>
            </a:r>
            <a:r>
              <a:rPr lang="en-US" dirty="0" err="1"/>
              <a:t>Distributionally</a:t>
            </a:r>
            <a:r>
              <a:rPr lang="en-US" dirty="0"/>
              <a:t> robust optimization and ambiguity sets</a:t>
            </a:r>
          </a:p>
        </p:txBody>
      </p:sp>
      <p:sp>
        <p:nvSpPr>
          <p:cNvPr id="4" name="Footer Placeholder 3">
            <a:extLst>
              <a:ext uri="{FF2B5EF4-FFF2-40B4-BE49-F238E27FC236}">
                <a16:creationId xmlns:a16="http://schemas.microsoft.com/office/drawing/2014/main" id="{5B86FF4A-6236-4F06-BF8C-287B1FCC539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E98052A-C200-451A-9A11-2C626748E868}"/>
              </a:ext>
            </a:extLst>
          </p:cNvPr>
          <p:cNvSpPr>
            <a:spLocks noGrp="1"/>
          </p:cNvSpPr>
          <p:nvPr>
            <p:ph type="sldNum" sz="quarter" idx="4"/>
          </p:nvPr>
        </p:nvSpPr>
        <p:spPr/>
        <p:txBody>
          <a:bodyPr/>
          <a:lstStyle/>
          <a:p>
            <a:pPr>
              <a:defRPr/>
            </a:pPr>
            <a:fld id="{476DEB1C-3253-4C07-8F02-456B7B2AD41D}" type="slidenum">
              <a:rPr lang="it-IT" smtClean="0"/>
              <a:pPr>
                <a:defRPr/>
              </a:pPr>
              <a:t>7</a:t>
            </a:fld>
            <a:endParaRPr lang="it-IT" dirty="0"/>
          </a:p>
        </p:txBody>
      </p:sp>
    </p:spTree>
    <p:extLst>
      <p:ext uri="{BB962C8B-B14F-4D97-AF65-F5344CB8AC3E}">
        <p14:creationId xmlns:p14="http://schemas.microsoft.com/office/powerpoint/2010/main" val="3005705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4B6583B5-7F64-42AB-A057-4F8FB97D24ED}"/>
              </a:ext>
            </a:extLst>
          </p:cNvPr>
          <p:cNvPicPr>
            <a:picLocks noGrp="1" noChangeAspect="1"/>
          </p:cNvPicPr>
          <p:nvPr>
            <p:ph idx="1"/>
          </p:nvPr>
        </p:nvPicPr>
        <p:blipFill>
          <a:blip r:embed="rId2"/>
          <a:stretch>
            <a:fillRect/>
          </a:stretch>
        </p:blipFill>
        <p:spPr>
          <a:xfrm>
            <a:off x="321921" y="1173163"/>
            <a:ext cx="8500158" cy="5259387"/>
          </a:xfrm>
        </p:spPr>
      </p:pic>
      <p:sp>
        <p:nvSpPr>
          <p:cNvPr id="3" name="Title 2">
            <a:extLst>
              <a:ext uri="{FF2B5EF4-FFF2-40B4-BE49-F238E27FC236}">
                <a16:creationId xmlns:a16="http://schemas.microsoft.com/office/drawing/2014/main" id="{64C105C7-F790-4C5C-9664-9F64E9C485A4}"/>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A7B361A4-E4F3-421E-8C6F-C5493326711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3C2AC033-305E-40A0-8201-27A55FA81C07}"/>
              </a:ext>
            </a:extLst>
          </p:cNvPr>
          <p:cNvSpPr>
            <a:spLocks noGrp="1"/>
          </p:cNvSpPr>
          <p:nvPr>
            <p:ph type="sldNum" sz="quarter" idx="4"/>
          </p:nvPr>
        </p:nvSpPr>
        <p:spPr/>
        <p:txBody>
          <a:bodyPr/>
          <a:lstStyle/>
          <a:p>
            <a:pPr>
              <a:defRPr/>
            </a:pPr>
            <a:fld id="{476DEB1C-3253-4C07-8F02-456B7B2AD41D}" type="slidenum">
              <a:rPr lang="it-IT" smtClean="0"/>
              <a:pPr>
                <a:defRPr/>
              </a:pPr>
              <a:t>8</a:t>
            </a:fld>
            <a:endParaRPr lang="it-IT" dirty="0"/>
          </a:p>
        </p:txBody>
      </p:sp>
    </p:spTree>
    <p:extLst>
      <p:ext uri="{BB962C8B-B14F-4D97-AF65-F5344CB8AC3E}">
        <p14:creationId xmlns:p14="http://schemas.microsoft.com/office/powerpoint/2010/main" val="24355136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5AF1EE-9A17-4ED1-9EB4-0CE70270AFBD}"/>
              </a:ext>
            </a:extLst>
          </p:cNvPr>
          <p:cNvSpPr>
            <a:spLocks noGrp="1"/>
          </p:cNvSpPr>
          <p:nvPr>
            <p:ph idx="1"/>
          </p:nvPr>
        </p:nvSpPr>
        <p:spPr/>
        <p:txBody>
          <a:bodyPr>
            <a:normAutofit fontScale="92500" lnSpcReduction="10000"/>
          </a:bodyPr>
          <a:lstStyle/>
          <a:p>
            <a:r>
              <a:rPr lang="en-US" dirty="0"/>
              <a:t>Predict-then-optimize uses predictions as inputs to an optimization model.</a:t>
            </a:r>
          </a:p>
          <a:p>
            <a:r>
              <a:rPr lang="en-US" dirty="0"/>
              <a:t>Conventional prediction models minimize statistical forecast error, but small forecast errors do not necessarily imply good decisions.</a:t>
            </a:r>
          </a:p>
          <a:p>
            <a:r>
              <a:rPr lang="en-US" dirty="0"/>
              <a:t>SPO trains the predictor to improve downstream decision quality (</a:t>
            </a:r>
            <a:r>
              <a:rPr lang="en-US" dirty="0" err="1"/>
              <a:t>Elmachtoub</a:t>
            </a:r>
            <a:r>
              <a:rPr lang="en-US" dirty="0"/>
              <a:t>, </a:t>
            </a:r>
            <a:r>
              <a:rPr lang="en-US" dirty="0" err="1"/>
              <a:t>Grigas</a:t>
            </a:r>
            <a:r>
              <a:rPr lang="en-US" dirty="0"/>
              <a:t>, 2017). It uses a tractable surrogate loss to train predictions according to their decision consequences</a:t>
            </a:r>
          </a:p>
          <a:p>
            <a:r>
              <a:rPr lang="en-US" dirty="0"/>
              <a:t>Decision awareness therefore enters through the predictor’s training objective, but it does not optimize over an ambiguity set of distributions.</a:t>
            </a:r>
          </a:p>
          <a:p>
            <a:endParaRPr lang="en-US" dirty="0"/>
          </a:p>
        </p:txBody>
      </p:sp>
      <p:sp>
        <p:nvSpPr>
          <p:cNvPr id="3" name="Title 2">
            <a:extLst>
              <a:ext uri="{FF2B5EF4-FFF2-40B4-BE49-F238E27FC236}">
                <a16:creationId xmlns:a16="http://schemas.microsoft.com/office/drawing/2014/main" id="{18FC9CD1-39FD-43C9-A98B-911D0AD78C34}"/>
              </a:ext>
            </a:extLst>
          </p:cNvPr>
          <p:cNvSpPr>
            <a:spLocks noGrp="1"/>
          </p:cNvSpPr>
          <p:nvPr>
            <p:ph type="title"/>
          </p:nvPr>
        </p:nvSpPr>
        <p:spPr/>
        <p:txBody>
          <a:bodyPr>
            <a:normAutofit fontScale="90000"/>
          </a:bodyPr>
          <a:lstStyle/>
          <a:p>
            <a:r>
              <a:rPr lang="en-US" dirty="0"/>
              <a:t>Smart Predict-then-Optimize (SPO)</a:t>
            </a:r>
          </a:p>
        </p:txBody>
      </p:sp>
      <p:sp>
        <p:nvSpPr>
          <p:cNvPr id="4" name="Footer Placeholder 3">
            <a:extLst>
              <a:ext uri="{FF2B5EF4-FFF2-40B4-BE49-F238E27FC236}">
                <a16:creationId xmlns:a16="http://schemas.microsoft.com/office/drawing/2014/main" id="{A965E942-CED0-41AF-8B28-63461A3F714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586AA0F-6EF2-4B30-9606-42EF5EBF5FC4}"/>
              </a:ext>
            </a:extLst>
          </p:cNvPr>
          <p:cNvSpPr>
            <a:spLocks noGrp="1"/>
          </p:cNvSpPr>
          <p:nvPr>
            <p:ph type="sldNum" sz="quarter" idx="4"/>
          </p:nvPr>
        </p:nvSpPr>
        <p:spPr/>
        <p:txBody>
          <a:bodyPr/>
          <a:lstStyle/>
          <a:p>
            <a:pPr>
              <a:defRPr/>
            </a:pPr>
            <a:fld id="{476DEB1C-3253-4C07-8F02-456B7B2AD41D}" type="slidenum">
              <a:rPr lang="it-IT" smtClean="0"/>
              <a:pPr>
                <a:defRPr/>
              </a:pPr>
              <a:t>9</a:t>
            </a:fld>
            <a:endParaRPr lang="it-IT" dirty="0"/>
          </a:p>
        </p:txBody>
      </p:sp>
    </p:spTree>
    <p:extLst>
      <p:ext uri="{BB962C8B-B14F-4D97-AF65-F5344CB8AC3E}">
        <p14:creationId xmlns:p14="http://schemas.microsoft.com/office/powerpoint/2010/main" val="2463976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A9BBBB-AE7E-4A4A-BAC9-F2A90D2DAFE3}"/>
              </a:ext>
            </a:extLst>
          </p:cNvPr>
          <p:cNvSpPr>
            <a:spLocks noGrp="1"/>
          </p:cNvSpPr>
          <p:nvPr>
            <p:ph idx="1"/>
          </p:nvPr>
        </p:nvSpPr>
        <p:spPr/>
        <p:txBody>
          <a:bodyPr/>
          <a:lstStyle/>
          <a:p>
            <a:pPr algn="l"/>
            <a:r>
              <a:rPr lang="en-US" sz="1800" b="0" i="0" u="none" strike="noStrike" baseline="0" dirty="0">
                <a:solidFill>
                  <a:srgbClr val="000000"/>
                </a:solidFill>
                <a:latin typeface="SFRM1000"/>
              </a:rPr>
              <a:t>The BESO framework integrates forecasting and optimization through bidirectional coupling: the forecasting component embeds optimization-relevant structure, while the optimization component is built on forecast outputs and their uncertainty characterization.</a:t>
            </a:r>
          </a:p>
          <a:p>
            <a:pPr algn="l"/>
            <a:r>
              <a:rPr lang="en-US" sz="1800" b="0" i="0" u="none" strike="noStrike" baseline="0" dirty="0">
                <a:solidFill>
                  <a:srgbClr val="000000"/>
                </a:solidFill>
                <a:latin typeface="SFRM1000"/>
              </a:rPr>
              <a:t>As noted in Section </a:t>
            </a:r>
            <a:r>
              <a:rPr lang="en-US" sz="1800" b="0" i="0" u="none" strike="noStrike" baseline="0" dirty="0">
                <a:solidFill>
                  <a:srgbClr val="0000FF"/>
                </a:solidFill>
                <a:latin typeface="SFRM1000"/>
              </a:rPr>
              <a:t>1</a:t>
            </a:r>
            <a:r>
              <a:rPr lang="en-US" sz="1800" b="0" i="0" u="none" strike="noStrike" baseline="0" dirty="0">
                <a:solidFill>
                  <a:srgbClr val="000000"/>
                </a:solidFill>
                <a:latin typeface="SFRM1000"/>
              </a:rPr>
              <a:t>, this design is most appropriate when epistemic uncertainty dominates aleatoric uncertainty, i.e., when innovation noise and random shocks do not dominate forecast errors. Under these conditions, the point forecasts used by the optimizer may be inaccurate on short or non-stationary series, but they remain usable as long as their errors are not systematically biased or unstable. The two components can be integrated at different levels, resulting in two models: BESO-SAA and BESO-DRO</a:t>
            </a:r>
            <a:endParaRPr lang="en-US" dirty="0"/>
          </a:p>
        </p:txBody>
      </p:sp>
      <p:sp>
        <p:nvSpPr>
          <p:cNvPr id="3" name="Title 2">
            <a:extLst>
              <a:ext uri="{FF2B5EF4-FFF2-40B4-BE49-F238E27FC236}">
                <a16:creationId xmlns:a16="http://schemas.microsoft.com/office/drawing/2014/main" id="{2B720547-2DE3-4BBD-BF35-06DA076B8A88}"/>
              </a:ext>
            </a:extLst>
          </p:cNvPr>
          <p:cNvSpPr>
            <a:spLocks noGrp="1"/>
          </p:cNvSpPr>
          <p:nvPr>
            <p:ph type="title"/>
          </p:nvPr>
        </p:nvSpPr>
        <p:spPr/>
        <p:txBody>
          <a:bodyPr/>
          <a:lstStyle/>
          <a:p>
            <a:r>
              <a:rPr lang="en-US" dirty="0"/>
              <a:t>BESO, generalities</a:t>
            </a:r>
          </a:p>
        </p:txBody>
      </p:sp>
      <p:sp>
        <p:nvSpPr>
          <p:cNvPr id="4" name="Footer Placeholder 3">
            <a:extLst>
              <a:ext uri="{FF2B5EF4-FFF2-40B4-BE49-F238E27FC236}">
                <a16:creationId xmlns:a16="http://schemas.microsoft.com/office/drawing/2014/main" id="{A06A7992-E6BD-43A7-B5BE-486788142DF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2421DF5-40A0-4F32-BB4C-4C310053859F}"/>
              </a:ext>
            </a:extLst>
          </p:cNvPr>
          <p:cNvSpPr>
            <a:spLocks noGrp="1"/>
          </p:cNvSpPr>
          <p:nvPr>
            <p:ph type="sldNum" sz="quarter" idx="4"/>
          </p:nvPr>
        </p:nvSpPr>
        <p:spPr/>
        <p:txBody>
          <a:bodyPr/>
          <a:lstStyle/>
          <a:p>
            <a:pPr>
              <a:defRPr/>
            </a:pPr>
            <a:fld id="{476DEB1C-3253-4C07-8F02-456B7B2AD41D}" type="slidenum">
              <a:rPr lang="it-IT" smtClean="0"/>
              <a:pPr>
                <a:defRPr/>
              </a:pPr>
              <a:t>10</a:t>
            </a:fld>
            <a:endParaRPr lang="it-IT" dirty="0"/>
          </a:p>
        </p:txBody>
      </p:sp>
    </p:spTree>
    <p:extLst>
      <p:ext uri="{BB962C8B-B14F-4D97-AF65-F5344CB8AC3E}">
        <p14:creationId xmlns:p14="http://schemas.microsoft.com/office/powerpoint/2010/main" val="655634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281A3F-3C97-4C1D-8713-5E9CB1516DBD}"/>
              </a:ext>
            </a:extLst>
          </p:cNvPr>
          <p:cNvSpPr>
            <a:spLocks noGrp="1"/>
          </p:cNvSpPr>
          <p:nvPr>
            <p:ph idx="1"/>
          </p:nvPr>
        </p:nvSpPr>
        <p:spPr>
          <a:xfrm>
            <a:off x="255875" y="1000180"/>
            <a:ext cx="8845093" cy="5588710"/>
          </a:xfrm>
        </p:spPr>
        <p:txBody>
          <a:bodyPr>
            <a:noAutofit/>
          </a:bodyPr>
          <a:lstStyle/>
          <a:p>
            <a:pPr>
              <a:spcBef>
                <a:spcPts val="1200"/>
              </a:spcBef>
            </a:pPr>
            <a:r>
              <a:rPr lang="en-US" sz="2200" dirty="0"/>
              <a:t>Three widely used families of forecasting methods are:</a:t>
            </a:r>
          </a:p>
          <a:p>
            <a:pPr>
              <a:spcBef>
                <a:spcPts val="1200"/>
              </a:spcBef>
            </a:pPr>
            <a:r>
              <a:rPr lang="en-US" sz="2200" b="1" dirty="0"/>
              <a:t>Statistical models</a:t>
            </a:r>
            <a:r>
              <a:rPr lang="en-US" sz="2200" dirty="0"/>
              <a:t> specify explicit structures for temporal dependence and uncertainty.</a:t>
            </a:r>
          </a:p>
          <a:p>
            <a:pPr marL="342900" indent="-342900">
              <a:spcBef>
                <a:spcPts val="1200"/>
              </a:spcBef>
              <a:buFont typeface="Arial" panose="020B0604020202020204" pitchFamily="34" charset="0"/>
              <a:buChar char="•"/>
            </a:pPr>
            <a:r>
              <a:rPr lang="en-US" sz="2200" dirty="0"/>
              <a:t>Examples include ARIMA/SARIMA, ETS, and structural state-space models.</a:t>
            </a:r>
          </a:p>
          <a:p>
            <a:pPr marL="342900" indent="-342900">
              <a:spcBef>
                <a:spcPts val="1200"/>
              </a:spcBef>
              <a:buFont typeface="Arial" panose="020B0604020202020204" pitchFamily="34" charset="0"/>
              <a:buChar char="•"/>
            </a:pPr>
            <a:r>
              <a:rPr lang="en-US" sz="2200" dirty="0"/>
              <a:t>Their assumptions about dynamics and errors depend on the model.</a:t>
            </a:r>
          </a:p>
          <a:p>
            <a:pPr>
              <a:spcBef>
                <a:spcPts val="1200"/>
              </a:spcBef>
            </a:pPr>
            <a:r>
              <a:rPr lang="en-US" sz="2200" b="1" dirty="0"/>
              <a:t>Neural models</a:t>
            </a:r>
            <a:r>
              <a:rPr lang="en-US" sz="2200" dirty="0"/>
              <a:t> learn flexible, potentially nonlinear relationships within a chosen architecture.</a:t>
            </a:r>
          </a:p>
          <a:p>
            <a:pPr marL="342900" indent="-342900">
              <a:spcBef>
                <a:spcPts val="1200"/>
              </a:spcBef>
              <a:buFont typeface="Arial" panose="020B0604020202020204" pitchFamily="34" charset="0"/>
              <a:buChar char="•"/>
            </a:pPr>
            <a:r>
              <a:rPr lang="en-US" sz="2200" dirty="0"/>
              <a:t>Examples include MLPs, LSTMs, GRUs, temporal CNNs, and Transformers.</a:t>
            </a:r>
          </a:p>
          <a:p>
            <a:pPr>
              <a:spcBef>
                <a:spcPts val="1200"/>
              </a:spcBef>
            </a:pPr>
            <a:r>
              <a:rPr lang="en-US" sz="2200" b="1" dirty="0"/>
              <a:t>Tree-based ensembles</a:t>
            </a:r>
            <a:r>
              <a:rPr lang="en-US" sz="2200" dirty="0"/>
              <a:t> combine decision trees using lagged observations and derived features.</a:t>
            </a:r>
          </a:p>
          <a:p>
            <a:pPr marL="342900" indent="-342900">
              <a:spcBef>
                <a:spcPts val="1200"/>
              </a:spcBef>
              <a:buFont typeface="Arial" panose="020B0604020202020204" pitchFamily="34" charset="0"/>
              <a:buChar char="•"/>
            </a:pPr>
            <a:r>
              <a:rPr lang="en-US" sz="2200" dirty="0"/>
              <a:t>Examples include Random Forests and gradient boosting methods such as </a:t>
            </a:r>
            <a:r>
              <a:rPr lang="en-US" sz="2200" dirty="0" err="1"/>
              <a:t>XGBoost</a:t>
            </a:r>
            <a:r>
              <a:rPr lang="en-US" sz="2200" dirty="0"/>
              <a:t> and </a:t>
            </a:r>
            <a:r>
              <a:rPr lang="en-US" sz="2200" dirty="0" err="1"/>
              <a:t>LightGBM</a:t>
            </a:r>
            <a:r>
              <a:rPr lang="en-US" sz="2200" dirty="0"/>
              <a:t>.</a:t>
            </a:r>
          </a:p>
          <a:p>
            <a:pPr>
              <a:spcBef>
                <a:spcPts val="1200"/>
              </a:spcBef>
            </a:pPr>
            <a:r>
              <a:rPr lang="en-US" sz="2200" b="1" dirty="0"/>
              <a:t>No approach consistently outperforms all others.</a:t>
            </a:r>
            <a:endParaRPr lang="en-US" sz="2200" dirty="0"/>
          </a:p>
        </p:txBody>
      </p:sp>
      <p:sp>
        <p:nvSpPr>
          <p:cNvPr id="3" name="Title 2">
            <a:extLst>
              <a:ext uri="{FF2B5EF4-FFF2-40B4-BE49-F238E27FC236}">
                <a16:creationId xmlns:a16="http://schemas.microsoft.com/office/drawing/2014/main" id="{1EA5DEEE-7D13-48F3-B371-6C1D0C36682A}"/>
              </a:ext>
            </a:extLst>
          </p:cNvPr>
          <p:cNvSpPr>
            <a:spLocks noGrp="1"/>
          </p:cNvSpPr>
          <p:nvPr>
            <p:ph type="title"/>
          </p:nvPr>
        </p:nvSpPr>
        <p:spPr/>
        <p:txBody>
          <a:bodyPr>
            <a:normAutofit fontScale="90000"/>
          </a:bodyPr>
          <a:lstStyle/>
          <a:p>
            <a:r>
              <a:rPr lang="en-US" dirty="0"/>
              <a:t>Univariate time series forecasting</a:t>
            </a:r>
          </a:p>
        </p:txBody>
      </p:sp>
      <p:sp>
        <p:nvSpPr>
          <p:cNvPr id="4" name="Footer Placeholder 3">
            <a:extLst>
              <a:ext uri="{FF2B5EF4-FFF2-40B4-BE49-F238E27FC236}">
                <a16:creationId xmlns:a16="http://schemas.microsoft.com/office/drawing/2014/main" id="{B12BE902-6A4A-4E6D-9690-05584D54AF7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7AFADAE-947F-49E8-ACB4-97DD91B308F1}"/>
              </a:ext>
            </a:extLst>
          </p:cNvPr>
          <p:cNvSpPr>
            <a:spLocks noGrp="1"/>
          </p:cNvSpPr>
          <p:nvPr>
            <p:ph type="sldNum" sz="quarter" idx="4"/>
          </p:nvPr>
        </p:nvSpPr>
        <p:spPr/>
        <p:txBody>
          <a:bodyPr/>
          <a:lstStyle/>
          <a:p>
            <a:pPr>
              <a:defRPr/>
            </a:pPr>
            <a:fld id="{476DEB1C-3253-4C07-8F02-456B7B2AD41D}" type="slidenum">
              <a:rPr lang="it-IT" smtClean="0"/>
              <a:pPr>
                <a:defRPr/>
              </a:pPr>
              <a:t>11</a:t>
            </a:fld>
            <a:endParaRPr lang="it-IT" dirty="0"/>
          </a:p>
        </p:txBody>
      </p:sp>
    </p:spTree>
    <p:extLst>
      <p:ext uri="{BB962C8B-B14F-4D97-AF65-F5344CB8AC3E}">
        <p14:creationId xmlns:p14="http://schemas.microsoft.com/office/powerpoint/2010/main" val="1421134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0F4A01-B99A-4756-A4EE-D5FAB4A7F605}"/>
              </a:ext>
            </a:extLst>
          </p:cNvPr>
          <p:cNvSpPr>
            <a:spLocks noGrp="1"/>
          </p:cNvSpPr>
          <p:nvPr>
            <p:ph idx="1"/>
          </p:nvPr>
        </p:nvSpPr>
        <p:spPr/>
        <p:txBody>
          <a:bodyPr>
            <a:normAutofit/>
          </a:bodyPr>
          <a:lstStyle/>
          <a:p>
            <a:pPr algn="l"/>
            <a:r>
              <a:rPr lang="en-US" sz="1800" b="0" i="0" u="none" strike="noStrike" baseline="0" dirty="0">
                <a:solidFill>
                  <a:srgbClr val="000000"/>
                </a:solidFill>
                <a:latin typeface="SFRM1000"/>
              </a:rPr>
              <a:t>Data-driven approaches to estimating the distribution of stochastic variables have gained increasing attention as alternatives to classical parametric modeling, particularly in settings where assumptions of stationarity or known distributional forms are invalid, making them especially suited for real-world applications with complex, noisy, or limited information.</a:t>
            </a:r>
          </a:p>
          <a:p>
            <a:pPr algn="l"/>
            <a:r>
              <a:rPr lang="en-US" sz="1800" b="0" i="0" u="none" strike="noStrike" baseline="0" dirty="0">
                <a:solidFill>
                  <a:srgbClr val="000000"/>
                </a:solidFill>
                <a:latin typeface="SFRM1000"/>
              </a:rPr>
              <a:t>Among the most prominent techniques are resampling-based methods such as the Bootstrap (</a:t>
            </a:r>
            <a:r>
              <a:rPr lang="en-US" sz="1800" b="0" i="0" u="none" strike="noStrike" baseline="0" dirty="0" err="1">
                <a:solidFill>
                  <a:srgbClr val="0000FF"/>
                </a:solidFill>
                <a:latin typeface="SFRM1000"/>
              </a:rPr>
              <a:t>Efron</a:t>
            </a:r>
            <a:r>
              <a:rPr lang="en-US" sz="1800" b="0" i="0" u="none" strike="noStrike" baseline="0" dirty="0">
                <a:solidFill>
                  <a:srgbClr val="0000FF"/>
                </a:solidFill>
                <a:latin typeface="SFRM1000"/>
              </a:rPr>
              <a:t> 1979</a:t>
            </a:r>
            <a:r>
              <a:rPr lang="en-US" sz="1800" b="0" i="0" u="none" strike="noStrike" baseline="0" dirty="0">
                <a:solidFill>
                  <a:srgbClr val="000000"/>
                </a:solidFill>
                <a:latin typeface="SFRM1000"/>
              </a:rPr>
              <a:t>), which generates empirical distributions by repeatedly sampling from the data with replacement. </a:t>
            </a:r>
          </a:p>
          <a:p>
            <a:pPr algn="l"/>
            <a:r>
              <a:rPr lang="en-US" sz="1800" b="0" i="0" u="none" strike="noStrike" baseline="0" dirty="0">
                <a:solidFill>
                  <a:srgbClr val="000000"/>
                </a:solidFill>
                <a:latin typeface="SFRM1000"/>
              </a:rPr>
              <a:t>The Maximum Entropy Bootstrap (MEB) (</a:t>
            </a:r>
            <a:r>
              <a:rPr lang="en-US" sz="1800" b="0" i="0" u="none" strike="noStrike" baseline="0" dirty="0">
                <a:solidFill>
                  <a:srgbClr val="0000FF"/>
                </a:solidFill>
                <a:latin typeface="SFRM1000"/>
              </a:rPr>
              <a:t>Vinod 2004</a:t>
            </a:r>
            <a:r>
              <a:rPr lang="en-US" sz="1800" b="0" i="0" u="none" strike="noStrike" baseline="0" dirty="0">
                <a:solidFill>
                  <a:srgbClr val="000000"/>
                </a:solidFill>
                <a:latin typeface="SFRM1000"/>
              </a:rPr>
              <a:t>) extends this idea by producing replicates that preserve dependence structures in time series data, making it particularly valuable for short or nonstationary sequences.</a:t>
            </a:r>
          </a:p>
          <a:p>
            <a:pPr algn="l"/>
            <a:r>
              <a:rPr lang="en-US" sz="1800" b="0" i="0" u="none" strike="noStrike" baseline="0" dirty="0">
                <a:latin typeface="SFRM1000"/>
              </a:rPr>
              <a:t>In our framework, MEB is used as originally defined and a core predictive model is fitted to each MEB replicate, its point forecasts over the horizon form one trajectory. The </a:t>
            </a:r>
            <a:r>
              <a:rPr lang="en-US" sz="1800" b="0" i="0" u="none" strike="noStrike" baseline="0" dirty="0">
                <a:latin typeface="CMMI10"/>
              </a:rPr>
              <a:t>n </a:t>
            </a:r>
            <a:r>
              <a:rPr lang="en-US" sz="1800" b="0" i="0" u="none" strike="noStrike" baseline="0" dirty="0">
                <a:latin typeface="SFRM1000"/>
              </a:rPr>
              <a:t>trajectories constitute the scenario pool.</a:t>
            </a:r>
            <a:endParaRPr lang="en-US" dirty="0"/>
          </a:p>
        </p:txBody>
      </p:sp>
      <p:sp>
        <p:nvSpPr>
          <p:cNvPr id="3" name="Title 2">
            <a:extLst>
              <a:ext uri="{FF2B5EF4-FFF2-40B4-BE49-F238E27FC236}">
                <a16:creationId xmlns:a16="http://schemas.microsoft.com/office/drawing/2014/main" id="{FFD9A083-CFF4-4530-BA89-2573051E4351}"/>
              </a:ext>
            </a:extLst>
          </p:cNvPr>
          <p:cNvSpPr>
            <a:spLocks noGrp="1"/>
          </p:cNvSpPr>
          <p:nvPr>
            <p:ph type="title"/>
          </p:nvPr>
        </p:nvSpPr>
        <p:spPr/>
        <p:txBody>
          <a:bodyPr/>
          <a:lstStyle/>
          <a:p>
            <a:r>
              <a:rPr lang="en-US" dirty="0"/>
              <a:t>Resampling, bootstrapping</a:t>
            </a:r>
          </a:p>
        </p:txBody>
      </p:sp>
      <p:sp>
        <p:nvSpPr>
          <p:cNvPr id="4" name="Footer Placeholder 3">
            <a:extLst>
              <a:ext uri="{FF2B5EF4-FFF2-40B4-BE49-F238E27FC236}">
                <a16:creationId xmlns:a16="http://schemas.microsoft.com/office/drawing/2014/main" id="{77E48CA6-96EC-4FE0-95F7-7F9901FABC5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B905E57-1A67-4E1A-BC81-0AF0A346DD78}"/>
              </a:ext>
            </a:extLst>
          </p:cNvPr>
          <p:cNvSpPr>
            <a:spLocks noGrp="1"/>
          </p:cNvSpPr>
          <p:nvPr>
            <p:ph type="sldNum" sz="quarter" idx="4"/>
          </p:nvPr>
        </p:nvSpPr>
        <p:spPr/>
        <p:txBody>
          <a:bodyPr/>
          <a:lstStyle/>
          <a:p>
            <a:pPr>
              <a:defRPr/>
            </a:pPr>
            <a:fld id="{476DEB1C-3253-4C07-8F02-456B7B2AD41D}" type="slidenum">
              <a:rPr lang="it-IT" smtClean="0"/>
              <a:pPr>
                <a:defRPr/>
              </a:pPr>
              <a:t>12</a:t>
            </a:fld>
            <a:endParaRPr lang="it-IT" dirty="0"/>
          </a:p>
        </p:txBody>
      </p:sp>
    </p:spTree>
    <p:extLst>
      <p:ext uri="{BB962C8B-B14F-4D97-AF65-F5344CB8AC3E}">
        <p14:creationId xmlns:p14="http://schemas.microsoft.com/office/powerpoint/2010/main" val="3753731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6C74-2F5A-4BD2-A2E7-1E2A91EE866B}"/>
              </a:ext>
            </a:extLst>
          </p:cNvPr>
          <p:cNvSpPr>
            <a:spLocks noGrp="1"/>
          </p:cNvSpPr>
          <p:nvPr>
            <p:ph idx="1"/>
          </p:nvPr>
        </p:nvSpPr>
        <p:spPr>
          <a:xfrm>
            <a:off x="298907" y="954460"/>
            <a:ext cx="7857541" cy="865196"/>
          </a:xfrm>
        </p:spPr>
        <p:txBody>
          <a:bodyPr>
            <a:normAutofit lnSpcReduction="10000"/>
          </a:bodyPr>
          <a:lstStyle/>
          <a:p>
            <a:r>
              <a:rPr lang="en-US" dirty="0"/>
              <a:t>Economics-related time series can often be effectively decomposed using STL</a:t>
            </a:r>
          </a:p>
        </p:txBody>
      </p:sp>
      <p:sp>
        <p:nvSpPr>
          <p:cNvPr id="3" name="Title 2">
            <a:extLst>
              <a:ext uri="{FF2B5EF4-FFF2-40B4-BE49-F238E27FC236}">
                <a16:creationId xmlns:a16="http://schemas.microsoft.com/office/drawing/2014/main" id="{1A638FB1-ED62-4625-865F-D06016D5F91A}"/>
              </a:ext>
            </a:extLst>
          </p:cNvPr>
          <p:cNvSpPr>
            <a:spLocks noGrp="1"/>
          </p:cNvSpPr>
          <p:nvPr>
            <p:ph type="title"/>
          </p:nvPr>
        </p:nvSpPr>
        <p:spPr/>
        <p:txBody>
          <a:bodyPr/>
          <a:lstStyle/>
          <a:p>
            <a:r>
              <a:rPr lang="en-US" dirty="0" err="1"/>
              <a:t>Prewhitening</a:t>
            </a:r>
            <a:endParaRPr lang="en-US" dirty="0"/>
          </a:p>
        </p:txBody>
      </p:sp>
      <p:sp>
        <p:nvSpPr>
          <p:cNvPr id="4" name="Footer Placeholder 3">
            <a:extLst>
              <a:ext uri="{FF2B5EF4-FFF2-40B4-BE49-F238E27FC236}">
                <a16:creationId xmlns:a16="http://schemas.microsoft.com/office/drawing/2014/main" id="{645F0937-F769-4F6E-8580-CBBCA4D251D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71836D5-1DDA-427B-8458-42079267F7A7}"/>
              </a:ext>
            </a:extLst>
          </p:cNvPr>
          <p:cNvSpPr>
            <a:spLocks noGrp="1"/>
          </p:cNvSpPr>
          <p:nvPr>
            <p:ph type="sldNum" sz="quarter" idx="4"/>
          </p:nvPr>
        </p:nvSpPr>
        <p:spPr/>
        <p:txBody>
          <a:bodyPr/>
          <a:lstStyle/>
          <a:p>
            <a:pPr>
              <a:defRPr/>
            </a:pPr>
            <a:fld id="{476DEB1C-3253-4C07-8F02-456B7B2AD41D}" type="slidenum">
              <a:rPr lang="it-IT" smtClean="0"/>
              <a:pPr>
                <a:defRPr/>
              </a:pPr>
              <a:t>13</a:t>
            </a:fld>
            <a:endParaRPr lang="it-IT" dirty="0"/>
          </a:p>
        </p:txBody>
      </p:sp>
      <p:graphicFrame>
        <p:nvGraphicFramePr>
          <p:cNvPr id="6" name="Chart 5">
            <a:extLst>
              <a:ext uri="{FF2B5EF4-FFF2-40B4-BE49-F238E27FC236}">
                <a16:creationId xmlns:a16="http://schemas.microsoft.com/office/drawing/2014/main" id="{914F6936-617F-4265-A226-E04C2919F950}"/>
              </a:ext>
            </a:extLst>
          </p:cNvPr>
          <p:cNvGraphicFramePr>
            <a:graphicFrameLocks/>
          </p:cNvGraphicFramePr>
          <p:nvPr/>
        </p:nvGraphicFramePr>
        <p:xfrm>
          <a:off x="710565" y="1747564"/>
          <a:ext cx="3632835" cy="26654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59D514D4-2DBB-41FB-9AD7-62DE94011550}"/>
              </a:ext>
            </a:extLst>
          </p:cNvPr>
          <p:cNvGraphicFramePr>
            <a:graphicFrameLocks/>
          </p:cNvGraphicFramePr>
          <p:nvPr/>
        </p:nvGraphicFramePr>
        <p:xfrm>
          <a:off x="4765803" y="1747564"/>
          <a:ext cx="3759071" cy="254097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F4E2309E-D802-4D6E-8335-D3CFBCC3F768}"/>
              </a:ext>
            </a:extLst>
          </p:cNvPr>
          <p:cNvGraphicFramePr>
            <a:graphicFrameLocks/>
          </p:cNvGraphicFramePr>
          <p:nvPr/>
        </p:nvGraphicFramePr>
        <p:xfrm>
          <a:off x="4773168" y="4389342"/>
          <a:ext cx="3783538" cy="227071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a:extLst>
              <a:ext uri="{FF2B5EF4-FFF2-40B4-BE49-F238E27FC236}">
                <a16:creationId xmlns:a16="http://schemas.microsoft.com/office/drawing/2014/main" id="{AA42D1C7-B668-42A5-82F9-3F90EC885BFC}"/>
              </a:ext>
            </a:extLst>
          </p:cNvPr>
          <p:cNvSpPr txBox="1"/>
          <p:nvPr/>
        </p:nvSpPr>
        <p:spPr>
          <a:xfrm>
            <a:off x="2022604" y="5449824"/>
            <a:ext cx="2651760" cy="539496"/>
          </a:xfrm>
          <a:prstGeom prst="rect">
            <a:avLst/>
          </a:prstGeom>
          <a:noFill/>
          <a:ln>
            <a:noFill/>
          </a:ln>
        </p:spPr>
        <p:txBody>
          <a:bodyPr wrap="none" rtlCol="0" anchor="t" anchorCtr="0">
            <a:noAutofit/>
          </a:bodyPr>
          <a:lstStyle/>
          <a:p>
            <a:pPr algn="l"/>
            <a:r>
              <a:rPr lang="en-US" sz="2400" dirty="0"/>
              <a:t>(almost) white noise</a:t>
            </a:r>
          </a:p>
        </p:txBody>
      </p:sp>
      <p:sp>
        <p:nvSpPr>
          <p:cNvPr id="13" name="Arrow: Right 12">
            <a:extLst>
              <a:ext uri="{FF2B5EF4-FFF2-40B4-BE49-F238E27FC236}">
                <a16:creationId xmlns:a16="http://schemas.microsoft.com/office/drawing/2014/main" id="{CF9D577B-C269-4CD9-95DF-EE1814141D1C}"/>
              </a:ext>
            </a:extLst>
          </p:cNvPr>
          <p:cNvSpPr/>
          <p:nvPr/>
        </p:nvSpPr>
        <p:spPr>
          <a:xfrm>
            <a:off x="4343400" y="3018050"/>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
        <p:nvSpPr>
          <p:cNvPr id="14" name="Arrow: Right 13">
            <a:extLst>
              <a:ext uri="{FF2B5EF4-FFF2-40B4-BE49-F238E27FC236}">
                <a16:creationId xmlns:a16="http://schemas.microsoft.com/office/drawing/2014/main" id="{F98DDE43-5D64-48BC-A221-6CB6A0A6D20B}"/>
              </a:ext>
            </a:extLst>
          </p:cNvPr>
          <p:cNvSpPr/>
          <p:nvPr/>
        </p:nvSpPr>
        <p:spPr>
          <a:xfrm rot="5400000">
            <a:off x="6471424" y="4030516"/>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Tree>
    <p:extLst>
      <p:ext uri="{BB962C8B-B14F-4D97-AF65-F5344CB8AC3E}">
        <p14:creationId xmlns:p14="http://schemas.microsoft.com/office/powerpoint/2010/main" val="11754588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8FF44D-8BCC-46EB-B005-E0626A2CEA68}"/>
              </a:ext>
            </a:extLst>
          </p:cNvPr>
          <p:cNvSpPr>
            <a:spLocks noGrp="1"/>
          </p:cNvSpPr>
          <p:nvPr>
            <p:ph idx="1"/>
          </p:nvPr>
        </p:nvSpPr>
        <p:spPr>
          <a:xfrm>
            <a:off x="298907" y="1283644"/>
            <a:ext cx="8546175" cy="4275908"/>
          </a:xfrm>
        </p:spPr>
        <p:txBody>
          <a:bodyPr>
            <a:normAutofit fontScale="92500"/>
          </a:bodyPr>
          <a:lstStyle/>
          <a:p>
            <a:pPr>
              <a:spcBef>
                <a:spcPts val="2400"/>
              </a:spcBef>
            </a:pPr>
            <a:r>
              <a:rPr lang="en-US" dirty="0"/>
              <a:t>The </a:t>
            </a:r>
            <a:r>
              <a:rPr lang="en-US" dirty="0" err="1"/>
              <a:t>prewhitened</a:t>
            </a:r>
            <a:r>
              <a:rPr lang="en-US" dirty="0"/>
              <a:t> series only retains </a:t>
            </a:r>
            <a:r>
              <a:rPr lang="en-US" dirty="0">
                <a:solidFill>
                  <a:srgbClr val="C00000"/>
                </a:solidFill>
              </a:rPr>
              <a:t>residuals unexplained </a:t>
            </a:r>
            <a:r>
              <a:rPr lang="en-US" dirty="0"/>
              <a:t>by the model (i.e. </a:t>
            </a:r>
            <a:r>
              <a:rPr lang="en-US" i="1" dirty="0"/>
              <a:t>random shock</a:t>
            </a:r>
            <a:r>
              <a:rPr lang="en-US" dirty="0"/>
              <a:t>).</a:t>
            </a:r>
          </a:p>
          <a:p>
            <a:pPr>
              <a:spcBef>
                <a:spcPts val="2400"/>
              </a:spcBef>
            </a:pPr>
            <a:r>
              <a:rPr lang="en-US" dirty="0"/>
              <a:t>Residuals are (hopefully) </a:t>
            </a:r>
            <a:r>
              <a:rPr lang="en-US" dirty="0">
                <a:solidFill>
                  <a:srgbClr val="C00000"/>
                </a:solidFill>
              </a:rPr>
              <a:t>normally distributed</a:t>
            </a:r>
            <a:r>
              <a:rPr lang="en-US" dirty="0"/>
              <a:t>.</a:t>
            </a:r>
          </a:p>
          <a:p>
            <a:pPr>
              <a:spcBef>
                <a:spcPts val="2400"/>
              </a:spcBef>
            </a:pPr>
            <a:r>
              <a:rPr lang="en-US" dirty="0"/>
              <a:t>The observed residuals are </a:t>
            </a:r>
            <a:r>
              <a:rPr lang="en-US" dirty="0">
                <a:solidFill>
                  <a:srgbClr val="C00000"/>
                </a:solidFill>
              </a:rPr>
              <a:t>realizations of a random variable </a:t>
            </a:r>
            <a:r>
              <a:rPr lang="en-US" dirty="0"/>
              <a:t>whose distribution can be identified.</a:t>
            </a:r>
          </a:p>
          <a:p>
            <a:pPr>
              <a:spcBef>
                <a:spcPts val="2400"/>
              </a:spcBef>
            </a:pPr>
            <a:r>
              <a:rPr lang="en-US" dirty="0"/>
              <a:t>Using the average and standard deviation of the residual series, I can </a:t>
            </a:r>
            <a:r>
              <a:rPr lang="en-US" dirty="0">
                <a:solidFill>
                  <a:srgbClr val="C00000"/>
                </a:solidFill>
              </a:rPr>
              <a:t>generate alternative samples </a:t>
            </a:r>
            <a:r>
              <a:rPr lang="en-US" dirty="0"/>
              <a:t>that are compatible with the overall model, i.e. samples that could have occurred.</a:t>
            </a:r>
          </a:p>
        </p:txBody>
      </p:sp>
      <p:sp>
        <p:nvSpPr>
          <p:cNvPr id="3" name="Title 2">
            <a:extLst>
              <a:ext uri="{FF2B5EF4-FFF2-40B4-BE49-F238E27FC236}">
                <a16:creationId xmlns:a16="http://schemas.microsoft.com/office/drawing/2014/main" id="{07DFAADB-A2D1-4F6E-B2CA-0AE368DA8434}"/>
              </a:ext>
            </a:extLst>
          </p:cNvPr>
          <p:cNvSpPr>
            <a:spLocks noGrp="1"/>
          </p:cNvSpPr>
          <p:nvPr>
            <p:ph type="title"/>
          </p:nvPr>
        </p:nvSpPr>
        <p:spPr/>
        <p:txBody>
          <a:bodyPr/>
          <a:lstStyle/>
          <a:p>
            <a:r>
              <a:rPr lang="en-US" dirty="0"/>
              <a:t>Recoloring</a:t>
            </a:r>
          </a:p>
        </p:txBody>
      </p:sp>
      <p:sp>
        <p:nvSpPr>
          <p:cNvPr id="4" name="Footer Placeholder 3">
            <a:extLst>
              <a:ext uri="{FF2B5EF4-FFF2-40B4-BE49-F238E27FC236}">
                <a16:creationId xmlns:a16="http://schemas.microsoft.com/office/drawing/2014/main" id="{F7B5A2F7-FEB4-4ED8-B65B-2310458C361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527D396-F414-401F-BB0F-255D0A94B9DA}"/>
              </a:ext>
            </a:extLst>
          </p:cNvPr>
          <p:cNvSpPr>
            <a:spLocks noGrp="1"/>
          </p:cNvSpPr>
          <p:nvPr>
            <p:ph type="sldNum" sz="quarter" idx="4"/>
          </p:nvPr>
        </p:nvSpPr>
        <p:spPr/>
        <p:txBody>
          <a:bodyPr/>
          <a:lstStyle/>
          <a:p>
            <a:pPr>
              <a:defRPr/>
            </a:pPr>
            <a:fld id="{476DEB1C-3253-4C07-8F02-456B7B2AD41D}" type="slidenum">
              <a:rPr lang="it-IT" smtClean="0"/>
              <a:pPr>
                <a:defRPr/>
              </a:pPr>
              <a:t>14</a:t>
            </a:fld>
            <a:endParaRPr lang="it-IT" dirty="0"/>
          </a:p>
        </p:txBody>
      </p:sp>
    </p:spTree>
    <p:extLst>
      <p:ext uri="{BB962C8B-B14F-4D97-AF65-F5344CB8AC3E}">
        <p14:creationId xmlns:p14="http://schemas.microsoft.com/office/powerpoint/2010/main" val="4182966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12BE3F04-1E51-4F83-9E00-1E1B45309BE8}"/>
                  </a:ext>
                </a:extLst>
              </p:cNvPr>
              <p:cNvSpPr>
                <a:spLocks noGrp="1"/>
              </p:cNvSpPr>
              <p:nvPr>
                <p:ph idx="1"/>
              </p:nvPr>
            </p:nvSpPr>
            <p:spPr/>
            <p:txBody>
              <a:bodyPr>
                <a:normAutofit fontScale="85000" lnSpcReduction="10000"/>
              </a:bodyPr>
              <a:lstStyle/>
              <a:p>
                <a:pPr algn="l"/>
                <a:r>
                  <a:rPr lang="en-US" sz="2400" b="0" i="0" u="none" strike="noStrike" baseline="0" dirty="0">
                    <a:latin typeface="SFRM1000"/>
                  </a:rPr>
                  <a:t>The bootstrapped trajectories, possibly computed on </a:t>
                </a:r>
                <a:r>
                  <a:rPr lang="en-US" sz="2400" b="0" i="0" u="none" strike="noStrike" baseline="0" dirty="0" err="1">
                    <a:latin typeface="SFRM1000"/>
                  </a:rPr>
                  <a:t>prewhitened</a:t>
                </a:r>
                <a:r>
                  <a:rPr lang="en-US" sz="2400" b="0" i="0" u="none" strike="noStrike" baseline="0" dirty="0">
                    <a:latin typeface="SFRM1000"/>
                  </a:rPr>
                  <a:t> data, will be used to define probability distributions and ultimately scenarios in the prescriptive component. To this end, they are assigned probability weights whose values are influenced by the downstream optimization function whose formalization they enter into</a:t>
                </a:r>
              </a:p>
              <a:p>
                <a:pPr algn="l"/>
                <a:r>
                  <a:rPr lang="en-US" sz="2400" b="0" i="0" u="none" strike="noStrike" baseline="0" dirty="0">
                    <a:latin typeface="SFRM1000"/>
                  </a:rPr>
                  <a:t>Given a set of MEB-generated trajectories (scenarios) </a:t>
                </a:r>
                <a:r>
                  <a:rPr lang="en-US" sz="2400" b="0" i="0" u="none" strike="noStrike" baseline="0" dirty="0">
                    <a:latin typeface="CMMI10"/>
                  </a:rPr>
                  <a:t>τ </a:t>
                </a:r>
                <a:r>
                  <a:rPr lang="en-US" sz="2400" b="0" i="0" u="none" strike="noStrike" baseline="0" dirty="0">
                    <a:latin typeface="CMMI7"/>
                  </a:rPr>
                  <a:t>s</a:t>
                </a:r>
                <a:r>
                  <a:rPr lang="en-US" sz="2400" b="0" i="0" u="none" strike="noStrike" baseline="0" dirty="0">
                    <a:latin typeface="SFRM1000"/>
                  </a:rPr>
                  <a:t>, </a:t>
                </a:r>
                <a:r>
                  <a:rPr lang="en-US" sz="2400" b="0" i="0" u="none" strike="noStrike" baseline="0" dirty="0">
                    <a:latin typeface="CMMI10"/>
                  </a:rPr>
                  <a:t>s </a:t>
                </a:r>
                <a:r>
                  <a:rPr lang="en-US" sz="2400" b="0" i="0" u="none" strike="noStrike" baseline="0" dirty="0">
                    <a:latin typeface="CMSY10"/>
                  </a:rPr>
                  <a:t>∈ </a:t>
                </a:r>
                <a:r>
                  <a:rPr lang="en-US" sz="2400" b="0" i="0" u="none" strike="noStrike" baseline="0" dirty="0">
                    <a:latin typeface="CMMI10"/>
                  </a:rPr>
                  <a:t>S </a:t>
                </a:r>
                <a:r>
                  <a:rPr lang="en-US" sz="2400" b="0" i="0" u="none" strike="noStrike" baseline="0" dirty="0">
                    <a:latin typeface="CMR10"/>
                  </a:rPr>
                  <a:t>= </a:t>
                </a:r>
                <a:r>
                  <a:rPr lang="en-US" sz="2400" b="0" i="0" u="none" strike="noStrike" baseline="0" dirty="0">
                    <a:latin typeface="CMSY10"/>
                  </a:rPr>
                  <a:t>{</a:t>
                </a:r>
                <a:r>
                  <a:rPr lang="en-US" sz="2400" b="0" i="0" u="none" strike="noStrike" baseline="0" dirty="0">
                    <a:latin typeface="CMR10"/>
                  </a:rPr>
                  <a:t>1</a:t>
                </a:r>
                <a:r>
                  <a:rPr lang="en-US" sz="2400" b="0" i="0" u="none" strike="noStrike" baseline="0" dirty="0">
                    <a:latin typeface="CMMI10"/>
                  </a:rPr>
                  <a:t>, . . . , n</a:t>
                </a:r>
                <a:r>
                  <a:rPr lang="en-US" sz="2400" b="0" i="0" u="none" strike="noStrike" baseline="0" dirty="0">
                    <a:latin typeface="CMSY10"/>
                  </a:rPr>
                  <a:t>} </a:t>
                </a:r>
                <a:r>
                  <a:rPr lang="en-US" sz="2400" b="0" i="0" u="none" strike="noStrike" baseline="0" dirty="0">
                    <a:latin typeface="SFRM1000"/>
                  </a:rPr>
                  <a:t>and associated features </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SFRM1000"/>
                  </a:rPr>
                  <a:t>(and, optionally, </a:t>
                </a:r>
                <a:r>
                  <a:rPr lang="en-US" sz="2400" b="0" i="0" u="none" strike="noStrike" baseline="0" dirty="0" err="1">
                    <a:latin typeface="CMMI10"/>
                  </a:rPr>
                  <a:t>g</a:t>
                </a:r>
                <a:r>
                  <a:rPr lang="en-US" sz="2400" b="0" i="0" u="none" strike="noStrike" baseline="0" dirty="0" err="1">
                    <a:latin typeface="CMMI7"/>
                  </a:rPr>
                  <a:t>s</a:t>
                </a:r>
                <a:r>
                  <a:rPr lang="en-US" sz="2400" b="0" i="0" u="none" strike="noStrike" baseline="0" dirty="0">
                    <a:latin typeface="SFRM1000"/>
                  </a:rPr>
                  <a:t>), we define scenario weights, in case the objective function is made up by two components, as </a:t>
                </a:r>
                <a:r>
                  <a:rPr lang="en-US" sz="2400" b="0" i="0" u="none" strike="noStrike" baseline="0" dirty="0" err="1">
                    <a:latin typeface="CMMI10"/>
                  </a:rPr>
                  <a:t>p</a:t>
                </a:r>
                <a:r>
                  <a:rPr lang="en-US" sz="2400" b="0" i="0" u="none" strike="noStrike" baseline="0" dirty="0" err="1">
                    <a:latin typeface="CMR7"/>
                  </a:rPr>
                  <a:t>OA</a:t>
                </a:r>
                <a:r>
                  <a:rPr lang="en-US" sz="2400" b="0" i="0" u="none" strike="noStrike" baseline="0" dirty="0">
                    <a:latin typeface="CMR7"/>
                  </a:rPr>
                  <a:t> </a:t>
                </a:r>
                <a:r>
                  <a:rPr lang="en-US" sz="2400" b="0" i="0" u="none" strike="noStrike" baseline="0" dirty="0">
                    <a:latin typeface="CMMI7"/>
                  </a:rPr>
                  <a:t>s </a:t>
                </a:r>
                <a:r>
                  <a:rPr lang="en-US" sz="2400" b="0" i="0" u="none" strike="noStrike" baseline="0" dirty="0">
                    <a:latin typeface="CMSY10"/>
                  </a:rPr>
                  <a:t>∝ </a:t>
                </a:r>
                <a:r>
                  <a:rPr lang="en-US" sz="2400" b="0" i="0" u="none" strike="noStrike" baseline="0" dirty="0">
                    <a:latin typeface="CMR10"/>
                  </a:rPr>
                  <a:t>exp(</a:t>
                </a:r>
                <a:r>
                  <a:rPr lang="el-GR" sz="2400" b="0" i="0" u="none" strike="noStrike" baseline="0" dirty="0">
                    <a:latin typeface="CMMI10"/>
                  </a:rPr>
                  <a:t>μ</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CMR10"/>
                  </a:rPr>
                  <a:t>+ </a:t>
                </a:r>
                <a:r>
                  <a:rPr lang="el-GR" sz="2400" b="0" i="0" u="none" strike="noStrike" baseline="0" dirty="0">
                    <a:latin typeface="CMMI10"/>
                  </a:rPr>
                  <a:t>γ</a:t>
                </a:r>
                <a:r>
                  <a:rPr lang="en-US" sz="2400" b="0" i="0" u="none" strike="noStrike" baseline="0" dirty="0" err="1">
                    <a:latin typeface="CMMI10"/>
                  </a:rPr>
                  <a:t>g</a:t>
                </a:r>
                <a:r>
                  <a:rPr lang="en-US" sz="2400" b="0" i="0" u="none" strike="noStrike" baseline="0" dirty="0" err="1">
                    <a:latin typeface="CMMI7"/>
                  </a:rPr>
                  <a:t>s</a:t>
                </a:r>
                <a:r>
                  <a:rPr lang="en-US" sz="2400" b="0" i="0" u="none" strike="noStrike" baseline="0" dirty="0">
                    <a:latin typeface="CMR10"/>
                  </a:rPr>
                  <a:t>) </a:t>
                </a:r>
                <a:r>
                  <a:rPr lang="en-US" sz="2400" b="0" i="0" u="none" strike="noStrike" baseline="0" dirty="0">
                    <a:latin typeface="SFRM1000"/>
                  </a:rPr>
                  <a:t>(</a:t>
                </a:r>
                <a:r>
                  <a:rPr lang="el-GR" sz="2400" b="0" i="0" u="none" strike="noStrike" baseline="0" dirty="0">
                    <a:latin typeface="CMMI10"/>
                  </a:rPr>
                  <a:t>γ </a:t>
                </a:r>
                <a:r>
                  <a:rPr lang="el-GR" sz="2400" b="0" i="0" u="none" strike="noStrike" baseline="0" dirty="0">
                    <a:latin typeface="CMR10"/>
                  </a:rPr>
                  <a:t>= 0</a:t>
                </a:r>
                <a:r>
                  <a:rPr lang="it-IT" sz="2400" b="0" i="0" u="none" strike="noStrike" baseline="0" dirty="0">
                    <a:latin typeface="CMR10"/>
                  </a:rPr>
                  <a:t> </a:t>
                </a:r>
                <a:r>
                  <a:rPr lang="en-US" sz="2400" b="0" i="0" u="none" strike="noStrike" baseline="0" dirty="0">
                    <a:latin typeface="SFRM1000"/>
                  </a:rPr>
                  <a:t>when only </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SFRM1000"/>
                  </a:rPr>
                  <a:t>is used). More explicitly </a:t>
                </a:r>
                <a14:m>
                  <m:oMath xmlns:m="http://schemas.openxmlformats.org/officeDocument/2006/math">
                    <m:sSubSup>
                      <m:sSubSupPr>
                        <m:ctrlPr>
                          <a:rPr lang="it-IT" sz="2400" b="0" i="1" u="none" strike="noStrike" baseline="0" smtClean="0">
                            <a:latin typeface="Cambria Math" panose="02040503050406030204" pitchFamily="18" charset="0"/>
                          </a:rPr>
                        </m:ctrlPr>
                      </m:sSubSupPr>
                      <m:e>
                        <m:r>
                          <a:rPr lang="it-IT" sz="2400" b="0" i="1" u="none" strike="noStrike" baseline="0" smtClean="0">
                            <a:latin typeface="Cambria Math" panose="02040503050406030204" pitchFamily="18" charset="0"/>
                          </a:rPr>
                          <m:t>𝑝</m:t>
                        </m:r>
                      </m:e>
                      <m:sub>
                        <m:r>
                          <a:rPr lang="it-IT" sz="2400" b="0" i="1" u="none" strike="noStrike" baseline="0" smtClean="0">
                            <a:latin typeface="Cambria Math" panose="02040503050406030204" pitchFamily="18" charset="0"/>
                          </a:rPr>
                          <m:t>𝑠</m:t>
                        </m:r>
                      </m:sub>
                      <m:sup>
                        <m:r>
                          <a:rPr lang="it-IT" sz="2400" b="0" i="1" u="none" strike="noStrike" baseline="0" smtClean="0">
                            <a:latin typeface="Cambria Math" panose="02040503050406030204" pitchFamily="18" charset="0"/>
                          </a:rPr>
                          <m:t>𝑂𝐴</m:t>
                        </m:r>
                      </m:sup>
                    </m:sSubSup>
                    <m:r>
                      <a:rPr lang="it-IT" sz="2400" b="0" i="1" u="none" strike="noStrike" baseline="0" smtClean="0">
                        <a:latin typeface="Cambria Math" panose="02040503050406030204" pitchFamily="18" charset="0"/>
                      </a:rPr>
                      <m:t>= </m:t>
                    </m:r>
                    <m:f>
                      <m:fPr>
                        <m:ctrlPr>
                          <a:rPr lang="it-IT" sz="2400" b="0" i="1" u="none" strike="noStrike" baseline="0" smtClean="0">
                            <a:latin typeface="Cambria Math" panose="02040503050406030204" pitchFamily="18" charset="0"/>
                          </a:rPr>
                        </m:ctrlPr>
                      </m:fPr>
                      <m:num>
                        <m:r>
                          <m:rPr>
                            <m:sty m:val="p"/>
                          </m:rPr>
                          <a:rPr lang="it-IT" sz="2400" b="0" i="0" u="none" strike="noStrike" baseline="0" smtClean="0">
                            <a:latin typeface="Cambria Math" panose="02040503050406030204" pitchFamily="18" charset="0"/>
                          </a:rPr>
                          <m:t>exp</m:t>
                        </m:r>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𝜇</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𝑓</m:t>
                            </m:r>
                          </m:e>
                          <m:sub>
                            <m:r>
                              <a:rPr lang="it-IT" sz="2400" b="0" i="1" u="none" strike="noStrike" baseline="0" smtClean="0">
                                <a:latin typeface="Cambria Math" panose="02040503050406030204" pitchFamily="18" charset="0"/>
                              </a:rPr>
                              <m:t>𝑠</m:t>
                            </m:r>
                          </m:sub>
                        </m:sSub>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𝛾</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𝑔</m:t>
                            </m:r>
                          </m:e>
                          <m:sub>
                            <m:r>
                              <a:rPr lang="it-IT" sz="2400" b="0" i="1" u="none" strike="noStrike" baseline="0" smtClean="0">
                                <a:latin typeface="Cambria Math" panose="02040503050406030204" pitchFamily="18" charset="0"/>
                              </a:rPr>
                              <m:t>𝑠</m:t>
                            </m:r>
                          </m:sub>
                        </m:sSub>
                        <m:r>
                          <a:rPr lang="it-IT" sz="2400" b="0" i="1" u="none" strike="noStrike" baseline="0" smtClean="0">
                            <a:latin typeface="Cambria Math" panose="02040503050406030204" pitchFamily="18" charset="0"/>
                          </a:rPr>
                          <m:t>)</m:t>
                        </m:r>
                      </m:num>
                      <m:den>
                        <m:nary>
                          <m:naryPr>
                            <m:chr m:val="∑"/>
                            <m:supHide m:val="on"/>
                            <m:ctrlPr>
                              <a:rPr lang="it-IT" sz="2400" b="0" i="1" u="none" strike="noStrike" baseline="0" smtClean="0">
                                <a:latin typeface="Cambria Math" panose="02040503050406030204" pitchFamily="18" charset="0"/>
                              </a:rPr>
                            </m:ctrlPr>
                          </m:naryPr>
                          <m:sub>
                            <m:r>
                              <a:rPr lang="it-IT" sz="2400" b="0" i="1" u="none" strike="noStrike" baseline="0" smtClean="0">
                                <a:latin typeface="Cambria Math" panose="02040503050406030204" pitchFamily="18" charset="0"/>
                              </a:rPr>
                              <m:t>𝑗</m:t>
                            </m:r>
                          </m:sub>
                          <m:sup/>
                          <m:e>
                            <m:r>
                              <m:rPr>
                                <m:sty m:val="p"/>
                              </m:rPr>
                              <a:rPr lang="it-IT" sz="2400" b="0" i="0" u="none" strike="noStrike" baseline="0" smtClean="0">
                                <a:latin typeface="Cambria Math" panose="02040503050406030204" pitchFamily="18" charset="0"/>
                              </a:rPr>
                              <m:t>exp</m:t>
                            </m:r>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𝜇</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𝑓</m:t>
                                </m:r>
                              </m:e>
                              <m:sub>
                                <m:r>
                                  <a:rPr lang="it-IT" sz="2400" b="0" i="1" u="none" strike="noStrike" baseline="0" smtClean="0">
                                    <a:latin typeface="Cambria Math" panose="02040503050406030204" pitchFamily="18" charset="0"/>
                                  </a:rPr>
                                  <m:t>𝑗</m:t>
                                </m:r>
                              </m:sub>
                            </m:sSub>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𝛾</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𝑔</m:t>
                                </m:r>
                              </m:e>
                              <m:sub>
                                <m:r>
                                  <a:rPr lang="it-IT" sz="2400" b="0" i="1" u="none" strike="noStrike" baseline="0" smtClean="0">
                                    <a:latin typeface="Cambria Math" panose="02040503050406030204" pitchFamily="18" charset="0"/>
                                  </a:rPr>
                                  <m:t>𝑗</m:t>
                                </m:r>
                              </m:sub>
                            </m:sSub>
                            <m:r>
                              <a:rPr lang="it-IT" sz="2400" b="0" i="1" u="none" strike="noStrike" baseline="0" smtClean="0">
                                <a:latin typeface="Cambria Math" panose="02040503050406030204" pitchFamily="18" charset="0"/>
                              </a:rPr>
                              <m:t>)</m:t>
                            </m:r>
                          </m:e>
                        </m:nary>
                      </m:den>
                    </m:f>
                  </m:oMath>
                </a14:m>
                <a:endParaRPr lang="en-US" sz="2400" b="0" i="0" u="none" strike="noStrike" baseline="0" dirty="0">
                  <a:latin typeface="SFRM1000"/>
                </a:endParaRPr>
              </a:p>
              <a:p>
                <a:pPr algn="l"/>
                <a:r>
                  <a:rPr lang="en-US" sz="1800" b="0" i="0" u="none" strike="noStrike" baseline="0" dirty="0">
                    <a:solidFill>
                      <a:srgbClr val="000000"/>
                    </a:solidFill>
                    <a:latin typeface="SFRM1000"/>
                  </a:rPr>
                  <a:t>The features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and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are problem-dependent and the weights </a:t>
                </a:r>
                <a:r>
                  <a:rPr lang="en-US" sz="1800" b="0" i="0" u="none" strike="noStrike" baseline="0" dirty="0">
                    <a:solidFill>
                      <a:srgbClr val="000000"/>
                    </a:solidFill>
                    <a:latin typeface="CMMI10"/>
                  </a:rPr>
                  <a:t>μ </a:t>
                </a:r>
                <a:r>
                  <a:rPr lang="en-US" sz="1800" b="0" i="0" u="none" strike="noStrike" baseline="0" dirty="0">
                    <a:solidFill>
                      <a:srgbClr val="000000"/>
                    </a:solidFill>
                    <a:latin typeface="SFRM1000"/>
                  </a:rPr>
                  <a:t>and </a:t>
                </a:r>
                <a:r>
                  <a:rPr lang="en-US" sz="1800" b="0" i="0" u="none" strike="noStrike" baseline="0" dirty="0">
                    <a:solidFill>
                      <a:srgbClr val="000000"/>
                    </a:solidFill>
                    <a:latin typeface="CMMI10"/>
                  </a:rPr>
                  <a:t>γ </a:t>
                </a:r>
                <a:r>
                  <a:rPr lang="en-US" sz="1800" b="0" i="0" u="none" strike="noStrike" baseline="0" dirty="0">
                    <a:solidFill>
                      <a:srgbClr val="000000"/>
                    </a:solidFill>
                    <a:latin typeface="SFRM1000"/>
                  </a:rPr>
                  <a:t>must be calibrated, possibly at an instance level (see Section </a:t>
                </a:r>
                <a:r>
                  <a:rPr lang="en-US" sz="1800" b="0" i="0" u="none" strike="noStrike" baseline="0" dirty="0">
                    <a:solidFill>
                      <a:srgbClr val="0000FF"/>
                    </a:solidFill>
                    <a:latin typeface="SFRM1000"/>
                  </a:rPr>
                  <a:t>6</a:t>
                </a:r>
                <a:r>
                  <a:rPr lang="en-US" sz="1800" b="0" i="0" u="none" strike="noStrike" baseline="0" dirty="0">
                    <a:solidFill>
                      <a:srgbClr val="000000"/>
                    </a:solidFill>
                    <a:latin typeface="SFRM1000"/>
                  </a:rPr>
                  <a:t>), after the computation of the corresponding features. Both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and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should be computed before the final optimization, the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are computed directly from instance data, while the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approximate the contribution to the final cost of scenario </a:t>
                </a:r>
                <a:r>
                  <a:rPr lang="en-US" sz="1800" b="0" i="0" u="none" strike="noStrike" baseline="0" dirty="0">
                    <a:solidFill>
                      <a:srgbClr val="000000"/>
                    </a:solidFill>
                    <a:latin typeface="CMMI10"/>
                  </a:rPr>
                  <a:t>s</a:t>
                </a:r>
                <a:r>
                  <a:rPr lang="en-US" sz="1800" b="0" i="0" u="none" strike="noStrike" baseline="0" dirty="0">
                    <a:solidFill>
                      <a:srgbClr val="000000"/>
                    </a:solidFill>
                    <a:latin typeface="SFRM1000"/>
                  </a:rPr>
                  <a:t>, such as a basic heuristic or a lower bound evaluated on each scenario, and as such influence the objective-aware probability of the scenario. </a:t>
                </a:r>
              </a:p>
              <a:p>
                <a:pPr algn="l"/>
                <a:r>
                  <a:rPr lang="en-US" sz="1800" b="0" i="0" u="none" strike="noStrike" baseline="0" dirty="0">
                    <a:latin typeface="SFRM1000"/>
                  </a:rPr>
                  <a:t>the weighted empirical measure </a:t>
                </a:r>
                <a14:m>
                  <m:oMath xmlns:m="http://schemas.openxmlformats.org/officeDocument/2006/math">
                    <m:sSub>
                      <m:sSubPr>
                        <m:ctrlPr>
                          <a:rPr lang="it-IT" sz="1800" b="0" i="1" u="none" strike="noStrike" baseline="0" smtClean="0">
                            <a:latin typeface="Cambria Math" panose="02040503050406030204" pitchFamily="18" charset="0"/>
                          </a:rPr>
                        </m:ctrlPr>
                      </m:sSub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b>
                        <m:r>
                          <a:rPr lang="it-IT" sz="1800" b="0" i="1" u="none" strike="noStrike" baseline="0" smtClean="0">
                            <a:latin typeface="Cambria Math" panose="02040503050406030204" pitchFamily="18" charset="0"/>
                          </a:rPr>
                          <m:t>𝑛</m:t>
                        </m:r>
                      </m:sub>
                    </m:sSub>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oMath>
                </a14:m>
                <a:r>
                  <a:rPr lang="en-US" sz="1800" b="0" i="0" u="none" strike="noStrike" baseline="0" dirty="0">
                    <a:latin typeface="SFRM1000"/>
                  </a:rPr>
                  <a:t> is a cost-aware reference distribution, not an unbiased estimate of the data-generating distribution</a:t>
                </a:r>
                <a:endParaRPr lang="en-US" sz="2400" b="0" i="0" u="none" strike="noStrike" baseline="0" dirty="0">
                  <a:latin typeface="SFRM1000"/>
                </a:endParaRPr>
              </a:p>
            </p:txBody>
          </p:sp>
        </mc:Choice>
        <mc:Fallback>
          <p:sp>
            <p:nvSpPr>
              <p:cNvPr id="2" name="Content Placeholder 1">
                <a:extLst>
                  <a:ext uri="{FF2B5EF4-FFF2-40B4-BE49-F238E27FC236}">
                    <a16:creationId xmlns:a16="http://schemas.microsoft.com/office/drawing/2014/main" id="{12BE3F04-1E51-4F83-9E00-1E1B45309BE8}"/>
                  </a:ext>
                </a:extLst>
              </p:cNvPr>
              <p:cNvSpPr>
                <a:spLocks noGrp="1" noRot="1" noChangeAspect="1" noMove="1" noResize="1" noEditPoints="1" noAdjustHandles="1" noChangeArrowheads="1" noChangeShapeType="1" noTextEdit="1"/>
              </p:cNvSpPr>
              <p:nvPr>
                <p:ph idx="1"/>
              </p:nvPr>
            </p:nvSpPr>
            <p:spPr>
              <a:blipFill>
                <a:blip r:embed="rId2"/>
                <a:stretch>
                  <a:fillRect l="-713" t="-1276" r="-428" b="-11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FE90657B-2BAD-459F-838A-D7D6A2CD7E9C}"/>
              </a:ext>
            </a:extLst>
          </p:cNvPr>
          <p:cNvSpPr>
            <a:spLocks noGrp="1"/>
          </p:cNvSpPr>
          <p:nvPr>
            <p:ph type="title"/>
          </p:nvPr>
        </p:nvSpPr>
        <p:spPr/>
        <p:txBody>
          <a:bodyPr/>
          <a:lstStyle/>
          <a:p>
            <a:r>
              <a:rPr lang="en-US" dirty="0"/>
              <a:t>Entropy tilting</a:t>
            </a:r>
          </a:p>
        </p:txBody>
      </p:sp>
      <p:sp>
        <p:nvSpPr>
          <p:cNvPr id="4" name="Footer Placeholder 3">
            <a:extLst>
              <a:ext uri="{FF2B5EF4-FFF2-40B4-BE49-F238E27FC236}">
                <a16:creationId xmlns:a16="http://schemas.microsoft.com/office/drawing/2014/main" id="{E2F3CC0A-8B24-4ABC-9C07-C9615FD5B6E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878A35C-38D6-407B-9FA2-36846342936B}"/>
              </a:ext>
            </a:extLst>
          </p:cNvPr>
          <p:cNvSpPr>
            <a:spLocks noGrp="1"/>
          </p:cNvSpPr>
          <p:nvPr>
            <p:ph type="sldNum" sz="quarter" idx="4"/>
          </p:nvPr>
        </p:nvSpPr>
        <p:spPr/>
        <p:txBody>
          <a:bodyPr/>
          <a:lstStyle/>
          <a:p>
            <a:pPr>
              <a:defRPr/>
            </a:pPr>
            <a:fld id="{476DEB1C-3253-4C07-8F02-456B7B2AD41D}" type="slidenum">
              <a:rPr lang="it-IT" smtClean="0"/>
              <a:pPr>
                <a:defRPr/>
              </a:pPr>
              <a:t>15</a:t>
            </a:fld>
            <a:endParaRPr lang="it-IT" dirty="0"/>
          </a:p>
        </p:txBody>
      </p:sp>
    </p:spTree>
    <p:extLst>
      <p:ext uri="{BB962C8B-B14F-4D97-AF65-F5344CB8AC3E}">
        <p14:creationId xmlns:p14="http://schemas.microsoft.com/office/powerpoint/2010/main" val="719042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1F4680-9B87-44BC-8183-0B814E7452CD}"/>
              </a:ext>
            </a:extLst>
          </p:cNvPr>
          <p:cNvSpPr>
            <a:spLocks noGrp="1"/>
          </p:cNvSpPr>
          <p:nvPr>
            <p:ph idx="1"/>
          </p:nvPr>
        </p:nvSpPr>
        <p:spPr/>
        <p:txBody>
          <a:bodyPr>
            <a:normAutofit fontScale="92500" lnSpcReduction="20000"/>
          </a:bodyPr>
          <a:lstStyle/>
          <a:p>
            <a:r>
              <a:rPr lang="en-US" dirty="0">
                <a:solidFill>
                  <a:srgbClr val="C00000"/>
                </a:solidFill>
              </a:rPr>
              <a:t>Bootstrapping</a:t>
            </a:r>
            <a:r>
              <a:rPr lang="en-US" dirty="0"/>
              <a:t> is non-parametric </a:t>
            </a:r>
            <a:r>
              <a:rPr lang="en-US" dirty="0">
                <a:solidFill>
                  <a:srgbClr val="C00000"/>
                </a:solidFill>
              </a:rPr>
              <a:t>resampling technique </a:t>
            </a:r>
            <a:r>
              <a:rPr lang="en-US" dirty="0"/>
              <a:t>used in stochastic programming when historical data is available. It makes no assumptions about the underlying probability distribution of the stochastic variables.</a:t>
            </a:r>
          </a:p>
          <a:p>
            <a:r>
              <a:rPr lang="en-US" dirty="0"/>
              <a:t>The </a:t>
            </a:r>
            <a:r>
              <a:rPr lang="en-US" dirty="0">
                <a:solidFill>
                  <a:srgbClr val="C00000"/>
                </a:solidFill>
              </a:rPr>
              <a:t>assumption</a:t>
            </a:r>
            <a:r>
              <a:rPr lang="en-US" dirty="0"/>
              <a:t> of bootstrapping is that the observed historical data sample mimics the characteristics of the true, unknown population distribution. </a:t>
            </a:r>
          </a:p>
          <a:p>
            <a:r>
              <a:rPr lang="en-US" dirty="0"/>
              <a:t>Bootstrapping </a:t>
            </a:r>
            <a:r>
              <a:rPr lang="en-US" dirty="0">
                <a:solidFill>
                  <a:srgbClr val="C00000"/>
                </a:solidFill>
              </a:rPr>
              <a:t>repeatedly draws </a:t>
            </a:r>
            <a:r>
              <a:rPr lang="en-US" dirty="0"/>
              <a:t>samples with replacement from the observed data to generate "</a:t>
            </a:r>
            <a:r>
              <a:rPr lang="en-US" i="1" dirty="0"/>
              <a:t>bootstrap samples</a:t>
            </a:r>
            <a:r>
              <a:rPr lang="en-US" dirty="0"/>
              <a:t>". Each sample can be considered as </a:t>
            </a:r>
            <a:r>
              <a:rPr lang="en-US" dirty="0">
                <a:solidFill>
                  <a:srgbClr val="C00000"/>
                </a:solidFill>
              </a:rPr>
              <a:t>a plausible realization </a:t>
            </a:r>
            <a:r>
              <a:rPr lang="en-US" dirty="0"/>
              <a:t>of what a new data sample from the true population *might* look like.</a:t>
            </a:r>
          </a:p>
          <a:p>
            <a:r>
              <a:rPr lang="en-US" dirty="0">
                <a:solidFill>
                  <a:srgbClr val="C00000"/>
                </a:solidFill>
              </a:rPr>
              <a:t>Autoregressive models </a:t>
            </a:r>
            <a:r>
              <a:rPr lang="en-US" dirty="0"/>
              <a:t>are particularly suitable for data series bootstrap set generation.</a:t>
            </a:r>
          </a:p>
        </p:txBody>
      </p:sp>
      <p:sp>
        <p:nvSpPr>
          <p:cNvPr id="3" name="Title 2">
            <a:extLst>
              <a:ext uri="{FF2B5EF4-FFF2-40B4-BE49-F238E27FC236}">
                <a16:creationId xmlns:a16="http://schemas.microsoft.com/office/drawing/2014/main" id="{A7280876-7C87-4557-8129-C333424C4C34}"/>
              </a:ext>
            </a:extLst>
          </p:cNvPr>
          <p:cNvSpPr>
            <a:spLocks noGrp="1"/>
          </p:cNvSpPr>
          <p:nvPr>
            <p:ph type="title"/>
          </p:nvPr>
        </p:nvSpPr>
        <p:spPr/>
        <p:txBody>
          <a:bodyPr/>
          <a:lstStyle/>
          <a:p>
            <a:r>
              <a:rPr lang="en-US" dirty="0"/>
              <a:t>Bootstrapping time series</a:t>
            </a:r>
          </a:p>
        </p:txBody>
      </p:sp>
      <p:sp>
        <p:nvSpPr>
          <p:cNvPr id="4" name="Footer Placeholder 3">
            <a:extLst>
              <a:ext uri="{FF2B5EF4-FFF2-40B4-BE49-F238E27FC236}">
                <a16:creationId xmlns:a16="http://schemas.microsoft.com/office/drawing/2014/main" id="{1A1F047D-92D6-4330-A193-EF5DFAA8ED3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4391D393-DC25-4D25-B9CC-EDAE1E0D6482}"/>
              </a:ext>
            </a:extLst>
          </p:cNvPr>
          <p:cNvSpPr>
            <a:spLocks noGrp="1"/>
          </p:cNvSpPr>
          <p:nvPr>
            <p:ph type="sldNum" sz="quarter" idx="4"/>
          </p:nvPr>
        </p:nvSpPr>
        <p:spPr/>
        <p:txBody>
          <a:bodyPr/>
          <a:lstStyle/>
          <a:p>
            <a:pPr>
              <a:defRPr/>
            </a:pPr>
            <a:fld id="{476DEB1C-3253-4C07-8F02-456B7B2AD41D}" type="slidenum">
              <a:rPr lang="it-IT" smtClean="0"/>
              <a:pPr>
                <a:defRPr/>
              </a:pPr>
              <a:t>16</a:t>
            </a:fld>
            <a:endParaRPr lang="it-IT" dirty="0"/>
          </a:p>
        </p:txBody>
      </p:sp>
    </p:spTree>
    <p:extLst>
      <p:ext uri="{BB962C8B-B14F-4D97-AF65-F5344CB8AC3E}">
        <p14:creationId xmlns:p14="http://schemas.microsoft.com/office/powerpoint/2010/main" val="327975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C85879DB-4DE7-4174-8C19-2CB9A0440F59}"/>
                  </a:ext>
                </a:extLst>
              </p:cNvPr>
              <p:cNvSpPr>
                <a:spLocks noGrp="1"/>
              </p:cNvSpPr>
              <p:nvPr>
                <p:ph idx="1"/>
              </p:nvPr>
            </p:nvSpPr>
            <p:spPr>
              <a:xfrm>
                <a:off x="298907" y="1173916"/>
                <a:ext cx="8546175" cy="3251780"/>
              </a:xfrm>
            </p:spPr>
            <p:txBody>
              <a:bodyPr>
                <a:normAutofit fontScale="92500"/>
              </a:bodyPr>
              <a:lstStyle/>
              <a:p>
                <a:r>
                  <a:rPr lang="en-US" dirty="0"/>
                  <a:t>We fit an AR(p) model on each series </a:t>
                </a:r>
              </a:p>
              <a:p>
                <a:r>
                  <a:rPr lang="en-US" dirty="0"/>
                  <a:t>We extracted </a:t>
                </a:r>
                <a:r>
                  <a:rPr lang="en-US" dirty="0">
                    <a:solidFill>
                      <a:srgbClr val="C00000"/>
                    </a:solidFill>
                  </a:rPr>
                  <a:t>residuals</a:t>
                </a:r>
                <a:r>
                  <a:rPr lang="en-US" dirty="0"/>
                  <a:t> </a:t>
                </a:r>
                <a14:m>
                  <m:oMath xmlns:m="http://schemas.openxmlformats.org/officeDocument/2006/math">
                    <m:sSub>
                      <m:sSubPr>
                        <m:ctrlPr>
                          <a:rPr lang="it-IT"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Sub>
                  </m:oMath>
                </a14:m>
                <a:r>
                  <a:rPr lang="en-US" dirty="0"/>
                  <a:t>, which were </a:t>
                </a:r>
                <a:r>
                  <a:rPr lang="en-US" i="1" dirty="0"/>
                  <a:t>sufficiently (?)</a:t>
                </a:r>
                <a:r>
                  <a:rPr lang="en-US" dirty="0"/>
                  <a:t> stationary</a:t>
                </a:r>
              </a:p>
              <a:p>
                <a:r>
                  <a:rPr lang="en-US" dirty="0"/>
                  <a:t>We resampled the residuals in </a:t>
                </a:r>
                <a14:m>
                  <m:oMath xmlns:m="http://schemas.openxmlformats.org/officeDocument/2006/math">
                    <m:sSubSup>
                      <m:sSubSupPr>
                        <m:ctrlPr>
                          <a:rPr lang="it-IT" b="0" i="1" smtClean="0">
                            <a:latin typeface="Cambria Math" panose="02040503050406030204" pitchFamily="18" charset="0"/>
                            <a:ea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up>
                        <m:r>
                          <a:rPr lang="it-IT" b="0" i="1" smtClean="0">
                            <a:latin typeface="Cambria Math" panose="02040503050406030204" pitchFamily="18" charset="0"/>
                            <a:ea typeface="Cambria Math" panose="02040503050406030204" pitchFamily="18" charset="0"/>
                          </a:rPr>
                          <m:t>∗</m:t>
                        </m:r>
                      </m:sup>
                    </m:sSubSup>
                  </m:oMath>
                </a14:m>
                <a:r>
                  <a:rPr lang="en-US" dirty="0"/>
                  <a:t> and simulated new series as:</a:t>
                </a:r>
              </a:p>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1</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−1</m:t>
                          </m:r>
                        </m:sub>
                        <m:sup>
                          <m:r>
                            <a:rPr lang="it-IT" b="0" i="1" smtClean="0">
                              <a:latin typeface="Cambria Math" panose="02040503050406030204" pitchFamily="18" charset="0"/>
                            </a:rPr>
                            <m:t>∗</m:t>
                          </m:r>
                        </m:sup>
                      </m:sSubSup>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𝑝</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𝑝</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𝜀</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oMath>
                  </m:oMathPara>
                </a14:m>
                <a:endParaRPr lang="en-US" dirty="0"/>
              </a:p>
              <a:p>
                <a:r>
                  <a:rPr lang="en-US" dirty="0"/>
                  <a:t>We bootstrapped the residual series and reconstructed request series.</a:t>
                </a:r>
              </a:p>
            </p:txBody>
          </p:sp>
        </mc:Choice>
        <mc:Fallback>
          <p:sp>
            <p:nvSpPr>
              <p:cNvPr id="2" name="Content Placeholder 1">
                <a:extLst>
                  <a:ext uri="{FF2B5EF4-FFF2-40B4-BE49-F238E27FC236}">
                    <a16:creationId xmlns:a16="http://schemas.microsoft.com/office/drawing/2014/main" id="{C85879DB-4DE7-4174-8C19-2CB9A0440F59}"/>
                  </a:ext>
                </a:extLst>
              </p:cNvPr>
              <p:cNvSpPr>
                <a:spLocks noGrp="1" noRot="1" noChangeAspect="1" noMove="1" noResize="1" noEditPoints="1" noAdjustHandles="1" noChangeArrowheads="1" noChangeShapeType="1" noTextEdit="1"/>
              </p:cNvSpPr>
              <p:nvPr>
                <p:ph idx="1"/>
              </p:nvPr>
            </p:nvSpPr>
            <p:spPr>
              <a:xfrm>
                <a:off x="298907" y="1173916"/>
                <a:ext cx="8546175" cy="3251780"/>
              </a:xfrm>
              <a:blipFill>
                <a:blip r:embed="rId2"/>
                <a:stretch>
                  <a:fillRect l="-1284" t="-1689" r="-999" b="-300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9A06050C-9BA7-4D38-BC68-FED697FECD85}"/>
              </a:ext>
            </a:extLst>
          </p:cNvPr>
          <p:cNvSpPr>
            <a:spLocks noGrp="1"/>
          </p:cNvSpPr>
          <p:nvPr>
            <p:ph type="title"/>
          </p:nvPr>
        </p:nvSpPr>
        <p:spPr/>
        <p:txBody>
          <a:bodyPr/>
          <a:lstStyle/>
          <a:p>
            <a:r>
              <a:rPr lang="en-US" dirty="0"/>
              <a:t>Bootstrapping</a:t>
            </a:r>
          </a:p>
        </p:txBody>
      </p:sp>
      <p:sp>
        <p:nvSpPr>
          <p:cNvPr id="4" name="Footer Placeholder 3">
            <a:extLst>
              <a:ext uri="{FF2B5EF4-FFF2-40B4-BE49-F238E27FC236}">
                <a16:creationId xmlns:a16="http://schemas.microsoft.com/office/drawing/2014/main" id="{041C44BB-771E-4337-84BA-119A3BF8807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A5E24EB-6EDE-4EDA-86C8-1F7EC53C7293}"/>
              </a:ext>
            </a:extLst>
          </p:cNvPr>
          <p:cNvSpPr>
            <a:spLocks noGrp="1"/>
          </p:cNvSpPr>
          <p:nvPr>
            <p:ph type="sldNum" sz="quarter" idx="4"/>
          </p:nvPr>
        </p:nvSpPr>
        <p:spPr/>
        <p:txBody>
          <a:bodyPr/>
          <a:lstStyle/>
          <a:p>
            <a:pPr>
              <a:defRPr/>
            </a:pPr>
            <a:fld id="{476DEB1C-3253-4C07-8F02-456B7B2AD41D}" type="slidenum">
              <a:rPr lang="it-IT" smtClean="0"/>
              <a:pPr>
                <a:defRPr/>
              </a:pPr>
              <a:t>17</a:t>
            </a:fld>
            <a:endParaRPr lang="it-IT" dirty="0"/>
          </a:p>
        </p:txBody>
      </p:sp>
      <p:pic>
        <p:nvPicPr>
          <p:cNvPr id="8" name="Picture 7">
            <a:extLst>
              <a:ext uri="{FF2B5EF4-FFF2-40B4-BE49-F238E27FC236}">
                <a16:creationId xmlns:a16="http://schemas.microsoft.com/office/drawing/2014/main" id="{DE9D8429-2C95-4DB5-BF22-7A0B314FEC3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725329" y="3770837"/>
            <a:ext cx="3900494" cy="3032340"/>
          </a:xfrm>
          <a:prstGeom prst="rect">
            <a:avLst/>
          </a:prstGeom>
        </p:spPr>
      </p:pic>
    </p:spTree>
    <p:extLst>
      <p:ext uri="{BB962C8B-B14F-4D97-AF65-F5344CB8AC3E}">
        <p14:creationId xmlns:p14="http://schemas.microsoft.com/office/powerpoint/2010/main" val="1443961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333D55-D19D-4E81-B3AB-1AF9E41BF6AB}"/>
              </a:ext>
            </a:extLst>
          </p:cNvPr>
          <p:cNvSpPr>
            <a:spLocks noGrp="1"/>
          </p:cNvSpPr>
          <p:nvPr>
            <p:ph idx="1"/>
          </p:nvPr>
        </p:nvSpPr>
        <p:spPr/>
        <p:txBody>
          <a:bodyPr>
            <a:normAutofit lnSpcReduction="10000"/>
          </a:bodyPr>
          <a:lstStyle/>
          <a:p>
            <a:r>
              <a:rPr lang="en-US" dirty="0"/>
              <a:t>We were working on </a:t>
            </a:r>
            <a:r>
              <a:rPr lang="en-US" dirty="0">
                <a:solidFill>
                  <a:srgbClr val="C00000"/>
                </a:solidFill>
              </a:rPr>
              <a:t>short data series</a:t>
            </a:r>
            <a:r>
              <a:rPr lang="en-US" dirty="0"/>
              <a:t>, that often produce biased estimates.</a:t>
            </a:r>
          </a:p>
          <a:p>
            <a:r>
              <a:rPr lang="en-US" dirty="0"/>
              <a:t>The resampling process was guided according to </a:t>
            </a:r>
            <a:r>
              <a:rPr lang="en-US" dirty="0">
                <a:solidFill>
                  <a:srgbClr val="C00000"/>
                </a:solidFill>
              </a:rPr>
              <a:t>Maximum Entropy Bootstrap</a:t>
            </a:r>
            <a:r>
              <a:rPr lang="en-US" dirty="0"/>
              <a:t> (MEB, Vinod 1993), associating a probability with each outcome and </a:t>
            </a:r>
            <a:r>
              <a:rPr lang="en-US" dirty="0">
                <a:solidFill>
                  <a:srgbClr val="C00000"/>
                </a:solidFill>
              </a:rPr>
              <a:t>maximizing an information entropy </a:t>
            </a:r>
            <a:r>
              <a:rPr lang="en-US" dirty="0"/>
              <a:t>function defined over the resampled data, </a:t>
            </a:r>
            <a:r>
              <a:rPr lang="en-US" dirty="0">
                <a:solidFill>
                  <a:srgbClr val="C00000"/>
                </a:solidFill>
              </a:rPr>
              <a:t>subject to constraints </a:t>
            </a:r>
            <a:r>
              <a:rPr lang="en-US" dirty="0"/>
              <a:t>reflecting statistics computed on the original data. </a:t>
            </a:r>
          </a:p>
          <a:p>
            <a:r>
              <a:rPr lang="en-US" dirty="0"/>
              <a:t>This guarantees that the generated bootstraps are the </a:t>
            </a:r>
            <a:r>
              <a:rPr lang="en-US" b="1" dirty="0"/>
              <a:t>least biased, </a:t>
            </a:r>
            <a:r>
              <a:rPr lang="en-US" dirty="0"/>
              <a:t>i.e., the </a:t>
            </a:r>
            <a:r>
              <a:rPr lang="en-US" dirty="0">
                <a:solidFill>
                  <a:srgbClr val="C00000"/>
                </a:solidFill>
              </a:rPr>
              <a:t>most non-committal estimates </a:t>
            </a:r>
            <a:r>
              <a:rPr lang="en-US" dirty="0"/>
              <a:t>consistent with the known constraints, i.e., with the observed data. </a:t>
            </a:r>
          </a:p>
        </p:txBody>
      </p:sp>
      <p:sp>
        <p:nvSpPr>
          <p:cNvPr id="3" name="Title 2">
            <a:extLst>
              <a:ext uri="{FF2B5EF4-FFF2-40B4-BE49-F238E27FC236}">
                <a16:creationId xmlns:a16="http://schemas.microsoft.com/office/drawing/2014/main" id="{9D0DD118-A109-4FE0-AD46-B81ED76F66B9}"/>
              </a:ext>
            </a:extLst>
          </p:cNvPr>
          <p:cNvSpPr>
            <a:spLocks noGrp="1"/>
          </p:cNvSpPr>
          <p:nvPr>
            <p:ph type="title"/>
          </p:nvPr>
        </p:nvSpPr>
        <p:spPr/>
        <p:txBody>
          <a:bodyPr/>
          <a:lstStyle/>
          <a:p>
            <a:r>
              <a:rPr lang="en-US" dirty="0"/>
              <a:t>Maximum entropy bootstrap</a:t>
            </a:r>
          </a:p>
        </p:txBody>
      </p:sp>
      <p:sp>
        <p:nvSpPr>
          <p:cNvPr id="4" name="Footer Placeholder 3">
            <a:extLst>
              <a:ext uri="{FF2B5EF4-FFF2-40B4-BE49-F238E27FC236}">
                <a16:creationId xmlns:a16="http://schemas.microsoft.com/office/drawing/2014/main" id="{32973CCE-2470-4337-9E79-942349CEB47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0FA2E18-5A1F-420B-9D00-C26676F56989}"/>
              </a:ext>
            </a:extLst>
          </p:cNvPr>
          <p:cNvSpPr>
            <a:spLocks noGrp="1"/>
          </p:cNvSpPr>
          <p:nvPr>
            <p:ph type="sldNum" sz="quarter" idx="4"/>
          </p:nvPr>
        </p:nvSpPr>
        <p:spPr/>
        <p:txBody>
          <a:bodyPr/>
          <a:lstStyle/>
          <a:p>
            <a:pPr>
              <a:defRPr/>
            </a:pPr>
            <a:fld id="{476DEB1C-3253-4C07-8F02-456B7B2AD41D}" type="slidenum">
              <a:rPr lang="it-IT" smtClean="0"/>
              <a:pPr>
                <a:defRPr/>
              </a:pPr>
              <a:t>18</a:t>
            </a:fld>
            <a:endParaRPr lang="it-IT" dirty="0"/>
          </a:p>
        </p:txBody>
      </p:sp>
    </p:spTree>
    <p:extLst>
      <p:ext uri="{BB962C8B-B14F-4D97-AF65-F5344CB8AC3E}">
        <p14:creationId xmlns:p14="http://schemas.microsoft.com/office/powerpoint/2010/main" val="4672363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794DF9-48CB-4C6A-BA1B-81499EA6DAA7}"/>
              </a:ext>
            </a:extLst>
          </p:cNvPr>
          <p:cNvSpPr>
            <a:spLocks noGrp="1"/>
          </p:cNvSpPr>
          <p:nvPr>
            <p:ph idx="1"/>
          </p:nvPr>
        </p:nvSpPr>
        <p:spPr/>
        <p:txBody>
          <a:bodyPr/>
          <a:lstStyle/>
          <a:p>
            <a:pPr algn="l"/>
            <a:r>
              <a:rPr lang="en-US" sz="1800" b="0" i="0" u="none" strike="noStrike" baseline="0" dirty="0">
                <a:latin typeface="SFRM1000"/>
              </a:rPr>
              <a:t>The set of bootstrap trajectories admits two related but conceptually distinct interpretations. BESO uses bootstrap resampling to construct a data-driven family of plausible predictive distributions. This family naturally induces a bootstrap-based ambiguity set. A scenario-based formulation corresponds to optimization under the cost-aware reference distribution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R7"/>
              </a:rPr>
              <a:t>OA </a:t>
            </a:r>
            <a:r>
              <a:rPr lang="en-US" sz="1800" b="0" i="0" u="none" strike="noStrike" baseline="0" dirty="0">
                <a:latin typeface="CMMI7"/>
              </a:rPr>
              <a:t>n </a:t>
            </a:r>
            <a:r>
              <a:rPr lang="en-US" sz="1800" b="0" i="0" u="none" strike="noStrike" baseline="0" dirty="0">
                <a:latin typeface="SFRM1000"/>
              </a:rPr>
              <a:t>, while a worst-case formulation over the induced ambiguity set provides the corresponding DRO extension</a:t>
            </a:r>
          </a:p>
          <a:p>
            <a:pPr algn="l"/>
            <a:r>
              <a:rPr lang="en-US" sz="1800" b="0" i="0" u="none" strike="noStrike" baseline="0" dirty="0" err="1">
                <a:latin typeface="SFRM1000"/>
              </a:rPr>
              <a:t>Notationally</a:t>
            </a:r>
            <a:r>
              <a:rPr lang="en-US" sz="1800" b="0" i="0" u="none" strike="noStrike" baseline="0" dirty="0">
                <a:latin typeface="SFRM1000"/>
              </a:rPr>
              <a:t>, let </a:t>
            </a:r>
            <a:r>
              <a:rPr lang="en-US" sz="1800" b="0" i="0" u="none" strike="noStrike" baseline="0" dirty="0">
                <a:latin typeface="CMMI10"/>
              </a:rPr>
              <a:t>x </a:t>
            </a:r>
            <a:r>
              <a:rPr lang="en-US" sz="1800" b="0" i="0" u="none" strike="noStrike" baseline="0" dirty="0">
                <a:latin typeface="CMSY10"/>
              </a:rPr>
              <a:t>∈ </a:t>
            </a:r>
            <a:r>
              <a:rPr lang="en-US" sz="1800" b="0" i="0" u="none" strike="noStrike" baseline="0" dirty="0">
                <a:latin typeface="CMMI10"/>
              </a:rPr>
              <a:t>X </a:t>
            </a:r>
            <a:r>
              <a:rPr lang="en-US" sz="1800" b="0" i="0" u="none" strike="noStrike" baseline="0" dirty="0">
                <a:latin typeface="SFRM1000"/>
              </a:rPr>
              <a:t>denote the first-stage decision and let </a:t>
            </a:r>
            <a:r>
              <a:rPr lang="en-US" sz="1800" b="0" i="0" u="none" strike="noStrike" baseline="0" dirty="0">
                <a:latin typeface="CMMI10"/>
              </a:rPr>
              <a:t>ξ </a:t>
            </a:r>
            <a:r>
              <a:rPr lang="en-US" sz="1800" b="0" i="0" u="none" strike="noStrike" baseline="0" dirty="0">
                <a:latin typeface="CMSY10"/>
              </a:rPr>
              <a:t>∈ </a:t>
            </a:r>
            <a:r>
              <a:rPr lang="en-US" sz="1800" b="0" i="0" u="none" strike="noStrike" baseline="0" dirty="0">
                <a:latin typeface="CMR10"/>
              </a:rPr>
              <a:t>Ξ</a:t>
            </a:r>
            <a:r>
              <a:rPr lang="en-US" sz="1800" b="0" i="0" u="none" strike="noStrike" baseline="0" dirty="0">
                <a:latin typeface="SFRM1000"/>
              </a:rPr>
              <a:t>, represent the uncertain problem parameters. Conditional on the observed data and the generated scenario pool, </a:t>
            </a:r>
            <a:r>
              <a:rPr lang="el-GR" sz="1800" b="0" i="0" u="none" strike="noStrike" baseline="0" dirty="0">
                <a:latin typeface="CMMI10"/>
              </a:rPr>
              <a:t>τ </a:t>
            </a:r>
            <a:r>
              <a:rPr lang="el-GR" sz="1800" b="0" i="0" u="none" strike="noStrike" baseline="0" dirty="0">
                <a:latin typeface="CMR7"/>
              </a:rPr>
              <a:t>1</a:t>
            </a:r>
            <a:r>
              <a:rPr lang="el-GR" sz="1800" b="0" i="0" u="none" strike="noStrike" baseline="0" dirty="0">
                <a:latin typeface="CMMI10"/>
              </a:rPr>
              <a:t>, . . . , τ</a:t>
            </a:r>
            <a:r>
              <a:rPr lang="en-US" sz="1800" b="0" i="0" u="none" strike="noStrike" baseline="0" dirty="0">
                <a:latin typeface="CMMI7"/>
              </a:rPr>
              <a:t>n </a:t>
            </a:r>
            <a:r>
              <a:rPr lang="en-US" sz="1800" b="0" i="0" u="none" strike="noStrike" baseline="0" dirty="0">
                <a:latin typeface="CMSY10"/>
              </a:rPr>
              <a:t>∈ </a:t>
            </a:r>
            <a:r>
              <a:rPr lang="el-GR" sz="1800" b="0" i="0" u="none" strike="noStrike" baseline="0" dirty="0">
                <a:latin typeface="CMR10"/>
              </a:rPr>
              <a:t>Ξ </a:t>
            </a:r>
            <a:r>
              <a:rPr lang="en-US" sz="1800" b="0" i="0" u="none" strike="noStrike" baseline="0" dirty="0">
                <a:latin typeface="SFRM1000"/>
              </a:rPr>
              <a:t>denote fixed model-based scenarios for these parameters.</a:t>
            </a:r>
          </a:p>
          <a:p>
            <a:pPr algn="l"/>
            <a:r>
              <a:rPr lang="en-US" sz="1800" b="0" i="0" u="none" strike="noStrike" baseline="0" dirty="0">
                <a:latin typeface="SFRM1000"/>
              </a:rPr>
              <a:t>For any realization </a:t>
            </a:r>
            <a:r>
              <a:rPr lang="en-US" sz="1800" b="0" i="0" u="none" strike="noStrike" baseline="0" dirty="0">
                <a:latin typeface="CMMI10"/>
              </a:rPr>
              <a:t>ξ </a:t>
            </a:r>
            <a:r>
              <a:rPr lang="en-US" sz="1800" b="0" i="0" u="none" strike="noStrike" baseline="0" dirty="0">
                <a:latin typeface="CMSY10"/>
              </a:rPr>
              <a:t>∈ </a:t>
            </a:r>
            <a:r>
              <a:rPr lang="en-US" sz="1800" b="0" i="0" u="none" strike="noStrike" baseline="0" dirty="0">
                <a:latin typeface="CMR10"/>
              </a:rPr>
              <a:t>Ξ</a:t>
            </a:r>
            <a:r>
              <a:rPr lang="en-US" sz="1800" b="0" i="0" u="none" strike="noStrike" baseline="0" dirty="0">
                <a:latin typeface="SFRM1000"/>
              </a:rPr>
              <a:t>, the total cost is </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 = </a:t>
            </a:r>
            <a:r>
              <a:rPr lang="en-US" sz="1800" b="0" i="0" u="none" strike="noStrike" baseline="0" dirty="0">
                <a:latin typeface="CMMI10"/>
              </a:rPr>
              <a:t>h</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 </a:t>
            </a:r>
            <a:r>
              <a:rPr lang="en-US" sz="1800" b="0" i="0" u="none" strike="noStrike" baseline="0" dirty="0">
                <a:latin typeface="CMMI10"/>
              </a:rPr>
              <a:t>R</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a:t>
            </a:r>
            <a:r>
              <a:rPr lang="en-US" sz="1800" b="0" i="0" u="none" strike="noStrike" baseline="0" dirty="0">
                <a:latin typeface="SFRM1000"/>
              </a:rPr>
              <a:t>, where </a:t>
            </a:r>
            <a:r>
              <a:rPr lang="en-US" sz="1800" b="0" i="0" u="none" strike="noStrike" baseline="0" dirty="0">
                <a:latin typeface="CMMI10"/>
              </a:rPr>
              <a:t>h</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a:t>
            </a:r>
            <a:r>
              <a:rPr lang="en-US" sz="1800" b="0" i="0" u="none" strike="noStrike" baseline="0" dirty="0">
                <a:latin typeface="SFRM1000"/>
              </a:rPr>
              <a:t>is the first-stage cost and </a:t>
            </a:r>
            <a:r>
              <a:rPr lang="en-US" sz="1800" b="0" i="0" u="none" strike="noStrike" baseline="0" dirty="0">
                <a:latin typeface="CMMI10"/>
              </a:rPr>
              <a:t>R</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 </a:t>
            </a:r>
            <a:r>
              <a:rPr lang="en-US" sz="1800" b="0" i="0" u="none" strike="noStrike" baseline="0" dirty="0">
                <a:latin typeface="SFRM1000"/>
              </a:rPr>
              <a:t>is the optimal recourse cost with </a:t>
            </a:r>
            <a:r>
              <a:rPr lang="en-US" sz="1800" b="0" i="0" u="none" strike="noStrike" baseline="0" dirty="0">
                <a:latin typeface="CMMI10"/>
              </a:rPr>
              <a:t>x </a:t>
            </a:r>
            <a:r>
              <a:rPr lang="en-US" sz="1800" b="0" i="0" u="none" strike="noStrike" baseline="0" dirty="0">
                <a:latin typeface="SFRM1000"/>
              </a:rPr>
              <a:t>fixed and </a:t>
            </a:r>
            <a:r>
              <a:rPr lang="en-US" sz="1800" b="0" i="0" u="none" strike="noStrike" baseline="0" dirty="0">
                <a:latin typeface="CMMI10"/>
              </a:rPr>
              <a:t>ξ </a:t>
            </a:r>
            <a:r>
              <a:rPr lang="en-US" sz="1800" b="0" i="0" u="none" strike="noStrike" baseline="0" dirty="0">
                <a:latin typeface="SFRM1000"/>
              </a:rPr>
              <a:t>observed. Expected costs are written as </a:t>
            </a:r>
            <a:r>
              <a:rPr lang="en-US" sz="1800" b="0" i="0" u="none" strike="noStrike" baseline="0" dirty="0">
                <a:latin typeface="MSBM10"/>
              </a:rPr>
              <a:t>E</a:t>
            </a:r>
            <a:r>
              <a:rPr lang="en-US" sz="1800" b="0" i="0" u="none" strike="noStrike" baseline="0" dirty="0">
                <a:latin typeface="CMMI7"/>
              </a:rPr>
              <a:t>P </a:t>
            </a:r>
            <a:r>
              <a:rPr lang="en-US" sz="1800" b="0" i="0" u="none" strike="noStrike" baseline="0" dirty="0">
                <a:latin typeface="CMR10"/>
              </a:rPr>
              <a:t>[</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a:t>
            </a:r>
            <a:r>
              <a:rPr lang="en-US" sz="1800" b="0" i="0" u="none" strike="noStrike" baseline="0" dirty="0">
                <a:latin typeface="SFRM1000"/>
              </a:rPr>
              <a:t>, whereas scenario costs are written as </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a:t>
            </a:r>
            <a:r>
              <a:rPr lang="el-GR" sz="1800" b="0" i="0" u="none" strike="noStrike" baseline="0" dirty="0">
                <a:latin typeface="CMMI10"/>
              </a:rPr>
              <a:t>τ </a:t>
            </a:r>
            <a:r>
              <a:rPr lang="en-US" sz="1800" b="0" i="0" u="none" strike="noStrike" baseline="0" dirty="0">
                <a:latin typeface="CMMI7"/>
              </a:rPr>
              <a:t>s</a:t>
            </a:r>
            <a:r>
              <a:rPr lang="en-US" sz="1800" b="0" i="0" u="none" strike="noStrike" baseline="0" dirty="0">
                <a:latin typeface="CMR10"/>
              </a:rPr>
              <a:t>)</a:t>
            </a:r>
            <a:r>
              <a:rPr lang="en-US" sz="1800" b="0" i="0" u="none" strike="noStrike" baseline="0" dirty="0">
                <a:latin typeface="SFRM1000"/>
              </a:rPr>
              <a:t>.</a:t>
            </a:r>
            <a:endParaRPr lang="en-US" dirty="0"/>
          </a:p>
        </p:txBody>
      </p:sp>
      <p:sp>
        <p:nvSpPr>
          <p:cNvPr id="3" name="Title 2">
            <a:extLst>
              <a:ext uri="{FF2B5EF4-FFF2-40B4-BE49-F238E27FC236}">
                <a16:creationId xmlns:a16="http://schemas.microsoft.com/office/drawing/2014/main" id="{CA319191-C7BE-4124-A0D4-14745790D7F5}"/>
              </a:ext>
            </a:extLst>
          </p:cNvPr>
          <p:cNvSpPr>
            <a:spLocks noGrp="1"/>
          </p:cNvSpPr>
          <p:nvPr>
            <p:ph type="title"/>
          </p:nvPr>
        </p:nvSpPr>
        <p:spPr/>
        <p:txBody>
          <a:bodyPr/>
          <a:lstStyle/>
          <a:p>
            <a:r>
              <a:rPr lang="en-US" dirty="0"/>
              <a:t>The prescriptive component</a:t>
            </a:r>
          </a:p>
        </p:txBody>
      </p:sp>
      <p:sp>
        <p:nvSpPr>
          <p:cNvPr id="4" name="Footer Placeholder 3">
            <a:extLst>
              <a:ext uri="{FF2B5EF4-FFF2-40B4-BE49-F238E27FC236}">
                <a16:creationId xmlns:a16="http://schemas.microsoft.com/office/drawing/2014/main" id="{ABF87744-93BA-4251-96AC-18E37D853D0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51EF454-0CC0-4407-B6A5-9251973DAF2C}"/>
              </a:ext>
            </a:extLst>
          </p:cNvPr>
          <p:cNvSpPr>
            <a:spLocks noGrp="1"/>
          </p:cNvSpPr>
          <p:nvPr>
            <p:ph type="sldNum" sz="quarter" idx="4"/>
          </p:nvPr>
        </p:nvSpPr>
        <p:spPr/>
        <p:txBody>
          <a:bodyPr/>
          <a:lstStyle/>
          <a:p>
            <a:pPr>
              <a:defRPr/>
            </a:pPr>
            <a:fld id="{476DEB1C-3253-4C07-8F02-456B7B2AD41D}" type="slidenum">
              <a:rPr lang="it-IT" smtClean="0"/>
              <a:pPr>
                <a:defRPr/>
              </a:pPr>
              <a:t>19</a:t>
            </a:fld>
            <a:endParaRPr lang="it-IT" dirty="0"/>
          </a:p>
        </p:txBody>
      </p:sp>
    </p:spTree>
    <p:extLst>
      <p:ext uri="{BB962C8B-B14F-4D97-AF65-F5344CB8AC3E}">
        <p14:creationId xmlns:p14="http://schemas.microsoft.com/office/powerpoint/2010/main" val="4239742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B386D0F0-6A59-4A14-BFA6-2D00ECB7D6FB}"/>
                  </a:ext>
                </a:extLst>
              </p:cNvPr>
              <p:cNvSpPr>
                <a:spLocks noGrp="1"/>
              </p:cNvSpPr>
              <p:nvPr>
                <p:ph idx="1"/>
              </p:nvPr>
            </p:nvSpPr>
            <p:spPr/>
            <p:txBody>
              <a:bodyPr>
                <a:normAutofit/>
              </a:bodyPr>
              <a:lstStyle/>
              <a:p>
                <a:pPr algn="l"/>
                <a:r>
                  <a:rPr lang="en-US" sz="1800" b="0" i="0" u="none" strike="noStrike" baseline="0" dirty="0">
                    <a:latin typeface="SFRM1000"/>
                  </a:rPr>
                  <a:t>In the first interpretation, the trajectories are regarded as alternative realizations of a single predictive distribution. Given </a:t>
                </a:r>
                <a:r>
                  <a:rPr lang="en-US" sz="1800" b="0" i="0" u="none" strike="noStrike" baseline="0" dirty="0">
                    <a:latin typeface="CMMI10"/>
                  </a:rPr>
                  <a:t>n </a:t>
                </a:r>
                <a:r>
                  <a:rPr lang="en-US" sz="1800" b="0" i="0" u="none" strike="noStrike" baseline="0" dirty="0">
                    <a:latin typeface="SFRM1000"/>
                  </a:rPr>
                  <a:t>trajectories </a:t>
                </a:r>
                <a:r>
                  <a:rPr lang="en-US" sz="1800" b="0" i="0" u="none" strike="noStrike" baseline="0" dirty="0">
                    <a:latin typeface="CMMI10"/>
                  </a:rPr>
                  <a:t>τ </a:t>
                </a:r>
                <a:r>
                  <a:rPr lang="en-US" sz="1800" b="0" i="0" u="none" strike="noStrike" baseline="0" dirty="0">
                    <a:latin typeface="CMMI7"/>
                  </a:rPr>
                  <a:t>s</a:t>
                </a:r>
                <a:r>
                  <a:rPr lang="en-US" sz="1800" b="0" i="0" u="none" strike="noStrike" baseline="0" dirty="0">
                    <a:latin typeface="SFRM1000"/>
                  </a:rPr>
                  <a:t>, </a:t>
                </a:r>
                <a:r>
                  <a:rPr lang="en-US" sz="1800" b="0" i="0" u="none" strike="noStrike" baseline="0" dirty="0">
                    <a:latin typeface="CMMI10"/>
                  </a:rPr>
                  <a:t>s </a:t>
                </a:r>
                <a:r>
                  <a:rPr lang="en-US" sz="1800" b="0" i="0" u="none" strike="noStrike" baseline="0" dirty="0">
                    <a:latin typeface="CMSY10"/>
                  </a:rPr>
                  <a:t>∈ </a:t>
                </a:r>
                <a:r>
                  <a:rPr lang="en-US" sz="1800" b="0" i="0" u="none" strike="noStrike" baseline="0" dirty="0">
                    <a:latin typeface="CMMI10"/>
                  </a:rPr>
                  <a:t>S</a:t>
                </a:r>
                <a:r>
                  <a:rPr lang="en-US" sz="1800" b="0" i="0" u="none" strike="noStrike" baseline="0" dirty="0">
                    <a:latin typeface="SFRM1000"/>
                  </a:rPr>
                  <a:t>, where </a:t>
                </a:r>
                <a:r>
                  <a:rPr lang="en-US" sz="1800" b="0" i="0" u="none" strike="noStrike" baseline="0" dirty="0">
                    <a:latin typeface="CMMI10"/>
                  </a:rPr>
                  <a:t>n </a:t>
                </a:r>
                <a:r>
                  <a:rPr lang="en-US" sz="1800" b="0" i="0" u="none" strike="noStrike" baseline="0" dirty="0">
                    <a:latin typeface="SFRM1000"/>
                  </a:rPr>
                  <a:t>is the number of predictive scenarios, assigning objective-aware probability to each of them yields the empirical distribution</a:t>
                </a:r>
              </a:p>
              <a:p>
                <a14:m>
                  <m:oMathPara xmlns:m="http://schemas.openxmlformats.org/officeDocument/2006/math">
                    <m:oMathParaPr>
                      <m:jc m:val="centerGroup"/>
                    </m:oMathParaPr>
                    <m:oMath xmlns:m="http://schemas.openxmlformats.org/officeDocument/2006/math">
                      <m:sSubSup>
                        <m:sSubSupPr>
                          <m:ctrlPr>
                            <a:rPr lang="it-IT" sz="1800" i="1">
                              <a:latin typeface="Cambria Math" panose="02040503050406030204" pitchFamily="18" charset="0"/>
                            </a:rPr>
                          </m:ctrlPr>
                        </m:sSubSupPr>
                        <m:e>
                          <m:acc>
                            <m:accPr>
                              <m:chr m:val="̂"/>
                              <m:ctrlPr>
                                <a:rPr lang="en-US" sz="1800" i="1">
                                  <a:latin typeface="Cambria Math" panose="02040503050406030204" pitchFamily="18" charset="0"/>
                                </a:rPr>
                              </m:ctrlPr>
                            </m:accPr>
                            <m:e>
                              <m:r>
                                <a:rPr lang="it-IT" sz="1800" i="1">
                                  <a:latin typeface="Cambria Math" panose="02040503050406030204" pitchFamily="18" charset="0"/>
                                </a:rPr>
                                <m:t>𝑃</m:t>
                              </m:r>
                            </m:e>
                          </m:acc>
                        </m:e>
                        <m:sub>
                          <m:r>
                            <a:rPr lang="it-IT" sz="1800" i="1">
                              <a:latin typeface="Cambria Math" panose="02040503050406030204" pitchFamily="18" charset="0"/>
                            </a:rPr>
                            <m:t>𝑛</m:t>
                          </m:r>
                        </m:sub>
                        <m:sup>
                          <m:r>
                            <a:rPr lang="it-IT" sz="1800" i="1">
                              <a:latin typeface="Cambria Math" panose="02040503050406030204" pitchFamily="18" charset="0"/>
                            </a:rPr>
                            <m:t>𝑂𝐴</m:t>
                          </m:r>
                        </m:sup>
                      </m:sSubSup>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r>
                        <a:rPr lang="it-IT" sz="1800" b="0" i="1" u="none" strike="noStrike" baseline="0" smtClean="0">
                          <a:latin typeface="Cambria Math" panose="02040503050406030204" pitchFamily="18" charset="0"/>
                        </a:rPr>
                        <m:t> </m:t>
                      </m:r>
                    </m:oMath>
                  </m:oMathPara>
                </a14:m>
                <a:endParaRPr lang="en-US" sz="1800" b="0" i="0" u="none" strike="noStrike" baseline="0" dirty="0">
                  <a:latin typeface="SFRM1000"/>
                </a:endParaRPr>
              </a:p>
              <a:p>
                <a:pPr algn="l"/>
                <a:r>
                  <a:rPr lang="en-US" sz="1800" b="0" i="0" u="none" strike="noStrike" baseline="0" dirty="0">
                    <a:latin typeface="SFRM1000"/>
                  </a:rPr>
                  <a:t>The expected downstream cost is consequently approximated by its weighted average over the bootstrap trajectories, leading to a weighted sample average approximation (SAA) variant model. </a:t>
                </a:r>
              </a:p>
              <a:p>
                <a:pPr algn="l"/>
                <a:r>
                  <a:rPr lang="en-US" sz="1800" b="0" i="0" u="none" strike="noStrike" baseline="0" dirty="0">
                    <a:latin typeface="SFRM1000"/>
                  </a:rPr>
                  <a:t>Under this interpretation, the bootstrap procedure represents uncertainty within one estimated predictive distribution. </a:t>
                </a:r>
              </a:p>
              <a:p>
                <a:pPr algn="l"/>
                <a:r>
                  <a:rPr lang="en-US" sz="1800" b="0" i="0" u="none" strike="noStrike" baseline="0" dirty="0">
                    <a:latin typeface="SFRM1000"/>
                  </a:rPr>
                  <a:t>The first-stage decision </a:t>
                </a:r>
                <a:r>
                  <a:rPr lang="en-US" sz="1800" b="0" i="0" u="none" strike="noStrike" baseline="0" dirty="0">
                    <a:latin typeface="CMMI10"/>
                  </a:rPr>
                  <a:t>x </a:t>
                </a:r>
                <a:r>
                  <a:rPr lang="en-US" sz="1800" b="0" i="0" u="none" strike="noStrike" baseline="0" dirty="0">
                    <a:latin typeface="SFRM1000"/>
                  </a:rPr>
                  <a:t>is common to all scenarios, while recourse decisions are scenario-specific.</a:t>
                </a:r>
                <a:endParaRPr lang="en-US" dirty="0"/>
              </a:p>
            </p:txBody>
          </p:sp>
        </mc:Choice>
        <mc:Fallback>
          <p:sp>
            <p:nvSpPr>
              <p:cNvPr id="2" name="Content Placeholder 1">
                <a:extLst>
                  <a:ext uri="{FF2B5EF4-FFF2-40B4-BE49-F238E27FC236}">
                    <a16:creationId xmlns:a16="http://schemas.microsoft.com/office/drawing/2014/main" id="{B386D0F0-6A59-4A14-BFA6-2D00ECB7D6FB}"/>
                  </a:ext>
                </a:extLst>
              </p:cNvPr>
              <p:cNvSpPr>
                <a:spLocks noGrp="1" noRot="1" noChangeAspect="1" noMove="1" noResize="1" noEditPoints="1" noAdjustHandles="1" noChangeArrowheads="1" noChangeShapeType="1" noTextEdit="1"/>
              </p:cNvSpPr>
              <p:nvPr>
                <p:ph idx="1"/>
              </p:nvPr>
            </p:nvSpPr>
            <p:spPr>
              <a:blipFill>
                <a:blip r:embed="rId2"/>
                <a:stretch>
                  <a:fillRect l="-571"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DC881E5-F70F-41F4-95B8-E7D5F40257FD}"/>
              </a:ext>
            </a:extLst>
          </p:cNvPr>
          <p:cNvSpPr>
            <a:spLocks noGrp="1"/>
          </p:cNvSpPr>
          <p:nvPr>
            <p:ph type="title"/>
          </p:nvPr>
        </p:nvSpPr>
        <p:spPr/>
        <p:txBody>
          <a:bodyPr/>
          <a:lstStyle/>
          <a:p>
            <a:r>
              <a:rPr lang="en-US" dirty="0"/>
              <a:t>BESO-SAA</a:t>
            </a:r>
          </a:p>
        </p:txBody>
      </p:sp>
      <p:sp>
        <p:nvSpPr>
          <p:cNvPr id="4" name="Footer Placeholder 3">
            <a:extLst>
              <a:ext uri="{FF2B5EF4-FFF2-40B4-BE49-F238E27FC236}">
                <a16:creationId xmlns:a16="http://schemas.microsoft.com/office/drawing/2014/main" id="{C6C65032-FDB8-40D4-8D7D-414ADE4C6614}"/>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C259E86-521E-4AA2-B7AF-3E87B617799A}"/>
              </a:ext>
            </a:extLst>
          </p:cNvPr>
          <p:cNvSpPr>
            <a:spLocks noGrp="1"/>
          </p:cNvSpPr>
          <p:nvPr>
            <p:ph type="sldNum" sz="quarter" idx="4"/>
          </p:nvPr>
        </p:nvSpPr>
        <p:spPr/>
        <p:txBody>
          <a:bodyPr/>
          <a:lstStyle/>
          <a:p>
            <a:pPr>
              <a:defRPr/>
            </a:pPr>
            <a:fld id="{476DEB1C-3253-4C07-8F02-456B7B2AD41D}" type="slidenum">
              <a:rPr lang="it-IT" smtClean="0"/>
              <a:pPr>
                <a:defRPr/>
              </a:pPr>
              <a:t>20</a:t>
            </a:fld>
            <a:endParaRPr lang="it-IT" dirty="0"/>
          </a:p>
        </p:txBody>
      </p:sp>
    </p:spTree>
    <p:extLst>
      <p:ext uri="{BB962C8B-B14F-4D97-AF65-F5344CB8AC3E}">
        <p14:creationId xmlns:p14="http://schemas.microsoft.com/office/powerpoint/2010/main" val="12300557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C443ADC0-6694-44C5-9F55-364864A664C7}"/>
                  </a:ext>
                </a:extLst>
              </p:cNvPr>
              <p:cNvSpPr>
                <a:spLocks noGrp="1"/>
              </p:cNvSpPr>
              <p:nvPr>
                <p:ph idx="1"/>
              </p:nvPr>
            </p:nvSpPr>
            <p:spPr/>
            <p:txBody>
              <a:bodyPr>
                <a:normAutofit fontScale="92500" lnSpcReduction="10000"/>
              </a:bodyPr>
              <a:lstStyle/>
              <a:p>
                <a:pPr algn="l"/>
                <a:r>
                  <a:rPr lang="en-US" sz="1800" b="0" i="0" u="none" strike="noStrike" baseline="0" dirty="0">
                    <a:latin typeface="SFRM1000"/>
                  </a:rPr>
                  <a:t>A second interpretation uses bootstrap resampling at the distributional level. We take the expectation </a:t>
                </a:r>
                <a:r>
                  <a:rPr lang="en-US" sz="1800" b="0" i="0" u="none" strike="noStrike" baseline="0" dirty="0">
                    <a:latin typeface="SFTI1000"/>
                  </a:rPr>
                  <a:t>within </a:t>
                </a:r>
                <a:r>
                  <a:rPr lang="en-US" sz="1800" b="0" i="0" u="none" strike="noStrike" baseline="0" dirty="0">
                    <a:latin typeface="SFRM1000"/>
                  </a:rPr>
                  <a:t>each bootstrap distribution, and the worst case </a:t>
                </a:r>
                <a:r>
                  <a:rPr lang="en-US" sz="1800" b="0" i="0" u="none" strike="noStrike" baseline="0" dirty="0">
                    <a:latin typeface="SFTI1000"/>
                  </a:rPr>
                  <a:t>across </a:t>
                </a:r>
                <a:r>
                  <a:rPr lang="en-US" sz="1800" b="0" i="0" u="none" strike="noStrike" baseline="0" dirty="0">
                    <a:latin typeface="SFRM1000"/>
                  </a:rPr>
                  <a:t>bootstrap distributions.</a:t>
                </a:r>
              </a:p>
              <a:p>
                <a:pPr algn="l"/>
                <a:r>
                  <a:rPr lang="en-US" sz="1800" b="0" i="0" u="none" strike="noStrike" baseline="0" dirty="0">
                    <a:latin typeface="SFRM1000"/>
                  </a:rPr>
                  <a:t>Formally, let </a:t>
                </a:r>
                <a:r>
                  <a:rPr lang="en-US" sz="1800" b="0" i="0" u="none" strike="noStrike" baseline="0" dirty="0">
                    <a:latin typeface="CMMI10"/>
                  </a:rPr>
                  <a:t>I</a:t>
                </a:r>
                <a:r>
                  <a:rPr lang="en-US" sz="1800" b="0" i="0" u="none" strike="noStrike" baseline="0" dirty="0">
                    <a:latin typeface="CMMI7"/>
                  </a:rPr>
                  <a:t>k</a:t>
                </a:r>
                <a:r>
                  <a:rPr lang="en-US" sz="1800" b="0" i="0" u="none" strike="noStrike" baseline="0" dirty="0">
                    <a:latin typeface="CMR7"/>
                  </a:rPr>
                  <a:t>1</a:t>
                </a:r>
                <a:r>
                  <a:rPr lang="en-US" sz="1800" b="0" i="0" u="none" strike="noStrike" baseline="0" dirty="0">
                    <a:latin typeface="CMMI10"/>
                  </a:rPr>
                  <a:t>, . . . , </a:t>
                </a:r>
                <a:r>
                  <a:rPr lang="en-US" sz="1800" b="0" i="0" u="none" strike="noStrike" baseline="0" dirty="0" err="1">
                    <a:latin typeface="CMMI10"/>
                  </a:rPr>
                  <a:t>I</a:t>
                </a:r>
                <a:r>
                  <a:rPr lang="en-US" sz="1800" b="0" i="0" u="none" strike="noStrike" baseline="0" dirty="0" err="1">
                    <a:latin typeface="CMMI7"/>
                  </a:rPr>
                  <a:t>kd</a:t>
                </a:r>
                <a:r>
                  <a:rPr lang="en-US" sz="1800" b="0" i="0" u="none" strike="noStrike" baseline="0" dirty="0">
                    <a:latin typeface="CMMI7"/>
                  </a:rPr>
                  <a:t> </a:t>
                </a:r>
                <a:r>
                  <a:rPr lang="en-US" sz="1800" b="0" i="0" u="none" strike="noStrike" baseline="0" dirty="0">
                    <a:latin typeface="SFRM1000"/>
                  </a:rPr>
                  <a:t>be series indices sampled from </a:t>
                </a:r>
                <a:r>
                  <a:rPr lang="en-US" sz="1800" b="0" i="0" u="none" strike="noStrike" baseline="0" dirty="0">
                    <a:latin typeface="CMMI10"/>
                  </a:rPr>
                  <a:t>S </a:t>
                </a:r>
                <a:r>
                  <a:rPr lang="en-US" sz="1800" b="0" i="0" u="none" strike="noStrike" baseline="0" dirty="0">
                    <a:latin typeface="SFRM1000"/>
                  </a:rPr>
                  <a:t>according to </a:t>
                </a:r>
                <a:r>
                  <a:rPr lang="en-US" sz="1800" b="0" i="0" u="none" strike="noStrike" baseline="0" dirty="0" err="1">
                    <a:latin typeface="CMMI10"/>
                  </a:rPr>
                  <a:t>p</a:t>
                </a:r>
                <a:r>
                  <a:rPr lang="en-US" sz="1800" b="0" i="0" u="none" strike="noStrike" baseline="0" dirty="0" err="1">
                    <a:latin typeface="CMR7"/>
                  </a:rPr>
                  <a:t>OA</a:t>
                </a:r>
                <a:r>
                  <a:rPr lang="en-US" sz="1800" b="0" i="0" u="none" strike="noStrike" baseline="0" dirty="0">
                    <a:latin typeface="SFRM1000"/>
                  </a:rPr>
                  <a:t>, </a:t>
                </a:r>
                <a:r>
                  <a:rPr lang="en-US" sz="1800" b="0" i="0" u="none" strike="noStrike" baseline="0" dirty="0">
                    <a:latin typeface="CMMI10"/>
                  </a:rPr>
                  <a:t>d </a:t>
                </a:r>
                <a:r>
                  <a:rPr lang="en-US" sz="1800" b="0" i="0" u="none" strike="noStrike" baseline="0" dirty="0">
                    <a:latin typeface="SFRM1000"/>
                  </a:rPr>
                  <a:t>being the number of scenario draws in each resample. If </a:t>
                </a:r>
                <a:r>
                  <a:rPr lang="en-US" sz="1800" b="0" i="0" u="none" strike="noStrike" baseline="0" dirty="0" err="1">
                    <a:latin typeface="CMMI10"/>
                  </a:rPr>
                  <a:t>nt</a:t>
                </a:r>
                <a:r>
                  <a:rPr lang="en-US" sz="1800" b="0" i="0" u="none" strike="noStrike" baseline="0" dirty="0" err="1">
                    <a:latin typeface="CMMI7"/>
                  </a:rPr>
                  <a:t>ks</a:t>
                </a:r>
                <a:r>
                  <a:rPr lang="en-US" sz="1800" b="0" i="0" u="none" strike="noStrike" baseline="0" dirty="0">
                    <a:latin typeface="CMMI7"/>
                  </a:rPr>
                  <a:t> </a:t>
                </a:r>
                <a:r>
                  <a:rPr lang="en-US" sz="1800" b="0" i="0" u="none" strike="noStrike" baseline="0" dirty="0">
                    <a:latin typeface="SFRM1000"/>
                  </a:rPr>
                  <a:t>is the number of times series </a:t>
                </a:r>
                <a:r>
                  <a:rPr lang="en-US" sz="1800" b="0" i="0" u="none" strike="noStrike" baseline="0" dirty="0">
                    <a:latin typeface="CMMI10"/>
                  </a:rPr>
                  <a:t>s </a:t>
                </a:r>
                <a:r>
                  <a:rPr lang="en-US" sz="1800" b="0" i="0" u="none" strike="noStrike" baseline="0" dirty="0">
                    <a:latin typeface="SFRM1000"/>
                  </a:rPr>
                  <a:t>appears in resample </a:t>
                </a:r>
                <a:r>
                  <a:rPr lang="en-US" sz="1800" b="0" i="0" u="none" strike="noStrike" baseline="0" dirty="0">
                    <a:latin typeface="CMMI10"/>
                  </a:rPr>
                  <a:t>k</a:t>
                </a:r>
                <a:r>
                  <a:rPr lang="en-US" sz="1800" b="0" i="0" u="none" strike="noStrike" baseline="0" dirty="0">
                    <a:latin typeface="SFRM1000"/>
                  </a:rPr>
                  <a:t>, upon defining </a:t>
                </a:r>
                <a:r>
                  <a:rPr lang="en-US" sz="1800" b="0" i="0" u="none" strike="noStrike" baseline="0" dirty="0" err="1">
                    <a:latin typeface="CMMI10"/>
                  </a:rPr>
                  <a:t>w</a:t>
                </a:r>
                <a:r>
                  <a:rPr lang="en-US" sz="1800" b="0" i="0" u="none" strike="noStrike" baseline="0" dirty="0" err="1">
                    <a:latin typeface="CMMI7"/>
                  </a:rPr>
                  <a:t>ks</a:t>
                </a:r>
                <a:r>
                  <a:rPr lang="en-US" sz="1800" b="0" i="0" u="none" strike="noStrike" baseline="0" dirty="0">
                    <a:latin typeface="CMMI7"/>
                  </a:rPr>
                  <a:t> </a:t>
                </a:r>
                <a:r>
                  <a:rPr lang="en-US" sz="1800" b="0" i="0" u="none" strike="noStrike" baseline="0" dirty="0">
                    <a:latin typeface="CMR10"/>
                  </a:rPr>
                  <a:t>= </a:t>
                </a:r>
                <a:r>
                  <a:rPr lang="en-US" sz="1800" b="0" i="0" u="none" strike="noStrike" baseline="0" dirty="0" err="1">
                    <a:latin typeface="CMMI7"/>
                  </a:rPr>
                  <a:t>nt</a:t>
                </a:r>
                <a:r>
                  <a:rPr lang="en-US" sz="1800" b="0" i="0" u="none" strike="noStrike" baseline="0" dirty="0" err="1">
                    <a:latin typeface="CMMI5"/>
                  </a:rPr>
                  <a:t>ks</a:t>
                </a:r>
                <a:r>
                  <a:rPr lang="en-US" sz="1800" b="0" i="0" u="none" strike="noStrike" baseline="0" dirty="0">
                    <a:latin typeface="CMMI5"/>
                  </a:rPr>
                  <a:t> </a:t>
                </a:r>
                <a:r>
                  <a:rPr lang="en-US" sz="1800" b="0" i="0" u="none" strike="noStrike" baseline="0" dirty="0">
                    <a:latin typeface="CMMI7"/>
                  </a:rPr>
                  <a:t>d </a:t>
                </a:r>
                <a:r>
                  <a:rPr lang="en-US" sz="1800" b="0" i="0" u="none" strike="noStrike" baseline="0" dirty="0">
                    <a:latin typeface="SFRM1000"/>
                  </a:rPr>
                  <a:t>as the relative frequency of the series in resample </a:t>
                </a:r>
                <a:r>
                  <a:rPr lang="en-US" sz="1800" b="0" i="0" u="none" strike="noStrike" baseline="0" dirty="0">
                    <a:latin typeface="CMMI10"/>
                  </a:rPr>
                  <a:t>k</a:t>
                </a:r>
                <a:r>
                  <a:rPr lang="en-US" sz="1800" b="0" i="0" u="none" strike="noStrike" baseline="0" dirty="0">
                    <a:latin typeface="SFRM1000"/>
                  </a:rPr>
                  <a:t>, we can define a collection of empirical distributions</a:t>
                </a:r>
              </a:p>
              <a:p>
                <a:pPr algn="l"/>
                <a14:m>
                  <m:oMathPara xmlns:m="http://schemas.openxmlformats.org/officeDocument/2006/math">
                    <m:oMathParaPr>
                      <m:jc m:val="centerGroup"/>
                    </m:oMathParaPr>
                    <m:oMath xmlns:m="http://schemas.openxmlformats.org/officeDocument/2006/math">
                      <m:sSup>
                        <m:sSupPr>
                          <m:ctrlPr>
                            <a:rPr lang="it-IT" sz="1800" b="0" i="1" u="none" strike="noStrike" baseline="0" smtClean="0">
                              <a:latin typeface="Cambria Math" panose="02040503050406030204" pitchFamily="18" charset="0"/>
                            </a:rPr>
                          </m:ctrlPr>
                        </m:sSup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p>
                          <m:r>
                            <a:rPr lang="it-IT" sz="1800" b="0" i="1" u="none" strike="noStrike" baseline="0" smtClean="0">
                              <a:latin typeface="Cambria Math" panose="02040503050406030204" pitchFamily="18" charset="0"/>
                            </a:rPr>
                            <m:t>𝑘</m:t>
                          </m:r>
                        </m:sup>
                      </m:sSup>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oMath>
                  </m:oMathPara>
                </a14:m>
                <a:endParaRPr lang="en-US" sz="1800" b="0" i="0" u="none" strike="noStrike" baseline="0" dirty="0">
                  <a:latin typeface="SFRM1000"/>
                </a:endParaRPr>
              </a:p>
              <a:p>
                <a:pPr algn="l"/>
                <a:r>
                  <a:rPr lang="en-US" sz="1800" b="0" i="0" u="none" strike="noStrike" baseline="0" dirty="0">
                    <a:latin typeface="SFRM1000"/>
                  </a:rPr>
                  <a:t>where </a:t>
                </a:r>
                <a:r>
                  <a:rPr lang="en-US" sz="1800" b="0" i="0" u="none" strike="noStrike" baseline="0" dirty="0">
                    <a:latin typeface="CMMI10"/>
                  </a:rPr>
                  <a:t>m </a:t>
                </a:r>
                <a:r>
                  <a:rPr lang="en-US" sz="1800" b="0" i="0" u="none" strike="noStrike" baseline="0" dirty="0">
                    <a:latin typeface="SFRM1000"/>
                  </a:rPr>
                  <a:t>is the number of resampled empirical distributions and </a:t>
                </a:r>
                <a:r>
                  <a:rPr lang="en-US" sz="1800" dirty="0">
                    <a:latin typeface="CMMI10"/>
                  </a:rPr>
                  <a:t>k</a:t>
                </a:r>
                <a:r>
                  <a:rPr lang="en-US" sz="1800" b="0" i="0" u="none" strike="noStrike" baseline="0" dirty="0">
                    <a:latin typeface="CMMI10"/>
                  </a:rPr>
                  <a:t> </a:t>
                </a:r>
                <a:r>
                  <a:rPr lang="en-US" sz="1800" b="0" i="0" u="none" strike="noStrike" baseline="0" dirty="0">
                    <a:latin typeface="CMR10"/>
                  </a:rPr>
                  <a:t>= </a:t>
                </a:r>
                <a:r>
                  <a:rPr lang="en-US" sz="1800" b="0" i="0" u="none" strike="noStrike" baseline="0" dirty="0">
                    <a:latin typeface="CMSY10"/>
                  </a:rPr>
                  <a:t>{</a:t>
                </a:r>
                <a:r>
                  <a:rPr lang="en-US" sz="1800" b="0" i="0" u="none" strike="noStrike" baseline="0" dirty="0">
                    <a:latin typeface="CMR10"/>
                  </a:rPr>
                  <a:t>1</a:t>
                </a:r>
                <a:r>
                  <a:rPr lang="en-US" sz="1800" b="0" i="0" u="none" strike="noStrike" baseline="0" dirty="0">
                    <a:latin typeface="CMMI10"/>
                  </a:rPr>
                  <a:t>, . . . ,m</a:t>
                </a:r>
                <a:r>
                  <a:rPr lang="en-US" sz="1800" b="0" i="0" u="none" strike="noStrike" baseline="0" dirty="0">
                    <a:latin typeface="CMSY10"/>
                  </a:rPr>
                  <a:t>}</a:t>
                </a:r>
                <a:r>
                  <a:rPr lang="en-US" sz="1800" b="0" i="0" u="none" strike="noStrike" baseline="0" dirty="0">
                    <a:latin typeface="SFRM1000"/>
                  </a:rPr>
                  <a:t>.</a:t>
                </a:r>
              </a:p>
              <a:p>
                <a:pPr algn="l"/>
                <a:r>
                  <a:rPr lang="en-US" sz="1800" b="0" i="0" u="none" strike="noStrike" baseline="0" dirty="0">
                    <a:latin typeface="SFRM1000"/>
                  </a:rPr>
                  <a:t>These distributions are then treated as alternative plausible descriptions of the underlying uncertain process and used to construct a related ambiguity set as </a:t>
                </a:r>
              </a:p>
              <a:p>
                <a:pPr algn="l"/>
                <a14:m>
                  <m:oMathPara xmlns:m="http://schemas.openxmlformats.org/officeDocument/2006/math">
                    <m:oMathParaPr>
                      <m:jc m:val="centerGroup"/>
                    </m:oMathParaPr>
                    <m:oMath xmlns:m="http://schemas.openxmlformats.org/officeDocument/2006/math">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𝒰</m:t>
                          </m:r>
                        </m:e>
                        <m:sub>
                          <m:r>
                            <a:rPr lang="it-IT" sz="1800" b="0" i="1" u="none" strike="noStrike" baseline="0" smtClean="0">
                              <a:latin typeface="Cambria Math" panose="02040503050406030204" pitchFamily="18" charset="0"/>
                              <a:ea typeface="Cambria Math" panose="02040503050406030204" pitchFamily="18" charset="0"/>
                            </a:rPr>
                            <m:t>𝑚𝑑</m:t>
                          </m:r>
                        </m:sub>
                      </m:sSub>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𝑐𝑜𝑛𝑣</m:t>
                      </m:r>
                      <m:r>
                        <a:rPr lang="it-IT" sz="1800" b="0" i="1" u="none" strike="noStrike" baseline="0" smtClean="0">
                          <a:latin typeface="Cambria Math" panose="02040503050406030204" pitchFamily="18" charset="0"/>
                          <a:ea typeface="Cambria Math" panose="02040503050406030204" pitchFamily="18" charset="0"/>
                        </a:rPr>
                        <m:t>{</m:t>
                      </m:r>
                      <m:sSup>
                        <m:sSupPr>
                          <m:ctrlPr>
                            <a:rPr lang="it-IT" sz="1800" b="0" i="1" u="none" strike="noStrike" baseline="0" smtClean="0">
                              <a:latin typeface="Cambria Math" panose="02040503050406030204" pitchFamily="18" charset="0"/>
                              <a:ea typeface="Cambria Math" panose="02040503050406030204" pitchFamily="18" charset="0"/>
                            </a:rPr>
                          </m:ctrlPr>
                        </m:sSupPr>
                        <m:e>
                          <m:acc>
                            <m:accPr>
                              <m:chr m:val="̂"/>
                              <m:ctrlPr>
                                <a:rPr lang="it-IT" sz="1800" b="0" i="1" u="none" strike="noStrike" baseline="0" smtClean="0">
                                  <a:latin typeface="Cambria Math" panose="02040503050406030204" pitchFamily="18" charset="0"/>
                                  <a:ea typeface="Cambria Math" panose="02040503050406030204" pitchFamily="18" charset="0"/>
                                </a:rPr>
                              </m:ctrlPr>
                            </m:accPr>
                            <m:e>
                              <m:r>
                                <a:rPr lang="it-IT" sz="1800" b="0" i="1" u="none" strike="noStrike" baseline="0" smtClean="0">
                                  <a:latin typeface="Cambria Math" panose="02040503050406030204" pitchFamily="18" charset="0"/>
                                  <a:ea typeface="Cambria Math" panose="02040503050406030204" pitchFamily="18" charset="0"/>
                                </a:rPr>
                                <m:t>𝑃</m:t>
                              </m:r>
                            </m:e>
                          </m:acc>
                        </m:e>
                        <m:sup>
                          <m:r>
                            <a:rPr lang="it-IT" sz="1800" b="0" i="1" u="none" strike="noStrike" baseline="0" smtClean="0">
                              <a:latin typeface="Cambria Math" panose="02040503050406030204" pitchFamily="18" charset="0"/>
                              <a:ea typeface="Cambria Math" panose="02040503050406030204" pitchFamily="18" charset="0"/>
                            </a:rPr>
                            <m:t>1</m:t>
                          </m:r>
                        </m:sup>
                      </m:sSup>
                      <m:r>
                        <a:rPr lang="it-IT" sz="1800" b="0" i="1" u="none" strike="noStrike" baseline="0" smtClean="0">
                          <a:latin typeface="Cambria Math" panose="02040503050406030204" pitchFamily="18" charset="0"/>
                          <a:ea typeface="Cambria Math" panose="02040503050406030204" pitchFamily="18" charset="0"/>
                        </a:rPr>
                        <m:t>, …, </m:t>
                      </m:r>
                      <m:sSup>
                        <m:sSupPr>
                          <m:ctrlPr>
                            <a:rPr lang="it-IT" sz="1800" b="0" i="1" u="none" strike="noStrike" baseline="0" smtClean="0">
                              <a:latin typeface="Cambria Math" panose="02040503050406030204" pitchFamily="18" charset="0"/>
                              <a:ea typeface="Cambria Math" panose="02040503050406030204" pitchFamily="18" charset="0"/>
                            </a:rPr>
                          </m:ctrlPr>
                        </m:sSupPr>
                        <m:e>
                          <m:acc>
                            <m:accPr>
                              <m:chr m:val="̂"/>
                              <m:ctrlPr>
                                <a:rPr lang="it-IT" sz="1800" b="0" i="1" u="none" strike="noStrike" baseline="0" smtClean="0">
                                  <a:latin typeface="Cambria Math" panose="02040503050406030204" pitchFamily="18" charset="0"/>
                                  <a:ea typeface="Cambria Math" panose="02040503050406030204" pitchFamily="18" charset="0"/>
                                </a:rPr>
                              </m:ctrlPr>
                            </m:accPr>
                            <m:e>
                              <m:r>
                                <a:rPr lang="it-IT" sz="1800" b="0" i="1" u="none" strike="noStrike" baseline="0" smtClean="0">
                                  <a:latin typeface="Cambria Math" panose="02040503050406030204" pitchFamily="18" charset="0"/>
                                  <a:ea typeface="Cambria Math" panose="02040503050406030204" pitchFamily="18" charset="0"/>
                                </a:rPr>
                                <m:t>𝑃</m:t>
                              </m:r>
                            </m:e>
                          </m:acc>
                        </m:e>
                        <m:sup>
                          <m:r>
                            <a:rPr lang="it-IT" sz="1800" b="0" i="1" u="none" strike="noStrike" baseline="0" smtClean="0">
                              <a:latin typeface="Cambria Math" panose="02040503050406030204" pitchFamily="18" charset="0"/>
                              <a:ea typeface="Cambria Math" panose="02040503050406030204" pitchFamily="18" charset="0"/>
                            </a:rPr>
                            <m:t>𝑚</m:t>
                          </m:r>
                        </m:sup>
                      </m:sSup>
                      <m:r>
                        <a:rPr lang="it-IT" sz="1800" b="0" i="1" u="none" strike="noStrike" baseline="0" smtClean="0">
                          <a:latin typeface="Cambria Math" panose="02040503050406030204" pitchFamily="18" charset="0"/>
                          <a:ea typeface="Cambria Math" panose="02040503050406030204" pitchFamily="18" charset="0"/>
                        </a:rPr>
                        <m:t>}</m:t>
                      </m:r>
                    </m:oMath>
                  </m:oMathPara>
                </a14:m>
                <a:endParaRPr lang="en-US" sz="1800" b="0" i="0" u="none" strike="noStrike" baseline="0" dirty="0">
                  <a:latin typeface="SFRM1000"/>
                </a:endParaRPr>
              </a:p>
              <a:p>
                <a:pPr algn="l"/>
                <a:r>
                  <a:rPr lang="en-US" sz="1800" b="0" i="0" u="none" strike="noStrike" baseline="0" dirty="0">
                    <a:latin typeface="SFRM1000"/>
                  </a:rPr>
                  <a:t>The resulting formulation minimizes cost under the worst-case distribution in </a:t>
                </a:r>
                <a14:m>
                  <m:oMath xmlns:m="http://schemas.openxmlformats.org/officeDocument/2006/math">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𝒰</m:t>
                        </m:r>
                      </m:e>
                      <m:sub>
                        <m:r>
                          <a:rPr lang="it-IT" sz="1800" b="0" i="1" u="none" strike="noStrike" baseline="0" smtClean="0">
                            <a:latin typeface="Cambria Math" panose="02040503050406030204" pitchFamily="18" charset="0"/>
                            <a:ea typeface="Cambria Math" panose="02040503050406030204" pitchFamily="18" charset="0"/>
                          </a:rPr>
                          <m:t>𝑚𝑑</m:t>
                        </m:r>
                      </m:sub>
                    </m:sSub>
                  </m:oMath>
                </a14:m>
                <a:r>
                  <a:rPr lang="en-US" sz="1800" b="0" i="0" u="none" strike="noStrike" baseline="0" dirty="0">
                    <a:latin typeface="SFRM1000"/>
                  </a:rPr>
                  <a:t>, thereby yielding a model which is </a:t>
                </a:r>
                <a:r>
                  <a:rPr lang="en-US" sz="1800" b="0" i="0" u="none" strike="noStrike" baseline="0" dirty="0" err="1">
                    <a:latin typeface="SFRM1000"/>
                  </a:rPr>
                  <a:t>distributionally</a:t>
                </a:r>
                <a:r>
                  <a:rPr lang="en-US" sz="1800" b="0" i="0" u="none" strike="noStrike" baseline="0" dirty="0">
                    <a:latin typeface="SFRM1000"/>
                  </a:rPr>
                  <a:t> robust with respect to </a:t>
                </a:r>
                <a:r>
                  <a:rPr lang="en-US" sz="1800" b="0" i="0" u="none" strike="noStrike" baseline="0" dirty="0" err="1">
                    <a:latin typeface="SFRM1000"/>
                  </a:rPr>
                  <a:t>reweightings</a:t>
                </a:r>
                <a:r>
                  <a:rPr lang="en-US" sz="1800" b="0" i="0" u="none" strike="noStrike" baseline="0" dirty="0">
                    <a:latin typeface="SFRM1000"/>
                  </a:rPr>
                  <a:t> of the scenario pool.</a:t>
                </a:r>
              </a:p>
            </p:txBody>
          </p:sp>
        </mc:Choice>
        <mc:Fallback>
          <p:sp>
            <p:nvSpPr>
              <p:cNvPr id="2" name="Content Placeholder 1">
                <a:extLst>
                  <a:ext uri="{FF2B5EF4-FFF2-40B4-BE49-F238E27FC236}">
                    <a16:creationId xmlns:a16="http://schemas.microsoft.com/office/drawing/2014/main" id="{C443ADC0-6694-44C5-9F55-364864A664C7}"/>
                  </a:ext>
                </a:extLst>
              </p:cNvPr>
              <p:cNvSpPr>
                <a:spLocks noGrp="1" noRot="1" noChangeAspect="1" noMove="1" noResize="1" noEditPoints="1" noAdjustHandles="1" noChangeArrowheads="1" noChangeShapeType="1" noTextEdit="1"/>
              </p:cNvSpPr>
              <p:nvPr>
                <p:ph idx="1"/>
              </p:nvPr>
            </p:nvSpPr>
            <p:spPr>
              <a:blipFill>
                <a:blip r:embed="rId2"/>
                <a:stretch>
                  <a:fillRect l="-428" t="-928" r="-49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24932C68-B64E-47A9-B640-E259FC65C0F8}"/>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22DF1649-B089-4E9B-83C3-E3CEC13E2C64}"/>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4E6007E3-8015-432C-B24E-837AB38EC6B6}"/>
              </a:ext>
            </a:extLst>
          </p:cNvPr>
          <p:cNvSpPr>
            <a:spLocks noGrp="1"/>
          </p:cNvSpPr>
          <p:nvPr>
            <p:ph type="sldNum" sz="quarter" idx="4"/>
          </p:nvPr>
        </p:nvSpPr>
        <p:spPr/>
        <p:txBody>
          <a:bodyPr/>
          <a:lstStyle/>
          <a:p>
            <a:pPr>
              <a:defRPr/>
            </a:pPr>
            <a:fld id="{476DEB1C-3253-4C07-8F02-456B7B2AD41D}" type="slidenum">
              <a:rPr lang="it-IT" smtClean="0"/>
              <a:pPr>
                <a:defRPr/>
              </a:pPr>
              <a:t>21</a:t>
            </a:fld>
            <a:endParaRPr lang="it-IT" dirty="0"/>
          </a:p>
        </p:txBody>
      </p:sp>
    </p:spTree>
    <p:extLst>
      <p:ext uri="{BB962C8B-B14F-4D97-AF65-F5344CB8AC3E}">
        <p14:creationId xmlns:p14="http://schemas.microsoft.com/office/powerpoint/2010/main" val="2152655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14E65605-DBEA-4AFE-850C-CBAC49715188}"/>
                  </a:ext>
                </a:extLst>
              </p:cNvPr>
              <p:cNvSpPr>
                <a:spLocks noGrp="1"/>
              </p:cNvSpPr>
              <p:nvPr>
                <p:ph idx="1"/>
              </p:nvPr>
            </p:nvSpPr>
            <p:spPr/>
            <p:txBody>
              <a:bodyPr>
                <a:normAutofit/>
              </a:bodyPr>
              <a:lstStyle/>
              <a:p>
                <a:pPr algn="l"/>
                <a:r>
                  <a:rPr lang="en-US" sz="1800" b="0" i="0" u="none" strike="noStrike" baseline="0" dirty="0">
                    <a:latin typeface="SFRM1000"/>
                  </a:rPr>
                  <a:t>Let </a:t>
                </a:r>
                <a14:m>
                  <m:oMath xmlns:m="http://schemas.openxmlformats.org/officeDocument/2006/math">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𝐶</m:t>
                        </m:r>
                      </m:e>
                      <m:sub>
                        <m:r>
                          <a:rPr lang="it-IT" sz="1800" b="0" i="1" u="none" strike="noStrike" baseline="0" smtClean="0">
                            <a:latin typeface="Cambria Math" panose="02040503050406030204" pitchFamily="18" charset="0"/>
                          </a:rPr>
                          <m:t>𝑘</m:t>
                        </m:r>
                      </m:sub>
                    </m:sSub>
                    <m:d>
                      <m:dPr>
                        <m:ctrlPr>
                          <a:rPr lang="it-IT" sz="1800" b="0" i="1" u="none" strike="noStrike" baseline="0" smtClean="0">
                            <a:latin typeface="Cambria Math" panose="02040503050406030204" pitchFamily="18" charset="0"/>
                          </a:rPr>
                        </m:ctrlPr>
                      </m:dPr>
                      <m:e>
                        <m:r>
                          <a:rPr lang="it-IT" sz="1800" b="0" i="1" u="none" strike="noStrike" baseline="0" smtClean="0">
                            <a:latin typeface="Cambria Math" panose="02040503050406030204" pitchFamily="18" charset="0"/>
                          </a:rPr>
                          <m:t>𝑥</m:t>
                        </m:r>
                      </m:e>
                    </m:d>
                    <m:r>
                      <a:rPr lang="it-IT" sz="1800" b="0" i="1" u="none" strike="noStrike" baseline="0" smtClean="0">
                        <a:latin typeface="Cambria Math" panose="02040503050406030204" pitchFamily="18" charset="0"/>
                      </a:rPr>
                      <m:t>= </m:t>
                    </m:r>
                    <m:r>
                      <a:rPr lang="it-IT" sz="1800" b="0" i="1" u="none" strike="noStrike" baseline="0" smtClean="0">
                        <a:latin typeface="Cambria Math" panose="02040503050406030204" pitchFamily="18" charset="0"/>
                        <a:ea typeface="Cambria Math" panose="02040503050406030204" pitchFamily="18" charset="0"/>
                      </a:rPr>
                      <m:t>𝔼</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𝑐</m:t>
                    </m:r>
                    <m:d>
                      <m:dPr>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𝜉</m:t>
                        </m:r>
                      </m:e>
                    </m:d>
                    <m:r>
                      <a:rPr lang="it-IT" sz="1800" b="0" i="1" u="none" strike="noStrike" baseline="0" smtClean="0">
                        <a:latin typeface="Cambria Math" panose="02040503050406030204" pitchFamily="18" charset="0"/>
                        <a:ea typeface="Cambria Math" panose="02040503050406030204" pitchFamily="18" charset="0"/>
                      </a:rPr>
                      <m:t>]</m:t>
                    </m:r>
                  </m:oMath>
                </a14:m>
                <a:r>
                  <a:rPr lang="en-US" sz="1800" b="0" i="0" u="none" strike="noStrike" baseline="0" dirty="0">
                    <a:latin typeface="SFRM1000"/>
                  </a:rPr>
                  <a:t> denote the expected optimized cost associated with bootstrap distribution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MI7"/>
                  </a:rPr>
                  <a:t>k</a:t>
                </a:r>
                <a:r>
                  <a:rPr lang="en-US" sz="1800" b="0" i="0" u="none" strike="noStrike" baseline="0" dirty="0">
                    <a:latin typeface="SFRM1000"/>
                  </a:rPr>
                  <a:t>. Specifically </a:t>
                </a:r>
                <a:r>
                  <a:rPr lang="en-US" sz="1800" b="0" i="0" u="none" strike="noStrike" baseline="0" dirty="0">
                    <a:latin typeface="CMMI10"/>
                  </a:rPr>
                  <a:t>C</a:t>
                </a:r>
                <a:r>
                  <a:rPr lang="en-US" sz="1800" b="0" i="0" u="none" strike="noStrike" baseline="0" dirty="0">
                    <a:latin typeface="CMMI7"/>
                  </a:rPr>
                  <a:t>k</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 </a:t>
                </a:r>
                <a14:m>
                  <m:oMath xmlns:m="http://schemas.openxmlformats.org/officeDocument/2006/math">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r>
                          <a:rPr lang="it-IT" sz="1800" b="0" i="1" u="none" strike="noStrike" baseline="0" smtClean="0">
                            <a:latin typeface="Cambria Math" panose="02040503050406030204" pitchFamily="18" charset="0"/>
                          </a:rPr>
                          <m:t>𝑐</m:t>
                        </m:r>
                        <m:r>
                          <a:rPr lang="it-IT" sz="1800" b="0" i="1" u="none" strike="noStrike" baseline="0" smtClean="0">
                            <a:latin typeface="Cambria Math" panose="02040503050406030204" pitchFamily="18" charset="0"/>
                          </a:rPr>
                          <m:t>(</m:t>
                        </m:r>
                        <m:r>
                          <a:rPr lang="it-IT" sz="1800" b="0" i="1" u="none" strike="noStrike" baseline="0" smtClean="0">
                            <a:latin typeface="Cambria Math" panose="02040503050406030204" pitchFamily="18" charset="0"/>
                          </a:rPr>
                          <m:t>𝑥</m:t>
                        </m:r>
                        <m:r>
                          <a:rPr lang="it-IT" sz="1800" b="0" i="1" u="none" strike="noStrike" baseline="0" smtClean="0">
                            <a:latin typeface="Cambria Math" panose="02040503050406030204" pitchFamily="18" charset="0"/>
                          </a:rPr>
                          <m:t>,</m:t>
                        </m:r>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r>
                          <a:rPr lang="it-IT" sz="1800" b="0" i="1" u="none" strike="noStrike" baseline="0" smtClean="0">
                            <a:latin typeface="Cambria Math" panose="02040503050406030204" pitchFamily="18" charset="0"/>
                          </a:rPr>
                          <m:t>)</m:t>
                        </m:r>
                      </m:e>
                    </m:nary>
                  </m:oMath>
                </a14:m>
                <a:endParaRPr lang="en-US" sz="1800" b="0" i="0" u="none" strike="noStrike" baseline="0" dirty="0">
                  <a:latin typeface="CMMI10"/>
                </a:endParaRPr>
              </a:p>
              <a:p>
                <a:pPr algn="l"/>
                <a:r>
                  <a:rPr lang="en-US" sz="1800" b="0" i="0" u="none" strike="noStrike" baseline="0" dirty="0">
                    <a:latin typeface="SFRM1000"/>
                  </a:rPr>
                  <a:t>Because expectation is linear in (</a:t>
                </a:r>
                <a:r>
                  <a:rPr lang="en-US" sz="1800" b="0" i="0" u="none" strike="noStrike" baseline="0" dirty="0">
                    <a:latin typeface="CMMI10"/>
                  </a:rPr>
                  <a:t>P</a:t>
                </a:r>
                <a:r>
                  <a:rPr lang="en-US" sz="1800" b="0" i="0" u="none" strike="noStrike" baseline="0" dirty="0">
                    <a:latin typeface="SFRM1000"/>
                  </a:rPr>
                  <a:t>), the supremum over the convex hull occurs at an extreme point, it is attained at some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MI7"/>
                  </a:rPr>
                  <a:t>k</a:t>
                </a:r>
                <a:r>
                  <a:rPr lang="en-US" sz="1800" b="0" i="0" u="none" strike="noStrike" baseline="0" dirty="0">
                    <a:latin typeface="SFRM1000"/>
                  </a:rPr>
                  <a:t>. Therefore </a:t>
                </a:r>
                <a14:m>
                  <m:oMath xmlns:m="http://schemas.openxmlformats.org/officeDocument/2006/math">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𝑠𝑢𝑝</m:t>
                        </m:r>
                      </m:e>
                      <m:sub>
                        <m:r>
                          <a:rPr lang="it-IT" sz="1800" b="0" i="1" u="none" strike="noStrike" baseline="0" smtClean="0">
                            <a:latin typeface="Cambria Math" panose="02040503050406030204" pitchFamily="18" charset="0"/>
                          </a:rPr>
                          <m:t>𝑃</m:t>
                        </m:r>
                      </m:sub>
                    </m:sSub>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𝔼</m:t>
                        </m:r>
                      </m:e>
                      <m:sub>
                        <m:r>
                          <a:rPr lang="it-IT" sz="1800" b="0" i="1" u="none" strike="noStrike" baseline="0" smtClean="0">
                            <a:latin typeface="Cambria Math" panose="02040503050406030204" pitchFamily="18" charset="0"/>
                            <a:ea typeface="Cambria Math" panose="02040503050406030204" pitchFamily="18" charset="0"/>
                          </a:rPr>
                          <m:t>𝑃</m:t>
                        </m:r>
                      </m:sub>
                    </m:sSub>
                    <m:d>
                      <m:dPr>
                        <m:begChr m:val="["/>
                        <m:endChr m:val="]"/>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𝑐</m:t>
                        </m:r>
                        <m:d>
                          <m:dPr>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𝜉</m:t>
                            </m:r>
                          </m:e>
                        </m:d>
                      </m:e>
                    </m:d>
                    <m:r>
                      <a:rPr lang="it-IT" sz="1800" b="0" i="1" u="none" strike="noStrike" baseline="0" smtClean="0">
                        <a:latin typeface="Cambria Math" panose="02040503050406030204" pitchFamily="18" charset="0"/>
                        <a:ea typeface="Cambria Math" panose="02040503050406030204" pitchFamily="18" charset="0"/>
                      </a:rPr>
                      <m:t>= </m:t>
                    </m:r>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it-IT" sz="1800" b="0" i="1" u="none" strike="noStrike" baseline="0" smtClean="0">
                            <a:latin typeface="Cambria Math" panose="02040503050406030204" pitchFamily="18" charset="0"/>
                            <a:ea typeface="Cambria Math" panose="02040503050406030204" pitchFamily="18" charset="0"/>
                          </a:rPr>
                          <m:t>𝑚𝑎𝑥</m:t>
                        </m:r>
                      </m:e>
                      <m:sub>
                        <m:r>
                          <a:rPr lang="it-IT" sz="1800" b="0" i="1" u="none" strike="noStrike" baseline="0" smtClean="0">
                            <a:latin typeface="Cambria Math" panose="02040503050406030204" pitchFamily="18" charset="0"/>
                            <a:ea typeface="Cambria Math" panose="02040503050406030204" pitchFamily="18" charset="0"/>
                          </a:rPr>
                          <m:t>𝑘</m:t>
                        </m:r>
                      </m:sub>
                    </m:sSub>
                    <m:nary>
                      <m:naryPr>
                        <m:chr m:val="∑"/>
                        <m:supHide m:val="on"/>
                        <m:ctrlPr>
                          <a:rPr lang="it-IT" sz="1800" b="0" i="1" u="none" strike="noStrike" baseline="0" smtClean="0">
                            <a:latin typeface="Cambria Math" panose="02040503050406030204" pitchFamily="18" charset="0"/>
                            <a:ea typeface="Cambria Math" panose="02040503050406030204" pitchFamily="18" charset="0"/>
                          </a:rPr>
                        </m:ctrlPr>
                      </m:naryPr>
                      <m:sub>
                        <m:r>
                          <a:rPr lang="it-IT" sz="1800" b="0" i="1" u="none" strike="noStrike" baseline="0" smtClean="0">
                            <a:latin typeface="Cambria Math" panose="02040503050406030204" pitchFamily="18" charset="0"/>
                            <a:ea typeface="Cambria Math" panose="02040503050406030204" pitchFamily="18" charset="0"/>
                          </a:rPr>
                          <m:t>𝑠</m:t>
                        </m:r>
                      </m:sub>
                      <m:sup/>
                      <m:e>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it-IT" sz="1800" b="0" i="1" u="none" strike="noStrike" baseline="0" smtClean="0">
                                <a:latin typeface="Cambria Math" panose="02040503050406030204" pitchFamily="18" charset="0"/>
                                <a:ea typeface="Cambria Math" panose="02040503050406030204" pitchFamily="18" charset="0"/>
                              </a:rPr>
                              <m:t>𝑤</m:t>
                            </m:r>
                          </m:e>
                          <m:sub>
                            <m:r>
                              <a:rPr lang="it-IT" sz="1800" b="0" i="1" u="none" strike="noStrike" baseline="0" smtClean="0">
                                <a:latin typeface="Cambria Math" panose="02040503050406030204" pitchFamily="18" charset="0"/>
                                <a:ea typeface="Cambria Math" panose="02040503050406030204" pitchFamily="18" charset="0"/>
                              </a:rPr>
                              <m:t>𝑘𝑠</m:t>
                            </m:r>
                          </m:sub>
                        </m:sSub>
                        <m:r>
                          <a:rPr lang="it-IT" sz="1800" b="0" i="1" u="none" strike="noStrike" baseline="0" smtClean="0">
                            <a:latin typeface="Cambria Math" panose="02040503050406030204" pitchFamily="18" charset="0"/>
                            <a:ea typeface="Cambria Math" panose="02040503050406030204" pitchFamily="18" charset="0"/>
                          </a:rPr>
                          <m:t>𝑐</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sSup>
                          <m:sSupPr>
                            <m:ctrlPr>
                              <a:rPr lang="it-IT" sz="1800" b="0" i="1" u="none" strike="noStrike" baseline="0" smtClean="0">
                                <a:latin typeface="Cambria Math" panose="02040503050406030204" pitchFamily="18" charset="0"/>
                                <a:ea typeface="Cambria Math" panose="02040503050406030204" pitchFamily="18" charset="0"/>
                              </a:rPr>
                            </m:ctrlPr>
                          </m:sSupPr>
                          <m:e>
                            <m:r>
                              <a:rPr lang="it-IT" sz="1800" b="0" i="1" u="none" strike="noStrike" baseline="0" smtClean="0">
                                <a:latin typeface="Cambria Math" panose="02040503050406030204" pitchFamily="18" charset="0"/>
                                <a:ea typeface="Cambria Math" panose="02040503050406030204" pitchFamily="18" charset="0"/>
                              </a:rPr>
                              <m:t>𝜏</m:t>
                            </m:r>
                          </m:e>
                          <m:sup>
                            <m:r>
                              <a:rPr lang="it-IT" sz="1800" b="0" i="1" u="none" strike="noStrike" baseline="0" smtClean="0">
                                <a:latin typeface="Cambria Math" panose="02040503050406030204" pitchFamily="18" charset="0"/>
                                <a:ea typeface="Cambria Math" panose="02040503050406030204" pitchFamily="18" charset="0"/>
                              </a:rPr>
                              <m:t>𝑠</m:t>
                            </m:r>
                          </m:sup>
                        </m:sSup>
                        <m:r>
                          <a:rPr lang="it-IT" sz="1800" b="0" i="1" u="none" strike="noStrike" baseline="0" smtClean="0">
                            <a:latin typeface="Cambria Math" panose="02040503050406030204" pitchFamily="18" charset="0"/>
                            <a:ea typeface="Cambria Math" panose="02040503050406030204" pitchFamily="18" charset="0"/>
                          </a:rPr>
                          <m:t>)</m:t>
                        </m:r>
                      </m:e>
                    </m:nary>
                  </m:oMath>
                </a14:m>
                <a:r>
                  <a:rPr lang="en-US" sz="1800" b="0" i="0" u="none" strike="noStrike" baseline="0" dirty="0">
                    <a:latin typeface="SFRM1000"/>
                  </a:rPr>
                  <a:t> </a:t>
                </a:r>
              </a:p>
              <a:p>
                <a:pPr algn="l"/>
                <a:r>
                  <a:rPr lang="en-US" sz="1800" b="0" i="0" u="none" strike="noStrike" baseline="0" dirty="0">
                    <a:latin typeface="SFRM1000"/>
                  </a:rPr>
                  <a:t>The DRO objective becomes</a:t>
                </a:r>
              </a:p>
              <a:p>
                <a:pPr algn="l"/>
                <a14:m>
                  <m:oMathPara xmlns:m="http://schemas.openxmlformats.org/officeDocument/2006/math">
                    <m:oMathParaPr>
                      <m:jc m:val="centerGroup"/>
                    </m:oMathParaPr>
                    <m:oMath xmlns:m="http://schemas.openxmlformats.org/officeDocument/2006/math">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𝑚𝑖𝑛</m:t>
                          </m:r>
                        </m:e>
                        <m:sub>
                          <m:r>
                            <a:rPr lang="it-IT" sz="1800" b="0" i="1" u="none" strike="noStrike" baseline="0" smtClean="0">
                              <a:latin typeface="Cambria Math" panose="02040503050406030204" pitchFamily="18" charset="0"/>
                            </a:rPr>
                            <m:t>𝑥</m:t>
                          </m:r>
                        </m:sub>
                      </m:sSub>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𝑚𝑎𝑥</m:t>
                          </m:r>
                        </m:e>
                        <m:sub>
                          <m:r>
                            <a:rPr lang="it-IT" sz="1800" b="0" i="1" u="none" strike="noStrike" baseline="0" smtClean="0">
                              <a:latin typeface="Cambria Math" panose="02040503050406030204" pitchFamily="18" charset="0"/>
                            </a:rPr>
                            <m:t>𝑘</m:t>
                          </m:r>
                        </m:sub>
                      </m:sSub>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r>
                            <a:rPr lang="it-IT" sz="1800" b="0" i="1" u="none" strike="noStrike" baseline="0" smtClean="0">
                              <a:latin typeface="Cambria Math" panose="02040503050406030204" pitchFamily="18" charset="0"/>
                            </a:rPr>
                            <m:t>𝑐</m:t>
                          </m:r>
                          <m:r>
                            <a:rPr lang="it-IT" sz="1800" b="0" i="1" u="none" strike="noStrike" baseline="0" smtClean="0">
                              <a:latin typeface="Cambria Math" panose="02040503050406030204" pitchFamily="18" charset="0"/>
                            </a:rPr>
                            <m:t>(</m:t>
                          </m:r>
                          <m:r>
                            <a:rPr lang="it-IT" sz="1800" b="0" i="1" u="none" strike="noStrike" baseline="0" smtClean="0">
                              <a:latin typeface="Cambria Math" panose="02040503050406030204" pitchFamily="18" charset="0"/>
                            </a:rPr>
                            <m:t>𝑥</m:t>
                          </m:r>
                          <m:r>
                            <a:rPr lang="it-IT" sz="1800" b="0" i="1" u="none" strike="noStrike" baseline="0" smtClean="0">
                              <a:latin typeface="Cambria Math" panose="02040503050406030204" pitchFamily="18" charset="0"/>
                            </a:rPr>
                            <m:t>,</m:t>
                          </m:r>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r>
                            <a:rPr lang="it-IT" sz="1800" b="0" i="1" u="none" strike="noStrike" baseline="0" smtClean="0">
                              <a:latin typeface="Cambria Math" panose="02040503050406030204" pitchFamily="18" charset="0"/>
                            </a:rPr>
                            <m:t>)</m:t>
                          </m:r>
                        </m:e>
                      </m:nary>
                    </m:oMath>
                  </m:oMathPara>
                </a14:m>
                <a:endParaRPr lang="en-US" sz="1800" b="0" i="0" u="none" strike="noStrike" baseline="0" dirty="0">
                  <a:latin typeface="SFRM1000"/>
                </a:endParaRPr>
              </a:p>
              <a:p>
                <a:pPr algn="l"/>
                <a:r>
                  <a:rPr lang="en-US" sz="1800" b="0" i="0" u="none" strike="noStrike" baseline="0" dirty="0">
                    <a:latin typeface="SFRM1000"/>
                  </a:rPr>
                  <a:t>Where the </a:t>
                </a:r>
                <a14:m>
                  <m:oMath xmlns:m="http://schemas.openxmlformats.org/officeDocument/2006/math">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oMath>
                </a14:m>
                <a:r>
                  <a:rPr lang="en-US" sz="1800" b="0" i="0" u="none" strike="noStrike" baseline="0" dirty="0">
                    <a:latin typeface="CMMI7"/>
                  </a:rPr>
                  <a:t> </a:t>
                </a:r>
                <a:r>
                  <a:rPr lang="en-US" sz="1800" b="0" i="0" u="none" strike="noStrike" baseline="0" dirty="0">
                    <a:latin typeface="SFRM1000"/>
                  </a:rPr>
                  <a:t>are computed before the final optimization and passed to a solver as fixed numerical coefficients.</a:t>
                </a:r>
              </a:p>
            </p:txBody>
          </p:sp>
        </mc:Choice>
        <mc:Fallback>
          <p:sp>
            <p:nvSpPr>
              <p:cNvPr id="2" name="Content Placeholder 1">
                <a:extLst>
                  <a:ext uri="{FF2B5EF4-FFF2-40B4-BE49-F238E27FC236}">
                    <a16:creationId xmlns:a16="http://schemas.microsoft.com/office/drawing/2014/main" id="{14E65605-DBEA-4AFE-850C-CBAC49715188}"/>
                  </a:ext>
                </a:extLst>
              </p:cNvPr>
              <p:cNvSpPr>
                <a:spLocks noGrp="1" noRot="1" noChangeAspect="1" noMove="1" noResize="1" noEditPoints="1" noAdjustHandles="1" noChangeArrowheads="1" noChangeShapeType="1" noTextEdit="1"/>
              </p:cNvSpPr>
              <p:nvPr>
                <p:ph idx="1"/>
              </p:nvPr>
            </p:nvSpPr>
            <p:spPr>
              <a:blipFill>
                <a:blip r:embed="rId2"/>
                <a:stretch>
                  <a:fillRect l="-571" t="-3248" r="-78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80A1527E-14FD-4F97-BF05-2EAC163F5D74}"/>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F1C94DFF-67EF-4BED-8EBF-738D8ACA6A7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86259FE-FB57-4038-B301-C7A958B97E54}"/>
              </a:ext>
            </a:extLst>
          </p:cNvPr>
          <p:cNvSpPr>
            <a:spLocks noGrp="1"/>
          </p:cNvSpPr>
          <p:nvPr>
            <p:ph type="sldNum" sz="quarter" idx="4"/>
          </p:nvPr>
        </p:nvSpPr>
        <p:spPr/>
        <p:txBody>
          <a:bodyPr/>
          <a:lstStyle/>
          <a:p>
            <a:pPr>
              <a:defRPr/>
            </a:pPr>
            <a:fld id="{476DEB1C-3253-4C07-8F02-456B7B2AD41D}" type="slidenum">
              <a:rPr lang="it-IT" smtClean="0"/>
              <a:pPr>
                <a:defRPr/>
              </a:pPr>
              <a:t>22</a:t>
            </a:fld>
            <a:endParaRPr lang="it-IT" dirty="0"/>
          </a:p>
        </p:txBody>
      </p:sp>
    </p:spTree>
    <p:extLst>
      <p:ext uri="{BB962C8B-B14F-4D97-AF65-F5344CB8AC3E}">
        <p14:creationId xmlns:p14="http://schemas.microsoft.com/office/powerpoint/2010/main" val="3240448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3587E364-2D21-4674-8EC6-60F5E5151B5A}"/>
                  </a:ext>
                </a:extLst>
              </p:cNvPr>
              <p:cNvSpPr>
                <a:spLocks noGrp="1"/>
              </p:cNvSpPr>
              <p:nvPr>
                <p:ph idx="1"/>
              </p:nvPr>
            </p:nvSpPr>
            <p:spPr/>
            <p:txBody>
              <a:bodyPr/>
              <a:lstStyle/>
              <a:p>
                <a:pPr algn="l"/>
                <a:r>
                  <a:rPr lang="en-US" sz="1800" b="0" i="0" u="none" strike="noStrike" baseline="0" dirty="0">
                    <a:latin typeface="SFRM1000"/>
                  </a:rPr>
                  <a:t>The construction procedure for BESO-DRO is:</a:t>
                </a:r>
              </a:p>
              <a:p>
                <a:pPr algn="l"/>
                <a:r>
                  <a:rPr lang="en-US" sz="1800" b="0" i="0" u="none" strike="noStrike" baseline="0" dirty="0">
                    <a:latin typeface="SFRM1000"/>
                  </a:rPr>
                  <a:t>1. Retain n trajectories </a:t>
                </a:r>
                <a14:m>
                  <m:oMath xmlns:m="http://schemas.openxmlformats.org/officeDocument/2006/math">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oMath>
                </a14:m>
                <a:r>
                  <a:rPr lang="en-US" sz="1800" b="0" i="0" u="none" strike="noStrike" baseline="0" dirty="0">
                    <a:latin typeface="SFRM1000"/>
                  </a:rPr>
                  <a:t>, </a:t>
                </a:r>
                <a:r>
                  <a:rPr lang="en-US" sz="1800" b="0" i="0" u="none" strike="noStrike" baseline="0" dirty="0">
                    <a:latin typeface="Cambria" panose="02040503050406030204" pitchFamily="18" charset="0"/>
                    <a:ea typeface="Cambria" panose="02040503050406030204" pitchFamily="18" charset="0"/>
                  </a:rPr>
                  <a:t>s ∈ S</a:t>
                </a:r>
                <a:r>
                  <a:rPr lang="en-US" sz="1800" b="0" i="0" u="none" strike="noStrike" baseline="0" dirty="0">
                    <a:latin typeface="SFRM1000"/>
                  </a:rPr>
                  <a:t>.</a:t>
                </a:r>
              </a:p>
              <a:p>
                <a:pPr algn="l"/>
                <a:r>
                  <a:rPr lang="en-US" sz="1800" b="0" i="0" u="none" strike="noStrike" baseline="0" dirty="0">
                    <a:latin typeface="SFRM1000"/>
                  </a:rPr>
                  <a:t>2. Compute their cost-aware base probabilities </a:t>
                </a:r>
                <a14:m>
                  <m:oMath xmlns:m="http://schemas.openxmlformats.org/officeDocument/2006/math">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oMath>
                </a14:m>
                <a:r>
                  <a:rPr lang="en-US" sz="1800" b="0" i="0" u="none" strike="noStrike" baseline="0" dirty="0">
                    <a:latin typeface="SFRM1000"/>
                  </a:rPr>
                  <a:t>.</a:t>
                </a:r>
              </a:p>
              <a:p>
                <a:pPr algn="l"/>
                <a:r>
                  <a:rPr lang="en-US" sz="1800" b="0" i="0" u="none" strike="noStrike" baseline="0" dirty="0">
                    <a:latin typeface="SFRM1000"/>
                  </a:rPr>
                  <a:t>3. For each resampled distribution </a:t>
                </a:r>
                <a:r>
                  <a:rPr lang="en-US" sz="1800" b="0" i="0" u="none" strike="noStrike" baseline="0" dirty="0">
                    <a:latin typeface="Cambria" panose="02040503050406030204" pitchFamily="18" charset="0"/>
                    <a:ea typeface="Cambria" panose="02040503050406030204" pitchFamily="18" charset="0"/>
                  </a:rPr>
                  <a:t>k ∈ K</a:t>
                </a:r>
                <a:r>
                  <a:rPr lang="en-US" sz="1800" b="0" i="0" u="none" strike="noStrike" baseline="0" dirty="0">
                    <a:latin typeface="SFRM1000"/>
                  </a:rPr>
                  <a:t>, draw </a:t>
                </a:r>
                <a:r>
                  <a:rPr lang="en-US" sz="1800" b="0" i="1" u="none" strike="noStrike" baseline="0" dirty="0">
                    <a:latin typeface="Cambria" panose="02040503050406030204" pitchFamily="18" charset="0"/>
                    <a:ea typeface="Cambria" panose="02040503050406030204" pitchFamily="18" charset="0"/>
                  </a:rPr>
                  <a:t>d</a:t>
                </a:r>
                <a:r>
                  <a:rPr lang="en-US" sz="1800" b="0" i="0" u="none" strike="noStrike" baseline="0" dirty="0">
                    <a:latin typeface="CMMI10"/>
                  </a:rPr>
                  <a:t> </a:t>
                </a:r>
                <a:r>
                  <a:rPr lang="en-US" sz="1800" b="0" i="0" u="none" strike="noStrike" baseline="0" dirty="0">
                    <a:latin typeface="SFRM1000"/>
                  </a:rPr>
                  <a:t>trajectories with replacement according to </a:t>
                </a:r>
                <a14:m>
                  <m:oMath xmlns:m="http://schemas.openxmlformats.org/officeDocument/2006/math">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oMath>
                </a14:m>
                <a:r>
                  <a:rPr lang="en-US" sz="1800" b="0" i="0" u="none" strike="noStrike" baseline="0" dirty="0">
                    <a:latin typeface="SFRM1000"/>
                  </a:rPr>
                  <a:t>.</a:t>
                </a:r>
              </a:p>
              <a:p>
                <a:pPr algn="l"/>
                <a:r>
                  <a:rPr lang="en-US" sz="1800" b="0" i="0" u="none" strike="noStrike" baseline="0" dirty="0">
                    <a:latin typeface="SFRM1000"/>
                  </a:rPr>
                  <a:t>4. Treat that resample as an empirical distribution </a:t>
                </a:r>
                <a14:m>
                  <m:oMath xmlns:m="http://schemas.openxmlformats.org/officeDocument/2006/math">
                    <m:sSup>
                      <m:sSupPr>
                        <m:ctrlPr>
                          <a:rPr lang="it-IT" sz="1800" b="0" i="1" u="none" strike="noStrike" baseline="0" smtClean="0">
                            <a:latin typeface="Cambria Math" panose="02040503050406030204" pitchFamily="18" charset="0"/>
                          </a:rPr>
                        </m:ctrlPr>
                      </m:sSup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p>
                        <m:r>
                          <a:rPr lang="it-IT" sz="1800" b="0" i="1" u="none" strike="noStrike" baseline="0" smtClean="0">
                            <a:latin typeface="Cambria Math" panose="02040503050406030204" pitchFamily="18" charset="0"/>
                          </a:rPr>
                          <m:t>𝑘</m:t>
                        </m:r>
                      </m:sup>
                    </m:sSup>
                  </m:oMath>
                </a14:m>
                <a:r>
                  <a:rPr lang="en-US" sz="1800" b="0" i="0" u="none" strike="noStrike" baseline="0" dirty="0">
                    <a:latin typeface="SFRM1000"/>
                  </a:rPr>
                  <a:t>.</a:t>
                </a:r>
              </a:p>
              <a:p>
                <a:pPr algn="l"/>
                <a:r>
                  <a:rPr lang="en-US" sz="1800" b="0" i="0" u="none" strike="noStrike" baseline="0" dirty="0">
                    <a:latin typeface="SFRM1000"/>
                  </a:rPr>
                  <a:t>5. Define the ambiguity set as the convex hull of these distributions.</a:t>
                </a:r>
                <a:endParaRPr lang="en-US" dirty="0"/>
              </a:p>
            </p:txBody>
          </p:sp>
        </mc:Choice>
        <mc:Fallback>
          <p:sp>
            <p:nvSpPr>
              <p:cNvPr id="2" name="Content Placeholder 1">
                <a:extLst>
                  <a:ext uri="{FF2B5EF4-FFF2-40B4-BE49-F238E27FC236}">
                    <a16:creationId xmlns:a16="http://schemas.microsoft.com/office/drawing/2014/main" id="{3587E364-2D21-4674-8EC6-60F5E5151B5A}"/>
                  </a:ext>
                </a:extLst>
              </p:cNvPr>
              <p:cNvSpPr>
                <a:spLocks noGrp="1" noRot="1" noChangeAspect="1" noMove="1" noResize="1" noEditPoints="1" noAdjustHandles="1" noChangeArrowheads="1" noChangeShapeType="1" noTextEdit="1"/>
              </p:cNvSpPr>
              <p:nvPr>
                <p:ph idx="1"/>
              </p:nvPr>
            </p:nvSpPr>
            <p:spPr>
              <a:blipFill>
                <a:blip r:embed="rId2"/>
                <a:stretch>
                  <a:fillRect l="-571"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AF7F7805-414E-462F-ACBE-5173E2FBAF08}"/>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06F299B2-54BF-48B8-98C8-C68C1AED0BF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671E2D0E-4443-4601-861C-3F638E05BEA2}"/>
              </a:ext>
            </a:extLst>
          </p:cNvPr>
          <p:cNvSpPr>
            <a:spLocks noGrp="1"/>
          </p:cNvSpPr>
          <p:nvPr>
            <p:ph type="sldNum" sz="quarter" idx="4"/>
          </p:nvPr>
        </p:nvSpPr>
        <p:spPr/>
        <p:txBody>
          <a:bodyPr/>
          <a:lstStyle/>
          <a:p>
            <a:pPr>
              <a:defRPr/>
            </a:pPr>
            <a:fld id="{476DEB1C-3253-4C07-8F02-456B7B2AD41D}" type="slidenum">
              <a:rPr lang="it-IT" smtClean="0"/>
              <a:pPr>
                <a:defRPr/>
              </a:pPr>
              <a:t>23</a:t>
            </a:fld>
            <a:endParaRPr lang="it-IT" dirty="0"/>
          </a:p>
        </p:txBody>
      </p:sp>
    </p:spTree>
    <p:extLst>
      <p:ext uri="{BB962C8B-B14F-4D97-AF65-F5344CB8AC3E}">
        <p14:creationId xmlns:p14="http://schemas.microsoft.com/office/powerpoint/2010/main" val="2373599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571FE867-CE6F-4ACC-9720-ED9F5A41F562}"/>
                  </a:ext>
                </a:extLst>
              </p:cNvPr>
              <p:cNvSpPr>
                <a:spLocks noGrp="1"/>
              </p:cNvSpPr>
              <p:nvPr>
                <p:ph idx="1"/>
              </p:nvPr>
            </p:nvSpPr>
            <p:spPr/>
            <p:txBody>
              <a:bodyPr>
                <a:normAutofit/>
              </a:bodyPr>
              <a:lstStyle/>
              <a:p>
                <a:pPr algn="l"/>
                <a:r>
                  <a:rPr lang="en-US" sz="2400" b="0" i="0" u="none" strike="noStrike" baseline="0" dirty="0">
                    <a:solidFill>
                      <a:srgbClr val="000000"/>
                    </a:solidFill>
                    <a:latin typeface="SFRM1000"/>
                  </a:rPr>
                  <a:t>1. Deterministic (baseline): </a:t>
                </a:r>
              </a:p>
              <a:p>
                <a:pPr algn="l">
                  <a:tabLst>
                    <a:tab pos="4173538" algn="ctr"/>
                  </a:tabLst>
                </a:pPr>
                <a:r>
                  <a:rPr lang="en-US" sz="2400" b="0" u="none" strike="noStrike" baseline="0" dirty="0">
                    <a:solidFill>
                      <a:srgbClr val="000000"/>
                    </a:solidFill>
                  </a:rPr>
                  <a:t>	</a:t>
                </a:r>
                <a14:m>
                  <m:oMath xmlns:m="http://schemas.openxmlformats.org/officeDocument/2006/math">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acc>
                      <m:accPr>
                        <m:chr m:val="̂"/>
                        <m:ctrlPr>
                          <a:rPr lang="it-IT" sz="2400" b="0" i="1" u="none" strike="noStrike" baseline="0" smtClean="0">
                            <a:solidFill>
                              <a:srgbClr val="000000"/>
                            </a:solidFill>
                            <a:latin typeface="Cambria Math" panose="02040503050406030204" pitchFamily="18" charset="0"/>
                          </a:rPr>
                        </m:ctrlPr>
                      </m:accPr>
                      <m:e>
                        <m:r>
                          <a:rPr lang="it-IT" sz="2400" b="0" i="1" u="none" strike="noStrike" baseline="0" smtClean="0">
                            <a:solidFill>
                              <a:srgbClr val="000000"/>
                            </a:solidFill>
                            <a:latin typeface="Cambria Math" panose="02040503050406030204" pitchFamily="18" charset="0"/>
                          </a:rPr>
                          <m:t>𝜉</m:t>
                        </m:r>
                        <m:r>
                          <a:rPr lang="it-IT" sz="2400" b="0" i="1" u="none" strike="noStrike" baseline="0" smtClean="0">
                            <a:solidFill>
                              <a:srgbClr val="000000"/>
                            </a:solidFill>
                            <a:latin typeface="Cambria Math" panose="02040503050406030204" pitchFamily="18" charset="0"/>
                          </a:rPr>
                          <m:t>)</m:t>
                        </m:r>
                      </m:e>
                    </m:acc>
                  </m:oMath>
                </a14:m>
                <a:r>
                  <a:rPr lang="en-US" sz="2400" b="0" i="0" u="none" strike="noStrike" baseline="0" dirty="0">
                    <a:solidFill>
                      <a:srgbClr val="000000"/>
                    </a:solidFill>
                    <a:latin typeface="SFRM1000"/>
                  </a:rPr>
                  <a:t> with </a:t>
                </a:r>
                <a14:m>
                  <m:oMath xmlns:m="http://schemas.openxmlformats.org/officeDocument/2006/math">
                    <m:acc>
                      <m:accPr>
                        <m:chr m:val="̂"/>
                        <m:ctrlPr>
                          <a:rPr lang="en-US" sz="2400" b="0" i="1" u="none" strike="noStrike" baseline="0" smtClean="0">
                            <a:solidFill>
                              <a:srgbClr val="000000"/>
                            </a:solidFill>
                            <a:latin typeface="Cambria Math" panose="02040503050406030204" pitchFamily="18" charset="0"/>
                          </a:rPr>
                        </m:ctrlPr>
                      </m:accPr>
                      <m:e>
                        <m:r>
                          <a:rPr lang="it-IT" sz="2400" b="0" i="1" u="none" strike="noStrike" baseline="0" smtClean="0">
                            <a:solidFill>
                              <a:srgbClr val="000000"/>
                            </a:solidFill>
                            <a:latin typeface="Cambria Math" panose="02040503050406030204" pitchFamily="18" charset="0"/>
                          </a:rPr>
                          <m:t>𝜉</m:t>
                        </m:r>
                      </m:e>
                    </m:acc>
                  </m:oMath>
                </a14:m>
                <a:r>
                  <a:rPr lang="en-US" sz="2400" b="0" i="0" u="none" strike="noStrike" baseline="0" dirty="0">
                    <a:solidFill>
                      <a:srgbClr val="000000"/>
                    </a:solidFill>
                    <a:latin typeface="SFRM1000"/>
                  </a:rPr>
                  <a:t> the bagged bootstrap forecast</a:t>
                </a:r>
              </a:p>
              <a:p>
                <a:pPr algn="l"/>
                <a:r>
                  <a:rPr lang="fi-FI" sz="2400" b="0" i="0" u="none" strike="noStrike" baseline="0" dirty="0">
                    <a:solidFill>
                      <a:srgbClr val="000000"/>
                    </a:solidFill>
                    <a:latin typeface="SFRM1000"/>
                  </a:rPr>
                  <a:t>2. BESO-SAA, weighted SAA variant: </a:t>
                </a:r>
              </a:p>
              <a:p>
                <a:pPr algn="l"/>
                <a14:m>
                  <m:oMathPara xmlns:m="http://schemas.openxmlformats.org/officeDocument/2006/math">
                    <m:oMathParaPr>
                      <m:jc m:val="centerGroup"/>
                    </m:oMathParaPr>
                    <m:oMath xmlns:m="http://schemas.openxmlformats.org/officeDocument/2006/math">
                      <m:sSub>
                        <m:sSubPr>
                          <m:ctrlPr>
                            <a:rPr lang="fi-FI"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nary>
                        <m:naryPr>
                          <m:chr m:val="∑"/>
                          <m:supHide m:val="on"/>
                          <m:ctrlPr>
                            <a:rPr lang="it-IT" sz="2400" b="0" i="1" u="none" strike="noStrike" baseline="0" smtClean="0">
                              <a:solidFill>
                                <a:srgbClr val="000000"/>
                              </a:solidFill>
                              <a:latin typeface="Cambria Math" panose="02040503050406030204" pitchFamily="18" charset="0"/>
                            </a:rPr>
                          </m:ctrlPr>
                        </m:naryPr>
                        <m:sub>
                          <m:r>
                            <a:rPr lang="it-IT" sz="2400" b="0" i="1" u="none" strike="noStrike" baseline="0" smtClean="0">
                              <a:solidFill>
                                <a:srgbClr val="000000"/>
                              </a:solidFill>
                              <a:latin typeface="Cambria Math" panose="02040503050406030204" pitchFamily="18" charset="0"/>
                            </a:rPr>
                            <m:t>𝑠</m:t>
                          </m:r>
                        </m:sub>
                        <m:sup/>
                        <m:e>
                          <m:sSubSup>
                            <m:sSubSupPr>
                              <m:ctrlPr>
                                <a:rPr lang="it-IT" sz="2400" b="0" i="1" u="none" strike="noStrike" baseline="0" smtClean="0">
                                  <a:solidFill>
                                    <a:srgbClr val="000000"/>
                                  </a:solidFill>
                                  <a:latin typeface="Cambria Math" panose="02040503050406030204" pitchFamily="18" charset="0"/>
                                </a:rPr>
                              </m:ctrlPr>
                            </m:sSubSupPr>
                            <m:e>
                              <m:r>
                                <a:rPr lang="it-IT" sz="2400" b="0" i="1" u="none" strike="noStrike" baseline="0" smtClean="0">
                                  <a:solidFill>
                                    <a:srgbClr val="000000"/>
                                  </a:solidFill>
                                  <a:latin typeface="Cambria Math" panose="02040503050406030204" pitchFamily="18" charset="0"/>
                                </a:rPr>
                                <m:t>𝑝</m:t>
                              </m:r>
                            </m:e>
                            <m:sub>
                              <m:r>
                                <a:rPr lang="it-IT" sz="2400" b="0" i="1" u="none" strike="noStrike" baseline="0" smtClean="0">
                                  <a:solidFill>
                                    <a:srgbClr val="000000"/>
                                  </a:solidFill>
                                  <a:latin typeface="Cambria Math" panose="02040503050406030204" pitchFamily="18" charset="0"/>
                                </a:rPr>
                                <m:t>𝑠</m:t>
                              </m:r>
                            </m:sub>
                            <m:sup>
                              <m:r>
                                <a:rPr lang="it-IT" sz="2400" b="0" i="1" u="none" strike="noStrike" baseline="0" smtClean="0">
                                  <a:solidFill>
                                    <a:srgbClr val="000000"/>
                                  </a:solidFill>
                                  <a:latin typeface="Cambria Math" panose="02040503050406030204" pitchFamily="18" charset="0"/>
                                </a:rPr>
                                <m:t>𝑂𝐴</m:t>
                              </m:r>
                            </m:sup>
                          </m:sSubSup>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sSup>
                            <m:sSupPr>
                              <m:ctrlPr>
                                <a:rPr lang="it-IT" sz="2400" b="0" i="1" u="none" strike="noStrike" baseline="0" smtClean="0">
                                  <a:solidFill>
                                    <a:srgbClr val="000000"/>
                                  </a:solidFill>
                                  <a:latin typeface="Cambria Math" panose="02040503050406030204" pitchFamily="18" charset="0"/>
                                </a:rPr>
                              </m:ctrlPr>
                            </m:sSupPr>
                            <m:e>
                              <m:r>
                                <a:rPr lang="it-IT" sz="2400" b="0" i="1" u="none" strike="noStrike" baseline="0" smtClean="0">
                                  <a:solidFill>
                                    <a:srgbClr val="000000"/>
                                  </a:solidFill>
                                  <a:latin typeface="Cambria Math" panose="02040503050406030204" pitchFamily="18" charset="0"/>
                                </a:rPr>
                                <m:t>𝜏</m:t>
                              </m:r>
                            </m:e>
                            <m:sup>
                              <m:r>
                                <a:rPr lang="it-IT" sz="2400" b="0" i="1" u="none" strike="noStrike" baseline="0" smtClean="0">
                                  <a:solidFill>
                                    <a:srgbClr val="000000"/>
                                  </a:solidFill>
                                  <a:latin typeface="Cambria Math" panose="02040503050406030204" pitchFamily="18" charset="0"/>
                                </a:rPr>
                                <m:t>𝑠</m:t>
                              </m:r>
                            </m:sup>
                          </m:sSup>
                          <m:r>
                            <a:rPr lang="it-IT" sz="2400" b="0" i="1" u="none" strike="noStrike" baseline="0" smtClean="0">
                              <a:solidFill>
                                <a:srgbClr val="000000"/>
                              </a:solidFill>
                              <a:latin typeface="Cambria Math" panose="02040503050406030204" pitchFamily="18" charset="0"/>
                            </a:rPr>
                            <m:t>)</m:t>
                          </m:r>
                        </m:e>
                      </m:nary>
                    </m:oMath>
                  </m:oMathPara>
                </a14:m>
                <a:endParaRPr lang="fi-FI" sz="2400" b="0" i="0" u="none" strike="noStrike" baseline="0" dirty="0">
                  <a:solidFill>
                    <a:srgbClr val="000000"/>
                  </a:solidFill>
                  <a:latin typeface="CMR10"/>
                </a:endParaRPr>
              </a:p>
              <a:p>
                <a:pPr algn="l"/>
                <a:r>
                  <a:rPr lang="en-US" sz="2400" b="0" i="0" u="none" strike="noStrike" baseline="0" dirty="0">
                    <a:solidFill>
                      <a:srgbClr val="000000"/>
                    </a:solidFill>
                    <a:latin typeface="SFRM1000"/>
                  </a:rPr>
                  <a:t>3. BESO-DRO: </a:t>
                </a:r>
              </a:p>
              <a:p>
                <a:pPr algn="l"/>
                <a14:m>
                  <m:oMathPara xmlns:m="http://schemas.openxmlformats.org/officeDocument/2006/math">
                    <m:oMathParaPr>
                      <m:jc m:val="centerGroup"/>
                    </m:oMathParaPr>
                    <m:oMath xmlns:m="http://schemas.openxmlformats.org/officeDocument/2006/math">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𝑚𝑎𝑥</m:t>
                          </m:r>
                        </m:e>
                        <m:sub>
                          <m:r>
                            <a:rPr lang="it-IT" sz="2400" b="0" i="1" u="none" strike="noStrike" baseline="0" smtClean="0">
                              <a:solidFill>
                                <a:srgbClr val="000000"/>
                              </a:solidFill>
                              <a:latin typeface="Cambria Math" panose="02040503050406030204" pitchFamily="18" charset="0"/>
                            </a:rPr>
                            <m:t>𝑘</m:t>
                          </m:r>
                        </m:sub>
                      </m:sSub>
                      <m:nary>
                        <m:naryPr>
                          <m:chr m:val="∑"/>
                          <m:supHide m:val="on"/>
                          <m:ctrlPr>
                            <a:rPr lang="it-IT" sz="2400" b="0" i="1" u="none" strike="noStrike" baseline="0" smtClean="0">
                              <a:solidFill>
                                <a:srgbClr val="000000"/>
                              </a:solidFill>
                              <a:latin typeface="Cambria Math" panose="02040503050406030204" pitchFamily="18" charset="0"/>
                            </a:rPr>
                          </m:ctrlPr>
                        </m:naryPr>
                        <m:sub>
                          <m:r>
                            <a:rPr lang="it-IT" sz="2400" b="0" i="1" u="none" strike="noStrike" baseline="0" smtClean="0">
                              <a:solidFill>
                                <a:srgbClr val="000000"/>
                              </a:solidFill>
                              <a:latin typeface="Cambria Math" panose="02040503050406030204" pitchFamily="18" charset="0"/>
                            </a:rPr>
                            <m:t>𝑠</m:t>
                          </m:r>
                        </m:sub>
                        <m:sup/>
                        <m:e>
                          <m:sSub>
                            <m:sSubPr>
                              <m:ctrlPr>
                                <a:rPr lang="it-IT"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𝑤</m:t>
                              </m:r>
                            </m:e>
                            <m:sub>
                              <m:r>
                                <a:rPr lang="it-IT" sz="2400" b="0" i="1" u="none" strike="noStrike" baseline="0" smtClean="0">
                                  <a:solidFill>
                                    <a:srgbClr val="000000"/>
                                  </a:solidFill>
                                  <a:latin typeface="Cambria Math" panose="02040503050406030204" pitchFamily="18" charset="0"/>
                                </a:rPr>
                                <m:t>𝑘𝑠</m:t>
                              </m:r>
                            </m:sub>
                          </m:sSub>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sSup>
                            <m:sSupPr>
                              <m:ctrlPr>
                                <a:rPr lang="it-IT" sz="2400" b="0" i="1" u="none" strike="noStrike" baseline="0" smtClean="0">
                                  <a:solidFill>
                                    <a:srgbClr val="000000"/>
                                  </a:solidFill>
                                  <a:latin typeface="Cambria Math" panose="02040503050406030204" pitchFamily="18" charset="0"/>
                                </a:rPr>
                              </m:ctrlPr>
                            </m:sSupPr>
                            <m:e>
                              <m:r>
                                <a:rPr lang="it-IT" sz="2400" b="0" i="1" u="none" strike="noStrike" baseline="0" smtClean="0">
                                  <a:solidFill>
                                    <a:srgbClr val="000000"/>
                                  </a:solidFill>
                                  <a:latin typeface="Cambria Math" panose="02040503050406030204" pitchFamily="18" charset="0"/>
                                </a:rPr>
                                <m:t>𝜏</m:t>
                              </m:r>
                            </m:e>
                            <m:sup>
                              <m:r>
                                <a:rPr lang="it-IT" sz="2400" b="0" i="1" u="none" strike="noStrike" baseline="0" smtClean="0">
                                  <a:solidFill>
                                    <a:srgbClr val="000000"/>
                                  </a:solidFill>
                                  <a:latin typeface="Cambria Math" panose="02040503050406030204" pitchFamily="18" charset="0"/>
                                </a:rPr>
                                <m:t>𝑠</m:t>
                              </m:r>
                            </m:sup>
                          </m:sSup>
                          <m:r>
                            <a:rPr lang="it-IT" sz="2400" b="0" i="1" u="none" strike="noStrike" baseline="0" smtClean="0">
                              <a:solidFill>
                                <a:srgbClr val="000000"/>
                              </a:solidFill>
                              <a:latin typeface="Cambria Math" panose="02040503050406030204" pitchFamily="18" charset="0"/>
                            </a:rPr>
                            <m:t>)</m:t>
                          </m:r>
                        </m:e>
                      </m:nary>
                    </m:oMath>
                  </m:oMathPara>
                </a14:m>
                <a:endParaRPr lang="en-US" sz="3600" dirty="0"/>
              </a:p>
            </p:txBody>
          </p:sp>
        </mc:Choice>
        <mc:Fallback>
          <p:sp>
            <p:nvSpPr>
              <p:cNvPr id="2" name="Content Placeholder 1">
                <a:extLst>
                  <a:ext uri="{FF2B5EF4-FFF2-40B4-BE49-F238E27FC236}">
                    <a16:creationId xmlns:a16="http://schemas.microsoft.com/office/drawing/2014/main" id="{571FE867-CE6F-4ACC-9720-ED9F5A41F562}"/>
                  </a:ext>
                </a:extLst>
              </p:cNvPr>
              <p:cNvSpPr>
                <a:spLocks noGrp="1" noRot="1" noChangeAspect="1" noMove="1" noResize="1" noEditPoints="1" noAdjustHandles="1" noChangeArrowheads="1" noChangeShapeType="1" noTextEdit="1"/>
              </p:cNvSpPr>
              <p:nvPr>
                <p:ph idx="1"/>
              </p:nvPr>
            </p:nvSpPr>
            <p:spPr>
              <a:blipFill>
                <a:blip r:embed="rId2"/>
                <a:stretch>
                  <a:fillRect l="-1070" t="-92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8C8F858-7875-4C1E-AF29-99A2334FEECE}"/>
              </a:ext>
            </a:extLst>
          </p:cNvPr>
          <p:cNvSpPr>
            <a:spLocks noGrp="1"/>
          </p:cNvSpPr>
          <p:nvPr>
            <p:ph type="title"/>
          </p:nvPr>
        </p:nvSpPr>
        <p:spPr/>
        <p:txBody>
          <a:bodyPr/>
          <a:lstStyle/>
          <a:p>
            <a:r>
              <a:rPr lang="en-US" dirty="0"/>
              <a:t>BESO decision models</a:t>
            </a:r>
          </a:p>
        </p:txBody>
      </p:sp>
      <p:sp>
        <p:nvSpPr>
          <p:cNvPr id="4" name="Footer Placeholder 3">
            <a:extLst>
              <a:ext uri="{FF2B5EF4-FFF2-40B4-BE49-F238E27FC236}">
                <a16:creationId xmlns:a16="http://schemas.microsoft.com/office/drawing/2014/main" id="{9D8ADDC1-93D4-4DAC-90BB-B8A02773CD8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E567A27-FB09-4631-AD7F-D5362624575B}"/>
              </a:ext>
            </a:extLst>
          </p:cNvPr>
          <p:cNvSpPr>
            <a:spLocks noGrp="1"/>
          </p:cNvSpPr>
          <p:nvPr>
            <p:ph type="sldNum" sz="quarter" idx="4"/>
          </p:nvPr>
        </p:nvSpPr>
        <p:spPr/>
        <p:txBody>
          <a:bodyPr/>
          <a:lstStyle/>
          <a:p>
            <a:pPr>
              <a:defRPr/>
            </a:pPr>
            <a:fld id="{476DEB1C-3253-4C07-8F02-456B7B2AD41D}" type="slidenum">
              <a:rPr lang="it-IT" smtClean="0"/>
              <a:pPr>
                <a:defRPr/>
              </a:pPr>
              <a:t>24</a:t>
            </a:fld>
            <a:endParaRPr lang="it-IT" dirty="0"/>
          </a:p>
        </p:txBody>
      </p:sp>
    </p:spTree>
    <p:extLst>
      <p:ext uri="{BB962C8B-B14F-4D97-AF65-F5344CB8AC3E}">
        <p14:creationId xmlns:p14="http://schemas.microsoft.com/office/powerpoint/2010/main" val="2062400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4D8FC25-1931-1E5E-990D-CA89422BD342}"/>
              </a:ext>
            </a:extLst>
          </p:cNvPr>
          <p:cNvSpPr>
            <a:spLocks noGrp="1"/>
          </p:cNvSpPr>
          <p:nvPr>
            <p:ph idx="1"/>
          </p:nvPr>
        </p:nvSpPr>
        <p:spPr>
          <a:xfrm>
            <a:off x="298912" y="1072434"/>
            <a:ext cx="8546175" cy="5259392"/>
          </a:xfrm>
        </p:spPr>
        <p:txBody>
          <a:bodyPr>
            <a:noAutofit/>
          </a:bodyPr>
          <a:lstStyle/>
          <a:p>
            <a:r>
              <a:rPr lang="en-US" sz="2200" dirty="0">
                <a:solidFill>
                  <a:schemeClr val="accent2"/>
                </a:solidFill>
              </a:rPr>
              <a:t>Large-scale organized distribution </a:t>
            </a:r>
            <a:r>
              <a:rPr lang="en-US" sz="2200" dirty="0"/>
              <a:t>is often structured according to a </a:t>
            </a:r>
            <a:r>
              <a:rPr lang="en-US" sz="2200" dirty="0">
                <a:solidFill>
                  <a:schemeClr val="accent2"/>
                </a:solidFill>
              </a:rPr>
              <a:t>two-echelon </a:t>
            </a:r>
            <a:r>
              <a:rPr lang="en-US" sz="2200" dirty="0"/>
              <a:t>model, in which </a:t>
            </a:r>
            <a:r>
              <a:rPr lang="en-US" sz="2200" dirty="0">
                <a:solidFill>
                  <a:schemeClr val="accent2"/>
                </a:solidFill>
              </a:rPr>
              <a:t>distribution centers </a:t>
            </a:r>
            <a:r>
              <a:rPr lang="en-US" sz="2200" dirty="0"/>
              <a:t>(DCs) are used to store and forward goods to replenish the inventories of the </a:t>
            </a:r>
            <a:r>
              <a:rPr lang="en-US" sz="2200" dirty="0">
                <a:solidFill>
                  <a:schemeClr val="accent2"/>
                </a:solidFill>
              </a:rPr>
              <a:t>final retailer's stores</a:t>
            </a:r>
            <a:r>
              <a:rPr lang="en-US" sz="2200" dirty="0"/>
              <a:t>.</a:t>
            </a:r>
          </a:p>
          <a:p>
            <a:pPr>
              <a:spcBef>
                <a:spcPts val="1200"/>
              </a:spcBef>
            </a:pPr>
            <a:r>
              <a:rPr lang="en-US" sz="2200" dirty="0"/>
              <a:t>Stores are typically </a:t>
            </a:r>
            <a:r>
              <a:rPr lang="en-US" sz="2200" dirty="0">
                <a:solidFill>
                  <a:schemeClr val="accent2"/>
                </a:solidFill>
              </a:rPr>
              <a:t>uniquely allocated </a:t>
            </a:r>
            <a:r>
              <a:rPr lang="en-US" sz="2200" dirty="0"/>
              <a:t>to DCs for products of the same line, and predictive </a:t>
            </a:r>
            <a:r>
              <a:rPr lang="en-US" sz="2200" dirty="0">
                <a:solidFill>
                  <a:schemeClr val="accent2"/>
                </a:solidFill>
              </a:rPr>
              <a:t>knowledge of future demand </a:t>
            </a:r>
            <a:r>
              <a:rPr lang="en-US" sz="2200" dirty="0"/>
              <a:t>is essential to optimize the distribution process. </a:t>
            </a:r>
          </a:p>
          <a:p>
            <a:pPr>
              <a:spcBef>
                <a:spcPts val="1200"/>
              </a:spcBef>
            </a:pPr>
            <a:r>
              <a:rPr lang="en-US" sz="2200" dirty="0"/>
              <a:t>In the </a:t>
            </a:r>
            <a:r>
              <a:rPr lang="en-US" sz="2200" dirty="0">
                <a:solidFill>
                  <a:schemeClr val="accent2"/>
                </a:solidFill>
              </a:rPr>
              <a:t>real-world case </a:t>
            </a:r>
            <a:r>
              <a:rPr lang="en-US" sz="2200" dirty="0"/>
              <a:t>study:</a:t>
            </a:r>
          </a:p>
          <a:p>
            <a:pPr marL="457200" indent="-457200">
              <a:spcBef>
                <a:spcPts val="600"/>
              </a:spcBef>
              <a:buFont typeface="Arial" panose="020B0604020202020204" pitchFamily="34" charset="0"/>
              <a:buChar char="•"/>
            </a:pPr>
            <a:r>
              <a:rPr lang="en-US" sz="2200" dirty="0"/>
              <a:t>city retailer store </a:t>
            </a:r>
            <a:r>
              <a:rPr lang="en-US" sz="2200" dirty="0">
                <a:solidFill>
                  <a:schemeClr val="accent2"/>
                </a:solidFill>
              </a:rPr>
              <a:t>demands were predicted </a:t>
            </a:r>
            <a:r>
              <a:rPr lang="en-US" sz="2200" dirty="0"/>
              <a:t>based on individual sales time series and</a:t>
            </a:r>
          </a:p>
          <a:p>
            <a:pPr marL="457200" indent="-457200">
              <a:spcBef>
                <a:spcPts val="600"/>
              </a:spcBef>
              <a:buFont typeface="Arial" panose="020B0604020202020204" pitchFamily="34" charset="0"/>
              <a:buChar char="•"/>
            </a:pPr>
            <a:r>
              <a:rPr lang="en-US" sz="2200" dirty="0"/>
              <a:t>used to </a:t>
            </a:r>
            <a:r>
              <a:rPr lang="en-US" sz="2200" dirty="0">
                <a:solidFill>
                  <a:schemeClr val="accent2"/>
                </a:solidFill>
              </a:rPr>
              <a:t>optimize the allocation of stores </a:t>
            </a:r>
            <a:r>
              <a:rPr lang="en-US" sz="2200" dirty="0"/>
              <a:t>to DCs in a tactical planning context.</a:t>
            </a:r>
          </a:p>
          <a:p>
            <a:pPr>
              <a:spcBef>
                <a:spcPts val="600"/>
              </a:spcBef>
            </a:pPr>
            <a:r>
              <a:rPr lang="en-US" sz="2200" dirty="0"/>
              <a:t>Our problem required </a:t>
            </a:r>
            <a:r>
              <a:rPr lang="en-US" sz="2200" b="1" i="1" dirty="0">
                <a:solidFill>
                  <a:schemeClr val="accent2"/>
                </a:solidFill>
              </a:rPr>
              <a:t>dimensioning</a:t>
            </a:r>
            <a:r>
              <a:rPr lang="en-US" sz="2200" dirty="0">
                <a:solidFill>
                  <a:schemeClr val="accent2"/>
                </a:solidFill>
              </a:rPr>
              <a:t> multiple DCs </a:t>
            </a:r>
            <a:r>
              <a:rPr lang="en-US" sz="2200" dirty="0"/>
              <a:t>and </a:t>
            </a:r>
            <a:r>
              <a:rPr lang="en-US" sz="2200" dirty="0">
                <a:solidFill>
                  <a:schemeClr val="accent2"/>
                </a:solidFill>
              </a:rPr>
              <a:t>assigning stores</a:t>
            </a:r>
            <a:r>
              <a:rPr lang="en-US" sz="2200" dirty="0"/>
              <a:t> to them to meet </a:t>
            </a:r>
            <a:r>
              <a:rPr lang="en-US" sz="2200" dirty="0">
                <a:solidFill>
                  <a:schemeClr val="accent2"/>
                </a:solidFill>
              </a:rPr>
              <a:t>expected demand </a:t>
            </a:r>
            <a:r>
              <a:rPr lang="en-US" sz="2200" dirty="0"/>
              <a:t>during a critical period.</a:t>
            </a:r>
            <a:endParaRPr lang="it-IT" sz="2200" dirty="0"/>
          </a:p>
        </p:txBody>
      </p:sp>
      <p:sp>
        <p:nvSpPr>
          <p:cNvPr id="6" name="Title 5">
            <a:extLst>
              <a:ext uri="{FF2B5EF4-FFF2-40B4-BE49-F238E27FC236}">
                <a16:creationId xmlns:a16="http://schemas.microsoft.com/office/drawing/2014/main" id="{4C5398A1-5698-7E29-73AD-823E6AC5D0C8}"/>
              </a:ext>
            </a:extLst>
          </p:cNvPr>
          <p:cNvSpPr>
            <a:spLocks noGrp="1"/>
          </p:cNvSpPr>
          <p:nvPr>
            <p:ph type="title"/>
          </p:nvPr>
        </p:nvSpPr>
        <p:spPr/>
        <p:txBody>
          <a:bodyPr/>
          <a:lstStyle/>
          <a:p>
            <a:r>
              <a:rPr lang="en-US" dirty="0"/>
              <a:t>The first case study</a:t>
            </a:r>
            <a:endParaRPr lang="it-IT" dirty="0"/>
          </a:p>
        </p:txBody>
      </p:sp>
      <p:sp>
        <p:nvSpPr>
          <p:cNvPr id="4" name="Footer Placeholder 3">
            <a:extLst>
              <a:ext uri="{FF2B5EF4-FFF2-40B4-BE49-F238E27FC236}">
                <a16:creationId xmlns:a16="http://schemas.microsoft.com/office/drawing/2014/main" id="{06AED9A1-62D9-AEA4-A356-4502CB5D9EE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306B575-A6BA-D800-E032-B14334E80464}"/>
              </a:ext>
            </a:extLst>
          </p:cNvPr>
          <p:cNvSpPr>
            <a:spLocks noGrp="1"/>
          </p:cNvSpPr>
          <p:nvPr>
            <p:ph type="sldNum" sz="quarter" idx="4"/>
          </p:nvPr>
        </p:nvSpPr>
        <p:spPr/>
        <p:txBody>
          <a:bodyPr/>
          <a:lstStyle/>
          <a:p>
            <a:pPr>
              <a:defRPr/>
            </a:pPr>
            <a:fld id="{476DEB1C-3253-4C07-8F02-456B7B2AD41D}" type="slidenum">
              <a:rPr lang="it-IT" smtClean="0"/>
              <a:pPr>
                <a:defRPr/>
              </a:pPr>
              <a:t>25</a:t>
            </a:fld>
            <a:endParaRPr lang="it-IT" dirty="0"/>
          </a:p>
        </p:txBody>
      </p:sp>
    </p:spTree>
    <p:extLst>
      <p:ext uri="{BB962C8B-B14F-4D97-AF65-F5344CB8AC3E}">
        <p14:creationId xmlns:p14="http://schemas.microsoft.com/office/powerpoint/2010/main" val="6748530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9083F86-A46A-4536-ABCE-853D29FAD760}"/>
              </a:ext>
            </a:extLst>
          </p:cNvPr>
          <p:cNvSpPr>
            <a:spLocks noGrp="1"/>
          </p:cNvSpPr>
          <p:nvPr>
            <p:ph type="sldNum" sz="quarter" idx="12"/>
          </p:nvPr>
        </p:nvSpPr>
        <p:spPr/>
        <p:txBody>
          <a:bodyPr/>
          <a:lstStyle/>
          <a:p>
            <a:pPr>
              <a:defRPr/>
            </a:pPr>
            <a:fld id="{476DEB1C-3253-4C07-8F02-456B7B2AD41D}" type="slidenum">
              <a:rPr lang="it-IT" smtClean="0"/>
              <a:pPr>
                <a:defRPr/>
              </a:pPr>
              <a:t>26</a:t>
            </a:fld>
            <a:endParaRPr lang="it-IT" dirty="0"/>
          </a:p>
        </p:txBody>
      </p:sp>
      <p:sp>
        <p:nvSpPr>
          <p:cNvPr id="3" name="Title 2">
            <a:extLst>
              <a:ext uri="{FF2B5EF4-FFF2-40B4-BE49-F238E27FC236}">
                <a16:creationId xmlns:a16="http://schemas.microsoft.com/office/drawing/2014/main" id="{4B9036EB-2DC9-4B74-9A20-A9079686960F}"/>
              </a:ext>
            </a:extLst>
          </p:cNvPr>
          <p:cNvSpPr>
            <a:spLocks noGrp="1"/>
          </p:cNvSpPr>
          <p:nvPr>
            <p:ph type="title"/>
          </p:nvPr>
        </p:nvSpPr>
        <p:spPr/>
        <p:txBody>
          <a:bodyPr/>
          <a:lstStyle/>
          <a:p>
            <a:r>
              <a:rPr lang="en-US" dirty="0"/>
              <a:t>Toward a formulation</a:t>
            </a:r>
          </a:p>
        </p:txBody>
      </p:sp>
      <p:sp>
        <p:nvSpPr>
          <p:cNvPr id="4" name="Footer Placeholder 3">
            <a:extLst>
              <a:ext uri="{FF2B5EF4-FFF2-40B4-BE49-F238E27FC236}">
                <a16:creationId xmlns:a16="http://schemas.microsoft.com/office/drawing/2014/main" id="{0AB89389-3428-4908-9BE0-23F58A7DE99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6" name="Oval 5">
            <a:extLst>
              <a:ext uri="{FF2B5EF4-FFF2-40B4-BE49-F238E27FC236}">
                <a16:creationId xmlns:a16="http://schemas.microsoft.com/office/drawing/2014/main" id="{32B98C8A-3BF6-47A2-B3B9-7FA15F39B6BC}"/>
              </a:ext>
            </a:extLst>
          </p:cNvPr>
          <p:cNvSpPr/>
          <p:nvPr/>
        </p:nvSpPr>
        <p:spPr>
          <a:xfrm>
            <a:off x="2011680" y="2542032"/>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latin typeface="Cambria" panose="02040503050406030204" pitchFamily="18" charset="0"/>
                <a:ea typeface="Cambria" panose="02040503050406030204" pitchFamily="18" charset="0"/>
              </a:rPr>
              <a:t>i</a:t>
            </a:r>
            <a:endParaRPr lang="en-US" i="1" dirty="0">
              <a:solidFill>
                <a:schemeClr val="tx1"/>
              </a:solidFill>
              <a:latin typeface="Cambria" panose="02040503050406030204" pitchFamily="18" charset="0"/>
              <a:ea typeface="Cambria" panose="02040503050406030204" pitchFamily="18" charset="0"/>
            </a:endParaRPr>
          </a:p>
        </p:txBody>
      </p:sp>
      <p:sp>
        <p:nvSpPr>
          <p:cNvPr id="7" name="Oval 6">
            <a:extLst>
              <a:ext uri="{FF2B5EF4-FFF2-40B4-BE49-F238E27FC236}">
                <a16:creationId xmlns:a16="http://schemas.microsoft.com/office/drawing/2014/main" id="{63A1B69A-A49D-4A92-8AD9-6A13E8235E81}"/>
              </a:ext>
            </a:extLst>
          </p:cNvPr>
          <p:cNvSpPr/>
          <p:nvPr/>
        </p:nvSpPr>
        <p:spPr>
          <a:xfrm>
            <a:off x="5421124" y="4312920"/>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latin typeface="Cambria" panose="02040503050406030204" pitchFamily="18" charset="0"/>
                <a:ea typeface="Cambria" panose="02040503050406030204" pitchFamily="18" charset="0"/>
              </a:rPr>
              <a:t>j</a:t>
            </a:r>
          </a:p>
        </p:txBody>
      </p:sp>
      <p:cxnSp>
        <p:nvCxnSpPr>
          <p:cNvPr id="9" name="Straight Arrow Connector 8">
            <a:extLst>
              <a:ext uri="{FF2B5EF4-FFF2-40B4-BE49-F238E27FC236}">
                <a16:creationId xmlns:a16="http://schemas.microsoft.com/office/drawing/2014/main" id="{B6F8C743-2E2B-4EE3-91DE-D049A2418395}"/>
              </a:ext>
            </a:extLst>
          </p:cNvPr>
          <p:cNvCxnSpPr>
            <a:stCxn id="7" idx="2"/>
            <a:endCxn id="6" idx="6"/>
          </p:cNvCxnSpPr>
          <p:nvPr/>
        </p:nvCxnSpPr>
        <p:spPr>
          <a:xfrm flipH="1" flipV="1">
            <a:off x="2441448" y="2766060"/>
            <a:ext cx="2979676" cy="17708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2A84C6D-D5FD-478B-8DB2-B8676B97D4E0}"/>
              </a:ext>
            </a:extLst>
          </p:cNvPr>
          <p:cNvSpPr txBox="1"/>
          <p:nvPr/>
        </p:nvSpPr>
        <p:spPr>
          <a:xfrm>
            <a:off x="3670048" y="3107886"/>
            <a:ext cx="3502152" cy="448056"/>
          </a:xfrm>
          <a:prstGeom prst="rect">
            <a:avLst/>
          </a:prstGeom>
          <a:noFill/>
          <a:ln>
            <a:noFill/>
          </a:ln>
        </p:spPr>
        <p:txBody>
          <a:bodyPr wrap="none" rtlCol="0" anchor="t" anchorCtr="0">
            <a:noAutofit/>
          </a:bodyPr>
          <a:lstStyle/>
          <a:p>
            <a:pPr algn="l"/>
            <a:r>
              <a:rPr lang="en-US" sz="2000" dirty="0"/>
              <a:t>if </a:t>
            </a:r>
            <a:r>
              <a:rPr lang="en-US" sz="2000" i="1" dirty="0">
                <a:latin typeface="Cambria" panose="02040503050406030204" pitchFamily="18" charset="0"/>
                <a:ea typeface="Cambria" panose="02040503050406030204" pitchFamily="18" charset="0"/>
              </a:rPr>
              <a:t>j</a:t>
            </a:r>
            <a:r>
              <a:rPr lang="en-US" sz="2000" dirty="0"/>
              <a:t> is serviced from </a:t>
            </a:r>
            <a:r>
              <a:rPr lang="en-US" sz="2000" i="1" dirty="0" err="1">
                <a:latin typeface="Cambria" panose="02040503050406030204" pitchFamily="18" charset="0"/>
                <a:ea typeface="Cambria" panose="02040503050406030204" pitchFamily="18" charset="0"/>
              </a:rPr>
              <a:t>i</a:t>
            </a:r>
            <a:r>
              <a:rPr lang="en-US" sz="2000" dirty="0"/>
              <a:t>, then </a:t>
            </a:r>
            <a:r>
              <a:rPr lang="en-US" sz="2000" i="1" dirty="0" err="1">
                <a:solidFill>
                  <a:srgbClr val="C00000"/>
                </a:solidFill>
                <a:latin typeface="Cambria" panose="02040503050406030204" pitchFamily="18" charset="0"/>
                <a:ea typeface="Cambria" panose="02040503050406030204" pitchFamily="18" charset="0"/>
              </a:rPr>
              <a:t>x</a:t>
            </a:r>
            <a:r>
              <a:rPr lang="en-US" sz="2000" i="1" baseline="-25000" dirty="0" err="1">
                <a:solidFill>
                  <a:srgbClr val="C00000"/>
                </a:solidFill>
                <a:latin typeface="Cambria" panose="02040503050406030204" pitchFamily="18" charset="0"/>
                <a:ea typeface="Cambria" panose="02040503050406030204" pitchFamily="18" charset="0"/>
              </a:rPr>
              <a:t>ij</a:t>
            </a:r>
            <a:r>
              <a:rPr lang="en-US" sz="2000" i="1" dirty="0">
                <a:latin typeface="Cambria" panose="02040503050406030204" pitchFamily="18" charset="0"/>
                <a:ea typeface="Cambria" panose="02040503050406030204" pitchFamily="18" charset="0"/>
              </a:rPr>
              <a:t> = 1</a:t>
            </a:r>
          </a:p>
        </p:txBody>
      </p:sp>
      <p:sp>
        <p:nvSpPr>
          <p:cNvPr id="11" name="TextBox 10">
            <a:extLst>
              <a:ext uri="{FF2B5EF4-FFF2-40B4-BE49-F238E27FC236}">
                <a16:creationId xmlns:a16="http://schemas.microsoft.com/office/drawing/2014/main" id="{97A90013-B7E8-44DB-A78A-BC9E92598082}"/>
              </a:ext>
            </a:extLst>
          </p:cNvPr>
          <p:cNvSpPr txBox="1"/>
          <p:nvPr/>
        </p:nvSpPr>
        <p:spPr>
          <a:xfrm>
            <a:off x="845820" y="1270635"/>
            <a:ext cx="2674620" cy="1047369"/>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Server </a:t>
            </a:r>
            <a:r>
              <a:rPr lang="en-US" sz="2000" i="1" dirty="0" err="1">
                <a:solidFill>
                  <a:srgbClr val="C00000"/>
                </a:solidFill>
                <a:latin typeface="Cambria" panose="02040503050406030204" pitchFamily="18" charset="0"/>
                <a:ea typeface="Cambria" panose="02040503050406030204" pitchFamily="18" charset="0"/>
              </a:rPr>
              <a:t>i</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Capacity </a:t>
            </a:r>
            <a:r>
              <a:rPr lang="en-US" sz="2000" i="1" dirty="0">
                <a:solidFill>
                  <a:srgbClr val="C00000"/>
                </a:solidFill>
                <a:latin typeface="Cambria" panose="02040503050406030204" pitchFamily="18" charset="0"/>
                <a:ea typeface="Cambria" panose="02040503050406030204" pitchFamily="18" charset="0"/>
              </a:rPr>
              <a:t>Q</a:t>
            </a:r>
            <a:r>
              <a:rPr lang="en-US" sz="2000" i="1" baseline="-25000" dirty="0">
                <a:solidFill>
                  <a:srgbClr val="C00000"/>
                </a:solidFill>
                <a:latin typeface="Cambria" panose="02040503050406030204" pitchFamily="18" charset="0"/>
                <a:ea typeface="Cambria" panose="02040503050406030204" pitchFamily="18" charset="0"/>
              </a:rPr>
              <a:t>i</a:t>
            </a:r>
          </a:p>
          <a:p>
            <a:pPr algn="ctr"/>
            <a:r>
              <a:rPr lang="en-US" sz="2000" dirty="0">
                <a:latin typeface="Aptos Light" panose="020B0004020202020204" pitchFamily="34" charset="0"/>
              </a:rPr>
              <a:t>Unitary storage cost </a:t>
            </a:r>
            <a:r>
              <a:rPr lang="en-US" sz="2000" i="1" dirty="0">
                <a:solidFill>
                  <a:srgbClr val="C00000"/>
                </a:solidFill>
                <a:latin typeface="Cambria" panose="02040503050406030204" pitchFamily="18" charset="0"/>
                <a:ea typeface="Cambria" panose="02040503050406030204" pitchFamily="18" charset="0"/>
              </a:rPr>
              <a:t>d</a:t>
            </a:r>
            <a:r>
              <a:rPr lang="en-US" sz="2000" i="1" baseline="-25000" dirty="0">
                <a:solidFill>
                  <a:srgbClr val="C00000"/>
                </a:solidFill>
                <a:latin typeface="Cambria" panose="02040503050406030204" pitchFamily="18" charset="0"/>
                <a:ea typeface="Cambria" panose="02040503050406030204" pitchFamily="18" charset="0"/>
              </a:rPr>
              <a:t>i</a:t>
            </a:r>
          </a:p>
        </p:txBody>
      </p:sp>
      <p:sp>
        <p:nvSpPr>
          <p:cNvPr id="12" name="TextBox 11">
            <a:extLst>
              <a:ext uri="{FF2B5EF4-FFF2-40B4-BE49-F238E27FC236}">
                <a16:creationId xmlns:a16="http://schemas.microsoft.com/office/drawing/2014/main" id="{744C906C-0A05-4451-A1E0-7A09F8AF712B}"/>
              </a:ext>
            </a:extLst>
          </p:cNvPr>
          <p:cNvSpPr txBox="1"/>
          <p:nvPr/>
        </p:nvSpPr>
        <p:spPr>
          <a:xfrm>
            <a:off x="4950208" y="4536948"/>
            <a:ext cx="3306824" cy="1424940"/>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Client </a:t>
            </a:r>
            <a:r>
              <a:rPr lang="en-US" sz="2000" i="1" dirty="0">
                <a:solidFill>
                  <a:srgbClr val="C00000"/>
                </a:solidFill>
                <a:latin typeface="Cambria" panose="02040503050406030204" pitchFamily="18" charset="0"/>
                <a:ea typeface="Cambria" panose="02040503050406030204" pitchFamily="18" charset="0"/>
              </a:rPr>
              <a:t>j</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Total request </a:t>
            </a:r>
            <a:r>
              <a:rPr lang="en-US" sz="2000" i="1" dirty="0" err="1">
                <a:solidFill>
                  <a:srgbClr val="C00000"/>
                </a:solidFill>
                <a:latin typeface="Cambria" panose="02040503050406030204" pitchFamily="18" charset="0"/>
                <a:ea typeface="Cambria" panose="02040503050406030204" pitchFamily="18" charset="0"/>
              </a:rPr>
              <a:t>req</a:t>
            </a:r>
            <a:r>
              <a:rPr lang="en-US" sz="2000" i="1" baseline="-25000" dirty="0" err="1">
                <a:solidFill>
                  <a:srgbClr val="C00000"/>
                </a:solidFill>
                <a:latin typeface="Cambria" panose="02040503050406030204" pitchFamily="18" charset="0"/>
                <a:ea typeface="Cambria" panose="02040503050406030204" pitchFamily="18" charset="0"/>
              </a:rPr>
              <a:t>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Amount serviced by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q</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Unitary allocation cost to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c</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63688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z(D)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𝑟𝑒𝑞</m:t>
                        </m:r>
                      </m:e>
                      <m:sub>
                        <m:r>
                          <m:rPr>
                            <m:sty m:val="p"/>
                          </m:rPr>
                          <a:rPr lang="en-US">
                            <a:latin typeface="Cambria Math" panose="02040503050406030204" pitchFamily="18" charset="0"/>
                            <a:ea typeface="Cambria Math" panose="02040503050406030204" pitchFamily="18" charset="0"/>
                          </a:rPr>
                          <m:t>j</m:t>
                        </m:r>
                      </m:sub>
                    </m:sSub>
                  </m:oMath>
                </a14:m>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𝑟𝑒𝑞</m:t>
                        </m:r>
                      </m:e>
                      <m:sub>
                        <m:r>
                          <m:rPr>
                            <m:sty m:val="p"/>
                          </m:rPr>
                          <a:rPr lang="en-US" sz="2400" b="0" i="0" smtClean="0">
                            <a:latin typeface="Cambria Math" panose="02040503050406030204" pitchFamily="18" charset="0"/>
                            <a:ea typeface="Cambria Math" panose="02040503050406030204" pitchFamily="18" charset="0"/>
                          </a:rPr>
                          <m:t>j</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p:txBody>
          </p:sp>
        </mc:Choice>
        <mc:Fallback>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1070" t="-754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a:t>
            </a:r>
            <a:r>
              <a:rPr lang="it-IT" dirty="0" err="1"/>
              <a:t>allocation</a:t>
            </a:r>
            <a:r>
              <a:rPr lang="it-IT" dirty="0"/>
              <a:t> (SAP)</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27</a:t>
            </a:fld>
            <a:endParaRPr lang="it-IT" dirty="0"/>
          </a:p>
        </p:txBody>
      </p:sp>
    </p:spTree>
    <p:extLst>
      <p:ext uri="{BB962C8B-B14F-4D97-AF65-F5344CB8AC3E}">
        <p14:creationId xmlns:p14="http://schemas.microsoft.com/office/powerpoint/2010/main" val="15572730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33820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z(H)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it-IT" i="1">
                            <a:solidFill>
                              <a:srgbClr val="FF0000"/>
                            </a:solidFill>
                            <a:latin typeface="Cambria Math" panose="02040503050406030204" pitchFamily="18" charset="0"/>
                            <a:ea typeface="Cambria Math" panose="02040503050406030204" pitchFamily="18" charset="0"/>
                          </a:rPr>
                        </m:ctrlPr>
                      </m:sSubPr>
                      <m:e>
                        <m:acc>
                          <m:accPr>
                            <m:chr m:val="̂"/>
                            <m:ctrlPr>
                              <a:rPr lang="en-US" i="1">
                                <a:solidFill>
                                  <a:srgbClr val="FF0000"/>
                                </a:solidFill>
                                <a:latin typeface="Cambria Math" panose="02040503050406030204" pitchFamily="18" charset="0"/>
                                <a:ea typeface="Cambria Math" panose="02040503050406030204" pitchFamily="18" charset="0"/>
                              </a:rPr>
                            </m:ctrlPr>
                          </m:accPr>
                          <m:e>
                            <m:r>
                              <a:rPr lang="it-IT" i="1">
                                <a:solidFill>
                                  <a:srgbClr val="FF0000"/>
                                </a:solidFill>
                                <a:latin typeface="Cambria Math" panose="02040503050406030204" pitchFamily="18" charset="0"/>
                                <a:ea typeface="Cambria Math" panose="02040503050406030204" pitchFamily="18" charset="0"/>
                              </a:rPr>
                              <m:t>𝜌</m:t>
                            </m:r>
                          </m:e>
                        </m:acc>
                      </m:e>
                      <m:sub>
                        <m:r>
                          <a:rPr lang="it-IT" i="1">
                            <a:latin typeface="Cambria Math" panose="02040503050406030204" pitchFamily="18" charset="0"/>
                            <a:ea typeface="Cambria Math" panose="02040503050406030204" pitchFamily="18" charset="0"/>
                          </a:rPr>
                          <m:t>𝑗</m:t>
                        </m:r>
                      </m:sub>
                    </m:sSub>
                  </m:oMath>
                </a14:m>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it-IT" sz="2400" i="1">
                            <a:solidFill>
                              <a:srgbClr val="FF0000"/>
                            </a:solidFill>
                            <a:latin typeface="Cambria Math" panose="02040503050406030204" pitchFamily="18" charset="0"/>
                            <a:ea typeface="Cambria Math" panose="02040503050406030204" pitchFamily="18" charset="0"/>
                          </a:rPr>
                        </m:ctrlPr>
                      </m:sSubPr>
                      <m:e>
                        <m:acc>
                          <m:accPr>
                            <m:chr m:val="̂"/>
                            <m:ctrlPr>
                              <a:rPr lang="en-US" sz="2400" i="1">
                                <a:solidFill>
                                  <a:srgbClr val="FF0000"/>
                                </a:solidFill>
                                <a:latin typeface="Cambria Math" panose="02040503050406030204" pitchFamily="18" charset="0"/>
                                <a:ea typeface="Cambria Math" panose="02040503050406030204" pitchFamily="18" charset="0"/>
                              </a:rPr>
                            </m:ctrlPr>
                          </m:accPr>
                          <m:e>
                            <m:r>
                              <a:rPr lang="it-IT" sz="2400" i="1">
                                <a:solidFill>
                                  <a:srgbClr val="FF0000"/>
                                </a:solidFill>
                                <a:latin typeface="Cambria Math" panose="02040503050406030204" pitchFamily="18" charset="0"/>
                                <a:ea typeface="Cambria Math" panose="02040503050406030204" pitchFamily="18" charset="0"/>
                              </a:rPr>
                              <m:t>𝜌</m:t>
                            </m:r>
                          </m:e>
                        </m:acc>
                      </m:e>
                      <m:sub>
                        <m:r>
                          <a:rPr lang="it-IT" sz="2400" i="1">
                            <a:latin typeface="Cambria Math" panose="02040503050406030204" pitchFamily="18" charset="0"/>
                            <a:ea typeface="Cambria Math" panose="02040503050406030204" pitchFamily="18" charset="0"/>
                          </a:rPr>
                          <m:t>𝑗</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338202"/>
              </a:xfrm>
              <a:blipFill>
                <a:blip r:embed="rId2"/>
                <a:stretch>
                  <a:fillRect l="-1070" t="-742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Stochastic</a:t>
            </a:r>
            <a:r>
              <a:rPr lang="it-IT" dirty="0"/>
              <a:t> </a:t>
            </a:r>
            <a:r>
              <a:rPr lang="it-IT" dirty="0" err="1"/>
              <a:t>allocation</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28</a:t>
            </a:fld>
            <a:endParaRPr lang="it-IT" dirty="0"/>
          </a:p>
        </p:txBody>
      </p:sp>
    </p:spTree>
    <p:extLst>
      <p:ext uri="{BB962C8B-B14F-4D97-AF65-F5344CB8AC3E}">
        <p14:creationId xmlns:p14="http://schemas.microsoft.com/office/powerpoint/2010/main" val="2452429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6F56080D-904C-46F6-A75E-FD9D53A81DEF}"/>
                  </a:ext>
                </a:extLst>
              </p:cNvPr>
              <p:cNvSpPr>
                <a:spLocks noGrp="1"/>
              </p:cNvSpPr>
              <p:nvPr>
                <p:ph idx="1"/>
              </p:nvPr>
            </p:nvSpPr>
            <p:spPr/>
            <p:txBody>
              <a:bodyPr/>
              <a:lstStyle/>
              <a:p>
                <a:r>
                  <a:rPr lang="en-US" dirty="0"/>
                  <a:t>For this use case, we considered no instance-specific titling feature and defined the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𝑔</m:t>
                        </m:r>
                      </m:e>
                      <m:sub>
                        <m:r>
                          <a:rPr lang="it-IT" b="0" i="1" smtClean="0">
                            <a:latin typeface="Cambria Math" panose="02040503050406030204" pitchFamily="18" charset="0"/>
                          </a:rPr>
                          <m:t>𝑠</m:t>
                        </m:r>
                      </m:sub>
                    </m:sSub>
                  </m:oMath>
                </a14:m>
                <a:r>
                  <a:rPr lang="en-US" dirty="0"/>
                  <a:t>as costs of a simplified transportation problem accounting for scenario demands and DC capacity constraints.</a:t>
                </a:r>
              </a:p>
            </p:txBody>
          </p:sp>
        </mc:Choice>
        <mc:Fallback>
          <p:sp>
            <p:nvSpPr>
              <p:cNvPr id="2" name="Content Placeholder 1">
                <a:extLst>
                  <a:ext uri="{FF2B5EF4-FFF2-40B4-BE49-F238E27FC236}">
                    <a16:creationId xmlns:a16="http://schemas.microsoft.com/office/drawing/2014/main" id="{6F56080D-904C-46F6-A75E-FD9D53A81DEF}"/>
                  </a:ext>
                </a:extLst>
              </p:cNvPr>
              <p:cNvSpPr>
                <a:spLocks noGrp="1" noRot="1" noChangeAspect="1" noMove="1" noResize="1" noEditPoints="1" noAdjustHandles="1" noChangeArrowheads="1" noChangeShapeType="1" noTextEdit="1"/>
              </p:cNvSpPr>
              <p:nvPr>
                <p:ph idx="1"/>
              </p:nvPr>
            </p:nvSpPr>
            <p:spPr>
              <a:blipFill>
                <a:blip r:embed="rId2"/>
                <a:stretch>
                  <a:fillRect l="-1427" t="-1160"/>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1F829B72-0EF4-44D8-BB83-2BFAC19794DB}"/>
              </a:ext>
            </a:extLst>
          </p:cNvPr>
          <p:cNvSpPr>
            <a:spLocks noGrp="1"/>
          </p:cNvSpPr>
          <p:nvPr>
            <p:ph type="title"/>
          </p:nvPr>
        </p:nvSpPr>
        <p:spPr/>
        <p:txBody>
          <a:bodyPr/>
          <a:lstStyle/>
          <a:p>
            <a:r>
              <a:rPr lang="en-US" dirty="0"/>
              <a:t>Entropy tilting</a:t>
            </a:r>
          </a:p>
        </p:txBody>
      </p:sp>
      <p:sp>
        <p:nvSpPr>
          <p:cNvPr id="4" name="Footer Placeholder 3">
            <a:extLst>
              <a:ext uri="{FF2B5EF4-FFF2-40B4-BE49-F238E27FC236}">
                <a16:creationId xmlns:a16="http://schemas.microsoft.com/office/drawing/2014/main" id="{9977C103-BEE1-4847-B219-2503C4653E5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4D42710-6EE4-4295-A42A-765232D0C2EE}"/>
              </a:ext>
            </a:extLst>
          </p:cNvPr>
          <p:cNvSpPr>
            <a:spLocks noGrp="1"/>
          </p:cNvSpPr>
          <p:nvPr>
            <p:ph type="sldNum" sz="quarter" idx="4"/>
          </p:nvPr>
        </p:nvSpPr>
        <p:spPr/>
        <p:txBody>
          <a:bodyPr/>
          <a:lstStyle/>
          <a:p>
            <a:pPr>
              <a:defRPr/>
            </a:pPr>
            <a:fld id="{476DEB1C-3253-4C07-8F02-456B7B2AD41D}" type="slidenum">
              <a:rPr lang="it-IT" smtClean="0"/>
              <a:pPr>
                <a:defRPr/>
              </a:pPr>
              <a:t>29</a:t>
            </a:fld>
            <a:endParaRPr lang="it-IT" dirty="0"/>
          </a:p>
        </p:txBody>
      </p:sp>
    </p:spTree>
    <p:extLst>
      <p:ext uri="{BB962C8B-B14F-4D97-AF65-F5344CB8AC3E}">
        <p14:creationId xmlns:p14="http://schemas.microsoft.com/office/powerpoint/2010/main" val="3716400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15287C68-E67C-4F60-996C-60722B34E7FA}"/>
                  </a:ext>
                </a:extLst>
              </p:cNvPr>
              <p:cNvSpPr>
                <a:spLocks noGrp="1"/>
              </p:cNvSpPr>
              <p:nvPr>
                <p:ph idx="1"/>
              </p:nvPr>
            </p:nvSpPr>
            <p:spPr/>
            <p:txBody>
              <a:bodyPr>
                <a:normAutofit fontScale="92500" lnSpcReduction="20000"/>
              </a:bodyPr>
              <a:lstStyle/>
              <a:p>
                <a:r>
                  <a:rPr lang="en-US" dirty="0"/>
                  <a:t>Fit an AR(p) model on each MEB series, independently.</a:t>
                </a:r>
              </a:p>
              <a:p>
                <a:r>
                  <a:rPr lang="en-US" dirty="0">
                    <a:solidFill>
                      <a:srgbClr val="C00000"/>
                    </a:solidFill>
                  </a:rPr>
                  <a:t>Each model is used to generate a scenario </a:t>
                </a:r>
                <a14:m>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r>
                      <a:rPr lang="it-IT" b="0" i="1" smtClean="0">
                        <a:latin typeface="Cambria Math" panose="02040503050406030204" pitchFamily="18" charset="0"/>
                      </a:rPr>
                      <m:t>𝑆</m:t>
                    </m:r>
                  </m:oMath>
                </a14:m>
                <a:r>
                  <a:rPr lang="en-US" dirty="0"/>
                  <a:t>, specifically, a realization </a:t>
                </a:r>
                <a14:m>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𝜌</m:t>
                        </m:r>
                      </m:e>
                      <m:sub>
                        <m:r>
                          <a:rPr lang="it-IT" b="0" i="1" smtClean="0">
                            <a:latin typeface="Cambria Math" panose="02040503050406030204" pitchFamily="18" charset="0"/>
                          </a:rPr>
                          <m:t>𝑗</m:t>
                        </m:r>
                      </m:sub>
                      <m:sup>
                        <m:r>
                          <a:rPr lang="it-IT" b="0" i="1" smtClean="0">
                            <a:latin typeface="Cambria Math" panose="02040503050406030204" pitchFamily="18" charset="0"/>
                          </a:rPr>
                          <m:t>𝑠</m:t>
                        </m:r>
                      </m:sup>
                    </m:sSubSup>
                  </m:oMath>
                </a14:m>
                <a:r>
                  <a:rPr lang="en-US" dirty="0"/>
                  <a:t> of the </a:t>
                </a:r>
                <a:r>
                  <a:rPr lang="en-US" dirty="0">
                    <a:solidFill>
                      <a:srgbClr val="C00000"/>
                    </a:solidFill>
                  </a:rPr>
                  <a:t>forecasted requests </a:t>
                </a:r>
                <a:r>
                  <a:rPr lang="en-US" dirty="0"/>
                  <a:t>of customer </a:t>
                </a:r>
                <a14:m>
                  <m:oMath xmlns:m="http://schemas.openxmlformats.org/officeDocument/2006/math">
                    <m:r>
                      <a:rPr lang="it-IT" b="0" i="1" smtClean="0">
                        <a:latin typeface="Cambria Math" panose="02040503050406030204" pitchFamily="18" charset="0"/>
                      </a:rPr>
                      <m:t>𝑗</m:t>
                    </m:r>
                    <m:r>
                      <a:rPr lang="it-IT" b="0" i="1" smtClean="0">
                        <a:latin typeface="Cambria Math" panose="02040503050406030204" pitchFamily="18" charset="0"/>
                      </a:rPr>
                      <m:t>∈</m:t>
                    </m:r>
                    <m:r>
                      <a:rPr lang="it-IT" b="0" i="1" smtClean="0">
                        <a:latin typeface="Cambria Math" panose="02040503050406030204" pitchFamily="18" charset="0"/>
                      </a:rPr>
                      <m:t>𝐽</m:t>
                    </m:r>
                  </m:oMath>
                </a14:m>
                <a:r>
                  <a:rPr lang="en-US" dirty="0"/>
                  <a:t> according to scenario </a:t>
                </a:r>
                <a:r>
                  <a:rPr lang="en-US" i="1" dirty="0">
                    <a:latin typeface="Cambria" panose="02040503050406030204" pitchFamily="18" charset="0"/>
                    <a:ea typeface="Cambria" panose="02040503050406030204" pitchFamily="18" charset="0"/>
                  </a:rPr>
                  <a:t>S</a:t>
                </a:r>
                <a:r>
                  <a:rPr lang="en-US" dirty="0"/>
                  <a:t>.</a:t>
                </a:r>
              </a:p>
              <a:p>
                <a:r>
                  <a:rPr lang="en-US" dirty="0"/>
                  <a:t>All scenarios were deemed </a:t>
                </a:r>
                <a:r>
                  <a:rPr lang="en-US" dirty="0">
                    <a:solidFill>
                      <a:srgbClr val="C00000"/>
                    </a:solidFill>
                  </a:rPr>
                  <a:t>equiprobable</a:t>
                </a:r>
                <a:r>
                  <a:rPr lang="en-US" dirty="0"/>
                  <a:t>.</a:t>
                </a:r>
              </a:p>
              <a:p>
                <a:r>
                  <a:rPr lang="en-US" dirty="0"/>
                  <a:t>The resulting </a:t>
                </a:r>
                <a:r>
                  <a:rPr lang="en-US" dirty="0">
                    <a:solidFill>
                      <a:srgbClr val="C00000"/>
                    </a:solidFill>
                  </a:rPr>
                  <a:t>deterministic equivalent </a:t>
                </a:r>
                <a:r>
                  <a:rPr lang="en-US" dirty="0"/>
                  <a:t>SB formulation is passed on to a MIP solver.</a:t>
                </a:r>
              </a:p>
              <a:p>
                <a:r>
                  <a:rPr lang="en-US" dirty="0"/>
                  <a:t>The solution details the server </a:t>
                </a:r>
                <a:r>
                  <a:rPr lang="en-US" i="1" dirty="0" err="1">
                    <a:latin typeface="+mn-lt"/>
                  </a:rPr>
                  <a:t>i</a:t>
                </a:r>
                <a:r>
                  <a:rPr lang="en-US" dirty="0"/>
                  <a:t> that each client </a:t>
                </a:r>
                <a:r>
                  <a:rPr lang="en-US" i="1" dirty="0">
                    <a:latin typeface="+mn-lt"/>
                  </a:rPr>
                  <a:t>j</a:t>
                </a:r>
                <a:r>
                  <a:rPr lang="en-US" dirty="0"/>
                  <a:t> will be associated with, as well as the amount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𝑞</m:t>
                        </m:r>
                      </m:e>
                      <m:sub>
                        <m:r>
                          <a:rPr lang="it-IT" b="0" i="1" smtClean="0">
                            <a:latin typeface="Cambria Math" panose="02040503050406030204" pitchFamily="18" charset="0"/>
                          </a:rPr>
                          <m:t>𝑖𝑗</m:t>
                        </m:r>
                      </m:sub>
                    </m:sSub>
                  </m:oMath>
                </a14:m>
                <a:r>
                  <a:rPr lang="en-US" dirty="0"/>
                  <a:t>it will request from the server.</a:t>
                </a:r>
              </a:p>
              <a:p>
                <a:r>
                  <a:rPr lang="en-US" dirty="0"/>
                  <a:t>It is therefore possible to estimate the actual capacity requested from each server.</a:t>
                </a:r>
              </a:p>
            </p:txBody>
          </p:sp>
        </mc:Choice>
        <mc:Fallback xmlns="">
          <p:sp>
            <p:nvSpPr>
              <p:cNvPr id="2" name="Content Placeholder 1">
                <a:extLst>
                  <a:ext uri="{FF2B5EF4-FFF2-40B4-BE49-F238E27FC236}">
                    <a16:creationId xmlns:a16="http://schemas.microsoft.com/office/drawing/2014/main" id="{15287C68-E67C-4F60-996C-60722B34E7FA}"/>
                  </a:ext>
                </a:extLst>
              </p:cNvPr>
              <p:cNvSpPr>
                <a:spLocks noGrp="1" noRot="1" noChangeAspect="1" noMove="1" noResize="1" noEditPoints="1" noAdjustHandles="1" noChangeArrowheads="1" noChangeShapeType="1" noTextEdit="1"/>
              </p:cNvSpPr>
              <p:nvPr>
                <p:ph idx="1"/>
              </p:nvPr>
            </p:nvSpPr>
            <p:spPr>
              <a:blipFill>
                <a:blip r:embed="rId2"/>
                <a:stretch>
                  <a:fillRect l="-1284" t="-2436" r="-1355" b="-23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D87712D-703F-4615-B30A-AE3B2313D75A}"/>
              </a:ext>
            </a:extLst>
          </p:cNvPr>
          <p:cNvSpPr>
            <a:spLocks noGrp="1"/>
          </p:cNvSpPr>
          <p:nvPr>
            <p:ph type="title"/>
          </p:nvPr>
        </p:nvSpPr>
        <p:spPr>
          <a:xfrm>
            <a:off x="278767" y="291718"/>
            <a:ext cx="8791195" cy="766769"/>
          </a:xfrm>
        </p:spPr>
        <p:txBody>
          <a:bodyPr>
            <a:normAutofit fontScale="90000"/>
          </a:bodyPr>
          <a:lstStyle/>
          <a:p>
            <a:pPr marL="1487488" indent="-1487488">
              <a:lnSpc>
                <a:spcPts val="3400"/>
              </a:lnSpc>
            </a:pPr>
            <a:r>
              <a:rPr lang="en-US" dirty="0"/>
              <a:t>BESO: bootstrapped enhanced scenario optimization</a:t>
            </a:r>
          </a:p>
        </p:txBody>
      </p:sp>
      <p:sp>
        <p:nvSpPr>
          <p:cNvPr id="4" name="Footer Placeholder 3">
            <a:extLst>
              <a:ext uri="{FF2B5EF4-FFF2-40B4-BE49-F238E27FC236}">
                <a16:creationId xmlns:a16="http://schemas.microsoft.com/office/drawing/2014/main" id="{F73F7CBB-54A3-4FAB-AFE5-219EAB3171A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7E620-B83C-44AF-B958-12960902B194}"/>
              </a:ext>
            </a:extLst>
          </p:cNvPr>
          <p:cNvSpPr>
            <a:spLocks noGrp="1"/>
          </p:cNvSpPr>
          <p:nvPr>
            <p:ph type="sldNum" sz="quarter" idx="4"/>
          </p:nvPr>
        </p:nvSpPr>
        <p:spPr/>
        <p:txBody>
          <a:bodyPr/>
          <a:lstStyle/>
          <a:p>
            <a:pPr>
              <a:defRPr/>
            </a:pPr>
            <a:fld id="{476DEB1C-3253-4C07-8F02-456B7B2AD41D}" type="slidenum">
              <a:rPr lang="it-IT" smtClean="0"/>
              <a:pPr>
                <a:defRPr/>
              </a:pPr>
              <a:t>30</a:t>
            </a:fld>
            <a:endParaRPr lang="it-IT" dirty="0"/>
          </a:p>
        </p:txBody>
      </p:sp>
    </p:spTree>
    <p:extLst>
      <p:ext uri="{BB962C8B-B14F-4D97-AF65-F5344CB8AC3E}">
        <p14:creationId xmlns:p14="http://schemas.microsoft.com/office/powerpoint/2010/main" val="23132603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312482" y="1137040"/>
                <a:ext cx="8600926" cy="5184953"/>
              </a:xfrm>
            </p:spPr>
            <p:txBody>
              <a:bodyPr>
                <a:normAutofit fontScale="92500"/>
              </a:bodyPr>
              <a:lstStyle/>
              <a:p>
                <a:pPr fontAlgn="ctr">
                  <a:lnSpc>
                    <a:spcPct val="150000"/>
                  </a:lnSpc>
                  <a:spcBef>
                    <a:spcPts val="0"/>
                  </a:spcBef>
                  <a:tabLst>
                    <a:tab pos="1789113" algn="l"/>
                    <a:tab pos="5024438" algn="l"/>
                    <a:tab pos="754380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z(SAA)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up/>
                      <m:e>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𝑥</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𝑠</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𝑆</m:t>
                        </m:r>
                      </m:sub>
                      <m:sup/>
                      <m:e>
                        <m:sSubSup>
                          <m:sSubSupPr>
                            <m:ctrlPr>
                              <a:rPr lang="it-IT" sz="2400" i="1">
                                <a:solidFill>
                                  <a:srgbClr val="FF0000"/>
                                </a:solidFill>
                                <a:latin typeface="Cambria Math" panose="02040503050406030204" pitchFamily="18" charset="0"/>
                                <a:ea typeface="Cambria Math" panose="02040503050406030204" pitchFamily="18" charset="0"/>
                              </a:rPr>
                            </m:ctrlPr>
                          </m:sSubSupPr>
                          <m:e>
                            <m:r>
                              <a:rPr lang="it-IT" sz="2400" i="1">
                                <a:solidFill>
                                  <a:srgbClr val="FF0000"/>
                                </a:solidFill>
                                <a:latin typeface="Cambria Math" panose="02040503050406030204" pitchFamily="18" charset="0"/>
                                <a:ea typeface="Cambria Math" panose="02040503050406030204" pitchFamily="18" charset="0"/>
                              </a:rPr>
                              <m:t>𝑝</m:t>
                            </m:r>
                          </m:e>
                          <m:sub>
                            <m:r>
                              <a:rPr lang="it-IT" sz="2400" i="1">
                                <a:solidFill>
                                  <a:srgbClr val="FF0000"/>
                                </a:solidFill>
                                <a:latin typeface="Cambria Math" panose="02040503050406030204" pitchFamily="18" charset="0"/>
                                <a:ea typeface="Cambria Math" panose="02040503050406030204" pitchFamily="18" charset="0"/>
                              </a:rPr>
                              <m:t>𝑠</m:t>
                            </m:r>
                          </m:sub>
                          <m:sup>
                            <m:r>
                              <a:rPr lang="it-IT" sz="2400" i="1">
                                <a:solidFill>
                                  <a:srgbClr val="FF0000"/>
                                </a:solidFill>
                                <a:latin typeface="Cambria Math" panose="02040503050406030204" pitchFamily="18" charset="0"/>
                                <a:ea typeface="Cambria Math" panose="02040503050406030204" pitchFamily="18" charset="0"/>
                              </a:rPr>
                              <m:t>𝑂𝐴</m:t>
                            </m:r>
                          </m:sup>
                        </m:sSubSup>
                        <m:d>
                          <m:dPr>
                            <m:ctrlPr>
                              <a:rPr lang="it-IT" sz="2400" i="1" smtClean="0">
                                <a:solidFill>
                                  <a:srgbClr val="FF0000"/>
                                </a:solidFill>
                                <a:latin typeface="Cambria Math" panose="02040503050406030204" pitchFamily="18" charset="0"/>
                                <a:ea typeface="Cambria Math" panose="02040503050406030204" pitchFamily="18" charset="0"/>
                              </a:rPr>
                            </m:ctrlPr>
                          </m:dPr>
                          <m:e>
                            <m:nary>
                              <m:naryPr>
                                <m:chr m:val="∑"/>
                                <m:supHide m:val="on"/>
                                <m:ctrlPr>
                                  <a:rPr lang="it-IT" sz="2400" b="0" i="1" smtClean="0">
                                    <a:solidFill>
                                      <a:srgbClr val="FF0000"/>
                                    </a:solidFill>
                                    <a:latin typeface="Cambria Math" panose="02040503050406030204" pitchFamily="18" charset="0"/>
                                    <a:ea typeface="Cambria Math" panose="02040503050406030204" pitchFamily="18" charset="0"/>
                                  </a:rPr>
                                </m:ctrlPr>
                              </m:naryPr>
                              <m:sub>
                                <m:r>
                                  <a:rPr lang="it-IT" sz="2400" b="0" i="1" smtClean="0">
                                    <a:solidFill>
                                      <a:srgbClr val="FF0000"/>
                                    </a:solidFill>
                                    <a:latin typeface="Cambria Math" panose="02040503050406030204" pitchFamily="18" charset="0"/>
                                    <a:ea typeface="Cambria Math" panose="02040503050406030204" pitchFamily="18" charset="0"/>
                                  </a:rPr>
                                  <m:t>𝑖𝑗</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𝑑</m:t>
                                    </m:r>
                                  </m:e>
                                  <m:sub>
                                    <m:r>
                                      <a:rPr lang="it-IT" sz="2400" b="0" i="1" smtClean="0">
                                        <a:solidFill>
                                          <a:srgbClr val="FF0000"/>
                                        </a:solidFill>
                                        <a:latin typeface="Cambria Math" panose="02040503050406030204" pitchFamily="18" charset="0"/>
                                        <a:ea typeface="Cambria Math" panose="02040503050406030204" pitchFamily="18" charset="0"/>
                                      </a:rPr>
                                      <m:t>𝑖</m:t>
                                    </m:r>
                                  </m:sub>
                                </m:sSub>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it-IT" sz="2400" b="0" i="1" smtClean="0">
                                        <a:solidFill>
                                          <a:srgbClr val="FF0000"/>
                                        </a:solidFill>
                                        <a:latin typeface="Cambria Math" panose="02040503050406030204" pitchFamily="18" charset="0"/>
                                        <a:ea typeface="Cambria Math" panose="02040503050406030204" pitchFamily="18" charset="0"/>
                                      </a:rPr>
                                      <m:t>𝑞</m:t>
                                    </m:r>
                                  </m:e>
                                  <m:sub>
                                    <m:r>
                                      <a:rPr lang="it-IT" sz="2400" b="0" i="1" smtClean="0">
                                        <a:solidFill>
                                          <a:srgbClr val="FF0000"/>
                                        </a:solidFill>
                                        <a:latin typeface="Cambria Math" panose="02040503050406030204" pitchFamily="18" charset="0"/>
                                        <a:ea typeface="Cambria Math" panose="02040503050406030204" pitchFamily="18" charset="0"/>
                                      </a:rPr>
                                      <m:t>𝑖𝑗</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r>
                                  <a:rPr lang="it-IT" sz="2400" b="0" i="1" smtClean="0">
                                    <a:solidFill>
                                      <a:srgbClr val="FF0000"/>
                                    </a:solidFill>
                                    <a:latin typeface="Cambria Math" panose="02040503050406030204" pitchFamily="18" charset="0"/>
                                    <a:ea typeface="Cambria Math" panose="02040503050406030204" pitchFamily="18" charset="0"/>
                                  </a:rPr>
                                  <m:t>+</m:t>
                                </m:r>
                                <m:r>
                                  <a:rPr lang="it-IT" sz="2400" b="0" i="1" smtClean="0">
                                    <a:solidFill>
                                      <a:srgbClr val="FF0000"/>
                                    </a:solidFill>
                                    <a:latin typeface="Cambria Math" panose="02040503050406030204" pitchFamily="18" charset="0"/>
                                    <a:ea typeface="Cambria Math" panose="02040503050406030204" pitchFamily="18" charset="0"/>
                                  </a:rPr>
                                  <m:t>𝑀</m:t>
                                </m:r>
                                <m:nary>
                                  <m:naryPr>
                                    <m:chr m:val="∑"/>
                                    <m:supHide m:val="on"/>
                                    <m:ctrlPr>
                                      <a:rPr lang="it-IT" sz="2400" b="0" i="1" smtClean="0">
                                        <a:solidFill>
                                          <a:srgbClr val="FF0000"/>
                                        </a:solidFill>
                                        <a:latin typeface="Cambria Math" panose="02040503050406030204" pitchFamily="18" charset="0"/>
                                        <a:ea typeface="Cambria Math" panose="02040503050406030204" pitchFamily="18" charset="0"/>
                                      </a:rPr>
                                    </m:ctrlPr>
                                  </m:naryPr>
                                  <m:sub>
                                    <m:r>
                                      <a:rPr lang="it-IT" sz="2400" b="0" i="1" smtClean="0">
                                        <a:solidFill>
                                          <a:srgbClr val="FF0000"/>
                                        </a:solidFill>
                                        <a:latin typeface="Cambria Math" panose="02040503050406030204" pitchFamily="18" charset="0"/>
                                        <a:ea typeface="Cambria Math" panose="02040503050406030204" pitchFamily="18" charset="0"/>
                                      </a:rPr>
                                      <m:t>𝑗</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𝜖</m:t>
                                        </m:r>
                                      </m:e>
                                      <m:sub>
                                        <m:r>
                                          <a:rPr lang="it-IT" sz="2400" b="0" i="1" smtClean="0">
                                            <a:solidFill>
                                              <a:srgbClr val="FF0000"/>
                                            </a:solidFill>
                                            <a:latin typeface="Cambria Math" panose="02040503050406030204" pitchFamily="18" charset="0"/>
                                            <a:ea typeface="Cambria Math" panose="02040503050406030204" pitchFamily="18" charset="0"/>
                                          </a:rPr>
                                          <m:t>𝑗𝑠</m:t>
                                        </m:r>
                                      </m:sub>
                                    </m:sSub>
                                  </m:e>
                                </m:nary>
                              </m:e>
                            </m:nary>
                          </m:e>
                        </m:d>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en-US">
                                <a:solidFill>
                                  <a:srgbClr val="FF0000"/>
                                </a:solidFill>
                                <a:latin typeface="Cambria Math" panose="02040503050406030204" pitchFamily="18" charset="0"/>
                                <a:ea typeface="Cambria Math" panose="02040503050406030204" pitchFamily="18" charset="0"/>
                              </a:rPr>
                              <m:t>𝑞</m:t>
                            </m:r>
                          </m:e>
                          <m:sub>
                            <m:r>
                              <m:rPr>
                                <m:sty m:val="p"/>
                              </m:rPr>
                              <a:rPr lang="en-US">
                                <a:solidFill>
                                  <a:srgbClr val="FF0000"/>
                                </a:solidFill>
                                <a:latin typeface="Cambria Math" panose="02040503050406030204" pitchFamily="18" charset="0"/>
                                <a:ea typeface="Cambria Math" panose="02040503050406030204" pitchFamily="18" charset="0"/>
                              </a:rPr>
                              <m:t>ij</m:t>
                            </m:r>
                          </m:sub>
                          <m:sup>
                            <m:r>
                              <m:rPr>
                                <m:sty m:val="p"/>
                              </m:rPr>
                              <a:rPr lang="it-IT" b="0" i="0" smtClean="0">
                                <a:solidFill>
                                  <a:srgbClr val="FF0000"/>
                                </a:solidFill>
                                <a:latin typeface="Cambria Math" panose="02040503050406030204" pitchFamily="18" charset="0"/>
                                <a:ea typeface="Cambria Math" panose="02040503050406030204" pitchFamily="18" charset="0"/>
                              </a:rPr>
                              <m:t>s</m:t>
                            </m:r>
                          </m:sup>
                        </m:sSubSup>
                      </m:e>
                    </m:nary>
                    <m:r>
                      <a:rPr lang="it-IT" b="0" i="1" smtClean="0">
                        <a:latin typeface="Cambria Math" panose="02040503050406030204" pitchFamily="18" charset="0"/>
                        <a:ea typeface="Cambria Math" panose="02040503050406030204" pitchFamily="18" charset="0"/>
                      </a:rPr>
                      <m:t>+</m:t>
                    </m:r>
                    <m:sSub>
                      <m:sSubPr>
                        <m:ctrlPr>
                          <a:rPr lang="it-IT" b="0" i="1" smtClean="0">
                            <a:solidFill>
                              <a:srgbClr val="FF0000"/>
                            </a:solidFill>
                            <a:latin typeface="Cambria Math" panose="02040503050406030204" pitchFamily="18" charset="0"/>
                            <a:ea typeface="Cambria Math" panose="02040503050406030204" pitchFamily="18" charset="0"/>
                          </a:rPr>
                        </m:ctrlPr>
                      </m:sSubPr>
                      <m:e>
                        <m:r>
                          <a:rPr lang="it-IT" b="0" i="1" smtClean="0">
                            <a:solidFill>
                              <a:srgbClr val="FF0000"/>
                            </a:solidFill>
                            <a:latin typeface="Cambria Math" panose="02040503050406030204" pitchFamily="18" charset="0"/>
                            <a:ea typeface="Cambria Math" panose="02040503050406030204" pitchFamily="18" charset="0"/>
                          </a:rPr>
                          <m:t>𝜖</m:t>
                        </m:r>
                      </m:e>
                      <m:sub>
                        <m:r>
                          <a:rPr lang="it-IT" b="0" i="1" smtClean="0">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it-IT" b="0" i="1" smtClean="0">
                            <a:solidFill>
                              <a:srgbClr val="FF0000"/>
                            </a:solidFill>
                            <a:latin typeface="Cambria Math" panose="02040503050406030204" pitchFamily="18" charset="0"/>
                            <a:ea typeface="Cambria Math" panose="02040503050406030204" pitchFamily="18" charset="0"/>
                          </a:rPr>
                          <m:t>𝜌</m:t>
                        </m:r>
                      </m:e>
                      <m:sub>
                        <m:r>
                          <m:rPr>
                            <m:sty m:val="p"/>
                          </m:rPr>
                          <a:rPr lang="en-US">
                            <a:solidFill>
                              <a:srgbClr val="FF0000"/>
                            </a:solidFill>
                            <a:latin typeface="Cambria Math" panose="02040503050406030204" pitchFamily="18" charset="0"/>
                            <a:ea typeface="Cambria Math" panose="02040503050406030204" pitchFamily="18" charset="0"/>
                          </a:rPr>
                          <m:t>j</m:t>
                        </m:r>
                      </m:sub>
                      <m:sup>
                        <m:r>
                          <a:rPr lang="it-IT" b="0" i="1" smtClean="0">
                            <a:solidFill>
                              <a:srgbClr val="FF0000"/>
                            </a:solidFill>
                            <a:latin typeface="Cambria Math" panose="02040503050406030204" pitchFamily="18" charset="0"/>
                            <a:ea typeface="Cambria Math" panose="02040503050406030204" pitchFamily="18" charset="0"/>
                          </a:rPr>
                          <m:t>𝑠</m:t>
                        </m:r>
                      </m:sup>
                    </m:sSubSup>
                  </m:oMath>
                </a14:m>
                <a:r>
                  <a:rPr lang="en-US" dirty="0">
                    <a:solidFill>
                      <a:schemeClr val="tx1"/>
                    </a:solidFill>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0" u="none" strike="noStrike" kern="120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m:rPr>
                                <m:sty m:val="p"/>
                              </m:rPr>
                              <a:rPr lang="it-IT" sz="2400" b="0" i="0" u="none" strike="noStrike" kern="1200" smtClean="0">
                                <a:solidFill>
                                  <a:srgbClr val="FF0000"/>
                                </a:solidFill>
                                <a:effectLst/>
                                <a:latin typeface="Cambria Math" panose="02040503050406030204" pitchFamily="18" charset="0"/>
                                <a:ea typeface="Cambria Math" panose="02040503050406030204" pitchFamily="18" charset="0"/>
                              </a:rPr>
                              <m:t>s</m:t>
                            </m:r>
                          </m:sup>
                        </m:sSubSup>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solidFill>
                      <a:schemeClr val="tx1"/>
                    </a:solidFill>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543800" algn="l"/>
                  </a:tabLst>
                </a:pPr>
                <a:r>
                  <a:rPr lang="en-US" sz="2400" dirty="0">
                    <a:solidFill>
                      <a:schemeClr val="tx1"/>
                    </a:solidFill>
                    <a:ea typeface="Cambria Math" panose="02040503050406030204" pitchFamily="18" charset="0"/>
                  </a:rPr>
                  <a:t>	</a:t>
                </a:r>
                <a14:m>
                  <m:oMath xmlns:m="http://schemas.openxmlformats.org/officeDocument/2006/math">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en-US" sz="2400" b="0" i="1" smtClean="0">
                            <a:solidFill>
                              <a:srgbClr val="FF0000"/>
                            </a:solidFill>
                            <a:latin typeface="Cambria Math" panose="02040503050406030204" pitchFamily="18" charset="0"/>
                            <a:ea typeface="Cambria Math" panose="02040503050406030204" pitchFamily="18" charset="0"/>
                          </a:rPr>
                          <m:t>𝑞</m:t>
                        </m:r>
                      </m:e>
                      <m:sub>
                        <m:r>
                          <m:rPr>
                            <m:sty m:val="p"/>
                          </m:rPr>
                          <a:rPr lang="en-US" sz="2400">
                            <a:solidFill>
                              <a:srgbClr val="FF0000"/>
                            </a:solidFill>
                            <a:latin typeface="Cambria Math" panose="02040503050406030204" pitchFamily="18" charset="0"/>
                            <a:ea typeface="Cambria Math" panose="02040503050406030204" pitchFamily="18" charset="0"/>
                          </a:rPr>
                          <m:t>ij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r>
                      <a:rPr lang="en-US" sz="2400" b="0" i="1" smtClean="0">
                        <a:solidFill>
                          <a:schemeClr val="tx1"/>
                        </a:solidFill>
                        <a:latin typeface="Cambria Math" panose="02040503050406030204" pitchFamily="18" charset="0"/>
                        <a:ea typeface="Cambria Math" panose="02040503050406030204" pitchFamily="18" charset="0"/>
                      </a:rPr>
                      <m:t>≤</m:t>
                    </m:r>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it-IT" sz="2400" b="0" i="1" smtClean="0">
                            <a:solidFill>
                              <a:srgbClr val="FF0000"/>
                            </a:solidFill>
                            <a:latin typeface="Cambria Math" panose="02040503050406030204" pitchFamily="18" charset="0"/>
                            <a:ea typeface="Cambria Math" panose="02040503050406030204" pitchFamily="18" charset="0"/>
                          </a:rPr>
                          <m:t>𝜌</m:t>
                        </m:r>
                      </m:e>
                      <m:sub>
                        <m:r>
                          <m:rPr>
                            <m:sty m:val="p"/>
                          </m:rPr>
                          <a:rPr lang="en-US" sz="2400" b="0" i="0" smtClean="0">
                            <a:solidFill>
                              <a:srgbClr val="FF0000"/>
                            </a:solidFill>
                            <a:latin typeface="Cambria Math" panose="02040503050406030204" pitchFamily="18" charset="0"/>
                            <a:ea typeface="Cambria Math" panose="02040503050406030204" pitchFamily="18" charset="0"/>
                          </a:rPr>
                          <m:t>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sSub>
                      <m:sSubPr>
                        <m:ctrlPr>
                          <a:rPr lang="en-US" sz="2400" b="0" i="1" smtClean="0">
                            <a:solidFill>
                              <a:schemeClr val="tx1"/>
                            </a:solidFill>
                            <a:latin typeface="Cambria Math" panose="02040503050406030204" pitchFamily="18" charset="0"/>
                            <a:ea typeface="Cambria Math" panose="02040503050406030204" pitchFamily="18" charset="0"/>
                          </a:rPr>
                        </m:ctrlPr>
                      </m:sSubPr>
                      <m:e>
                        <m:r>
                          <a:rPr lang="en-US" sz="2400" b="0" i="0" smtClean="0">
                            <a:solidFill>
                              <a:schemeClr val="tx1"/>
                            </a:solidFill>
                            <a:latin typeface="Cambria Math" panose="02040503050406030204" pitchFamily="18" charset="0"/>
                            <a:ea typeface="Cambria Math" panose="02040503050406030204" pitchFamily="18" charset="0"/>
                          </a:rPr>
                          <m:t> </m:t>
                        </m:r>
                        <m:r>
                          <a:rPr lang="en-US" sz="2400" b="0" i="1" smtClean="0">
                            <a:solidFill>
                              <a:schemeClr val="tx1"/>
                            </a:solidFill>
                            <a:latin typeface="Cambria Math" panose="02040503050406030204" pitchFamily="18" charset="0"/>
                            <a:ea typeface="Cambria Math" panose="02040503050406030204" pitchFamily="18" charset="0"/>
                          </a:rPr>
                          <m:t>𝑥</m:t>
                        </m:r>
                      </m:e>
                      <m:sub>
                        <m:r>
                          <m:rPr>
                            <m:sty m:val="p"/>
                          </m:rPr>
                          <a:rPr lang="en-US" sz="2400" b="0" i="0" smtClean="0">
                            <a:solidFill>
                              <a:schemeClr val="tx1"/>
                            </a:solidFill>
                            <a:latin typeface="Cambria Math" panose="02040503050406030204" pitchFamily="18" charset="0"/>
                            <a:ea typeface="Cambria Math" panose="02040503050406030204" pitchFamily="18" charset="0"/>
                          </a:rPr>
                          <m:t>ij</m:t>
                        </m:r>
                      </m:sub>
                    </m:sSub>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(5)</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en-US" sz="2400" i="1">
                            <a:solidFill>
                              <a:schemeClr val="tx1"/>
                            </a:solidFill>
                            <a:latin typeface="Cambria Math" panose="02040503050406030204" pitchFamily="18" charset="0"/>
                            <a:ea typeface="Cambria Math" panose="02040503050406030204" pitchFamily="18" charset="0"/>
                          </a:rPr>
                        </m:ctrlPr>
                      </m:sSubPr>
                      <m:e>
                        <m:r>
                          <a:rPr lang="en-US" sz="2400">
                            <a:solidFill>
                              <a:schemeClr val="tx1"/>
                            </a:solidFill>
                            <a:latin typeface="Cambria Math" panose="02040503050406030204" pitchFamily="18" charset="0"/>
                            <a:ea typeface="Cambria Math" panose="02040503050406030204" pitchFamily="18" charset="0"/>
                          </a:rPr>
                          <m:t>𝑥</m:t>
                        </m:r>
                      </m:e>
                      <m:sub>
                        <m:r>
                          <m:rPr>
                            <m:sty m:val="p"/>
                          </m:rPr>
                          <a:rPr lang="en-US" sz="2400">
                            <a:solidFill>
                              <a:schemeClr val="tx1"/>
                            </a:solidFill>
                            <a:latin typeface="Cambria Math" panose="02040503050406030204" pitchFamily="18" charset="0"/>
                            <a:ea typeface="Cambria Math" panose="02040503050406030204" pitchFamily="18" charset="0"/>
                          </a:rPr>
                          <m:t>ij</m:t>
                        </m:r>
                      </m:sub>
                    </m:sSub>
                    <m:r>
                      <a:rPr lang="en-US" sz="2400" i="1">
                        <a:solidFill>
                          <a:schemeClr val="tx1"/>
                        </a:solidFill>
                        <a:latin typeface="Cambria Math" panose="02040503050406030204" pitchFamily="18" charset="0"/>
                        <a:ea typeface="Cambria Math" panose="02040503050406030204" pitchFamily="18" charset="0"/>
                      </a:rPr>
                      <m:t>∈</m:t>
                    </m:r>
                    <m:r>
                      <a:rPr lang="en-US" sz="2400">
                        <a:solidFill>
                          <a:schemeClr val="tx1"/>
                        </a:solidFill>
                        <a:latin typeface="Cambria Math" panose="02040503050406030204" pitchFamily="18" charset="0"/>
                        <a:ea typeface="Cambria Math" panose="02040503050406030204" pitchFamily="18" charset="0"/>
                      </a:rPr>
                      <m:t>{0,1}</m:t>
                    </m:r>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(6)</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t>𝑠</m:t>
                        </m:r>
                      </m:sup>
                    </m:sSub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dirty="0">
                    <a:latin typeface="Cambria Math" panose="02040503050406030204" pitchFamily="18" charset="0"/>
                    <a:ea typeface="Cambria Math" panose="02040503050406030204" pitchFamily="18" charset="0"/>
                  </a:rPr>
                  <a:t>,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50000"/>
                  </a:lnSpc>
                  <a:spcBef>
                    <a:spcPts val="0"/>
                  </a:spcBef>
                  <a:tabLst>
                    <a:tab pos="1789113" algn="l"/>
                    <a:tab pos="5024438" algn="l"/>
                    <a:tab pos="7543800" algn="l"/>
                  </a:tabLst>
                </a:pPr>
                <a:r>
                  <a:rPr lang="en-US" dirty="0">
                    <a:latin typeface="Arial" panose="020B0604020202020204" pitchFamily="34" charset="0"/>
                    <a:ea typeface="Cambria Math" panose="02040503050406030204" pitchFamily="18" charset="0"/>
                  </a:rPr>
                  <a:t>	</a:t>
                </a:r>
                <a14:m>
                  <m:oMath xmlns:m="http://schemas.openxmlformats.org/officeDocument/2006/math">
                    <m:sSub>
                      <m:sSubPr>
                        <m:ctrlPr>
                          <a:rPr lang="it-IT" i="1" smtClean="0">
                            <a:solidFill>
                              <a:srgbClr val="FF0000"/>
                            </a:solidFill>
                            <a:latin typeface="Cambria Math" panose="02040503050406030204" pitchFamily="18" charset="0"/>
                            <a:ea typeface="Cambria Math" panose="02040503050406030204" pitchFamily="18" charset="0"/>
                          </a:rPr>
                        </m:ctrlPr>
                      </m:sSubPr>
                      <m:e>
                        <m:r>
                          <a:rPr lang="it-IT" i="1">
                            <a:solidFill>
                              <a:srgbClr val="FF0000"/>
                            </a:solidFill>
                            <a:latin typeface="Cambria Math" panose="02040503050406030204" pitchFamily="18" charset="0"/>
                            <a:ea typeface="Cambria Math" panose="02040503050406030204" pitchFamily="18" charset="0"/>
                          </a:rPr>
                          <m:t>𝜖</m:t>
                        </m:r>
                      </m:e>
                      <m:sub>
                        <m:r>
                          <a:rPr lang="it-IT" i="1">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en-US" i="1">
                            <a:latin typeface="Cambria Math" panose="02040503050406030204" pitchFamily="18" charset="0"/>
                            <a:ea typeface="Cambria Math" panose="02040503050406030204" pitchFamily="18" charset="0"/>
                          </a:rPr>
                        </m:ctrlPr>
                      </m:sSubSupPr>
                      <m:e>
                        <m:r>
                          <a:rPr lang="en-US">
                            <a:latin typeface="Cambria Math" panose="02040503050406030204" pitchFamily="18" charset="0"/>
                            <a:ea typeface="Cambria Math" panose="02040503050406030204" pitchFamily="18" charset="0"/>
                          </a:rPr>
                          <m:t>ℤ</m:t>
                        </m:r>
                      </m:e>
                      <m:sub>
                        <m:r>
                          <a:rPr lang="en-US">
                            <a:latin typeface="Cambria Math" panose="02040503050406030204" pitchFamily="18" charset="0"/>
                            <a:ea typeface="Cambria Math" panose="02040503050406030204" pitchFamily="18" charset="0"/>
                          </a:rPr>
                          <m:t>0</m:t>
                        </m:r>
                      </m:sub>
                      <m:sup>
                        <m:r>
                          <a:rPr lang="en-US">
                            <a:latin typeface="Cambria Math" panose="02040503050406030204" pitchFamily="18" charset="0"/>
                            <a:ea typeface="Cambria Math" panose="02040503050406030204" pitchFamily="18" charset="0"/>
                          </a:rPr>
                          <m:t>+</m:t>
                        </m:r>
                      </m:sup>
                    </m:sSubSup>
                  </m:oMath>
                </a14:m>
                <a:r>
                  <a:rPr lang="en-US" dirty="0">
                    <a:latin typeface="Arial" panose="020B0604020202020204" pitchFamily="34" charset="0"/>
                    <a:ea typeface="Cambria Math" panose="02040503050406030204" pitchFamily="18" charset="0"/>
                  </a:rPr>
                  <a:t> 	</a:t>
                </a:r>
                <a:r>
                  <a:rPr lang="en-US" i="1" dirty="0">
                    <a:latin typeface="Cambria Math" panose="02040503050406030204" pitchFamily="18" charset="0"/>
                    <a:ea typeface="Cambria Math" panose="02040503050406030204" pitchFamily="18" charset="0"/>
                  </a:rPr>
                  <a:t> j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J,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baseline="-25000" dirty="0">
                    <a:latin typeface="Arial" panose="020B0604020202020204" pitchFamily="34" charset="0"/>
                  </a:rPr>
                  <a:t> 	</a:t>
                </a:r>
                <a:r>
                  <a:rPr lang="it-IT" dirty="0">
                    <a:latin typeface="Cambria Math" panose="02040503050406030204" pitchFamily="18" charset="0"/>
                    <a:ea typeface="Cambria Math" panose="02040503050406030204" pitchFamily="18" charset="0"/>
                  </a:rPr>
                  <a:t>(8)</a:t>
                </a:r>
                <a:endParaRPr lang="it-IT" dirty="0">
                  <a:latin typeface="Arial" panose="020B0604020202020204" pitchFamily="34" charset="0"/>
                  <a:ea typeface="Cambria Math" panose="02040503050406030204" pitchFamily="18" charset="0"/>
                </a:endParaRPr>
              </a:p>
            </p:txBody>
          </p:sp>
        </mc:Choice>
        <mc:Fallback>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312482" y="1137040"/>
                <a:ext cx="8600926" cy="5184953"/>
              </a:xfrm>
              <a:blipFill>
                <a:blip r:embed="rId2"/>
                <a:stretch>
                  <a:fillRect l="-921" t="-635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en-US" dirty="0"/>
              <a:t>BESO-SAA</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31</a:t>
            </a:fld>
            <a:endParaRPr lang="it-IT" dirty="0"/>
          </a:p>
        </p:txBody>
      </p:sp>
    </p:spTree>
    <p:extLst>
      <p:ext uri="{BB962C8B-B14F-4D97-AF65-F5344CB8AC3E}">
        <p14:creationId xmlns:p14="http://schemas.microsoft.com/office/powerpoint/2010/main" val="36606527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2E38BB53-1EA1-412F-BBE4-BD945E6C338B}"/>
                  </a:ext>
                </a:extLst>
              </p:cNvPr>
              <p:cNvSpPr>
                <a:spLocks noGrp="1"/>
              </p:cNvSpPr>
              <p:nvPr>
                <p:ph idx="1"/>
              </p:nvPr>
            </p:nvSpPr>
            <p:spPr/>
            <p:txBody>
              <a:bodyPr/>
              <a:lstStyle/>
              <a:p>
                <a:pPr algn="l"/>
                <a:r>
                  <a:rPr lang="en-US" sz="1800" b="0" i="0" u="none" strike="noStrike" baseline="0" dirty="0">
                    <a:solidFill>
                      <a:srgbClr val="000000"/>
                    </a:solidFill>
                    <a:latin typeface="SFRM1000"/>
                  </a:rPr>
                  <a:t>The DRO model requires resampling among scenarios and moving the objective function </a:t>
                </a:r>
                <a:r>
                  <a:rPr lang="en-US" sz="1800" b="0" i="0" u="none" strike="noStrike" baseline="0" dirty="0">
                    <a:solidFill>
                      <a:srgbClr val="0000FF"/>
                    </a:solidFill>
                    <a:latin typeface="SFRM1000"/>
                  </a:rPr>
                  <a:t>9 </a:t>
                </a:r>
                <a:r>
                  <a:rPr lang="en-US" sz="1800" b="0" i="0" u="none" strike="noStrike" baseline="0" dirty="0">
                    <a:solidFill>
                      <a:srgbClr val="000000"/>
                    </a:solidFill>
                    <a:latin typeface="SFRM1000"/>
                  </a:rPr>
                  <a:t>into constraints so to implement the min / max objective:</a:t>
                </a:r>
              </a:p>
              <a:p>
                <a:pPr fontAlgn="ctr">
                  <a:lnSpc>
                    <a:spcPct val="150000"/>
                  </a:lnSpc>
                  <a:spcBef>
                    <a:spcPts val="0"/>
                  </a:spcBef>
                  <a:tabLst>
                    <a:tab pos="1484313" algn="l"/>
                    <a:tab pos="6175375"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z(DRO)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up/>
                      <m:e>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𝑧</m:t>
                    </m:r>
                  </m:oMath>
                </a14:m>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(9)</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484313" algn="l"/>
                    <a:tab pos="6175375"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r>
                      <a:rPr lang="it-IT" sz="2400" b="0" i="1" smtClean="0">
                        <a:latin typeface="Cambria Math" panose="02040503050406030204" pitchFamily="18" charset="0"/>
                        <a:ea typeface="Cambria Math" panose="02040503050406030204" pitchFamily="18" charset="0"/>
                      </a:rPr>
                      <m:t>𝑧</m:t>
                    </m:r>
                    <m:r>
                      <a:rPr lang="it-IT" sz="2400" b="0" i="1" smtClean="0">
                        <a:latin typeface="Cambria Math" panose="02040503050406030204" pitchFamily="18" charset="0"/>
                        <a:ea typeface="Cambria Math" panose="02040503050406030204" pitchFamily="18" charset="0"/>
                      </a:rPr>
                      <m:t>≥</m:t>
                    </m:r>
                    <m:nary>
                      <m:naryPr>
                        <m:chr m:val="∑"/>
                        <m:supHide m:val="on"/>
                        <m:ctrlPr>
                          <a:rPr lang="it-IT" sz="2400" i="1">
                            <a:latin typeface="Cambria Math" panose="02040503050406030204" pitchFamily="18" charset="0"/>
                            <a:ea typeface="Cambria Math" panose="02040503050406030204" pitchFamily="18" charset="0"/>
                          </a:rPr>
                        </m:ctrlPr>
                      </m:naryPr>
                      <m:sub>
                        <m:r>
                          <a:rPr lang="it-IT" sz="2400" i="1">
                            <a:latin typeface="Cambria Math" panose="02040503050406030204" pitchFamily="18" charset="0"/>
                            <a:ea typeface="Cambria Math" panose="02040503050406030204" pitchFamily="18" charset="0"/>
                          </a:rPr>
                          <m:t>𝑠</m:t>
                        </m:r>
                        <m:r>
                          <a:rPr lang="it-IT" sz="2400" i="1">
                            <a:latin typeface="Cambria Math" panose="02040503050406030204" pitchFamily="18" charset="0"/>
                            <a:ea typeface="Cambria Math" panose="02040503050406030204" pitchFamily="18" charset="0"/>
                          </a:rPr>
                          <m:t>∈</m:t>
                        </m:r>
                        <m:r>
                          <a:rPr lang="it-IT" sz="2400" i="1">
                            <a:latin typeface="Cambria Math" panose="02040503050406030204" pitchFamily="18" charset="0"/>
                            <a:ea typeface="Cambria Math" panose="02040503050406030204" pitchFamily="18" charset="0"/>
                          </a:rPr>
                          <m:t>𝑆</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𝑤</m:t>
                            </m:r>
                          </m:e>
                          <m:sub>
                            <m:r>
                              <a:rPr lang="it-IT" sz="2400" b="0" i="1" smtClean="0">
                                <a:solidFill>
                                  <a:srgbClr val="FF0000"/>
                                </a:solidFill>
                                <a:latin typeface="Cambria Math" panose="02040503050406030204" pitchFamily="18" charset="0"/>
                                <a:ea typeface="Cambria Math" panose="02040503050406030204" pitchFamily="18" charset="0"/>
                              </a:rPr>
                              <m:t>𝑘𝑠</m:t>
                            </m:r>
                          </m:sub>
                        </m:sSub>
                        <m:d>
                          <m:dPr>
                            <m:ctrlPr>
                              <a:rPr lang="it-IT" sz="2400" i="1">
                                <a:solidFill>
                                  <a:srgbClr val="FF0000"/>
                                </a:solidFill>
                                <a:latin typeface="Cambria Math" panose="02040503050406030204" pitchFamily="18" charset="0"/>
                                <a:ea typeface="Cambria Math" panose="02040503050406030204" pitchFamily="18" charset="0"/>
                              </a:rPr>
                            </m:ctrlPr>
                          </m:dPr>
                          <m:e>
                            <m:nary>
                              <m:naryPr>
                                <m:chr m:val="∑"/>
                                <m:supHide m:val="on"/>
                                <m:ctrlPr>
                                  <a:rPr lang="it-IT" sz="2400" i="1">
                                    <a:solidFill>
                                      <a:srgbClr val="FF0000"/>
                                    </a:solidFill>
                                    <a:latin typeface="Cambria Math" panose="02040503050406030204" pitchFamily="18" charset="0"/>
                                    <a:ea typeface="Cambria Math" panose="02040503050406030204" pitchFamily="18" charset="0"/>
                                  </a:rPr>
                                </m:ctrlPr>
                              </m:naryPr>
                              <m:sub>
                                <m:r>
                                  <a:rPr lang="it-IT" sz="2400" i="1">
                                    <a:solidFill>
                                      <a:srgbClr val="FF0000"/>
                                    </a:solidFill>
                                    <a:latin typeface="Cambria Math" panose="02040503050406030204" pitchFamily="18" charset="0"/>
                                    <a:ea typeface="Cambria Math" panose="02040503050406030204" pitchFamily="18" charset="0"/>
                                  </a:rPr>
                                  <m:t>𝑖𝑗</m:t>
                                </m:r>
                              </m:sub>
                              <m:sup/>
                              <m:e>
                                <m:sSub>
                                  <m:sSubPr>
                                    <m:ctrlPr>
                                      <a:rPr lang="it-IT" sz="2400" i="1">
                                        <a:solidFill>
                                          <a:srgbClr val="FF0000"/>
                                        </a:solidFill>
                                        <a:latin typeface="Cambria Math" panose="02040503050406030204" pitchFamily="18" charset="0"/>
                                        <a:ea typeface="Cambria Math" panose="02040503050406030204" pitchFamily="18" charset="0"/>
                                      </a:rPr>
                                    </m:ctrlPr>
                                  </m:sSubPr>
                                  <m:e>
                                    <m:r>
                                      <a:rPr lang="it-IT" sz="2400" i="1">
                                        <a:solidFill>
                                          <a:srgbClr val="FF0000"/>
                                        </a:solidFill>
                                        <a:latin typeface="Cambria Math" panose="02040503050406030204" pitchFamily="18" charset="0"/>
                                        <a:ea typeface="Cambria Math" panose="02040503050406030204" pitchFamily="18" charset="0"/>
                                      </a:rPr>
                                      <m:t>𝑑</m:t>
                                    </m:r>
                                  </m:e>
                                  <m:sub>
                                    <m:r>
                                      <a:rPr lang="it-IT" sz="2400" i="1">
                                        <a:solidFill>
                                          <a:srgbClr val="FF0000"/>
                                        </a:solidFill>
                                        <a:latin typeface="Cambria Math" panose="02040503050406030204" pitchFamily="18" charset="0"/>
                                        <a:ea typeface="Cambria Math" panose="02040503050406030204" pitchFamily="18" charset="0"/>
                                      </a:rPr>
                                      <m:t>𝑖</m:t>
                                    </m:r>
                                  </m:sub>
                                </m:sSub>
                                <m:sSubSup>
                                  <m:sSubSupPr>
                                    <m:ctrlPr>
                                      <a:rPr lang="it-IT" sz="2400" i="1">
                                        <a:solidFill>
                                          <a:srgbClr val="FF0000"/>
                                        </a:solidFill>
                                        <a:latin typeface="Cambria Math" panose="02040503050406030204" pitchFamily="18" charset="0"/>
                                        <a:ea typeface="Cambria Math" panose="02040503050406030204" pitchFamily="18" charset="0"/>
                                      </a:rPr>
                                    </m:ctrlPr>
                                  </m:sSubSupPr>
                                  <m:e>
                                    <m:r>
                                      <a:rPr lang="it-IT" sz="2400" i="1">
                                        <a:solidFill>
                                          <a:srgbClr val="FF0000"/>
                                        </a:solidFill>
                                        <a:latin typeface="Cambria Math" panose="02040503050406030204" pitchFamily="18" charset="0"/>
                                        <a:ea typeface="Cambria Math" panose="02040503050406030204" pitchFamily="18" charset="0"/>
                                      </a:rPr>
                                      <m:t>𝑞</m:t>
                                    </m:r>
                                  </m:e>
                                  <m:sub>
                                    <m:r>
                                      <a:rPr lang="it-IT" sz="2400" i="1">
                                        <a:solidFill>
                                          <a:srgbClr val="FF0000"/>
                                        </a:solidFill>
                                        <a:latin typeface="Cambria Math" panose="02040503050406030204" pitchFamily="18" charset="0"/>
                                        <a:ea typeface="Cambria Math" panose="02040503050406030204" pitchFamily="18" charset="0"/>
                                      </a:rPr>
                                      <m:t>𝑖𝑗</m:t>
                                    </m:r>
                                  </m:sub>
                                  <m:sup>
                                    <m:r>
                                      <a:rPr lang="it-IT" sz="2400" i="1">
                                        <a:solidFill>
                                          <a:srgbClr val="FF0000"/>
                                        </a:solidFill>
                                        <a:latin typeface="Cambria Math" panose="02040503050406030204" pitchFamily="18" charset="0"/>
                                        <a:ea typeface="Cambria Math" panose="02040503050406030204" pitchFamily="18" charset="0"/>
                                      </a:rPr>
                                      <m:t>𝑠</m:t>
                                    </m:r>
                                  </m:sup>
                                </m:sSubSup>
                                <m:r>
                                  <a:rPr lang="it-IT" sz="2400" i="1">
                                    <a:solidFill>
                                      <a:srgbClr val="FF0000"/>
                                    </a:solidFill>
                                    <a:latin typeface="Cambria Math" panose="02040503050406030204" pitchFamily="18" charset="0"/>
                                    <a:ea typeface="Cambria Math" panose="02040503050406030204" pitchFamily="18" charset="0"/>
                                  </a:rPr>
                                  <m:t>+</m:t>
                                </m:r>
                                <m:r>
                                  <a:rPr lang="it-IT" sz="2400" i="1">
                                    <a:solidFill>
                                      <a:srgbClr val="FF0000"/>
                                    </a:solidFill>
                                    <a:latin typeface="Cambria Math" panose="02040503050406030204" pitchFamily="18" charset="0"/>
                                    <a:ea typeface="Cambria Math" panose="02040503050406030204" pitchFamily="18" charset="0"/>
                                  </a:rPr>
                                  <m:t>𝑀</m:t>
                                </m:r>
                                <m:nary>
                                  <m:naryPr>
                                    <m:chr m:val="∑"/>
                                    <m:supHide m:val="on"/>
                                    <m:ctrlPr>
                                      <a:rPr lang="it-IT" sz="2400" i="1">
                                        <a:solidFill>
                                          <a:srgbClr val="FF0000"/>
                                        </a:solidFill>
                                        <a:latin typeface="Cambria Math" panose="02040503050406030204" pitchFamily="18" charset="0"/>
                                        <a:ea typeface="Cambria Math" panose="02040503050406030204" pitchFamily="18" charset="0"/>
                                      </a:rPr>
                                    </m:ctrlPr>
                                  </m:naryPr>
                                  <m:sub>
                                    <m:r>
                                      <a:rPr lang="it-IT" sz="2400" i="1">
                                        <a:solidFill>
                                          <a:srgbClr val="FF0000"/>
                                        </a:solidFill>
                                        <a:latin typeface="Cambria Math" panose="02040503050406030204" pitchFamily="18" charset="0"/>
                                        <a:ea typeface="Cambria Math" panose="02040503050406030204" pitchFamily="18" charset="0"/>
                                      </a:rPr>
                                      <m:t>𝑗</m:t>
                                    </m:r>
                                  </m:sub>
                                  <m:sup/>
                                  <m:e>
                                    <m:sSub>
                                      <m:sSubPr>
                                        <m:ctrlPr>
                                          <a:rPr lang="it-IT" sz="2400" i="1">
                                            <a:solidFill>
                                              <a:srgbClr val="FF0000"/>
                                            </a:solidFill>
                                            <a:latin typeface="Cambria Math" panose="02040503050406030204" pitchFamily="18" charset="0"/>
                                            <a:ea typeface="Cambria Math" panose="02040503050406030204" pitchFamily="18" charset="0"/>
                                          </a:rPr>
                                        </m:ctrlPr>
                                      </m:sSubPr>
                                      <m:e>
                                        <m:r>
                                          <a:rPr lang="it-IT" sz="2400" i="1">
                                            <a:solidFill>
                                              <a:srgbClr val="FF0000"/>
                                            </a:solidFill>
                                            <a:latin typeface="Cambria Math" panose="02040503050406030204" pitchFamily="18" charset="0"/>
                                            <a:ea typeface="Cambria Math" panose="02040503050406030204" pitchFamily="18" charset="0"/>
                                          </a:rPr>
                                          <m:t>𝜖</m:t>
                                        </m:r>
                                      </m:e>
                                      <m:sub>
                                        <m:r>
                                          <a:rPr lang="it-IT" sz="2400" i="1">
                                            <a:solidFill>
                                              <a:srgbClr val="FF0000"/>
                                            </a:solidFill>
                                            <a:latin typeface="Cambria Math" panose="02040503050406030204" pitchFamily="18" charset="0"/>
                                            <a:ea typeface="Cambria Math" panose="02040503050406030204" pitchFamily="18" charset="0"/>
                                          </a:rPr>
                                          <m:t>𝑗𝑠</m:t>
                                        </m:r>
                                      </m:sub>
                                    </m:sSub>
                                  </m:e>
                                </m:nary>
                              </m:e>
                            </m:nary>
                          </m:e>
                        </m:d>
                      </m:e>
                    </m:nary>
                  </m:oMath>
                </a14:m>
                <a:r>
                  <a:rPr lang="en-US" sz="2400" dirty="0">
                    <a:solidFill>
                      <a:schemeClr val="tx1"/>
                    </a:solidFill>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k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K</a:t>
                </a:r>
                <a:r>
                  <a:rPr lang="en-US" sz="2400" dirty="0">
                    <a:solidFill>
                      <a:schemeClr val="tx1"/>
                    </a:solidFill>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(10)</a:t>
                </a:r>
                <a:endParaRPr lang="en-US" sz="2400" dirty="0">
                  <a:solidFill>
                    <a:schemeClr val="tx1"/>
                  </a:solidFill>
                  <a:latin typeface="Arial" panose="020B0604020202020204" pitchFamily="34" charset="0"/>
                </a:endParaRPr>
              </a:p>
              <a:p>
                <a:pPr fontAlgn="ctr">
                  <a:lnSpc>
                    <a:spcPct val="150000"/>
                  </a:lnSpc>
                  <a:spcBef>
                    <a:spcPts val="0"/>
                  </a:spcBef>
                  <a:tabLst>
                    <a:tab pos="1484313" algn="l"/>
                    <a:tab pos="6175375" algn="l"/>
                  </a:tabLst>
                </a:pPr>
                <a:r>
                  <a:rPr lang="en-US" sz="2400" b="0" u="none" strike="noStrike" kern="1200" dirty="0">
                    <a:solidFill>
                      <a:schemeClr val="tx1"/>
                    </a:solidFill>
                    <a:effectLst/>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 … (8)</a:t>
                </a:r>
              </a:p>
              <a:p>
                <a:pPr algn="l"/>
                <a:endParaRPr lang="en-US" dirty="0"/>
              </a:p>
            </p:txBody>
          </p:sp>
        </mc:Choice>
        <mc:Fallback>
          <p:sp>
            <p:nvSpPr>
              <p:cNvPr id="2" name="Content Placeholder 1">
                <a:extLst>
                  <a:ext uri="{FF2B5EF4-FFF2-40B4-BE49-F238E27FC236}">
                    <a16:creationId xmlns:a16="http://schemas.microsoft.com/office/drawing/2014/main" id="{2E38BB53-1EA1-412F-BBE4-BD945E6C338B}"/>
                  </a:ext>
                </a:extLst>
              </p:cNvPr>
              <p:cNvSpPr>
                <a:spLocks noGrp="1" noRot="1" noChangeAspect="1" noMove="1" noResize="1" noEditPoints="1" noAdjustHandles="1" noChangeArrowheads="1" noChangeShapeType="1" noTextEdit="1"/>
              </p:cNvSpPr>
              <p:nvPr>
                <p:ph idx="1"/>
              </p:nvPr>
            </p:nvSpPr>
            <p:spPr>
              <a:blipFill>
                <a:blip r:embed="rId2"/>
                <a:stretch>
                  <a:fillRect l="-1070"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5700E5B0-1A09-42ED-B830-1892D3955060}"/>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45CDF3D9-AEB4-4573-A06D-5F58BEB0E16B}"/>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763D0C5-DE47-48ED-A2F8-DCAA36CD975F}"/>
              </a:ext>
            </a:extLst>
          </p:cNvPr>
          <p:cNvSpPr>
            <a:spLocks noGrp="1"/>
          </p:cNvSpPr>
          <p:nvPr>
            <p:ph type="sldNum" sz="quarter" idx="4"/>
          </p:nvPr>
        </p:nvSpPr>
        <p:spPr/>
        <p:txBody>
          <a:bodyPr/>
          <a:lstStyle/>
          <a:p>
            <a:pPr>
              <a:defRPr/>
            </a:pPr>
            <a:fld id="{476DEB1C-3253-4C07-8F02-456B7B2AD41D}" type="slidenum">
              <a:rPr lang="it-IT" smtClean="0"/>
              <a:pPr>
                <a:defRPr/>
              </a:pPr>
              <a:t>32</a:t>
            </a:fld>
            <a:endParaRPr lang="it-IT" dirty="0"/>
          </a:p>
        </p:txBody>
      </p:sp>
    </p:spTree>
    <p:extLst>
      <p:ext uri="{BB962C8B-B14F-4D97-AF65-F5344CB8AC3E}">
        <p14:creationId xmlns:p14="http://schemas.microsoft.com/office/powerpoint/2010/main" val="34678626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EE236-424A-4239-BA22-9D2048E75548}"/>
              </a:ext>
            </a:extLst>
          </p:cNvPr>
          <p:cNvSpPr>
            <a:spLocks noGrp="1"/>
          </p:cNvSpPr>
          <p:nvPr>
            <p:ph idx="1"/>
          </p:nvPr>
        </p:nvSpPr>
        <p:spPr/>
        <p:txBody>
          <a:bodyPr>
            <a:normAutofit fontScale="92500" lnSpcReduction="20000"/>
          </a:bodyPr>
          <a:lstStyle/>
          <a:p>
            <a:r>
              <a:rPr lang="en-US" dirty="0"/>
              <a:t>MEB bootstrap sets were aggregated (bagged) to obtain forecasts.</a:t>
            </a:r>
          </a:p>
          <a:p>
            <a:r>
              <a:rPr lang="en-US" dirty="0"/>
              <a:t>Besides MEB bagging we also considered alternative forecasts modules based on:</a:t>
            </a:r>
          </a:p>
          <a:p>
            <a:pPr marL="342900" indent="-342900">
              <a:spcBef>
                <a:spcPts val="1200"/>
              </a:spcBef>
              <a:buFont typeface="Arial" panose="020B0604020202020204" pitchFamily="34" charset="0"/>
              <a:buChar char="•"/>
            </a:pPr>
            <a:r>
              <a:rPr lang="en-US" dirty="0"/>
              <a:t>AR</a:t>
            </a:r>
          </a:p>
          <a:p>
            <a:pPr marL="342900" indent="-342900">
              <a:spcBef>
                <a:spcPts val="1200"/>
              </a:spcBef>
              <a:buFont typeface="Arial" panose="020B0604020202020204" pitchFamily="34" charset="0"/>
              <a:buChar char="•"/>
            </a:pPr>
            <a:r>
              <a:rPr lang="en-US" dirty="0"/>
              <a:t>Holt-Winters</a:t>
            </a:r>
          </a:p>
          <a:p>
            <a:pPr marL="342900" indent="-342900">
              <a:spcBef>
                <a:spcPts val="1200"/>
              </a:spcBef>
              <a:buFont typeface="Arial" panose="020B0604020202020204" pitchFamily="34" charset="0"/>
              <a:buChar char="•"/>
            </a:pPr>
            <a:r>
              <a:rPr lang="en-US" dirty="0"/>
              <a:t>SARIMA</a:t>
            </a:r>
          </a:p>
          <a:p>
            <a:pPr marL="342900" indent="-342900">
              <a:spcBef>
                <a:spcPts val="1200"/>
              </a:spcBef>
              <a:buFont typeface="Arial" panose="020B0604020202020204" pitchFamily="34" charset="0"/>
              <a:buChar char="•"/>
            </a:pPr>
            <a:r>
              <a:rPr lang="en-US" dirty="0"/>
              <a:t>Multilayer </a:t>
            </a:r>
            <a:r>
              <a:rPr lang="en-US" dirty="0" err="1"/>
              <a:t>perceptrons</a:t>
            </a:r>
            <a:endParaRPr lang="en-US" dirty="0"/>
          </a:p>
          <a:p>
            <a:pPr marL="342900" indent="-342900">
              <a:spcBef>
                <a:spcPts val="1200"/>
              </a:spcBef>
              <a:buFont typeface="Arial" panose="020B0604020202020204" pitchFamily="34" charset="0"/>
              <a:buChar char="•"/>
            </a:pPr>
            <a:r>
              <a:rPr lang="en-US" dirty="0"/>
              <a:t>LSTM networks</a:t>
            </a:r>
          </a:p>
          <a:p>
            <a:pPr marL="342900" indent="-342900">
              <a:spcBef>
                <a:spcPts val="1200"/>
              </a:spcBef>
              <a:buFont typeface="Arial" panose="020B0604020202020204" pitchFamily="34" charset="0"/>
              <a:buChar char="•"/>
            </a:pPr>
            <a:r>
              <a:rPr lang="en-US" dirty="0"/>
              <a:t>Random forests</a:t>
            </a:r>
          </a:p>
          <a:p>
            <a:pPr marL="342900" indent="-342900">
              <a:spcBef>
                <a:spcPts val="1200"/>
              </a:spcBef>
              <a:buFont typeface="Arial" panose="020B0604020202020204" pitchFamily="34" charset="0"/>
              <a:buChar char="•"/>
            </a:pPr>
            <a:r>
              <a:rPr lang="en-US" dirty="0" err="1"/>
              <a:t>XGboost</a:t>
            </a:r>
            <a:endParaRPr lang="en-US" dirty="0"/>
          </a:p>
        </p:txBody>
      </p:sp>
      <p:sp>
        <p:nvSpPr>
          <p:cNvPr id="3" name="Title 2">
            <a:extLst>
              <a:ext uri="{FF2B5EF4-FFF2-40B4-BE49-F238E27FC236}">
                <a16:creationId xmlns:a16="http://schemas.microsoft.com/office/drawing/2014/main" id="{7B15D2CC-336C-4085-9492-B0D3CF53C866}"/>
              </a:ext>
            </a:extLst>
          </p:cNvPr>
          <p:cNvSpPr>
            <a:spLocks noGrp="1"/>
          </p:cNvSpPr>
          <p:nvPr>
            <p:ph type="title"/>
          </p:nvPr>
        </p:nvSpPr>
        <p:spPr/>
        <p:txBody>
          <a:bodyPr/>
          <a:lstStyle/>
          <a:p>
            <a:r>
              <a:rPr lang="en-US" dirty="0"/>
              <a:t>Tests, forecasts</a:t>
            </a:r>
          </a:p>
        </p:txBody>
      </p:sp>
      <p:sp>
        <p:nvSpPr>
          <p:cNvPr id="4" name="Footer Placeholder 3">
            <a:extLst>
              <a:ext uri="{FF2B5EF4-FFF2-40B4-BE49-F238E27FC236}">
                <a16:creationId xmlns:a16="http://schemas.microsoft.com/office/drawing/2014/main" id="{990DECC6-8D2D-4C53-80A7-CCD15FE36E5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D96CDC2-49FB-474A-90CA-F9B00D80110C}"/>
              </a:ext>
            </a:extLst>
          </p:cNvPr>
          <p:cNvSpPr>
            <a:spLocks noGrp="1"/>
          </p:cNvSpPr>
          <p:nvPr>
            <p:ph type="sldNum" sz="quarter" idx="4"/>
          </p:nvPr>
        </p:nvSpPr>
        <p:spPr/>
        <p:txBody>
          <a:bodyPr/>
          <a:lstStyle/>
          <a:p>
            <a:pPr>
              <a:defRPr/>
            </a:pPr>
            <a:fld id="{476DEB1C-3253-4C07-8F02-456B7B2AD41D}" type="slidenum">
              <a:rPr lang="it-IT" smtClean="0"/>
              <a:pPr>
                <a:defRPr/>
              </a:pPr>
              <a:t>33</a:t>
            </a:fld>
            <a:endParaRPr lang="it-IT" dirty="0"/>
          </a:p>
        </p:txBody>
      </p:sp>
    </p:spTree>
    <p:extLst>
      <p:ext uri="{BB962C8B-B14F-4D97-AF65-F5344CB8AC3E}">
        <p14:creationId xmlns:p14="http://schemas.microsoft.com/office/powerpoint/2010/main" val="11421494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6AEC4150-3F5B-09C5-8007-15AE1675B7D7}"/>
              </a:ext>
            </a:extLst>
          </p:cNvPr>
          <p:cNvPicPr>
            <a:picLocks noGrp="1" noChangeAspect="1"/>
          </p:cNvPicPr>
          <p:nvPr>
            <p:ph idx="1"/>
          </p:nvPr>
        </p:nvPicPr>
        <p:blipFill>
          <a:blip r:embed="rId2"/>
          <a:stretch>
            <a:fillRect/>
          </a:stretch>
        </p:blipFill>
        <p:spPr>
          <a:xfrm>
            <a:off x="220915" y="1377904"/>
            <a:ext cx="4510383" cy="2941554"/>
          </a:xfrm>
        </p:spPr>
      </p:pic>
      <p:sp>
        <p:nvSpPr>
          <p:cNvPr id="3" name="Title 2">
            <a:extLst>
              <a:ext uri="{FF2B5EF4-FFF2-40B4-BE49-F238E27FC236}">
                <a16:creationId xmlns:a16="http://schemas.microsoft.com/office/drawing/2014/main" id="{42179CFE-00D5-E7E6-2B47-AC0441B6BA27}"/>
              </a:ext>
            </a:extLst>
          </p:cNvPr>
          <p:cNvSpPr>
            <a:spLocks noGrp="1"/>
          </p:cNvSpPr>
          <p:nvPr>
            <p:ph type="title"/>
          </p:nvPr>
        </p:nvSpPr>
        <p:spPr/>
        <p:txBody>
          <a:bodyPr>
            <a:normAutofit fontScale="90000"/>
          </a:bodyPr>
          <a:lstStyle/>
          <a:p>
            <a:r>
              <a:rPr lang="it-IT" dirty="0" err="1"/>
              <a:t>Preprocessing</a:t>
            </a:r>
            <a:r>
              <a:rPr lang="it-IT" dirty="0"/>
              <a:t>, COVID </a:t>
            </a:r>
            <a:r>
              <a:rPr lang="it-IT" dirty="0" err="1"/>
              <a:t>adjustment</a:t>
            </a:r>
            <a:endParaRPr lang="it-IT" dirty="0"/>
          </a:p>
        </p:txBody>
      </p:sp>
      <p:sp>
        <p:nvSpPr>
          <p:cNvPr id="4" name="Footer Placeholder 3">
            <a:extLst>
              <a:ext uri="{FF2B5EF4-FFF2-40B4-BE49-F238E27FC236}">
                <a16:creationId xmlns:a16="http://schemas.microsoft.com/office/drawing/2014/main" id="{7701613B-998E-701E-164C-B3F43D7828C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ADD1D829-028F-FAE2-683C-671A2AEF304F}"/>
              </a:ext>
            </a:extLst>
          </p:cNvPr>
          <p:cNvSpPr>
            <a:spLocks noGrp="1"/>
          </p:cNvSpPr>
          <p:nvPr>
            <p:ph type="sldNum" sz="quarter" idx="4"/>
          </p:nvPr>
        </p:nvSpPr>
        <p:spPr/>
        <p:txBody>
          <a:bodyPr/>
          <a:lstStyle/>
          <a:p>
            <a:pPr>
              <a:defRPr/>
            </a:pPr>
            <a:fld id="{476DEB1C-3253-4C07-8F02-456B7B2AD41D}" type="slidenum">
              <a:rPr lang="it-IT" smtClean="0"/>
              <a:pPr>
                <a:defRPr/>
              </a:pPr>
              <a:t>34</a:t>
            </a:fld>
            <a:endParaRPr lang="it-IT" dirty="0"/>
          </a:p>
        </p:txBody>
      </p:sp>
      <p:pic>
        <p:nvPicPr>
          <p:cNvPr id="9" name="Picture 8">
            <a:extLst>
              <a:ext uri="{FF2B5EF4-FFF2-40B4-BE49-F238E27FC236}">
                <a16:creationId xmlns:a16="http://schemas.microsoft.com/office/drawing/2014/main" id="{A9EAC161-7412-5A61-4D63-FD4DBFBE1783}"/>
              </a:ext>
            </a:extLst>
          </p:cNvPr>
          <p:cNvPicPr>
            <a:picLocks noChangeAspect="1"/>
          </p:cNvPicPr>
          <p:nvPr/>
        </p:nvPicPr>
        <p:blipFill>
          <a:blip r:embed="rId3"/>
          <a:stretch>
            <a:fillRect/>
          </a:stretch>
        </p:blipFill>
        <p:spPr>
          <a:xfrm>
            <a:off x="4603823" y="1404958"/>
            <a:ext cx="4510383" cy="2941554"/>
          </a:xfrm>
          <a:prstGeom prst="rect">
            <a:avLst/>
          </a:prstGeom>
        </p:spPr>
      </p:pic>
      <p:sp>
        <p:nvSpPr>
          <p:cNvPr id="2" name="TextBox 1">
            <a:extLst>
              <a:ext uri="{FF2B5EF4-FFF2-40B4-BE49-F238E27FC236}">
                <a16:creationId xmlns:a16="http://schemas.microsoft.com/office/drawing/2014/main" id="{A817439B-B85F-263C-F4DF-FFAC276A26D3}"/>
              </a:ext>
            </a:extLst>
          </p:cNvPr>
          <p:cNvSpPr txBox="1"/>
          <p:nvPr/>
        </p:nvSpPr>
        <p:spPr>
          <a:xfrm>
            <a:off x="403122" y="4503172"/>
            <a:ext cx="8377084" cy="1970363"/>
          </a:xfrm>
          <a:prstGeom prst="rect">
            <a:avLst/>
          </a:prstGeom>
          <a:noFill/>
          <a:ln>
            <a:noFill/>
          </a:ln>
        </p:spPr>
        <p:txBody>
          <a:bodyPr wrap="square" rtlCol="0" anchor="t" anchorCtr="0">
            <a:noAutofit/>
          </a:bodyPr>
          <a:lstStyle/>
          <a:p>
            <a:r>
              <a:rPr lang="en-US" sz="2400" dirty="0"/>
              <a:t>A </a:t>
            </a:r>
            <a:r>
              <a:rPr lang="en-US" sz="2400" dirty="0">
                <a:solidFill>
                  <a:schemeClr val="accent2"/>
                </a:solidFill>
              </a:rPr>
              <a:t>major occasional impact </a:t>
            </a:r>
            <a:r>
              <a:rPr lang="en-US" sz="2400" dirty="0"/>
              <a:t>due to the first lockdown, </a:t>
            </a:r>
            <a:r>
              <a:rPr lang="en-US" sz="2400" dirty="0" err="1"/>
              <a:t>feb-apr</a:t>
            </a:r>
            <a:r>
              <a:rPr lang="en-US" sz="2400" dirty="0"/>
              <a:t> 2020</a:t>
            </a:r>
          </a:p>
          <a:p>
            <a:r>
              <a:rPr lang="en-US" sz="2400" dirty="0"/>
              <a:t>A minor one in the fall of the same year</a:t>
            </a:r>
          </a:p>
          <a:p>
            <a:pPr>
              <a:spcBef>
                <a:spcPts val="1200"/>
              </a:spcBef>
            </a:pPr>
            <a:r>
              <a:rPr lang="en-US" sz="2400" dirty="0"/>
              <a:t>Data reconstructed by simple </a:t>
            </a:r>
            <a:r>
              <a:rPr lang="en-US" sz="2400" dirty="0">
                <a:solidFill>
                  <a:schemeClr val="accent2"/>
                </a:solidFill>
              </a:rPr>
              <a:t>STL decomposition</a:t>
            </a:r>
            <a:r>
              <a:rPr lang="en-US" sz="2400" dirty="0"/>
              <a:t>. </a:t>
            </a:r>
          </a:p>
          <a:p>
            <a:pPr>
              <a:spcBef>
                <a:spcPts val="1200"/>
              </a:spcBef>
            </a:pPr>
            <a:r>
              <a:rPr lang="en-US" sz="2400" dirty="0"/>
              <a:t>The resulting series were input to forecasting.</a:t>
            </a:r>
          </a:p>
        </p:txBody>
      </p:sp>
    </p:spTree>
    <p:extLst>
      <p:ext uri="{BB962C8B-B14F-4D97-AF65-F5344CB8AC3E}">
        <p14:creationId xmlns:p14="http://schemas.microsoft.com/office/powerpoint/2010/main" val="2566500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9F596C-3993-309B-C16F-9C0BA57833DC}"/>
              </a:ext>
            </a:extLst>
          </p:cNvPr>
          <p:cNvSpPr>
            <a:spLocks noGrp="1"/>
          </p:cNvSpPr>
          <p:nvPr>
            <p:ph idx="1"/>
          </p:nvPr>
        </p:nvSpPr>
        <p:spPr>
          <a:xfrm>
            <a:off x="298907" y="1018468"/>
            <a:ext cx="8546175" cy="490292"/>
          </a:xfrm>
        </p:spPr>
        <p:txBody>
          <a:bodyPr>
            <a:normAutofit fontScale="85000" lnSpcReduction="10000"/>
          </a:bodyPr>
          <a:lstStyle/>
          <a:p>
            <a:r>
              <a:rPr lang="en-US" dirty="0"/>
              <a:t>MEB based forecasting. Average rankings for different </a:t>
            </a:r>
            <a:r>
              <a:rPr lang="en-US" dirty="0" err="1"/>
              <a:t>boostset</a:t>
            </a:r>
            <a:r>
              <a:rPr lang="en-US" dirty="0"/>
              <a:t> sizes.</a:t>
            </a:r>
          </a:p>
          <a:p>
            <a:endParaRPr lang="en-US" dirty="0"/>
          </a:p>
          <a:p>
            <a:endParaRPr lang="it-IT" dirty="0"/>
          </a:p>
        </p:txBody>
      </p:sp>
      <p:sp>
        <p:nvSpPr>
          <p:cNvPr id="3" name="Title 2">
            <a:extLst>
              <a:ext uri="{FF2B5EF4-FFF2-40B4-BE49-F238E27FC236}">
                <a16:creationId xmlns:a16="http://schemas.microsoft.com/office/drawing/2014/main" id="{EFE71628-30DF-2175-CCB1-FFF5F40E3C67}"/>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6A56DC0A-2CB0-A862-E697-E630A404857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D239EC-68A7-7A7A-B5C0-DC3C98E60408}"/>
              </a:ext>
            </a:extLst>
          </p:cNvPr>
          <p:cNvSpPr>
            <a:spLocks noGrp="1"/>
          </p:cNvSpPr>
          <p:nvPr>
            <p:ph type="sldNum" sz="quarter" idx="4"/>
          </p:nvPr>
        </p:nvSpPr>
        <p:spPr/>
        <p:txBody>
          <a:bodyPr/>
          <a:lstStyle/>
          <a:p>
            <a:pPr>
              <a:defRPr/>
            </a:pPr>
            <a:fld id="{476DEB1C-3253-4C07-8F02-456B7B2AD41D}" type="slidenum">
              <a:rPr lang="it-IT" smtClean="0"/>
              <a:pPr>
                <a:defRPr/>
              </a:pPr>
              <a:t>35</a:t>
            </a:fld>
            <a:endParaRPr lang="it-IT" dirty="0"/>
          </a:p>
        </p:txBody>
      </p:sp>
      <p:sp>
        <p:nvSpPr>
          <p:cNvPr id="6" name="AutoShape 2">
            <a:extLst>
              <a:ext uri="{FF2B5EF4-FFF2-40B4-BE49-F238E27FC236}">
                <a16:creationId xmlns:a16="http://schemas.microsoft.com/office/drawing/2014/main" id="{7AB47DEF-C84E-4092-B595-D18B9173F03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5E35AD79-FEA4-4F84-939C-4E05117C3244}"/>
              </a:ext>
            </a:extLst>
          </p:cNvPr>
          <p:cNvPicPr>
            <a:picLocks noChangeAspect="1"/>
          </p:cNvPicPr>
          <p:nvPr/>
        </p:nvPicPr>
        <p:blipFill>
          <a:blip r:embed="rId2"/>
          <a:stretch>
            <a:fillRect/>
          </a:stretch>
        </p:blipFill>
        <p:spPr>
          <a:xfrm>
            <a:off x="651264" y="4391968"/>
            <a:ext cx="2972330" cy="2229248"/>
          </a:xfrm>
          <a:prstGeom prst="rect">
            <a:avLst/>
          </a:prstGeom>
        </p:spPr>
      </p:pic>
      <p:pic>
        <p:nvPicPr>
          <p:cNvPr id="8" name="Picture 7">
            <a:extLst>
              <a:ext uri="{FF2B5EF4-FFF2-40B4-BE49-F238E27FC236}">
                <a16:creationId xmlns:a16="http://schemas.microsoft.com/office/drawing/2014/main" id="{B15F2B21-64B1-4651-9558-04869FCDA497}"/>
              </a:ext>
            </a:extLst>
          </p:cNvPr>
          <p:cNvPicPr>
            <a:picLocks noChangeAspect="1"/>
          </p:cNvPicPr>
          <p:nvPr/>
        </p:nvPicPr>
        <p:blipFill>
          <a:blip r:embed="rId3"/>
          <a:stretch>
            <a:fillRect/>
          </a:stretch>
        </p:blipFill>
        <p:spPr>
          <a:xfrm>
            <a:off x="4525323" y="4391968"/>
            <a:ext cx="2972330" cy="2229248"/>
          </a:xfrm>
          <a:prstGeom prst="rect">
            <a:avLst/>
          </a:prstGeom>
        </p:spPr>
      </p:pic>
      <p:graphicFrame>
        <p:nvGraphicFramePr>
          <p:cNvPr id="9" name="Table 8">
            <a:extLst>
              <a:ext uri="{FF2B5EF4-FFF2-40B4-BE49-F238E27FC236}">
                <a16:creationId xmlns:a16="http://schemas.microsoft.com/office/drawing/2014/main" id="{CA40BEFF-A927-47E4-9849-B351E661BBFA}"/>
              </a:ext>
            </a:extLst>
          </p:cNvPr>
          <p:cNvGraphicFramePr>
            <a:graphicFrameLocks noGrp="1"/>
          </p:cNvGraphicFramePr>
          <p:nvPr>
            <p:extLst>
              <p:ext uri="{D42A27DB-BD31-4B8C-83A1-F6EECF244321}">
                <p14:modId xmlns:p14="http://schemas.microsoft.com/office/powerpoint/2010/main" val="2275060905"/>
              </p:ext>
            </p:extLst>
          </p:nvPr>
        </p:nvGraphicFramePr>
        <p:xfrm>
          <a:off x="1701913" y="1429610"/>
          <a:ext cx="4806465" cy="2965030"/>
        </p:xfrm>
        <a:graphic>
          <a:graphicData uri="http://schemas.openxmlformats.org/drawingml/2006/table">
            <a:tbl>
              <a:tblPr firstRow="1" firstCol="1" bandRow="1"/>
              <a:tblGrid>
                <a:gridCol w="862408">
                  <a:extLst>
                    <a:ext uri="{9D8B030D-6E8A-4147-A177-3AD203B41FA5}">
                      <a16:colId xmlns:a16="http://schemas.microsoft.com/office/drawing/2014/main" val="1904472902"/>
                    </a:ext>
                  </a:extLst>
                </a:gridCol>
                <a:gridCol w="741177">
                  <a:extLst>
                    <a:ext uri="{9D8B030D-6E8A-4147-A177-3AD203B41FA5}">
                      <a16:colId xmlns:a16="http://schemas.microsoft.com/office/drawing/2014/main" val="1767733983"/>
                    </a:ext>
                  </a:extLst>
                </a:gridCol>
                <a:gridCol w="606418">
                  <a:extLst>
                    <a:ext uri="{9D8B030D-6E8A-4147-A177-3AD203B41FA5}">
                      <a16:colId xmlns:a16="http://schemas.microsoft.com/office/drawing/2014/main" val="746074613"/>
                    </a:ext>
                  </a:extLst>
                </a:gridCol>
                <a:gridCol w="729948">
                  <a:extLst>
                    <a:ext uri="{9D8B030D-6E8A-4147-A177-3AD203B41FA5}">
                      <a16:colId xmlns:a16="http://schemas.microsoft.com/office/drawing/2014/main" val="2960283564"/>
                    </a:ext>
                  </a:extLst>
                </a:gridCol>
                <a:gridCol w="586355">
                  <a:extLst>
                    <a:ext uri="{9D8B030D-6E8A-4147-A177-3AD203B41FA5}">
                      <a16:colId xmlns:a16="http://schemas.microsoft.com/office/drawing/2014/main" val="4284881309"/>
                    </a:ext>
                  </a:extLst>
                </a:gridCol>
                <a:gridCol w="651280">
                  <a:extLst>
                    <a:ext uri="{9D8B030D-6E8A-4147-A177-3AD203B41FA5}">
                      <a16:colId xmlns:a16="http://schemas.microsoft.com/office/drawing/2014/main" val="275417912"/>
                    </a:ext>
                  </a:extLst>
                </a:gridCol>
                <a:gridCol w="628879">
                  <a:extLst>
                    <a:ext uri="{9D8B030D-6E8A-4147-A177-3AD203B41FA5}">
                      <a16:colId xmlns:a16="http://schemas.microsoft.com/office/drawing/2014/main" val="4201101376"/>
                    </a:ext>
                  </a:extLst>
                </a:gridCol>
              </a:tblGrid>
              <a:tr h="233071">
                <a:tc>
                  <a:txBody>
                    <a:bodyPr/>
                    <a:lstStyle/>
                    <a:p>
                      <a:pPr algn="ctr">
                        <a:lnSpc>
                          <a:spcPct val="107000"/>
                        </a:lnSpc>
                      </a:pPr>
                      <a:endParaRPr lang="en-US" sz="1100" dirty="0">
                        <a:effectLst/>
                        <a:latin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YW_AR_75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YW_AR_125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YW_AR_175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extLst>
                  <a:ext uri="{0D108BD9-81ED-4DB2-BD59-A6C34878D82A}">
                    <a16:rowId xmlns:a16="http://schemas.microsoft.com/office/drawing/2014/main" val="658083062"/>
                  </a:ext>
                </a:extLst>
              </a:tr>
              <a:tr h="233071">
                <a:tc>
                  <a:txBody>
                    <a:bodyPr/>
                    <a:lstStyle/>
                    <a:p>
                      <a:pPr algn="ctr">
                        <a:lnSpc>
                          <a:spcPct val="107000"/>
                        </a:lnSpc>
                      </a:pPr>
                      <a:endParaRPr lang="en-US" sz="1100" dirty="0">
                        <a:effectLst/>
                        <a:latin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86034970"/>
                  </a:ext>
                </a:extLst>
              </a:tr>
              <a:tr h="317160">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fcast_avg</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2.67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2.58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3.83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2213798"/>
                  </a:ext>
                </a:extLst>
              </a:tr>
              <a:tr h="317160">
                <a:tc>
                  <a:txBody>
                    <a:bodyPr/>
                    <a:lstStyle/>
                    <a:p>
                      <a:pPr algn="ctr">
                        <a:lnSpc>
                          <a:spcPct val="107000"/>
                        </a:lnSpc>
                        <a:spcBef>
                          <a:spcPts val="600"/>
                        </a:spcBef>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fcast_50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3.19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0683802"/>
                  </a:ext>
                </a:extLst>
              </a:tr>
              <a:tr h="233071">
                <a:tc>
                  <a:txBody>
                    <a:bodyPr/>
                    <a:lstStyle/>
                    <a:p>
                      <a:pPr algn="ctr">
                        <a:lnSpc>
                          <a:spcPct val="107000"/>
                        </a:lnSpc>
                        <a:spcBef>
                          <a:spcPts val="600"/>
                        </a:spcBef>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yhw</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5.42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5.88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94446825"/>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yarima</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5.73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90819121"/>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ysvm</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5.88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78810126"/>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ylstm</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6.27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0659876"/>
                  </a:ext>
                </a:extLst>
              </a:tr>
              <a:tr h="233071">
                <a:tc>
                  <a:txBody>
                    <a:bodyPr/>
                    <a:lstStyle/>
                    <a:p>
                      <a:pPr algn="ctr">
                        <a:lnSpc>
                          <a:spcPct val="107000"/>
                        </a:lnSpc>
                        <a:spcBef>
                          <a:spcPts val="600"/>
                        </a:spcBef>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yar</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6.54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6.79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432425"/>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ymlp</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6.38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5.98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6.17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35988843"/>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yrf</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6.46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0.11</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6.31</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5.48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38129654"/>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yxgb</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7.33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0.12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7.29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0.07</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4112207"/>
                  </a:ext>
                </a:extLst>
              </a:tr>
            </a:tbl>
          </a:graphicData>
        </a:graphic>
      </p:graphicFrame>
    </p:spTree>
    <p:extLst>
      <p:ext uri="{BB962C8B-B14F-4D97-AF65-F5344CB8AC3E}">
        <p14:creationId xmlns:p14="http://schemas.microsoft.com/office/powerpoint/2010/main" val="23697005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CF30E9-3DC7-3EA0-32CA-F2ADAED3C6E5}"/>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8E913267-F1C1-E815-B1AC-6F042FCBB76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A3360F6-BABC-ABDE-FB0F-7D110E9789E0}"/>
              </a:ext>
            </a:extLst>
          </p:cNvPr>
          <p:cNvSpPr>
            <a:spLocks noGrp="1"/>
          </p:cNvSpPr>
          <p:nvPr>
            <p:ph type="sldNum" sz="quarter" idx="4"/>
          </p:nvPr>
        </p:nvSpPr>
        <p:spPr/>
        <p:txBody>
          <a:bodyPr/>
          <a:lstStyle/>
          <a:p>
            <a:pPr>
              <a:defRPr/>
            </a:pPr>
            <a:fld id="{476DEB1C-3253-4C07-8F02-456B7B2AD41D}" type="slidenum">
              <a:rPr lang="it-IT" smtClean="0"/>
              <a:pPr>
                <a:defRPr/>
              </a:pPr>
              <a:t>36</a:t>
            </a:fld>
            <a:endParaRPr lang="it-IT" dirty="0"/>
          </a:p>
        </p:txBody>
      </p:sp>
      <p:sp>
        <p:nvSpPr>
          <p:cNvPr id="8" name="TextBox 7">
            <a:extLst>
              <a:ext uri="{FF2B5EF4-FFF2-40B4-BE49-F238E27FC236}">
                <a16:creationId xmlns:a16="http://schemas.microsoft.com/office/drawing/2014/main" id="{ECAF7F87-2B3A-5157-5F27-3D4E450930F3}"/>
              </a:ext>
            </a:extLst>
          </p:cNvPr>
          <p:cNvSpPr txBox="1"/>
          <p:nvPr/>
        </p:nvSpPr>
        <p:spPr>
          <a:xfrm>
            <a:off x="1202359" y="972001"/>
            <a:ext cx="6238568" cy="914400"/>
          </a:xfrm>
          <a:prstGeom prst="rect">
            <a:avLst/>
          </a:prstGeom>
          <a:noFill/>
          <a:ln>
            <a:noFill/>
          </a:ln>
        </p:spPr>
        <p:txBody>
          <a:bodyPr wrap="none" rtlCol="0" anchor="t" anchorCtr="0">
            <a:noAutofit/>
          </a:bodyPr>
          <a:lstStyle/>
          <a:p>
            <a:r>
              <a:rPr lang="it-IT" sz="2400" dirty="0"/>
              <a:t>Critical </a:t>
            </a:r>
            <a:r>
              <a:rPr lang="it-IT" sz="2400" dirty="0" err="1"/>
              <a:t>difference</a:t>
            </a:r>
            <a:r>
              <a:rPr lang="it-IT" sz="2400" dirty="0"/>
              <a:t> </a:t>
            </a:r>
            <a:r>
              <a:rPr lang="it-IT" sz="2400" dirty="0" err="1"/>
              <a:t>diagrams</a:t>
            </a:r>
            <a:r>
              <a:rPr lang="it-IT" sz="2400" dirty="0"/>
              <a:t> (</a:t>
            </a:r>
            <a:r>
              <a:rPr lang="it-IT" sz="2400" dirty="0" err="1"/>
              <a:t>Fawaz</a:t>
            </a:r>
            <a:r>
              <a:rPr lang="it-IT" sz="2400" dirty="0"/>
              <a:t> et al., 2019)</a:t>
            </a:r>
          </a:p>
        </p:txBody>
      </p:sp>
      <p:pic>
        <p:nvPicPr>
          <p:cNvPr id="11" name="Content Placeholder 10">
            <a:extLst>
              <a:ext uri="{FF2B5EF4-FFF2-40B4-BE49-F238E27FC236}">
                <a16:creationId xmlns:a16="http://schemas.microsoft.com/office/drawing/2014/main" id="{E272D35D-92BC-B3F0-55B3-F6F8689EBEA4}"/>
              </a:ext>
            </a:extLst>
          </p:cNvPr>
          <p:cNvPicPr>
            <a:picLocks noGrp="1" noChangeAspect="1"/>
          </p:cNvPicPr>
          <p:nvPr>
            <p:ph idx="1"/>
          </p:nvPr>
        </p:nvPicPr>
        <p:blipFill>
          <a:blip r:embed="rId2">
            <a:clrChange>
              <a:clrFrom>
                <a:srgbClr val="FEFEFE"/>
              </a:clrFrom>
              <a:clrTo>
                <a:srgbClr val="FEFEFE">
                  <a:alpha val="0"/>
                </a:srgbClr>
              </a:clrTo>
            </a:clrChange>
          </a:blip>
          <a:stretch>
            <a:fillRect/>
          </a:stretch>
        </p:blipFill>
        <p:spPr>
          <a:xfrm>
            <a:off x="283748" y="1494483"/>
            <a:ext cx="8304762" cy="2438095"/>
          </a:xfrm>
        </p:spPr>
      </p:pic>
      <p:pic>
        <p:nvPicPr>
          <p:cNvPr id="13" name="Picture 12">
            <a:extLst>
              <a:ext uri="{FF2B5EF4-FFF2-40B4-BE49-F238E27FC236}">
                <a16:creationId xmlns:a16="http://schemas.microsoft.com/office/drawing/2014/main" id="{0FC619C5-3B1D-B69D-5EA6-92C467876432}"/>
              </a:ext>
            </a:extLst>
          </p:cNvPr>
          <p:cNvPicPr>
            <a:picLocks noChangeAspect="1"/>
          </p:cNvPicPr>
          <p:nvPr/>
        </p:nvPicPr>
        <p:blipFill>
          <a:blip r:embed="rId3">
            <a:clrChange>
              <a:clrFrom>
                <a:srgbClr val="FEFEFE"/>
              </a:clrFrom>
              <a:clrTo>
                <a:srgbClr val="FEFEFE">
                  <a:alpha val="0"/>
                </a:srgbClr>
              </a:clrTo>
            </a:clrChange>
          </a:blip>
          <a:stretch>
            <a:fillRect/>
          </a:stretch>
        </p:blipFill>
        <p:spPr>
          <a:xfrm>
            <a:off x="287771" y="4006938"/>
            <a:ext cx="8457143" cy="2438095"/>
          </a:xfrm>
          <a:prstGeom prst="rect">
            <a:avLst/>
          </a:prstGeom>
        </p:spPr>
      </p:pic>
    </p:spTree>
    <p:extLst>
      <p:ext uri="{BB962C8B-B14F-4D97-AF65-F5344CB8AC3E}">
        <p14:creationId xmlns:p14="http://schemas.microsoft.com/office/powerpoint/2010/main" val="14370939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9AD77-5EE7-F954-33B4-3A8F8A48DECA}"/>
              </a:ext>
            </a:extLst>
          </p:cNvPr>
          <p:cNvSpPr>
            <a:spLocks noGrp="1"/>
          </p:cNvSpPr>
          <p:nvPr>
            <p:ph type="title"/>
          </p:nvPr>
        </p:nvSpPr>
        <p:spPr/>
        <p:txBody>
          <a:bodyPr/>
          <a:lstStyle/>
          <a:p>
            <a:r>
              <a:rPr lang="it-IT" dirty="0" err="1"/>
              <a:t>Results</a:t>
            </a:r>
            <a:r>
              <a:rPr lang="it-IT" dirty="0"/>
              <a:t>, </a:t>
            </a:r>
            <a:r>
              <a:rPr lang="it-IT" dirty="0" err="1"/>
              <a:t>optimization</a:t>
            </a:r>
            <a:endParaRPr lang="it-IT" dirty="0"/>
          </a:p>
        </p:txBody>
      </p:sp>
      <p:sp>
        <p:nvSpPr>
          <p:cNvPr id="4" name="Footer Placeholder 3">
            <a:extLst>
              <a:ext uri="{FF2B5EF4-FFF2-40B4-BE49-F238E27FC236}">
                <a16:creationId xmlns:a16="http://schemas.microsoft.com/office/drawing/2014/main" id="{F02EAB2B-6A02-ECDF-B23E-EABF394512F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309B41E-08EB-587F-56AE-21B50991ADA8}"/>
              </a:ext>
            </a:extLst>
          </p:cNvPr>
          <p:cNvSpPr>
            <a:spLocks noGrp="1"/>
          </p:cNvSpPr>
          <p:nvPr>
            <p:ph type="sldNum" sz="quarter" idx="4"/>
          </p:nvPr>
        </p:nvSpPr>
        <p:spPr/>
        <p:txBody>
          <a:bodyPr/>
          <a:lstStyle/>
          <a:p>
            <a:pPr>
              <a:defRPr/>
            </a:pPr>
            <a:fld id="{476DEB1C-3253-4C07-8F02-456B7B2AD41D}" type="slidenum">
              <a:rPr lang="it-IT" smtClean="0"/>
              <a:pPr>
                <a:defRPr/>
              </a:pPr>
              <a:t>37</a:t>
            </a:fld>
            <a:endParaRPr lang="it-IT" dirty="0"/>
          </a:p>
        </p:txBody>
      </p:sp>
      <p:sp>
        <p:nvSpPr>
          <p:cNvPr id="2" name="TextBox 1">
            <a:extLst>
              <a:ext uri="{FF2B5EF4-FFF2-40B4-BE49-F238E27FC236}">
                <a16:creationId xmlns:a16="http://schemas.microsoft.com/office/drawing/2014/main" id="{C705BEAE-9A63-435D-1BDA-9F8BBEF88057}"/>
              </a:ext>
            </a:extLst>
          </p:cNvPr>
          <p:cNvSpPr txBox="1"/>
          <p:nvPr/>
        </p:nvSpPr>
        <p:spPr>
          <a:xfrm>
            <a:off x="278767" y="4352235"/>
            <a:ext cx="8389889" cy="2092881"/>
          </a:xfrm>
          <a:prstGeom prst="rect">
            <a:avLst/>
          </a:prstGeom>
          <a:noFill/>
          <a:ln>
            <a:noFill/>
          </a:ln>
        </p:spPr>
        <p:txBody>
          <a:bodyPr wrap="square" rtlCol="0" anchor="t" anchorCtr="0">
            <a:spAutoFit/>
          </a:bodyPr>
          <a:lstStyle/>
          <a:p>
            <a:pPr algn="l">
              <a:spcBef>
                <a:spcPts val="1200"/>
              </a:spcBef>
            </a:pPr>
            <a:r>
              <a:rPr lang="en-US" sz="2200" dirty="0"/>
              <a:t>The cost is essentially stable in the cases of the 75 and 125 series sets but increases significantly in the case of the 175 </a:t>
            </a:r>
            <a:r>
              <a:rPr lang="en-US" sz="2200" dirty="0" err="1"/>
              <a:t>boostset</a:t>
            </a:r>
            <a:r>
              <a:rPr lang="en-US" sz="2200" dirty="0"/>
              <a:t>.</a:t>
            </a:r>
          </a:p>
          <a:p>
            <a:pPr algn="l">
              <a:spcBef>
                <a:spcPts val="1200"/>
              </a:spcBef>
            </a:pPr>
            <a:r>
              <a:rPr lang="en-US" sz="2200" dirty="0"/>
              <a:t>This is due to some extreme scenarios appearing in the forecasts. </a:t>
            </a:r>
          </a:p>
          <a:p>
            <a:pPr algn="l">
              <a:spcBef>
                <a:spcPts val="1200"/>
              </a:spcBef>
            </a:pPr>
            <a:r>
              <a:rPr lang="en-US" sz="2200" dirty="0">
                <a:solidFill>
                  <a:srgbClr val="C00000"/>
                </a:solidFill>
              </a:rPr>
              <a:t>All instances were feasible</a:t>
            </a:r>
            <a:r>
              <a:rPr lang="en-US" sz="2200" dirty="0"/>
              <a:t>, but 7 out of 35 tests still had a gap between lower and upper bound after 600 seconds of CPU time.</a:t>
            </a:r>
            <a:endParaRPr lang="it-IT" sz="2200" dirty="0"/>
          </a:p>
        </p:txBody>
      </p:sp>
      <p:pic>
        <p:nvPicPr>
          <p:cNvPr id="10" name="Content Placeholder 9">
            <a:extLst>
              <a:ext uri="{FF2B5EF4-FFF2-40B4-BE49-F238E27FC236}">
                <a16:creationId xmlns:a16="http://schemas.microsoft.com/office/drawing/2014/main" id="{9557FCC9-B63E-4CB4-B116-79F9E763FC78}"/>
              </a:ext>
            </a:extLst>
          </p:cNvPr>
          <p:cNvPicPr>
            <a:picLocks noGrp="1" noChangeAspect="1"/>
          </p:cNvPicPr>
          <p:nvPr>
            <p:ph idx="1"/>
          </p:nvPr>
        </p:nvPicPr>
        <p:blipFill>
          <a:blip r:embed="rId2"/>
          <a:stretch>
            <a:fillRect/>
          </a:stretch>
        </p:blipFill>
        <p:spPr>
          <a:xfrm>
            <a:off x="1580509" y="1032044"/>
            <a:ext cx="5380952" cy="3219048"/>
          </a:xfrm>
        </p:spPr>
      </p:pic>
    </p:spTree>
    <p:extLst>
      <p:ext uri="{BB962C8B-B14F-4D97-AF65-F5344CB8AC3E}">
        <p14:creationId xmlns:p14="http://schemas.microsoft.com/office/powerpoint/2010/main" val="31090330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7D1E3A-B58A-4312-90C6-7F77FBE77691}"/>
              </a:ext>
            </a:extLst>
          </p:cNvPr>
          <p:cNvSpPr>
            <a:spLocks noGrp="1"/>
          </p:cNvSpPr>
          <p:nvPr>
            <p:ph type="title"/>
          </p:nvPr>
        </p:nvSpPr>
        <p:spPr/>
        <p:txBody>
          <a:bodyPr/>
          <a:lstStyle/>
          <a:p>
            <a:r>
              <a:rPr lang="en-US" dirty="0"/>
              <a:t>Results, comparison</a:t>
            </a:r>
          </a:p>
        </p:txBody>
      </p:sp>
      <p:sp>
        <p:nvSpPr>
          <p:cNvPr id="4" name="Footer Placeholder 3">
            <a:extLst>
              <a:ext uri="{FF2B5EF4-FFF2-40B4-BE49-F238E27FC236}">
                <a16:creationId xmlns:a16="http://schemas.microsoft.com/office/drawing/2014/main" id="{49059E4C-63C1-40C7-8F5C-681822FABE3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D388ED5-F11D-4879-8EE8-AFB571873155}"/>
              </a:ext>
            </a:extLst>
          </p:cNvPr>
          <p:cNvSpPr>
            <a:spLocks noGrp="1"/>
          </p:cNvSpPr>
          <p:nvPr>
            <p:ph type="sldNum" sz="quarter" idx="4"/>
          </p:nvPr>
        </p:nvSpPr>
        <p:spPr/>
        <p:txBody>
          <a:bodyPr/>
          <a:lstStyle/>
          <a:p>
            <a:pPr>
              <a:defRPr/>
            </a:pPr>
            <a:fld id="{476DEB1C-3253-4C07-8F02-456B7B2AD41D}" type="slidenum">
              <a:rPr lang="it-IT" smtClean="0"/>
              <a:pPr>
                <a:defRPr/>
              </a:pPr>
              <a:t>38</a:t>
            </a:fld>
            <a:endParaRPr lang="it-IT" dirty="0"/>
          </a:p>
        </p:txBody>
      </p:sp>
      <p:sp>
        <p:nvSpPr>
          <p:cNvPr id="6" name="Content Placeholder 5">
            <a:extLst>
              <a:ext uri="{FF2B5EF4-FFF2-40B4-BE49-F238E27FC236}">
                <a16:creationId xmlns:a16="http://schemas.microsoft.com/office/drawing/2014/main" id="{9A967147-593B-47EB-8FAF-D5DF1EB28E67}"/>
              </a:ext>
            </a:extLst>
          </p:cNvPr>
          <p:cNvSpPr>
            <a:spLocks noGrp="1"/>
          </p:cNvSpPr>
          <p:nvPr>
            <p:ph idx="1"/>
          </p:nvPr>
        </p:nvSpPr>
        <p:spPr>
          <a:xfrm>
            <a:off x="298907" y="1173916"/>
            <a:ext cx="8546175" cy="947492"/>
          </a:xfrm>
        </p:spPr>
        <p:txBody>
          <a:bodyPr/>
          <a:lstStyle/>
          <a:p>
            <a:r>
              <a:rPr lang="en-US" dirty="0"/>
              <a:t>BESO vs. distribution-based, gaussian derived from confidence intervals of Holt-Winters ETS forecasts.</a:t>
            </a:r>
          </a:p>
        </p:txBody>
      </p:sp>
      <p:pic>
        <p:nvPicPr>
          <p:cNvPr id="9" name="Picture 8">
            <a:extLst>
              <a:ext uri="{FF2B5EF4-FFF2-40B4-BE49-F238E27FC236}">
                <a16:creationId xmlns:a16="http://schemas.microsoft.com/office/drawing/2014/main" id="{6F9C6B21-3200-4B8B-AE33-BFC4E4E10EF8}"/>
              </a:ext>
            </a:extLst>
          </p:cNvPr>
          <p:cNvPicPr>
            <a:picLocks noChangeAspect="1"/>
          </p:cNvPicPr>
          <p:nvPr/>
        </p:nvPicPr>
        <p:blipFill>
          <a:blip r:embed="rId2"/>
          <a:stretch>
            <a:fillRect/>
          </a:stretch>
        </p:blipFill>
        <p:spPr>
          <a:xfrm>
            <a:off x="445978" y="2304613"/>
            <a:ext cx="8110728" cy="3379471"/>
          </a:xfrm>
          <a:prstGeom prst="rect">
            <a:avLst/>
          </a:prstGeom>
        </p:spPr>
      </p:pic>
    </p:spTree>
    <p:extLst>
      <p:ext uri="{BB962C8B-B14F-4D97-AF65-F5344CB8AC3E}">
        <p14:creationId xmlns:p14="http://schemas.microsoft.com/office/powerpoint/2010/main" val="22965779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591610-0BBB-D224-221E-E0F3426240F1}"/>
              </a:ext>
            </a:extLst>
          </p:cNvPr>
          <p:cNvSpPr>
            <a:spLocks noGrp="1"/>
          </p:cNvSpPr>
          <p:nvPr>
            <p:ph idx="1"/>
          </p:nvPr>
        </p:nvSpPr>
        <p:spPr>
          <a:xfrm>
            <a:off x="298907" y="1062602"/>
            <a:ext cx="8546175" cy="5406668"/>
          </a:xfrm>
        </p:spPr>
        <p:txBody>
          <a:bodyPr>
            <a:noAutofit/>
          </a:bodyPr>
          <a:lstStyle/>
          <a:p>
            <a:r>
              <a:rPr lang="it-IT" dirty="0" err="1"/>
              <a:t>Comparing</a:t>
            </a:r>
            <a:r>
              <a:rPr lang="it-IT" dirty="0"/>
              <a:t> </a:t>
            </a:r>
            <a:r>
              <a:rPr lang="it-IT" dirty="0" err="1"/>
              <a:t>against</a:t>
            </a:r>
            <a:r>
              <a:rPr lang="it-IT" dirty="0"/>
              <a:t> a </a:t>
            </a:r>
            <a:r>
              <a:rPr lang="it-IT" dirty="0" err="1"/>
              <a:t>distribution-based</a:t>
            </a:r>
            <a:r>
              <a:rPr lang="it-IT" dirty="0"/>
              <a:t> </a:t>
            </a:r>
            <a:r>
              <a:rPr lang="it-IT" dirty="0" err="1"/>
              <a:t>optimization</a:t>
            </a:r>
            <a:r>
              <a:rPr lang="it-IT" dirty="0"/>
              <a:t> (Holt-Winters, confidence </a:t>
            </a:r>
            <a:r>
              <a:rPr lang="it-IT" dirty="0" err="1"/>
              <a:t>intervals</a:t>
            </a:r>
            <a:r>
              <a:rPr lang="it-IT" dirty="0"/>
              <a:t>)</a:t>
            </a:r>
          </a:p>
          <a:p>
            <a:pPr>
              <a:tabLst>
                <a:tab pos="2230438" algn="l"/>
                <a:tab pos="5715000" algn="l"/>
              </a:tabLst>
            </a:pPr>
            <a:r>
              <a:rPr lang="en-US" sz="2000" dirty="0"/>
              <a:t> 	</a:t>
            </a:r>
            <a:r>
              <a:rPr lang="en-US" sz="2000" i="1" dirty="0"/>
              <a:t>No rental cost	With rental cost</a:t>
            </a:r>
          </a:p>
          <a:p>
            <a:pPr>
              <a:spcBef>
                <a:spcPts val="1200"/>
              </a:spcBef>
              <a:tabLst>
                <a:tab pos="2514600" algn="r"/>
                <a:tab pos="4005263" algn="r"/>
                <a:tab pos="5999163" algn="r"/>
                <a:tab pos="7488238" algn="r"/>
              </a:tabLst>
            </a:pPr>
            <a:r>
              <a:rPr lang="en-US" sz="2000" dirty="0"/>
              <a:t> 	</a:t>
            </a:r>
            <a:r>
              <a:rPr lang="en-US" sz="2000" b="1" dirty="0"/>
              <a:t>BESO	ETS	BESO	ETS</a:t>
            </a:r>
          </a:p>
          <a:p>
            <a:pPr>
              <a:spcBef>
                <a:spcPts val="1200"/>
              </a:spcBef>
              <a:tabLst>
                <a:tab pos="2514600" algn="r"/>
                <a:tab pos="4005263" algn="r"/>
                <a:tab pos="5999163" algn="r"/>
                <a:tab pos="7488238" algn="r"/>
              </a:tabLst>
            </a:pPr>
            <a:r>
              <a:rPr lang="en-US" sz="2000" dirty="0"/>
              <a:t>Assign. Cost	17781	15423	5446720	4378380</a:t>
            </a:r>
          </a:p>
          <a:p>
            <a:pPr>
              <a:spcBef>
                <a:spcPts val="600"/>
              </a:spcBef>
              <a:tabLst>
                <a:tab pos="2514600" algn="r"/>
                <a:tab pos="4005263" algn="r"/>
                <a:tab pos="5999163" algn="r"/>
                <a:tab pos="7488238" algn="r"/>
              </a:tabLst>
            </a:pPr>
            <a:r>
              <a:rPr lang="en-US" sz="2000" dirty="0"/>
              <a:t>Optimality gap %	0	0	16.07	0.69</a:t>
            </a:r>
          </a:p>
          <a:p>
            <a:pPr>
              <a:spcBef>
                <a:spcPts val="600"/>
              </a:spcBef>
              <a:tabLst>
                <a:tab pos="2514600" algn="r"/>
                <a:tab pos="4005263" algn="r"/>
                <a:tab pos="5999163" algn="r"/>
                <a:tab pos="7488238" algn="r"/>
              </a:tabLst>
            </a:pPr>
            <a:r>
              <a:rPr lang="en-US" sz="2000" dirty="0"/>
              <a:t>Infeasibilities	0	</a:t>
            </a:r>
            <a:r>
              <a:rPr lang="en-US" sz="2000" b="1" dirty="0">
                <a:solidFill>
                  <a:srgbClr val="FF0000"/>
                </a:solidFill>
              </a:rPr>
              <a:t>1</a:t>
            </a:r>
            <a:r>
              <a:rPr lang="en-US" sz="2000" dirty="0"/>
              <a:t>	0	</a:t>
            </a:r>
            <a:r>
              <a:rPr lang="en-US" sz="2000" b="1" dirty="0">
                <a:solidFill>
                  <a:srgbClr val="FF0000"/>
                </a:solidFill>
              </a:rPr>
              <a:t>1</a:t>
            </a:r>
          </a:p>
          <a:p>
            <a:pPr>
              <a:spcBef>
                <a:spcPts val="600"/>
              </a:spcBef>
              <a:tabLst>
                <a:tab pos="2514600" algn="r"/>
                <a:tab pos="4005263" algn="r"/>
                <a:tab pos="5999163" algn="r"/>
                <a:tab pos="7488238" algn="r"/>
              </a:tabLst>
            </a:pPr>
            <a:r>
              <a:rPr lang="en-US" sz="2000" dirty="0" err="1"/>
              <a:t>t.Cpu</a:t>
            </a:r>
            <a:r>
              <a:rPr lang="en-US" sz="2000" dirty="0"/>
              <a:t>	33	29	7200	7200</a:t>
            </a:r>
          </a:p>
          <a:p>
            <a:pPr>
              <a:tabLst>
                <a:tab pos="2514600" algn="r"/>
                <a:tab pos="4005263" algn="r"/>
                <a:tab pos="5999163" algn="r"/>
                <a:tab pos="7488238" algn="r"/>
              </a:tabLst>
            </a:pPr>
            <a:r>
              <a:rPr lang="en-US" sz="2000" dirty="0"/>
              <a:t>Allocated capacities:</a:t>
            </a:r>
          </a:p>
          <a:p>
            <a:pPr>
              <a:spcBef>
                <a:spcPts val="600"/>
              </a:spcBef>
              <a:tabLst>
                <a:tab pos="2514600" algn="r"/>
                <a:tab pos="4005263" algn="r"/>
                <a:tab pos="5999163" algn="r"/>
                <a:tab pos="7488238" algn="r"/>
              </a:tabLst>
            </a:pPr>
            <a:r>
              <a:rPr lang="en-US" sz="2000" dirty="0"/>
              <a:t>Server 0	67 / 120	119 / 120	82 / 120	116 / 120</a:t>
            </a:r>
          </a:p>
          <a:p>
            <a:pPr>
              <a:spcBef>
                <a:spcPts val="600"/>
              </a:spcBef>
              <a:tabLst>
                <a:tab pos="2514600" algn="r"/>
                <a:tab pos="4005263" algn="r"/>
                <a:tab pos="5999163" algn="r"/>
                <a:tab pos="7488238" algn="r"/>
              </a:tabLst>
            </a:pPr>
            <a:r>
              <a:rPr lang="en-US" sz="2000" dirty="0"/>
              <a:t>Server 1	571 / 1000	430 / 1000	532 / 1000	428 / 1000</a:t>
            </a:r>
          </a:p>
          <a:p>
            <a:pPr>
              <a:spcBef>
                <a:spcPts val="600"/>
              </a:spcBef>
              <a:tabLst>
                <a:tab pos="2514600" algn="r"/>
                <a:tab pos="4005263" algn="r"/>
                <a:tab pos="5999163" algn="r"/>
                <a:tab pos="7488238" algn="r"/>
              </a:tabLst>
            </a:pPr>
            <a:r>
              <a:rPr lang="en-US" sz="2000" dirty="0"/>
              <a:t>Server 2	257 / 300	</a:t>
            </a:r>
            <a:r>
              <a:rPr lang="en-US" sz="2000" b="1" dirty="0">
                <a:solidFill>
                  <a:srgbClr val="FF0000"/>
                </a:solidFill>
              </a:rPr>
              <a:t>301 / 300</a:t>
            </a:r>
            <a:r>
              <a:rPr lang="en-US" sz="2000" dirty="0"/>
              <a:t>	257 / 300	</a:t>
            </a:r>
            <a:r>
              <a:rPr lang="en-US" sz="2000" b="1" dirty="0">
                <a:solidFill>
                  <a:srgbClr val="FF0000"/>
                </a:solidFill>
              </a:rPr>
              <a:t>303 / 300</a:t>
            </a:r>
          </a:p>
          <a:p>
            <a:pPr>
              <a:spcBef>
                <a:spcPts val="600"/>
              </a:spcBef>
              <a:tabLst>
                <a:tab pos="2514600" algn="r"/>
                <a:tab pos="4005263" algn="r"/>
                <a:tab pos="5999163" algn="r"/>
                <a:tab pos="7488238" algn="r"/>
              </a:tabLst>
            </a:pPr>
            <a:r>
              <a:rPr lang="en-US" sz="2000" dirty="0"/>
              <a:t>Server 3	128 / 180	173 / 180	152 / 180	176 / 180</a:t>
            </a:r>
          </a:p>
        </p:txBody>
      </p:sp>
      <p:sp>
        <p:nvSpPr>
          <p:cNvPr id="3" name="Title 2">
            <a:extLst>
              <a:ext uri="{FF2B5EF4-FFF2-40B4-BE49-F238E27FC236}">
                <a16:creationId xmlns:a16="http://schemas.microsoft.com/office/drawing/2014/main" id="{841179C6-8DE9-937F-61D2-AA2D78DBA0D4}"/>
              </a:ext>
            </a:extLst>
          </p:cNvPr>
          <p:cNvSpPr>
            <a:spLocks noGrp="1"/>
          </p:cNvSpPr>
          <p:nvPr>
            <p:ph type="title"/>
          </p:nvPr>
        </p:nvSpPr>
        <p:spPr/>
        <p:txBody>
          <a:bodyPr/>
          <a:lstStyle/>
          <a:p>
            <a:r>
              <a:rPr lang="it-IT" dirty="0" err="1"/>
              <a:t>Results</a:t>
            </a:r>
            <a:r>
              <a:rPr lang="it-IT" dirty="0"/>
              <a:t>, </a:t>
            </a:r>
            <a:r>
              <a:rPr lang="it-IT" dirty="0" err="1"/>
              <a:t>comparison</a:t>
            </a:r>
            <a:endParaRPr lang="en-US" dirty="0"/>
          </a:p>
        </p:txBody>
      </p:sp>
      <p:sp>
        <p:nvSpPr>
          <p:cNvPr id="4" name="Footer Placeholder 3">
            <a:extLst>
              <a:ext uri="{FF2B5EF4-FFF2-40B4-BE49-F238E27FC236}">
                <a16:creationId xmlns:a16="http://schemas.microsoft.com/office/drawing/2014/main" id="{35665839-C3EC-B1E7-64EA-1D329B3E029B}"/>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60736A9-2FA8-4BDE-37C7-680BE7EAD63E}"/>
              </a:ext>
            </a:extLst>
          </p:cNvPr>
          <p:cNvSpPr>
            <a:spLocks noGrp="1"/>
          </p:cNvSpPr>
          <p:nvPr>
            <p:ph type="sldNum" sz="quarter" idx="4"/>
          </p:nvPr>
        </p:nvSpPr>
        <p:spPr/>
        <p:txBody>
          <a:bodyPr/>
          <a:lstStyle/>
          <a:p>
            <a:pPr>
              <a:defRPr/>
            </a:pPr>
            <a:fld id="{476DEB1C-3253-4C07-8F02-456B7B2AD41D}" type="slidenum">
              <a:rPr lang="it-IT" smtClean="0"/>
              <a:pPr>
                <a:defRPr/>
              </a:pPr>
              <a:t>39</a:t>
            </a:fld>
            <a:endParaRPr lang="it-IT" dirty="0"/>
          </a:p>
        </p:txBody>
      </p:sp>
    </p:spTree>
    <p:extLst>
      <p:ext uri="{BB962C8B-B14F-4D97-AF65-F5344CB8AC3E}">
        <p14:creationId xmlns:p14="http://schemas.microsoft.com/office/powerpoint/2010/main" val="38389623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4B4448-CAFD-B4E2-E62A-767CDB4D6C99}"/>
              </a:ext>
            </a:extLst>
          </p:cNvPr>
          <p:cNvSpPr>
            <a:spLocks noGrp="1"/>
          </p:cNvSpPr>
          <p:nvPr>
            <p:ph idx="1"/>
          </p:nvPr>
        </p:nvSpPr>
        <p:spPr>
          <a:xfrm>
            <a:off x="298912" y="1173916"/>
            <a:ext cx="8546175" cy="5259392"/>
          </a:xfrm>
        </p:spPr>
        <p:txBody>
          <a:bodyPr>
            <a:normAutofit/>
          </a:bodyPr>
          <a:lstStyle/>
          <a:p>
            <a:pPr>
              <a:spcBef>
                <a:spcPts val="1200"/>
              </a:spcBef>
            </a:pPr>
            <a:r>
              <a:rPr lang="en-US" sz="2400" dirty="0">
                <a:solidFill>
                  <a:srgbClr val="C00000"/>
                </a:solidFill>
              </a:rPr>
              <a:t>Different forecasting algorithms </a:t>
            </a:r>
            <a:r>
              <a:rPr lang="en-US" sz="2400" dirty="0"/>
              <a:t>were tested and compared, in our case statistical forecasting was significantly more reliable than alternative AI-based methods. </a:t>
            </a:r>
          </a:p>
          <a:p>
            <a:pPr>
              <a:spcBef>
                <a:spcPts val="1200"/>
              </a:spcBef>
            </a:pPr>
            <a:r>
              <a:rPr lang="en-US" sz="2400" dirty="0">
                <a:solidFill>
                  <a:srgbClr val="C00000"/>
                </a:solidFill>
              </a:rPr>
              <a:t>Bootstrapped forecasting </a:t>
            </a:r>
            <a:r>
              <a:rPr lang="en-US" sz="2400" dirty="0"/>
              <a:t>identifies a probability distribution of future retailer requests, supporting data-driven scenario generation while considering both costs and forecast uncertainty.</a:t>
            </a:r>
          </a:p>
          <a:p>
            <a:pPr>
              <a:spcBef>
                <a:spcPts val="1200"/>
              </a:spcBef>
            </a:pPr>
            <a:r>
              <a:rPr lang="en-US" sz="2400" dirty="0"/>
              <a:t>The validity of the BESO approach, composed by MEB as a forecasting methodology and deterministic equivalent based on the bootstrapped series, </a:t>
            </a:r>
            <a:r>
              <a:rPr lang="en-US" dirty="0">
                <a:solidFill>
                  <a:srgbClr val="C00000"/>
                </a:solidFill>
              </a:rPr>
              <a:t>extends beyond the case study.</a:t>
            </a:r>
            <a:endParaRPr lang="en-US" sz="2400" dirty="0">
              <a:solidFill>
                <a:srgbClr val="C00000"/>
              </a:solidFill>
            </a:endParaRPr>
          </a:p>
          <a:p>
            <a:pPr>
              <a:spcBef>
                <a:spcPts val="1200"/>
              </a:spcBef>
            </a:pPr>
            <a:r>
              <a:rPr lang="en-US" sz="2400" dirty="0"/>
              <a:t>It can be of interest from an application perspective because of the </a:t>
            </a:r>
            <a:r>
              <a:rPr lang="en-US" sz="2400" dirty="0">
                <a:solidFill>
                  <a:srgbClr val="C00000"/>
                </a:solidFill>
              </a:rPr>
              <a:t>justified insights </a:t>
            </a:r>
            <a:r>
              <a:rPr lang="en-US" sz="2400" dirty="0"/>
              <a:t>it provides.</a:t>
            </a:r>
            <a:endParaRPr lang="it-IT" sz="2400" dirty="0"/>
          </a:p>
        </p:txBody>
      </p:sp>
      <p:sp>
        <p:nvSpPr>
          <p:cNvPr id="3" name="Title 2">
            <a:extLst>
              <a:ext uri="{FF2B5EF4-FFF2-40B4-BE49-F238E27FC236}">
                <a16:creationId xmlns:a16="http://schemas.microsoft.com/office/drawing/2014/main" id="{D04DAED7-D714-269C-7743-94197EFF4356}"/>
              </a:ext>
            </a:extLst>
          </p:cNvPr>
          <p:cNvSpPr>
            <a:spLocks noGrp="1"/>
          </p:cNvSpPr>
          <p:nvPr>
            <p:ph type="title"/>
          </p:nvPr>
        </p:nvSpPr>
        <p:spPr/>
        <p:txBody>
          <a:bodyPr/>
          <a:lstStyle/>
          <a:p>
            <a:r>
              <a:rPr lang="en-US" dirty="0"/>
              <a:t>Comments</a:t>
            </a:r>
            <a:endParaRPr lang="it-IT" dirty="0"/>
          </a:p>
        </p:txBody>
      </p:sp>
      <p:sp>
        <p:nvSpPr>
          <p:cNvPr id="4" name="Footer Placeholder 3">
            <a:extLst>
              <a:ext uri="{FF2B5EF4-FFF2-40B4-BE49-F238E27FC236}">
                <a16:creationId xmlns:a16="http://schemas.microsoft.com/office/drawing/2014/main" id="{FBD412EF-17C0-FCFB-E885-D4434F5F988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9BD00F7-5AC9-C4A4-D1C3-39483C05977A}"/>
              </a:ext>
            </a:extLst>
          </p:cNvPr>
          <p:cNvSpPr>
            <a:spLocks noGrp="1"/>
          </p:cNvSpPr>
          <p:nvPr>
            <p:ph type="sldNum" sz="quarter" idx="4"/>
          </p:nvPr>
        </p:nvSpPr>
        <p:spPr/>
        <p:txBody>
          <a:bodyPr/>
          <a:lstStyle/>
          <a:p>
            <a:pPr>
              <a:defRPr/>
            </a:pPr>
            <a:fld id="{476DEB1C-3253-4C07-8F02-456B7B2AD41D}" type="slidenum">
              <a:rPr lang="it-IT" smtClean="0"/>
              <a:pPr>
                <a:defRPr/>
              </a:pPr>
              <a:t>40</a:t>
            </a:fld>
            <a:endParaRPr lang="it-IT" dirty="0"/>
          </a:p>
        </p:txBody>
      </p:sp>
    </p:spTree>
    <p:extLst>
      <p:ext uri="{BB962C8B-B14F-4D97-AF65-F5344CB8AC3E}">
        <p14:creationId xmlns:p14="http://schemas.microsoft.com/office/powerpoint/2010/main" val="2356017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FDA0B6-806F-4B81-95A3-684F0CB27A29}"/>
              </a:ext>
            </a:extLst>
          </p:cNvPr>
          <p:cNvSpPr>
            <a:spLocks noGrp="1"/>
          </p:cNvSpPr>
          <p:nvPr>
            <p:ph idx="1"/>
          </p:nvPr>
        </p:nvSpPr>
        <p:spPr/>
        <p:txBody>
          <a:bodyPr>
            <a:normAutofit fontScale="92500" lnSpcReduction="20000"/>
          </a:bodyPr>
          <a:lstStyle/>
          <a:p>
            <a:r>
              <a:rPr lang="en-US" dirty="0"/>
              <a:t>In this case study we use bootstrapping and scenarios  (BESO-SAA) by:</a:t>
            </a:r>
          </a:p>
          <a:p>
            <a:pPr marL="342900" indent="-342900">
              <a:buFont typeface="Arial" panose="020B0604020202020204" pitchFamily="34" charset="0"/>
              <a:buChar char="•"/>
            </a:pPr>
            <a:r>
              <a:rPr lang="en-US" dirty="0"/>
              <a:t>Introducing a case study deriving from operation on </a:t>
            </a:r>
            <a:r>
              <a:rPr lang="en-US" dirty="0">
                <a:solidFill>
                  <a:schemeClr val="accent2"/>
                </a:solidFill>
              </a:rPr>
              <a:t>warehouse outbound </a:t>
            </a:r>
            <a:r>
              <a:rPr lang="en-US" dirty="0"/>
              <a:t>logistics.</a:t>
            </a:r>
          </a:p>
          <a:p>
            <a:pPr marL="342900" indent="-342900">
              <a:buFont typeface="Arial" panose="020B0604020202020204" pitchFamily="34" charset="0"/>
              <a:buChar char="•"/>
            </a:pPr>
            <a:r>
              <a:rPr lang="en-US" dirty="0"/>
              <a:t>Formulating the problem as a </a:t>
            </a:r>
            <a:r>
              <a:rPr lang="en-US" dirty="0">
                <a:solidFill>
                  <a:srgbClr val="C00000"/>
                </a:solidFill>
              </a:rPr>
              <a:t>stochastic optimization problem</a:t>
            </a:r>
            <a:r>
              <a:rPr lang="en-US" dirty="0"/>
              <a:t> in a prescriptive analytics context</a:t>
            </a:r>
          </a:p>
          <a:p>
            <a:pPr marL="342900" indent="-342900">
              <a:buFont typeface="Arial" panose="020B0604020202020204" pitchFamily="34" charset="0"/>
              <a:buChar char="•"/>
            </a:pPr>
            <a:r>
              <a:rPr lang="en-US" dirty="0"/>
              <a:t>Defining the </a:t>
            </a:r>
            <a:r>
              <a:rPr lang="en-US" dirty="0">
                <a:solidFill>
                  <a:srgbClr val="C00000"/>
                </a:solidFill>
              </a:rPr>
              <a:t>predictive module </a:t>
            </a:r>
            <a:r>
              <a:rPr lang="en-US" dirty="0"/>
              <a:t>on alternative forecasting techniques, including Maximum Entropy Bootstrap with bagging</a:t>
            </a:r>
          </a:p>
          <a:p>
            <a:pPr marL="342900" indent="-342900">
              <a:buFont typeface="Arial" panose="020B0604020202020204" pitchFamily="34" charset="0"/>
              <a:buChar char="•"/>
            </a:pPr>
            <a:r>
              <a:rPr lang="en-US" dirty="0"/>
              <a:t>Using the bootstrap set as a seed for scenario-based optimization (</a:t>
            </a:r>
            <a:r>
              <a:rPr lang="en-US" dirty="0">
                <a:solidFill>
                  <a:srgbClr val="C00000"/>
                </a:solidFill>
              </a:rPr>
              <a:t>BESO-SAA</a:t>
            </a:r>
            <a:r>
              <a:rPr lang="en-US" dirty="0"/>
              <a:t>)</a:t>
            </a:r>
          </a:p>
          <a:p>
            <a:pPr marL="342900" indent="-342900">
              <a:buFont typeface="Arial" panose="020B0604020202020204" pitchFamily="34" charset="0"/>
              <a:buChar char="•"/>
            </a:pPr>
            <a:r>
              <a:rPr lang="en-US" dirty="0"/>
              <a:t>Finally presenting </a:t>
            </a:r>
            <a:r>
              <a:rPr lang="en-US" dirty="0">
                <a:solidFill>
                  <a:srgbClr val="C00000"/>
                </a:solidFill>
              </a:rPr>
              <a:t>computational results</a:t>
            </a:r>
          </a:p>
        </p:txBody>
      </p:sp>
      <p:sp>
        <p:nvSpPr>
          <p:cNvPr id="3" name="Title 2">
            <a:extLst>
              <a:ext uri="{FF2B5EF4-FFF2-40B4-BE49-F238E27FC236}">
                <a16:creationId xmlns:a16="http://schemas.microsoft.com/office/drawing/2014/main" id="{3799E767-A90A-4392-A3CC-1E6B775FAD5F}"/>
              </a:ext>
            </a:extLst>
          </p:cNvPr>
          <p:cNvSpPr>
            <a:spLocks noGrp="1"/>
          </p:cNvSpPr>
          <p:nvPr>
            <p:ph type="title"/>
          </p:nvPr>
        </p:nvSpPr>
        <p:spPr/>
        <p:txBody>
          <a:bodyPr/>
          <a:lstStyle/>
          <a:p>
            <a:r>
              <a:rPr lang="en-US" dirty="0"/>
              <a:t>Warehousing application</a:t>
            </a:r>
          </a:p>
        </p:txBody>
      </p:sp>
      <p:sp>
        <p:nvSpPr>
          <p:cNvPr id="4" name="Footer Placeholder 3">
            <a:extLst>
              <a:ext uri="{FF2B5EF4-FFF2-40B4-BE49-F238E27FC236}">
                <a16:creationId xmlns:a16="http://schemas.microsoft.com/office/drawing/2014/main" id="{0E840E0A-900B-4723-8202-3D4A80E5463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FE9F00E-7A97-44CC-931E-6008B48F853C}"/>
              </a:ext>
            </a:extLst>
          </p:cNvPr>
          <p:cNvSpPr>
            <a:spLocks noGrp="1"/>
          </p:cNvSpPr>
          <p:nvPr>
            <p:ph type="sldNum" sz="quarter" idx="4"/>
          </p:nvPr>
        </p:nvSpPr>
        <p:spPr/>
        <p:txBody>
          <a:bodyPr/>
          <a:lstStyle/>
          <a:p>
            <a:pPr>
              <a:defRPr/>
            </a:pPr>
            <a:fld id="{476DEB1C-3253-4C07-8F02-456B7B2AD41D}" type="slidenum">
              <a:rPr lang="it-IT" smtClean="0"/>
              <a:pPr>
                <a:defRPr/>
              </a:pPr>
              <a:t>41</a:t>
            </a:fld>
            <a:endParaRPr lang="it-IT" dirty="0"/>
          </a:p>
        </p:txBody>
      </p:sp>
    </p:spTree>
    <p:extLst>
      <p:ext uri="{BB962C8B-B14F-4D97-AF65-F5344CB8AC3E}">
        <p14:creationId xmlns:p14="http://schemas.microsoft.com/office/powerpoint/2010/main" val="2804095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52A2C4C7-190E-9FDC-7400-E0AF08F9D05B}"/>
              </a:ext>
            </a:extLst>
          </p:cNvPr>
          <p:cNvPicPr>
            <a:picLocks noGrp="1" noChangeAspect="1"/>
          </p:cNvPicPr>
          <p:nvPr>
            <p:ph idx="1"/>
          </p:nvPr>
        </p:nvPicPr>
        <p:blipFill>
          <a:blip r:embed="rId2">
            <a:clrChange>
              <a:clrFrom>
                <a:srgbClr val="DADED5"/>
              </a:clrFrom>
              <a:clrTo>
                <a:srgbClr val="DADED5">
                  <a:alpha val="0"/>
                </a:srgbClr>
              </a:clrTo>
            </a:clrChange>
          </a:blip>
          <a:stretch>
            <a:fillRect/>
          </a:stretch>
        </p:blipFill>
        <p:spPr>
          <a:xfrm>
            <a:off x="535709" y="804048"/>
            <a:ext cx="7629236" cy="5836610"/>
          </a:xfrm>
        </p:spPr>
      </p:pic>
      <p:sp>
        <p:nvSpPr>
          <p:cNvPr id="3" name="Title 2">
            <a:extLst>
              <a:ext uri="{FF2B5EF4-FFF2-40B4-BE49-F238E27FC236}">
                <a16:creationId xmlns:a16="http://schemas.microsoft.com/office/drawing/2014/main" id="{B2C94CA3-8EDA-E13C-A909-CEAF51D68B49}"/>
              </a:ext>
            </a:extLst>
          </p:cNvPr>
          <p:cNvSpPr>
            <a:spLocks noGrp="1"/>
          </p:cNvSpPr>
          <p:nvPr>
            <p:ph type="title"/>
          </p:nvPr>
        </p:nvSpPr>
        <p:spPr/>
        <p:txBody>
          <a:bodyPr/>
          <a:lstStyle/>
          <a:p>
            <a:r>
              <a:rPr lang="it-IT" dirty="0"/>
              <a:t>A </a:t>
            </a:r>
            <a:r>
              <a:rPr lang="it-IT" dirty="0" err="1"/>
              <a:t>warehouse</a:t>
            </a:r>
            <a:endParaRPr lang="en-US" dirty="0"/>
          </a:p>
        </p:txBody>
      </p:sp>
      <p:sp>
        <p:nvSpPr>
          <p:cNvPr id="4" name="Footer Placeholder 3">
            <a:extLst>
              <a:ext uri="{FF2B5EF4-FFF2-40B4-BE49-F238E27FC236}">
                <a16:creationId xmlns:a16="http://schemas.microsoft.com/office/drawing/2014/main" id="{FCADAD29-1D2D-0869-DAFE-60FEA35C5D0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3AF2C34-6063-C4B5-84CB-9E46E54B80A2}"/>
              </a:ext>
            </a:extLst>
          </p:cNvPr>
          <p:cNvSpPr>
            <a:spLocks noGrp="1"/>
          </p:cNvSpPr>
          <p:nvPr>
            <p:ph type="sldNum" sz="quarter" idx="4"/>
          </p:nvPr>
        </p:nvSpPr>
        <p:spPr/>
        <p:txBody>
          <a:bodyPr/>
          <a:lstStyle/>
          <a:p>
            <a:pPr>
              <a:defRPr/>
            </a:pPr>
            <a:fld id="{476DEB1C-3253-4C07-8F02-456B7B2AD41D}" type="slidenum">
              <a:rPr lang="it-IT" smtClean="0"/>
              <a:pPr>
                <a:defRPr/>
              </a:pPr>
              <a:t>42</a:t>
            </a:fld>
            <a:endParaRPr lang="it-IT" dirty="0"/>
          </a:p>
        </p:txBody>
      </p:sp>
    </p:spTree>
    <p:extLst>
      <p:ext uri="{BB962C8B-B14F-4D97-AF65-F5344CB8AC3E}">
        <p14:creationId xmlns:p14="http://schemas.microsoft.com/office/powerpoint/2010/main" val="22032771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3D02E13-606C-AD6D-BBF6-31225FAA4390}"/>
              </a:ext>
            </a:extLst>
          </p:cNvPr>
          <p:cNvSpPr>
            <a:spLocks noGrp="1"/>
          </p:cNvSpPr>
          <p:nvPr>
            <p:ph type="sldNum" sz="quarter" idx="12"/>
          </p:nvPr>
        </p:nvSpPr>
        <p:spPr/>
        <p:txBody>
          <a:bodyPr/>
          <a:lstStyle/>
          <a:p>
            <a:pPr>
              <a:defRPr/>
            </a:pPr>
            <a:fld id="{476DEB1C-3253-4C07-8F02-456B7B2AD41D}" type="slidenum">
              <a:rPr lang="it-IT" smtClean="0"/>
              <a:pPr>
                <a:defRPr/>
              </a:pPr>
              <a:t>43</a:t>
            </a:fld>
            <a:endParaRPr lang="it-IT" dirty="0"/>
          </a:p>
        </p:txBody>
      </p:sp>
      <p:sp>
        <p:nvSpPr>
          <p:cNvPr id="3" name="Title 2">
            <a:extLst>
              <a:ext uri="{FF2B5EF4-FFF2-40B4-BE49-F238E27FC236}">
                <a16:creationId xmlns:a16="http://schemas.microsoft.com/office/drawing/2014/main" id="{60C14EFE-AEE1-0EEB-A0DD-1049E34DAC22}"/>
              </a:ext>
            </a:extLst>
          </p:cNvPr>
          <p:cNvSpPr>
            <a:spLocks noGrp="1"/>
          </p:cNvSpPr>
          <p:nvPr>
            <p:ph type="title"/>
          </p:nvPr>
        </p:nvSpPr>
        <p:spPr/>
        <p:txBody>
          <a:bodyPr/>
          <a:lstStyle/>
          <a:p>
            <a:r>
              <a:rPr lang="en-US" dirty="0"/>
              <a:t>Internal flows</a:t>
            </a:r>
          </a:p>
        </p:txBody>
      </p:sp>
      <p:sp>
        <p:nvSpPr>
          <p:cNvPr id="4" name="Footer Placeholder 3">
            <a:extLst>
              <a:ext uri="{FF2B5EF4-FFF2-40B4-BE49-F238E27FC236}">
                <a16:creationId xmlns:a16="http://schemas.microsoft.com/office/drawing/2014/main" id="{774F1007-7753-FF1A-BDF1-91E00845F9BD}"/>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6" name="Rectangle 5">
            <a:extLst>
              <a:ext uri="{FF2B5EF4-FFF2-40B4-BE49-F238E27FC236}">
                <a16:creationId xmlns:a16="http://schemas.microsoft.com/office/drawing/2014/main" id="{5EC87DA0-395F-4FA8-9196-10B7259D6497}"/>
              </a:ext>
            </a:extLst>
          </p:cNvPr>
          <p:cNvSpPr/>
          <p:nvPr/>
        </p:nvSpPr>
        <p:spPr>
          <a:xfrm>
            <a:off x="6217922" y="3130033"/>
            <a:ext cx="1316736" cy="749014"/>
          </a:xfrm>
          <a:prstGeom prst="rect">
            <a:avLst/>
          </a:prstGeom>
          <a:solidFill>
            <a:srgbClr val="92D050"/>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Staging areas</a:t>
            </a:r>
          </a:p>
        </p:txBody>
      </p:sp>
      <p:sp>
        <p:nvSpPr>
          <p:cNvPr id="7" name="Rectangle 6">
            <a:extLst>
              <a:ext uri="{FF2B5EF4-FFF2-40B4-BE49-F238E27FC236}">
                <a16:creationId xmlns:a16="http://schemas.microsoft.com/office/drawing/2014/main" id="{65B3F1E8-C0F3-4020-9606-C1C92490FC13}"/>
              </a:ext>
            </a:extLst>
          </p:cNvPr>
          <p:cNvSpPr/>
          <p:nvPr/>
        </p:nvSpPr>
        <p:spPr>
          <a:xfrm>
            <a:off x="2423161" y="1289719"/>
            <a:ext cx="1316736" cy="766769"/>
          </a:xfrm>
          <a:prstGeom prst="rect">
            <a:avLst/>
          </a:prstGeom>
          <a:solidFill>
            <a:schemeClr val="accent1">
              <a:lumMod val="40000"/>
              <a:lumOff val="6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Satellite storage</a:t>
            </a:r>
          </a:p>
        </p:txBody>
      </p:sp>
      <p:sp>
        <p:nvSpPr>
          <p:cNvPr id="8" name="Rectangle 7">
            <a:extLst>
              <a:ext uri="{FF2B5EF4-FFF2-40B4-BE49-F238E27FC236}">
                <a16:creationId xmlns:a16="http://schemas.microsoft.com/office/drawing/2014/main" id="{380959DE-3012-4BDA-9856-0FECAC87237C}"/>
              </a:ext>
            </a:extLst>
          </p:cNvPr>
          <p:cNvSpPr/>
          <p:nvPr/>
        </p:nvSpPr>
        <p:spPr>
          <a:xfrm>
            <a:off x="2423161" y="5047045"/>
            <a:ext cx="1316736"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X-dock</a:t>
            </a:r>
          </a:p>
        </p:txBody>
      </p:sp>
      <p:sp>
        <p:nvSpPr>
          <p:cNvPr id="9" name="Rectangle 8">
            <a:extLst>
              <a:ext uri="{FF2B5EF4-FFF2-40B4-BE49-F238E27FC236}">
                <a16:creationId xmlns:a16="http://schemas.microsoft.com/office/drawing/2014/main" id="{CCDD94CF-AC35-455F-B625-6B15C5343260}"/>
              </a:ext>
            </a:extLst>
          </p:cNvPr>
          <p:cNvSpPr/>
          <p:nvPr/>
        </p:nvSpPr>
        <p:spPr>
          <a:xfrm>
            <a:off x="2404875" y="3135744"/>
            <a:ext cx="1316736" cy="766769"/>
          </a:xfrm>
          <a:prstGeom prst="rect">
            <a:avLst/>
          </a:prstGeom>
          <a:solidFill>
            <a:schemeClr val="accent2">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Production</a:t>
            </a:r>
          </a:p>
        </p:txBody>
      </p:sp>
      <p:sp>
        <p:nvSpPr>
          <p:cNvPr id="10" name="Rectangle 9">
            <a:extLst>
              <a:ext uri="{FF2B5EF4-FFF2-40B4-BE49-F238E27FC236}">
                <a16:creationId xmlns:a16="http://schemas.microsoft.com/office/drawing/2014/main" id="{D2398261-7912-485E-A875-001E3566C824}"/>
              </a:ext>
            </a:extLst>
          </p:cNvPr>
          <p:cNvSpPr/>
          <p:nvPr/>
        </p:nvSpPr>
        <p:spPr>
          <a:xfrm>
            <a:off x="676656" y="3129864"/>
            <a:ext cx="1316736" cy="766769"/>
          </a:xfrm>
          <a:prstGeom prst="rect">
            <a:avLst/>
          </a:prstGeom>
          <a:solidFill>
            <a:schemeClr val="accent2">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Line feed area</a:t>
            </a:r>
          </a:p>
        </p:txBody>
      </p:sp>
      <p:sp>
        <p:nvSpPr>
          <p:cNvPr id="11" name="Rectangle 10">
            <a:extLst>
              <a:ext uri="{FF2B5EF4-FFF2-40B4-BE49-F238E27FC236}">
                <a16:creationId xmlns:a16="http://schemas.microsoft.com/office/drawing/2014/main" id="{6C96A233-9230-4EF7-9CAF-FBB7BF214AC1}"/>
              </a:ext>
            </a:extLst>
          </p:cNvPr>
          <p:cNvSpPr/>
          <p:nvPr/>
        </p:nvSpPr>
        <p:spPr>
          <a:xfrm>
            <a:off x="4379979" y="4416552"/>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AS/RS area</a:t>
            </a:r>
          </a:p>
        </p:txBody>
      </p:sp>
      <p:sp>
        <p:nvSpPr>
          <p:cNvPr id="12" name="Rectangle 11">
            <a:extLst>
              <a:ext uri="{FF2B5EF4-FFF2-40B4-BE49-F238E27FC236}">
                <a16:creationId xmlns:a16="http://schemas.microsoft.com/office/drawing/2014/main" id="{210549E6-3DB7-4EB7-8C51-6B4B81B368E8}"/>
              </a:ext>
            </a:extLst>
          </p:cNvPr>
          <p:cNvSpPr/>
          <p:nvPr/>
        </p:nvSpPr>
        <p:spPr>
          <a:xfrm>
            <a:off x="4379979" y="3129864"/>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ts val="1800"/>
              </a:lnSpc>
            </a:pPr>
            <a:r>
              <a:rPr lang="en-US" b="1" i="0" dirty="0">
                <a:solidFill>
                  <a:srgbClr val="2C2C36"/>
                </a:solidFill>
                <a:effectLst/>
              </a:rPr>
              <a:t>Bulk storage area</a:t>
            </a:r>
          </a:p>
        </p:txBody>
      </p:sp>
      <p:sp>
        <p:nvSpPr>
          <p:cNvPr id="13" name="Rectangle 12">
            <a:extLst>
              <a:ext uri="{FF2B5EF4-FFF2-40B4-BE49-F238E27FC236}">
                <a16:creationId xmlns:a16="http://schemas.microsoft.com/office/drawing/2014/main" id="{5F599203-F5B2-47C8-BC4B-53F29814DD08}"/>
              </a:ext>
            </a:extLst>
          </p:cNvPr>
          <p:cNvSpPr/>
          <p:nvPr/>
        </p:nvSpPr>
        <p:spPr>
          <a:xfrm>
            <a:off x="4379979" y="1861548"/>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Fast-pick area</a:t>
            </a:r>
          </a:p>
        </p:txBody>
      </p:sp>
      <p:sp>
        <p:nvSpPr>
          <p:cNvPr id="14" name="Rectangle 13">
            <a:extLst>
              <a:ext uri="{FF2B5EF4-FFF2-40B4-BE49-F238E27FC236}">
                <a16:creationId xmlns:a16="http://schemas.microsoft.com/office/drawing/2014/main" id="{127BE994-171A-4718-BD7E-D274F1B9C8FB}"/>
              </a:ext>
            </a:extLst>
          </p:cNvPr>
          <p:cNvSpPr/>
          <p:nvPr/>
        </p:nvSpPr>
        <p:spPr>
          <a:xfrm>
            <a:off x="8065008" y="3130034"/>
            <a:ext cx="978410" cy="749014"/>
          </a:xfrm>
          <a:prstGeom prst="rect">
            <a:avLst/>
          </a:prstGeom>
          <a:solidFill>
            <a:srgbClr val="FFFF00"/>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Loading bays</a:t>
            </a:r>
          </a:p>
        </p:txBody>
      </p:sp>
      <p:cxnSp>
        <p:nvCxnSpPr>
          <p:cNvPr id="16" name="Straight Arrow Connector 15">
            <a:extLst>
              <a:ext uri="{FF2B5EF4-FFF2-40B4-BE49-F238E27FC236}">
                <a16:creationId xmlns:a16="http://schemas.microsoft.com/office/drawing/2014/main" id="{93E48BD4-9181-4781-8473-863332CDD30E}"/>
              </a:ext>
            </a:extLst>
          </p:cNvPr>
          <p:cNvCxnSpPr>
            <a:cxnSpLocks/>
            <a:endCxn id="7" idx="1"/>
          </p:cNvCxnSpPr>
          <p:nvPr/>
        </p:nvCxnSpPr>
        <p:spPr>
          <a:xfrm>
            <a:off x="356616" y="1673104"/>
            <a:ext cx="206654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1A27991-FF17-448A-A405-10B5D6204306}"/>
              </a:ext>
            </a:extLst>
          </p:cNvPr>
          <p:cNvCxnSpPr>
            <a:endCxn id="10" idx="1"/>
          </p:cNvCxnSpPr>
          <p:nvPr/>
        </p:nvCxnSpPr>
        <p:spPr>
          <a:xfrm>
            <a:off x="356616" y="3513248"/>
            <a:ext cx="320040"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A76051C-7B5D-4790-B4D3-B34FB0E0A0EB}"/>
              </a:ext>
            </a:extLst>
          </p:cNvPr>
          <p:cNvCxnSpPr>
            <a:cxnSpLocks/>
            <a:endCxn id="8" idx="1"/>
          </p:cNvCxnSpPr>
          <p:nvPr/>
        </p:nvCxnSpPr>
        <p:spPr>
          <a:xfrm flipV="1">
            <a:off x="356616" y="5430430"/>
            <a:ext cx="2066545" cy="280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F379C2B-1D85-467F-B248-B25CC4B85695}"/>
              </a:ext>
            </a:extLst>
          </p:cNvPr>
          <p:cNvCxnSpPr>
            <a:stCxn id="10" idx="3"/>
            <a:endCxn id="9" idx="1"/>
          </p:cNvCxnSpPr>
          <p:nvPr/>
        </p:nvCxnSpPr>
        <p:spPr>
          <a:xfrm>
            <a:off x="1993392" y="3513249"/>
            <a:ext cx="411483" cy="5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2DB5AE-9E3B-4BDB-8DD4-321DF63046D8}"/>
              </a:ext>
            </a:extLst>
          </p:cNvPr>
          <p:cNvCxnSpPr>
            <a:cxnSpLocks/>
            <a:stCxn id="6" idx="3"/>
            <a:endCxn id="14" idx="1"/>
          </p:cNvCxnSpPr>
          <p:nvPr/>
        </p:nvCxnSpPr>
        <p:spPr>
          <a:xfrm>
            <a:off x="7534658" y="3504540"/>
            <a:ext cx="530350"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73CF82A-992A-461A-B474-08204B28B3E9}"/>
              </a:ext>
            </a:extLst>
          </p:cNvPr>
          <p:cNvCxnSpPr>
            <a:stCxn id="12" idx="3"/>
            <a:endCxn id="6" idx="1"/>
          </p:cNvCxnSpPr>
          <p:nvPr/>
        </p:nvCxnSpPr>
        <p:spPr>
          <a:xfrm flipV="1">
            <a:off x="5586987" y="3504540"/>
            <a:ext cx="630935" cy="870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BED3A25-B369-43D5-AEBE-BF58BCA5BE55}"/>
              </a:ext>
            </a:extLst>
          </p:cNvPr>
          <p:cNvCxnSpPr>
            <a:stCxn id="9" idx="3"/>
            <a:endCxn id="12" idx="1"/>
          </p:cNvCxnSpPr>
          <p:nvPr/>
        </p:nvCxnSpPr>
        <p:spPr>
          <a:xfrm flipV="1">
            <a:off x="3721611" y="3513249"/>
            <a:ext cx="658368" cy="5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Freeform: Shape 37">
            <a:extLst>
              <a:ext uri="{FF2B5EF4-FFF2-40B4-BE49-F238E27FC236}">
                <a16:creationId xmlns:a16="http://schemas.microsoft.com/office/drawing/2014/main" id="{702D2A63-9981-4984-89E8-F03B0B458333}"/>
              </a:ext>
            </a:extLst>
          </p:cNvPr>
          <p:cNvSpPr/>
          <p:nvPr/>
        </p:nvSpPr>
        <p:spPr>
          <a:xfrm>
            <a:off x="3749039" y="3895344"/>
            <a:ext cx="3195829" cy="1570500"/>
          </a:xfrm>
          <a:custGeom>
            <a:avLst/>
            <a:gdLst>
              <a:gd name="connsiteX0" fmla="*/ 0 w 3389424"/>
              <a:gd name="connsiteY0" fmla="*/ 1563624 h 1619936"/>
              <a:gd name="connsiteX1" fmla="*/ 2304288 w 3389424"/>
              <a:gd name="connsiteY1" fmla="*/ 1563624 h 1619936"/>
              <a:gd name="connsiteX2" fmla="*/ 3227832 w 3389424"/>
              <a:gd name="connsiteY2" fmla="*/ 978408 h 1619936"/>
              <a:gd name="connsiteX3" fmla="*/ 3383280 w 3389424"/>
              <a:gd name="connsiteY3" fmla="*/ 0 h 1619936"/>
              <a:gd name="connsiteX0" fmla="*/ 0 w 3389424"/>
              <a:gd name="connsiteY0" fmla="*/ 1563624 h 1590554"/>
              <a:gd name="connsiteX1" fmla="*/ 2333341 w 3389424"/>
              <a:gd name="connsiteY1" fmla="*/ 1499616 h 1590554"/>
              <a:gd name="connsiteX2" fmla="*/ 3227832 w 3389424"/>
              <a:gd name="connsiteY2" fmla="*/ 978408 h 1590554"/>
              <a:gd name="connsiteX3" fmla="*/ 3383280 w 3389424"/>
              <a:gd name="connsiteY3" fmla="*/ 0 h 1590554"/>
              <a:gd name="connsiteX0" fmla="*/ 0 w 3390947"/>
              <a:gd name="connsiteY0" fmla="*/ 1563624 h 1590554"/>
              <a:gd name="connsiteX1" fmla="*/ 2333341 w 3390947"/>
              <a:gd name="connsiteY1" fmla="*/ 1499616 h 1590554"/>
              <a:gd name="connsiteX2" fmla="*/ 3227832 w 3390947"/>
              <a:gd name="connsiteY2" fmla="*/ 978408 h 1590554"/>
              <a:gd name="connsiteX3" fmla="*/ 3383280 w 3390947"/>
              <a:gd name="connsiteY3" fmla="*/ 0 h 1590554"/>
              <a:gd name="connsiteX0" fmla="*/ 0 w 3390947"/>
              <a:gd name="connsiteY0" fmla="*/ 1563624 h 1570500"/>
              <a:gd name="connsiteX1" fmla="*/ 2333341 w 3390947"/>
              <a:gd name="connsiteY1" fmla="*/ 1499616 h 1570500"/>
              <a:gd name="connsiteX2" fmla="*/ 3227832 w 3390947"/>
              <a:gd name="connsiteY2" fmla="*/ 978408 h 1570500"/>
              <a:gd name="connsiteX3" fmla="*/ 3383280 w 3390947"/>
              <a:gd name="connsiteY3" fmla="*/ 0 h 1570500"/>
              <a:gd name="connsiteX0" fmla="*/ 0 w 3386741"/>
              <a:gd name="connsiteY0" fmla="*/ 1563624 h 1570500"/>
              <a:gd name="connsiteX1" fmla="*/ 2333341 w 3386741"/>
              <a:gd name="connsiteY1" fmla="*/ 1499616 h 1570500"/>
              <a:gd name="connsiteX2" fmla="*/ 3227832 w 3386741"/>
              <a:gd name="connsiteY2" fmla="*/ 978408 h 1570500"/>
              <a:gd name="connsiteX3" fmla="*/ 3383280 w 3386741"/>
              <a:gd name="connsiteY3" fmla="*/ 0 h 1570500"/>
              <a:gd name="connsiteX0" fmla="*/ 0 w 3390947"/>
              <a:gd name="connsiteY0" fmla="*/ 1563624 h 1570500"/>
              <a:gd name="connsiteX1" fmla="*/ 2333341 w 3390947"/>
              <a:gd name="connsiteY1" fmla="*/ 1499616 h 1570500"/>
              <a:gd name="connsiteX2" fmla="*/ 3227832 w 3390947"/>
              <a:gd name="connsiteY2" fmla="*/ 978408 h 1570500"/>
              <a:gd name="connsiteX3" fmla="*/ 3383280 w 3390947"/>
              <a:gd name="connsiteY3" fmla="*/ 0 h 1570500"/>
              <a:gd name="connsiteX0" fmla="*/ 0 w 3388185"/>
              <a:gd name="connsiteY0" fmla="*/ 1563624 h 1570500"/>
              <a:gd name="connsiteX1" fmla="*/ 2333341 w 3388185"/>
              <a:gd name="connsiteY1" fmla="*/ 1499616 h 1570500"/>
              <a:gd name="connsiteX2" fmla="*/ 3227832 w 3388185"/>
              <a:gd name="connsiteY2" fmla="*/ 978408 h 1570500"/>
              <a:gd name="connsiteX3" fmla="*/ 3383280 w 3388185"/>
              <a:gd name="connsiteY3" fmla="*/ 0 h 1570500"/>
              <a:gd name="connsiteX0" fmla="*/ 0 w 3384583"/>
              <a:gd name="connsiteY0" fmla="*/ 1563624 h 1570500"/>
              <a:gd name="connsiteX1" fmla="*/ 2333341 w 3384583"/>
              <a:gd name="connsiteY1" fmla="*/ 1499616 h 1570500"/>
              <a:gd name="connsiteX2" fmla="*/ 3227832 w 3384583"/>
              <a:gd name="connsiteY2" fmla="*/ 978408 h 1570500"/>
              <a:gd name="connsiteX3" fmla="*/ 3383280 w 3384583"/>
              <a:gd name="connsiteY3" fmla="*/ 0 h 1570500"/>
            </a:gdLst>
            <a:ahLst/>
            <a:cxnLst>
              <a:cxn ang="0">
                <a:pos x="connsiteX0" y="connsiteY0"/>
              </a:cxn>
              <a:cxn ang="0">
                <a:pos x="connsiteX1" y="connsiteY1"/>
              </a:cxn>
              <a:cxn ang="0">
                <a:pos x="connsiteX2" y="connsiteY2"/>
              </a:cxn>
              <a:cxn ang="0">
                <a:pos x="connsiteX3" y="connsiteY3"/>
              </a:cxn>
            </a:cxnLst>
            <a:rect l="l" t="t" r="r" b="b"/>
            <a:pathLst>
              <a:path w="3384583" h="1570500">
                <a:moveTo>
                  <a:pt x="0" y="1563624"/>
                </a:moveTo>
                <a:cubicBezTo>
                  <a:pt x="960630" y="1566672"/>
                  <a:pt x="1795369" y="1597152"/>
                  <a:pt x="2333341" y="1499616"/>
                </a:cubicBezTo>
                <a:cubicBezTo>
                  <a:pt x="2871313" y="1402080"/>
                  <a:pt x="3048000" y="1239012"/>
                  <a:pt x="3227832" y="978408"/>
                </a:cubicBezTo>
                <a:cubicBezTo>
                  <a:pt x="3320508" y="790956"/>
                  <a:pt x="3395472" y="660654"/>
                  <a:pt x="3383280" y="0"/>
                </a:cubicBezTo>
              </a:path>
            </a:pathLst>
          </a:custGeom>
          <a:noFill/>
          <a:ln>
            <a:solidFill>
              <a:schemeClr val="tx1"/>
            </a:solidFill>
            <a:tailEnd type="triangle"/>
          </a:ln>
        </p:spPr>
        <p:style>
          <a:lnRef idx="3">
            <a:schemeClr val="lt1"/>
          </a:lnRef>
          <a:fillRef idx="1">
            <a:schemeClr val="accent2"/>
          </a:fillRef>
          <a:effectRef idx="1">
            <a:schemeClr val="accent2"/>
          </a:effectRef>
          <a:fontRef idx="minor">
            <a:schemeClr val="lt1"/>
          </a:fontRef>
        </p:style>
        <p:txBody>
          <a:bodyPr rtlCol="0" anchor="ctr"/>
          <a:lstStyle/>
          <a:p>
            <a:pPr algn="ctr"/>
            <a:endParaRPr lang="en-US" b="1" dirty="0"/>
          </a:p>
        </p:txBody>
      </p:sp>
      <p:cxnSp>
        <p:nvCxnSpPr>
          <p:cNvPr id="40" name="Straight Arrow Connector 39">
            <a:extLst>
              <a:ext uri="{FF2B5EF4-FFF2-40B4-BE49-F238E27FC236}">
                <a16:creationId xmlns:a16="http://schemas.microsoft.com/office/drawing/2014/main" id="{36285746-C370-4A06-8C94-81AFE0ADA944}"/>
              </a:ext>
            </a:extLst>
          </p:cNvPr>
          <p:cNvCxnSpPr>
            <a:stCxn id="7" idx="3"/>
            <a:endCxn id="13" idx="1"/>
          </p:cNvCxnSpPr>
          <p:nvPr/>
        </p:nvCxnSpPr>
        <p:spPr>
          <a:xfrm>
            <a:off x="3739897" y="1673104"/>
            <a:ext cx="640082" cy="5718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E660F959-2982-4D43-81E3-8087E53FD3E4}"/>
              </a:ext>
            </a:extLst>
          </p:cNvPr>
          <p:cNvCxnSpPr>
            <a:cxnSpLocks/>
            <a:stCxn id="7" idx="3"/>
          </p:cNvCxnSpPr>
          <p:nvPr/>
        </p:nvCxnSpPr>
        <p:spPr>
          <a:xfrm>
            <a:off x="3739897" y="1673104"/>
            <a:ext cx="640082" cy="168035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1417BFB-1498-45B4-AE56-7025BAFBFC0A}"/>
              </a:ext>
            </a:extLst>
          </p:cNvPr>
          <p:cNvCxnSpPr>
            <a:cxnSpLocks/>
            <a:stCxn id="9" idx="3"/>
          </p:cNvCxnSpPr>
          <p:nvPr/>
        </p:nvCxnSpPr>
        <p:spPr>
          <a:xfrm flipV="1">
            <a:off x="3721611" y="2410602"/>
            <a:ext cx="658368"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4DCCC07E-D06B-4790-BBC1-BE52821AB134}"/>
              </a:ext>
            </a:extLst>
          </p:cNvPr>
          <p:cNvCxnSpPr>
            <a:stCxn id="9" idx="3"/>
            <a:endCxn id="11" idx="1"/>
          </p:cNvCxnSpPr>
          <p:nvPr/>
        </p:nvCxnSpPr>
        <p:spPr>
          <a:xfrm>
            <a:off x="3721611" y="3519129"/>
            <a:ext cx="658368" cy="12808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E58F0E8-416D-4F8A-A080-81BFB5D0429F}"/>
              </a:ext>
            </a:extLst>
          </p:cNvPr>
          <p:cNvCxnSpPr>
            <a:cxnSpLocks/>
            <a:stCxn id="13" idx="3"/>
          </p:cNvCxnSpPr>
          <p:nvPr/>
        </p:nvCxnSpPr>
        <p:spPr>
          <a:xfrm>
            <a:off x="5586987" y="2244933"/>
            <a:ext cx="630935"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130E29F-C86A-4CB7-8691-77CE64B3DBC3}"/>
              </a:ext>
            </a:extLst>
          </p:cNvPr>
          <p:cNvCxnSpPr>
            <a:cxnSpLocks/>
            <a:stCxn id="11" idx="3"/>
          </p:cNvCxnSpPr>
          <p:nvPr/>
        </p:nvCxnSpPr>
        <p:spPr>
          <a:xfrm flipV="1">
            <a:off x="5586987" y="3691410"/>
            <a:ext cx="630935"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16186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0052556-6D38-7D2A-86AA-DEDB14BD04F7}"/>
              </a:ext>
            </a:extLst>
          </p:cNvPr>
          <p:cNvSpPr>
            <a:spLocks noGrp="1"/>
          </p:cNvSpPr>
          <p:nvPr>
            <p:ph idx="1"/>
          </p:nvPr>
        </p:nvSpPr>
        <p:spPr>
          <a:xfrm>
            <a:off x="298907" y="1038749"/>
            <a:ext cx="8546175" cy="1381025"/>
          </a:xfrm>
        </p:spPr>
        <p:txBody>
          <a:bodyPr>
            <a:normAutofit/>
          </a:bodyPr>
          <a:lstStyle/>
          <a:p>
            <a:r>
              <a:rPr lang="en-US" sz="2400" dirty="0"/>
              <a:t>The problem was to determine if and when the current infrastructure would </a:t>
            </a:r>
            <a:r>
              <a:rPr lang="en-US" sz="2400" dirty="0">
                <a:solidFill>
                  <a:schemeClr val="accent2"/>
                </a:solidFill>
              </a:rPr>
              <a:t>become insufficient </a:t>
            </a:r>
            <a:r>
              <a:rPr lang="en-US" sz="2400" dirty="0"/>
              <a:t>to accommodate all outbound requests.</a:t>
            </a:r>
          </a:p>
        </p:txBody>
      </p:sp>
      <p:sp>
        <p:nvSpPr>
          <p:cNvPr id="5" name="Title 4">
            <a:extLst>
              <a:ext uri="{FF2B5EF4-FFF2-40B4-BE49-F238E27FC236}">
                <a16:creationId xmlns:a16="http://schemas.microsoft.com/office/drawing/2014/main" id="{31051356-9730-A997-72E2-D0063FE629B1}"/>
              </a:ext>
            </a:extLst>
          </p:cNvPr>
          <p:cNvSpPr>
            <a:spLocks noGrp="1"/>
          </p:cNvSpPr>
          <p:nvPr>
            <p:ph type="title"/>
          </p:nvPr>
        </p:nvSpPr>
        <p:spPr/>
        <p:txBody>
          <a:bodyPr/>
          <a:lstStyle/>
          <a:p>
            <a:r>
              <a:rPr lang="it-IT" dirty="0" err="1"/>
              <a:t>Daily</a:t>
            </a:r>
            <a:r>
              <a:rPr lang="it-IT" dirty="0"/>
              <a:t> </a:t>
            </a:r>
            <a:r>
              <a:rPr lang="it-IT" dirty="0" err="1"/>
              <a:t>number</a:t>
            </a:r>
            <a:r>
              <a:rPr lang="it-IT" dirty="0"/>
              <a:t> of </a:t>
            </a:r>
            <a:r>
              <a:rPr lang="it-IT" dirty="0" err="1"/>
              <a:t>outbound</a:t>
            </a:r>
            <a:r>
              <a:rPr lang="it-IT" dirty="0"/>
              <a:t> </a:t>
            </a:r>
            <a:r>
              <a:rPr lang="it-IT" dirty="0" err="1"/>
              <a:t>SKUs</a:t>
            </a:r>
            <a:endParaRPr lang="en-US" dirty="0"/>
          </a:p>
        </p:txBody>
      </p:sp>
      <p:sp>
        <p:nvSpPr>
          <p:cNvPr id="4" name="Footer Placeholder 3">
            <a:extLst>
              <a:ext uri="{FF2B5EF4-FFF2-40B4-BE49-F238E27FC236}">
                <a16:creationId xmlns:a16="http://schemas.microsoft.com/office/drawing/2014/main" id="{F9C292A2-880F-8C00-6377-5A677F00E1B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2" name="Slide Number Placeholder 1">
            <a:extLst>
              <a:ext uri="{FF2B5EF4-FFF2-40B4-BE49-F238E27FC236}">
                <a16:creationId xmlns:a16="http://schemas.microsoft.com/office/drawing/2014/main" id="{83B7EB85-5A3C-9379-CC79-C2D704881DB4}"/>
              </a:ext>
            </a:extLst>
          </p:cNvPr>
          <p:cNvSpPr>
            <a:spLocks noGrp="1"/>
          </p:cNvSpPr>
          <p:nvPr>
            <p:ph type="sldNum" sz="quarter" idx="4"/>
          </p:nvPr>
        </p:nvSpPr>
        <p:spPr/>
        <p:txBody>
          <a:bodyPr/>
          <a:lstStyle/>
          <a:p>
            <a:pPr>
              <a:defRPr/>
            </a:pPr>
            <a:fld id="{476DEB1C-3253-4C07-8F02-456B7B2AD41D}" type="slidenum">
              <a:rPr lang="it-IT" smtClean="0"/>
              <a:pPr>
                <a:defRPr/>
              </a:pPr>
              <a:t>44</a:t>
            </a:fld>
            <a:endParaRPr lang="it-IT" dirty="0"/>
          </a:p>
        </p:txBody>
      </p:sp>
      <p:pic>
        <p:nvPicPr>
          <p:cNvPr id="10" name="Picture 9">
            <a:extLst>
              <a:ext uri="{FF2B5EF4-FFF2-40B4-BE49-F238E27FC236}">
                <a16:creationId xmlns:a16="http://schemas.microsoft.com/office/drawing/2014/main" id="{80DDFDCA-7DDC-91BE-6248-DC70520D991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2287015" y="1739595"/>
            <a:ext cx="5584776" cy="4184034"/>
          </a:xfrm>
          <a:prstGeom prst="rect">
            <a:avLst/>
          </a:prstGeom>
        </p:spPr>
      </p:pic>
      <p:sp>
        <p:nvSpPr>
          <p:cNvPr id="3" name="Content Placeholder 5">
            <a:extLst>
              <a:ext uri="{FF2B5EF4-FFF2-40B4-BE49-F238E27FC236}">
                <a16:creationId xmlns:a16="http://schemas.microsoft.com/office/drawing/2014/main" id="{D9749FFF-7120-C370-EFC2-2895C2308767}"/>
              </a:ext>
            </a:extLst>
          </p:cNvPr>
          <p:cNvSpPr txBox="1">
            <a:spLocks/>
          </p:cNvSpPr>
          <p:nvPr/>
        </p:nvSpPr>
        <p:spPr>
          <a:xfrm>
            <a:off x="212768" y="5860112"/>
            <a:ext cx="8546175" cy="704925"/>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r>
              <a:rPr lang="en-US" sz="2400" dirty="0"/>
              <a:t>A series was available reporting the number of pallets (SKU) and corresponding daily trucks (shipments) serviced at the warehouse.</a:t>
            </a:r>
          </a:p>
        </p:txBody>
      </p:sp>
    </p:spTree>
    <p:extLst>
      <p:ext uri="{BB962C8B-B14F-4D97-AF65-F5344CB8AC3E}">
        <p14:creationId xmlns:p14="http://schemas.microsoft.com/office/powerpoint/2010/main" val="34664065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0ADE32-EAEF-BA98-C8E5-4C0A5A394605}"/>
              </a:ext>
            </a:extLst>
          </p:cNvPr>
          <p:cNvSpPr>
            <a:spLocks noGrp="1"/>
          </p:cNvSpPr>
          <p:nvPr>
            <p:ph idx="1"/>
          </p:nvPr>
        </p:nvSpPr>
        <p:spPr>
          <a:xfrm>
            <a:off x="298907" y="967729"/>
            <a:ext cx="8546175" cy="766770"/>
          </a:xfrm>
        </p:spPr>
        <p:txBody>
          <a:bodyPr>
            <a:normAutofit/>
          </a:bodyPr>
          <a:lstStyle/>
          <a:p>
            <a:r>
              <a:rPr lang="it-IT" sz="2400" dirty="0" err="1"/>
              <a:t>Separating</a:t>
            </a:r>
            <a:r>
              <a:rPr lang="it-IT" sz="2400" dirty="0"/>
              <a:t> the </a:t>
            </a:r>
            <a:r>
              <a:rPr lang="it-IT" sz="2400" dirty="0" err="1"/>
              <a:t>outbound</a:t>
            </a:r>
            <a:r>
              <a:rPr lang="it-IT" sz="2400" dirty="0"/>
              <a:t> </a:t>
            </a:r>
            <a:r>
              <a:rPr lang="it-IT" sz="2400" dirty="0" err="1"/>
              <a:t>requests</a:t>
            </a:r>
            <a:r>
              <a:rPr lang="it-IT" sz="2400" dirty="0"/>
              <a:t> for </a:t>
            </a:r>
            <a:r>
              <a:rPr lang="it-IT" sz="2400" dirty="0" err="1"/>
              <a:t>each</a:t>
            </a:r>
            <a:r>
              <a:rPr lang="it-IT" sz="2400" dirty="0"/>
              <a:t> day of the week.</a:t>
            </a:r>
            <a:endParaRPr lang="en-US" sz="2400" dirty="0"/>
          </a:p>
        </p:txBody>
      </p:sp>
      <p:sp>
        <p:nvSpPr>
          <p:cNvPr id="3" name="Title 2">
            <a:extLst>
              <a:ext uri="{FF2B5EF4-FFF2-40B4-BE49-F238E27FC236}">
                <a16:creationId xmlns:a16="http://schemas.microsoft.com/office/drawing/2014/main" id="{24D91D7E-FB88-758E-31BF-676D1F933740}"/>
              </a:ext>
            </a:extLst>
          </p:cNvPr>
          <p:cNvSpPr>
            <a:spLocks noGrp="1"/>
          </p:cNvSpPr>
          <p:nvPr>
            <p:ph type="title"/>
          </p:nvPr>
        </p:nvSpPr>
        <p:spPr/>
        <p:txBody>
          <a:bodyPr/>
          <a:lstStyle/>
          <a:p>
            <a:r>
              <a:rPr lang="it-IT" dirty="0" err="1"/>
              <a:t>Daily</a:t>
            </a:r>
            <a:r>
              <a:rPr lang="it-IT" dirty="0"/>
              <a:t> </a:t>
            </a:r>
            <a:r>
              <a:rPr lang="it-IT" dirty="0" err="1"/>
              <a:t>number</a:t>
            </a:r>
            <a:r>
              <a:rPr lang="it-IT" dirty="0"/>
              <a:t> of </a:t>
            </a:r>
            <a:r>
              <a:rPr lang="it-IT" dirty="0" err="1"/>
              <a:t>outbound</a:t>
            </a:r>
            <a:r>
              <a:rPr lang="it-IT" dirty="0"/>
              <a:t> </a:t>
            </a:r>
            <a:r>
              <a:rPr lang="it-IT" dirty="0" err="1"/>
              <a:t>SKUs</a:t>
            </a:r>
            <a:endParaRPr lang="en-US" dirty="0"/>
          </a:p>
        </p:txBody>
      </p:sp>
      <p:sp>
        <p:nvSpPr>
          <p:cNvPr id="4" name="Footer Placeholder 3">
            <a:extLst>
              <a:ext uri="{FF2B5EF4-FFF2-40B4-BE49-F238E27FC236}">
                <a16:creationId xmlns:a16="http://schemas.microsoft.com/office/drawing/2014/main" id="{305B16A4-DD1F-A50C-AED4-209DF3A3E881}"/>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67D13E9-E442-98E2-CF00-CBDBAF5940BD}"/>
              </a:ext>
            </a:extLst>
          </p:cNvPr>
          <p:cNvSpPr>
            <a:spLocks noGrp="1"/>
          </p:cNvSpPr>
          <p:nvPr>
            <p:ph type="sldNum" sz="quarter" idx="4"/>
          </p:nvPr>
        </p:nvSpPr>
        <p:spPr/>
        <p:txBody>
          <a:bodyPr/>
          <a:lstStyle/>
          <a:p>
            <a:pPr>
              <a:defRPr/>
            </a:pPr>
            <a:fld id="{476DEB1C-3253-4C07-8F02-456B7B2AD41D}" type="slidenum">
              <a:rPr lang="it-IT" smtClean="0"/>
              <a:pPr>
                <a:defRPr/>
              </a:pPr>
              <a:t>45</a:t>
            </a:fld>
            <a:endParaRPr lang="it-IT" dirty="0"/>
          </a:p>
        </p:txBody>
      </p:sp>
      <p:pic>
        <p:nvPicPr>
          <p:cNvPr id="7" name="Picture 6">
            <a:extLst>
              <a:ext uri="{FF2B5EF4-FFF2-40B4-BE49-F238E27FC236}">
                <a16:creationId xmlns:a16="http://schemas.microsoft.com/office/drawing/2014/main" id="{291FEAEC-C741-4ED3-9409-4E35A333F9AC}"/>
              </a:ext>
            </a:extLst>
          </p:cNvPr>
          <p:cNvPicPr>
            <a:picLocks noChangeAspect="1"/>
          </p:cNvPicPr>
          <p:nvPr/>
        </p:nvPicPr>
        <p:blipFill>
          <a:blip r:embed="rId2"/>
          <a:stretch>
            <a:fillRect/>
          </a:stretch>
        </p:blipFill>
        <p:spPr>
          <a:xfrm>
            <a:off x="298907" y="4072376"/>
            <a:ext cx="2175450" cy="2175450"/>
          </a:xfrm>
          <a:prstGeom prst="rect">
            <a:avLst/>
          </a:prstGeom>
        </p:spPr>
      </p:pic>
      <p:pic>
        <p:nvPicPr>
          <p:cNvPr id="14" name="Picture 13">
            <a:extLst>
              <a:ext uri="{FF2B5EF4-FFF2-40B4-BE49-F238E27FC236}">
                <a16:creationId xmlns:a16="http://schemas.microsoft.com/office/drawing/2014/main" id="{5774B2D0-33B8-4E5B-9BF1-7D2876E5EC5F}"/>
              </a:ext>
            </a:extLst>
          </p:cNvPr>
          <p:cNvPicPr>
            <a:picLocks noChangeAspect="1"/>
          </p:cNvPicPr>
          <p:nvPr/>
        </p:nvPicPr>
        <p:blipFill>
          <a:blip r:embed="rId3"/>
          <a:stretch>
            <a:fillRect/>
          </a:stretch>
        </p:blipFill>
        <p:spPr>
          <a:xfrm>
            <a:off x="196311" y="1482073"/>
            <a:ext cx="2278046" cy="2278046"/>
          </a:xfrm>
          <a:prstGeom prst="rect">
            <a:avLst/>
          </a:prstGeom>
        </p:spPr>
      </p:pic>
      <p:pic>
        <p:nvPicPr>
          <p:cNvPr id="16" name="Picture 15">
            <a:extLst>
              <a:ext uri="{FF2B5EF4-FFF2-40B4-BE49-F238E27FC236}">
                <a16:creationId xmlns:a16="http://schemas.microsoft.com/office/drawing/2014/main" id="{04CA5C2E-E62E-49AF-A900-6726A809BF5D}"/>
              </a:ext>
            </a:extLst>
          </p:cNvPr>
          <p:cNvPicPr>
            <a:picLocks noChangeAspect="1"/>
          </p:cNvPicPr>
          <p:nvPr/>
        </p:nvPicPr>
        <p:blipFill>
          <a:blip r:embed="rId4"/>
          <a:stretch>
            <a:fillRect/>
          </a:stretch>
        </p:blipFill>
        <p:spPr>
          <a:xfrm>
            <a:off x="2431462" y="4072375"/>
            <a:ext cx="2175451" cy="2175451"/>
          </a:xfrm>
          <a:prstGeom prst="rect">
            <a:avLst/>
          </a:prstGeom>
        </p:spPr>
      </p:pic>
      <p:pic>
        <p:nvPicPr>
          <p:cNvPr id="18" name="Picture 17">
            <a:extLst>
              <a:ext uri="{FF2B5EF4-FFF2-40B4-BE49-F238E27FC236}">
                <a16:creationId xmlns:a16="http://schemas.microsoft.com/office/drawing/2014/main" id="{241049BF-6D71-4DEC-BA5D-5B2FD85B7780}"/>
              </a:ext>
            </a:extLst>
          </p:cNvPr>
          <p:cNvPicPr>
            <a:picLocks noChangeAspect="1"/>
          </p:cNvPicPr>
          <p:nvPr/>
        </p:nvPicPr>
        <p:blipFill>
          <a:blip r:embed="rId5"/>
          <a:stretch>
            <a:fillRect/>
          </a:stretch>
        </p:blipFill>
        <p:spPr>
          <a:xfrm>
            <a:off x="4718185" y="4072375"/>
            <a:ext cx="2175451" cy="2175451"/>
          </a:xfrm>
          <a:prstGeom prst="rect">
            <a:avLst/>
          </a:prstGeom>
        </p:spPr>
      </p:pic>
      <p:pic>
        <p:nvPicPr>
          <p:cNvPr id="20" name="Picture 19">
            <a:extLst>
              <a:ext uri="{FF2B5EF4-FFF2-40B4-BE49-F238E27FC236}">
                <a16:creationId xmlns:a16="http://schemas.microsoft.com/office/drawing/2014/main" id="{BEADFD46-7D85-4D63-8C20-DB09663DFE11}"/>
              </a:ext>
            </a:extLst>
          </p:cNvPr>
          <p:cNvPicPr>
            <a:picLocks noChangeAspect="1"/>
          </p:cNvPicPr>
          <p:nvPr/>
        </p:nvPicPr>
        <p:blipFill>
          <a:blip r:embed="rId6"/>
          <a:stretch>
            <a:fillRect/>
          </a:stretch>
        </p:blipFill>
        <p:spPr>
          <a:xfrm>
            <a:off x="6842063" y="1505764"/>
            <a:ext cx="2254355" cy="2254355"/>
          </a:xfrm>
          <a:prstGeom prst="rect">
            <a:avLst/>
          </a:prstGeom>
        </p:spPr>
      </p:pic>
      <p:pic>
        <p:nvPicPr>
          <p:cNvPr id="22" name="Picture 21">
            <a:extLst>
              <a:ext uri="{FF2B5EF4-FFF2-40B4-BE49-F238E27FC236}">
                <a16:creationId xmlns:a16="http://schemas.microsoft.com/office/drawing/2014/main" id="{2D1D3025-5FF7-47ED-A1AF-62ACB50666BB}"/>
              </a:ext>
            </a:extLst>
          </p:cNvPr>
          <p:cNvPicPr>
            <a:picLocks noChangeAspect="1"/>
          </p:cNvPicPr>
          <p:nvPr/>
        </p:nvPicPr>
        <p:blipFill>
          <a:blip r:embed="rId7"/>
          <a:stretch>
            <a:fillRect/>
          </a:stretch>
        </p:blipFill>
        <p:spPr>
          <a:xfrm>
            <a:off x="2431462" y="1482073"/>
            <a:ext cx="2278046" cy="2278046"/>
          </a:xfrm>
          <a:prstGeom prst="rect">
            <a:avLst/>
          </a:prstGeom>
        </p:spPr>
      </p:pic>
      <p:pic>
        <p:nvPicPr>
          <p:cNvPr id="24" name="Picture 23">
            <a:extLst>
              <a:ext uri="{FF2B5EF4-FFF2-40B4-BE49-F238E27FC236}">
                <a16:creationId xmlns:a16="http://schemas.microsoft.com/office/drawing/2014/main" id="{236040CE-A70A-4FE3-AEB9-1BBD8FE29694}"/>
              </a:ext>
            </a:extLst>
          </p:cNvPr>
          <p:cNvPicPr>
            <a:picLocks noChangeAspect="1"/>
          </p:cNvPicPr>
          <p:nvPr/>
        </p:nvPicPr>
        <p:blipFill>
          <a:blip r:embed="rId8"/>
          <a:stretch>
            <a:fillRect/>
          </a:stretch>
        </p:blipFill>
        <p:spPr>
          <a:xfrm>
            <a:off x="4690577" y="1505763"/>
            <a:ext cx="2230665" cy="2230665"/>
          </a:xfrm>
          <a:prstGeom prst="rect">
            <a:avLst/>
          </a:prstGeom>
        </p:spPr>
      </p:pic>
    </p:spTree>
    <p:extLst>
      <p:ext uri="{BB962C8B-B14F-4D97-AF65-F5344CB8AC3E}">
        <p14:creationId xmlns:p14="http://schemas.microsoft.com/office/powerpoint/2010/main" val="2870527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66B5E-EC71-4F2C-60A3-A6C12D206E9C}"/>
              </a:ext>
            </a:extLst>
          </p:cNvPr>
          <p:cNvSpPr>
            <a:spLocks noGrp="1"/>
          </p:cNvSpPr>
          <p:nvPr>
            <p:ph idx="1"/>
          </p:nvPr>
        </p:nvSpPr>
        <p:spPr/>
        <p:txBody>
          <a:bodyPr>
            <a:normAutofit/>
          </a:bodyPr>
          <a:lstStyle/>
          <a:p>
            <a:r>
              <a:rPr lang="en-US" sz="2400" noProof="0" dirty="0"/>
              <a:t>Inputs available:</a:t>
            </a:r>
          </a:p>
          <a:p>
            <a:pPr marL="457200" indent="-457200">
              <a:spcBef>
                <a:spcPts val="0"/>
              </a:spcBef>
              <a:buFont typeface="Arial" panose="020B0604020202020204" pitchFamily="34" charset="0"/>
              <a:buChar char="•"/>
            </a:pPr>
            <a:r>
              <a:rPr lang="en-US" sz="2400" noProof="0" dirty="0"/>
              <a:t>The number of </a:t>
            </a:r>
            <a:r>
              <a:rPr lang="en-US" sz="2400" noProof="0" dirty="0">
                <a:solidFill>
                  <a:srgbClr val="C00000"/>
                </a:solidFill>
              </a:rPr>
              <a:t>daily trucks</a:t>
            </a:r>
          </a:p>
          <a:p>
            <a:pPr marL="457200" indent="-457200">
              <a:spcBef>
                <a:spcPts val="0"/>
              </a:spcBef>
              <a:buFont typeface="Arial" panose="020B0604020202020204" pitchFamily="34" charset="0"/>
              <a:buChar char="•"/>
            </a:pPr>
            <a:r>
              <a:rPr lang="en-US" sz="2400" noProof="0" dirty="0"/>
              <a:t>A customer (truck) profile: </a:t>
            </a:r>
            <a:r>
              <a:rPr lang="en-US" sz="2400" noProof="0" dirty="0">
                <a:solidFill>
                  <a:schemeClr val="accent2"/>
                </a:solidFill>
              </a:rPr>
              <a:t>≈ 25 categories</a:t>
            </a:r>
          </a:p>
          <a:p>
            <a:pPr marL="457200" indent="-457200">
              <a:spcBef>
                <a:spcPts val="0"/>
              </a:spcBef>
              <a:buFont typeface="Arial" panose="020B0604020202020204" pitchFamily="34" charset="0"/>
              <a:buChar char="•"/>
            </a:pPr>
            <a:r>
              <a:rPr lang="en-US" sz="2400" noProof="0" dirty="0"/>
              <a:t>Request (load) distribution per category</a:t>
            </a:r>
          </a:p>
          <a:p>
            <a:pPr marL="457200" indent="-457200">
              <a:spcBef>
                <a:spcPts val="0"/>
              </a:spcBef>
              <a:buFont typeface="Arial" panose="020B0604020202020204" pitchFamily="34" charset="0"/>
              <a:buChar char="•"/>
            </a:pPr>
            <a:r>
              <a:rPr lang="en-US" sz="2400" dirty="0"/>
              <a:t>Distribution of pallets flowing </a:t>
            </a:r>
            <a:r>
              <a:rPr lang="en-US" sz="2400" dirty="0">
                <a:solidFill>
                  <a:schemeClr val="accent2"/>
                </a:solidFill>
              </a:rPr>
              <a:t>from each WH area to outbound </a:t>
            </a:r>
            <a:r>
              <a:rPr lang="en-US" sz="2400" dirty="0"/>
              <a:t>for each category (mostly stable percentages)</a:t>
            </a:r>
            <a:endParaRPr lang="en-US" sz="2400" noProof="0" dirty="0"/>
          </a:p>
          <a:p>
            <a:r>
              <a:rPr lang="en-US" sz="2400" noProof="0" dirty="0"/>
              <a:t>Customer-level forecast procedure:</a:t>
            </a:r>
          </a:p>
          <a:p>
            <a:pPr marL="457200" indent="-457200">
              <a:spcBef>
                <a:spcPts val="600"/>
              </a:spcBef>
              <a:buFont typeface="+mj-lt"/>
              <a:buAutoNum type="arabicPeriod"/>
            </a:pPr>
            <a:r>
              <a:rPr lang="en-US" sz="2400" dirty="0"/>
              <a:t>Forecast total Monday trucks per category</a:t>
            </a:r>
          </a:p>
          <a:p>
            <a:pPr marL="457200" indent="-457200">
              <a:spcBef>
                <a:spcPts val="600"/>
              </a:spcBef>
              <a:buFont typeface="+mj-lt"/>
              <a:buAutoNum type="arabicPeriod"/>
            </a:pPr>
            <a:r>
              <a:rPr lang="en-US" sz="2400" dirty="0"/>
              <a:t>Estimate each customer’s request from its category request distribution</a:t>
            </a:r>
          </a:p>
          <a:p>
            <a:pPr marL="457200" indent="-457200">
              <a:spcBef>
                <a:spcPts val="600"/>
              </a:spcBef>
              <a:buFont typeface="+mj-lt"/>
              <a:buAutoNum type="arabicPeriod"/>
            </a:pPr>
            <a:r>
              <a:rPr lang="en-US" sz="2400" noProof="0" dirty="0"/>
              <a:t>Split requests across WH areas of origin</a:t>
            </a:r>
          </a:p>
          <a:p>
            <a:pPr marL="457200" indent="-457200">
              <a:spcBef>
                <a:spcPts val="600"/>
              </a:spcBef>
              <a:buFont typeface="+mj-lt"/>
              <a:buAutoNum type="arabicPeriod"/>
            </a:pPr>
            <a:r>
              <a:rPr lang="en-US" sz="2400" dirty="0"/>
              <a:t>Compute pickup/loading time for each customer/area pair</a:t>
            </a:r>
            <a:endParaRPr lang="en-US" sz="2400" noProof="0" dirty="0"/>
          </a:p>
        </p:txBody>
      </p:sp>
      <p:sp>
        <p:nvSpPr>
          <p:cNvPr id="3" name="Title 2">
            <a:extLst>
              <a:ext uri="{FF2B5EF4-FFF2-40B4-BE49-F238E27FC236}">
                <a16:creationId xmlns:a16="http://schemas.microsoft.com/office/drawing/2014/main" id="{5384E542-8714-7CB6-5894-86900D15FE04}"/>
              </a:ext>
            </a:extLst>
          </p:cNvPr>
          <p:cNvSpPr>
            <a:spLocks noGrp="1"/>
          </p:cNvSpPr>
          <p:nvPr>
            <p:ph type="title"/>
          </p:nvPr>
        </p:nvSpPr>
        <p:spPr/>
        <p:txBody>
          <a:bodyPr/>
          <a:lstStyle/>
          <a:p>
            <a:r>
              <a:rPr lang="it-IT" dirty="0"/>
              <a:t>From global to </a:t>
            </a:r>
            <a:r>
              <a:rPr lang="it-IT" dirty="0" err="1"/>
              <a:t>detailed</a:t>
            </a:r>
            <a:endParaRPr lang="it-IT" dirty="0"/>
          </a:p>
        </p:txBody>
      </p:sp>
      <p:sp>
        <p:nvSpPr>
          <p:cNvPr id="4" name="Footer Placeholder 3">
            <a:extLst>
              <a:ext uri="{FF2B5EF4-FFF2-40B4-BE49-F238E27FC236}">
                <a16:creationId xmlns:a16="http://schemas.microsoft.com/office/drawing/2014/main" id="{2D6C8A69-C202-3664-90F9-FCFA67F3406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0D27ACB-09AA-E473-4624-CFB97FAB808B}"/>
              </a:ext>
            </a:extLst>
          </p:cNvPr>
          <p:cNvSpPr>
            <a:spLocks noGrp="1"/>
          </p:cNvSpPr>
          <p:nvPr>
            <p:ph type="sldNum" sz="quarter" idx="4"/>
          </p:nvPr>
        </p:nvSpPr>
        <p:spPr/>
        <p:txBody>
          <a:bodyPr/>
          <a:lstStyle/>
          <a:p>
            <a:pPr>
              <a:defRPr/>
            </a:pPr>
            <a:fld id="{476DEB1C-3253-4C07-8F02-456B7B2AD41D}" type="slidenum">
              <a:rPr lang="it-IT" smtClean="0"/>
              <a:pPr>
                <a:defRPr/>
              </a:pPr>
              <a:t>46</a:t>
            </a:fld>
            <a:endParaRPr lang="it-IT" dirty="0"/>
          </a:p>
        </p:txBody>
      </p:sp>
    </p:spTree>
    <p:extLst>
      <p:ext uri="{BB962C8B-B14F-4D97-AF65-F5344CB8AC3E}">
        <p14:creationId xmlns:p14="http://schemas.microsoft.com/office/powerpoint/2010/main" val="41204175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a:bodyPr>
              <a:lstStyle/>
              <a:p>
                <a:pPr fontAlgn="ctr">
                  <a:lnSpc>
                    <a:spcPct val="110000"/>
                  </a:lnSpc>
                  <a:spcBef>
                    <a:spcPts val="0"/>
                  </a:spcBef>
                  <a:tabLst>
                    <a:tab pos="1789113" algn="l"/>
                    <a:tab pos="5024438" algn="l"/>
                    <a:tab pos="7177088" algn="l"/>
                  </a:tabLst>
                </a:pPr>
                <a:r>
                  <a:rPr lang="it-IT" sz="2400" dirty="0" err="1">
                    <a:ea typeface="Cambria Math" panose="02040503050406030204" pitchFamily="18" charset="0"/>
                  </a:rPr>
                  <a:t>Minimize</a:t>
                </a:r>
                <a:r>
                  <a:rPr lang="it-IT" sz="2400" dirty="0">
                    <a:ea typeface="Cambria Math" panose="02040503050406030204" pitchFamily="18" charset="0"/>
                  </a:rPr>
                  <a:t> the </a:t>
                </a:r>
                <a:r>
                  <a:rPr lang="it-IT" sz="2400" dirty="0" err="1">
                    <a:ea typeface="Cambria Math" panose="02040503050406030204" pitchFamily="18" charset="0"/>
                  </a:rPr>
                  <a:t>number</a:t>
                </a:r>
                <a:r>
                  <a:rPr lang="it-IT" sz="2400" dirty="0">
                    <a:ea typeface="Cambria Math" panose="02040503050406030204" pitchFamily="18" charset="0"/>
                  </a:rPr>
                  <a:t> of </a:t>
                </a:r>
                <a:r>
                  <a:rPr lang="it-IT" sz="2400" dirty="0" err="1">
                    <a:ea typeface="Cambria Math" panose="02040503050406030204" pitchFamily="18" charset="0"/>
                  </a:rPr>
                  <a:t>unserviced</a:t>
                </a:r>
                <a:r>
                  <a:rPr lang="it-IT" sz="2400" dirty="0">
                    <a:ea typeface="Cambria Math" panose="02040503050406030204" pitchFamily="18" charset="0"/>
                  </a:rPr>
                  <a:t> trucks: GAP </a:t>
                </a:r>
                <a:r>
                  <a:rPr lang="it-IT" sz="2400" dirty="0" err="1">
                    <a:ea typeface="Cambria Math" panose="02040503050406030204" pitchFamily="18" charset="0"/>
                  </a:rPr>
                  <a:t>if</a:t>
                </a:r>
                <a:r>
                  <a:rPr lang="it-IT" sz="2400" dirty="0">
                    <a:ea typeface="Cambria Math" panose="02040503050406030204" pitchFamily="18" charset="0"/>
                  </a:rPr>
                  <a:t> </a:t>
                </a:r>
                <a:r>
                  <a:rPr lang="it-IT" sz="2400" i="1" dirty="0" err="1">
                    <a:solidFill>
                      <a:schemeClr val="accent2"/>
                    </a:solidFill>
                    <a:latin typeface="Cambria" panose="02040503050406030204" pitchFamily="18" charset="0"/>
                    <a:ea typeface="Cambria" panose="02040503050406030204" pitchFamily="18" charset="0"/>
                  </a:rPr>
                  <a:t>p</a:t>
                </a:r>
                <a:r>
                  <a:rPr lang="it-IT" sz="2400" i="1" baseline="-25000" dirty="0" err="1">
                    <a:solidFill>
                      <a:schemeClr val="accent2"/>
                    </a:solidFill>
                    <a:latin typeface="Cambria" panose="02040503050406030204" pitchFamily="18" charset="0"/>
                    <a:ea typeface="Cambria" panose="02040503050406030204" pitchFamily="18" charset="0"/>
                  </a:rPr>
                  <a:t>ij</a:t>
                </a:r>
                <a:r>
                  <a:rPr lang="it-IT" sz="2400" dirty="0">
                    <a:ea typeface="Cambria Math" panose="02040503050406030204" pitchFamily="18" charset="0"/>
                  </a:rPr>
                  <a:t>, </a:t>
                </a:r>
                <a:r>
                  <a:rPr lang="it-IT" sz="2400" dirty="0" err="1">
                    <a:ea typeface="Cambria Math" panose="02040503050406030204" pitchFamily="18" charset="0"/>
                  </a:rPr>
                  <a:t>multidimensional</a:t>
                </a:r>
                <a:r>
                  <a:rPr lang="it-IT" sz="2400" dirty="0">
                    <a:ea typeface="Cambria Math" panose="02040503050406030204" pitchFamily="18" charset="0"/>
                  </a:rPr>
                  <a:t> </a:t>
                </a:r>
                <a:r>
                  <a:rPr lang="it-IT" sz="2400" dirty="0" err="1">
                    <a:ea typeface="Cambria Math" panose="02040503050406030204" pitchFamily="18" charset="0"/>
                  </a:rPr>
                  <a:t>knapsack</a:t>
                </a:r>
                <a:r>
                  <a:rPr lang="it-IT" sz="2400" dirty="0">
                    <a:ea typeface="Cambria Math" panose="02040503050406030204" pitchFamily="18" charset="0"/>
                  </a:rPr>
                  <a:t> </a:t>
                </a:r>
                <a:r>
                  <a:rPr lang="it-IT" sz="2400" dirty="0" err="1">
                    <a:ea typeface="Cambria Math" panose="02040503050406030204" pitchFamily="18" charset="0"/>
                  </a:rPr>
                  <a:t>if</a:t>
                </a:r>
                <a:r>
                  <a:rPr lang="it-IT" sz="2400" dirty="0">
                    <a:ea typeface="Cambria Math" panose="02040503050406030204" pitchFamily="18" charset="0"/>
                  </a:rPr>
                  <a:t> </a:t>
                </a:r>
                <a:r>
                  <a:rPr lang="it-IT" sz="2400" i="1" dirty="0" err="1">
                    <a:solidFill>
                      <a:schemeClr val="accent2"/>
                    </a:solidFill>
                    <a:latin typeface="Cambria" panose="02040503050406030204" pitchFamily="18" charset="0"/>
                    <a:ea typeface="Cambria" panose="02040503050406030204" pitchFamily="18" charset="0"/>
                  </a:rPr>
                  <a:t>p</a:t>
                </a:r>
                <a:r>
                  <a:rPr lang="it-IT" sz="2400" i="1" baseline="-25000" dirty="0" err="1">
                    <a:solidFill>
                      <a:schemeClr val="accent2"/>
                    </a:solidFill>
                    <a:latin typeface="Cambria" panose="02040503050406030204" pitchFamily="18" charset="0"/>
                    <a:ea typeface="Cambria" panose="02040503050406030204" pitchFamily="18" charset="0"/>
                  </a:rPr>
                  <a:t>i</a:t>
                </a:r>
                <a:endParaRPr lang="it-IT" sz="2400" b="0" i="0" u="none" strike="noStrike" kern="1200" dirty="0">
                  <a:solidFill>
                    <a:schemeClr val="accent2"/>
                  </a:solidFill>
                  <a:effectLst/>
                  <a:ea typeface="Cambria Math" panose="02040503050406030204" pitchFamily="18" charset="0"/>
                </a:endParaRPr>
              </a:p>
              <a:p>
                <a:pPr marL="0" rtl="0" eaLnBrk="1" fontAlgn="ctr" latinLnBrk="0" hangingPunct="1">
                  <a:lnSpc>
                    <a:spcPct val="150000"/>
                  </a:lnSpc>
                  <a:spcBef>
                    <a:spcPts val="0"/>
                  </a:spcBef>
                  <a:spcAft>
                    <a:spcPts val="0"/>
                  </a:spcAft>
                  <a:tabLst>
                    <a:tab pos="685800" algn="l"/>
                    <a:tab pos="5024438" algn="l"/>
                    <a:tab pos="7177088" algn="l"/>
                  </a:tabLst>
                </a:pPr>
                <a:r>
                  <a:rPr lang="it-IT" sz="2400" b="0" i="1" u="none" strike="noStrike" kern="1200" dirty="0">
                    <a:solidFill>
                      <a:schemeClr val="tx1"/>
                    </a:solidFill>
                    <a:effectLst/>
                    <a:latin typeface="Cambria" panose="02040503050406030204" pitchFamily="18" charset="0"/>
                    <a:ea typeface="Cambria" panose="02040503050406030204" pitchFamily="18" charset="0"/>
                  </a:rPr>
                  <a:t>J</a:t>
                </a:r>
                <a:r>
                  <a:rPr lang="it-IT" sz="2400" b="0" i="0" u="none" strike="noStrike" kern="1200" dirty="0">
                    <a:solidFill>
                      <a:schemeClr val="tx1"/>
                    </a:solidFill>
                    <a:effectLst/>
                    <a:ea typeface="Cambria Math" panose="02040503050406030204" pitchFamily="18" charset="0"/>
                  </a:rPr>
                  <a:t> 	</a:t>
                </a:r>
                <a:r>
                  <a:rPr lang="it-IT" sz="2400" b="0" i="0" u="none" strike="noStrike" kern="1200" dirty="0">
                    <a:solidFill>
                      <a:srgbClr val="0070C0"/>
                    </a:solidFill>
                    <a:effectLst/>
                    <a:ea typeface="Cambria Math" panose="02040503050406030204" pitchFamily="18" charset="0"/>
                  </a:rPr>
                  <a:t>jobs</a:t>
                </a:r>
                <a:r>
                  <a:rPr lang="it-IT" sz="2400" b="0" i="0" u="none" strike="noStrike" kern="1200" dirty="0">
                    <a:solidFill>
                      <a:schemeClr val="tx1"/>
                    </a:solidFill>
                    <a:effectLst/>
                    <a:ea typeface="Cambria Math" panose="02040503050406030204" pitchFamily="18" charset="0"/>
                  </a:rPr>
                  <a:t> (trucks, index </a:t>
                </a:r>
                <a:r>
                  <a:rPr lang="it-IT" i="1" dirty="0" err="1">
                    <a:latin typeface="Cambria" panose="02040503050406030204" pitchFamily="18" charset="0"/>
                    <a:ea typeface="Cambria" panose="02040503050406030204" pitchFamily="18" charset="0"/>
                  </a:rPr>
                  <a:t>j,k</a:t>
                </a:r>
                <a:r>
                  <a:rPr lang="it-IT" sz="2400" b="0" i="0" u="none" strike="noStrike" kern="1200" dirty="0">
                    <a:solidFill>
                      <a:schemeClr val="tx1"/>
                    </a:solidFill>
                    <a:effectLst/>
                    <a:ea typeface="Cambria Math" panose="02040503050406030204" pitchFamily="18" charset="0"/>
                  </a:rPr>
                  <a:t>)</a:t>
                </a:r>
              </a:p>
              <a:p>
                <a:pPr marL="0" rtl="0" eaLnBrk="1" fontAlgn="ctr" latinLnBrk="0" hangingPunct="1">
                  <a:lnSpc>
                    <a:spcPct val="150000"/>
                  </a:lnSpc>
                  <a:spcBef>
                    <a:spcPts val="0"/>
                  </a:spcBef>
                  <a:spcAft>
                    <a:spcPts val="0"/>
                  </a:spcAft>
                  <a:tabLst>
                    <a:tab pos="685800" algn="l"/>
                    <a:tab pos="5024438" algn="l"/>
                    <a:tab pos="7177088" algn="l"/>
                  </a:tabLst>
                </a:pPr>
                <a:r>
                  <a:rPr lang="it-IT" i="1" dirty="0">
                    <a:latin typeface="Cambria" panose="02040503050406030204" pitchFamily="18" charset="0"/>
                    <a:ea typeface="Cambria" panose="02040503050406030204" pitchFamily="18" charset="0"/>
                  </a:rPr>
                  <a:t>I</a:t>
                </a:r>
                <a:r>
                  <a:rPr lang="it-IT" sz="2400" dirty="0">
                    <a:ea typeface="Cambria Math" panose="02040503050406030204" pitchFamily="18" charset="0"/>
                  </a:rPr>
                  <a:t> 	</a:t>
                </a:r>
                <a:r>
                  <a:rPr lang="it-IT" sz="2400" dirty="0">
                    <a:solidFill>
                      <a:srgbClr val="0070C0"/>
                    </a:solidFill>
                    <a:ea typeface="Cambria Math" panose="02040503050406030204" pitchFamily="18" charset="0"/>
                  </a:rPr>
                  <a:t>machines</a:t>
                </a:r>
                <a:r>
                  <a:rPr lang="it-IT" sz="2400" dirty="0">
                    <a:ea typeface="Cambria Math" panose="02040503050406030204" pitchFamily="18" charset="0"/>
                  </a:rPr>
                  <a:t> (</a:t>
                </a:r>
                <a:r>
                  <a:rPr lang="it-IT" sz="2400" dirty="0" err="1">
                    <a:ea typeface="Cambria Math" panose="02040503050406030204" pitchFamily="18" charset="0"/>
                  </a:rPr>
                  <a:t>areas</a:t>
                </a:r>
                <a:r>
                  <a:rPr lang="it-IT" sz="2400" dirty="0">
                    <a:ea typeface="Cambria Math" panose="02040503050406030204" pitchFamily="18" charset="0"/>
                  </a:rPr>
                  <a:t>, index </a:t>
                </a:r>
                <a:r>
                  <a:rPr lang="it-IT" i="1" dirty="0">
                    <a:latin typeface="Cambria" panose="02040503050406030204" pitchFamily="18" charset="0"/>
                    <a:ea typeface="Cambria" panose="02040503050406030204" pitchFamily="18" charset="0"/>
                  </a:rPr>
                  <a:t>i</a:t>
                </a:r>
                <a:r>
                  <a:rPr lang="it-IT" sz="2400" dirty="0">
                    <a:ea typeface="Cambria Math" panose="02040503050406030204" pitchFamily="18" charset="0"/>
                  </a:rPr>
                  <a:t>)</a:t>
                </a:r>
              </a:p>
              <a:p>
                <a:pPr marL="0" rtl="0" eaLnBrk="1" fontAlgn="ctr" latinLnBrk="0" hangingPunct="1">
                  <a:lnSpc>
                    <a:spcPct val="150000"/>
                  </a:lnSpc>
                  <a:spcBef>
                    <a:spcPts val="0"/>
                  </a:spcBef>
                  <a:spcAft>
                    <a:spcPts val="0"/>
                  </a:spcAft>
                  <a:tabLst>
                    <a:tab pos="685800" algn="l"/>
                    <a:tab pos="5024438" algn="l"/>
                    <a:tab pos="7177088" algn="l"/>
                  </a:tabLst>
                </a:pPr>
                <a:r>
                  <a:rPr lang="it-IT" i="1" dirty="0" err="1">
                    <a:latin typeface="Cambria" panose="02040503050406030204" pitchFamily="18" charset="0"/>
                    <a:ea typeface="Cambria" panose="02040503050406030204" pitchFamily="18" charset="0"/>
                  </a:rPr>
                  <a:t>p</a:t>
                </a:r>
                <a:r>
                  <a:rPr lang="it-IT" i="1" baseline="-25000" dirty="0" err="1">
                    <a:latin typeface="Cambria" panose="02040503050406030204" pitchFamily="18" charset="0"/>
                    <a:ea typeface="Cambria" panose="02040503050406030204" pitchFamily="18" charset="0"/>
                  </a:rPr>
                  <a:t>ij</a:t>
                </a:r>
                <a:r>
                  <a:rPr lang="it-IT" sz="2400" b="0" i="0" u="none" strike="noStrike" dirty="0">
                    <a:solidFill>
                      <a:schemeClr val="tx1"/>
                    </a:solidFill>
                    <a:effectLst/>
                    <a:ea typeface="Cambria Math" panose="02040503050406030204" pitchFamily="18" charset="0"/>
                  </a:rPr>
                  <a:t> 	</a:t>
                </a:r>
                <a:r>
                  <a:rPr lang="it-IT" sz="2400" b="0" i="0" u="none" strike="noStrike" dirty="0">
                    <a:solidFill>
                      <a:srgbClr val="0070C0"/>
                    </a:solidFill>
                    <a:effectLst/>
                    <a:ea typeface="Cambria Math" panose="02040503050406030204" pitchFamily="18" charset="0"/>
                  </a:rPr>
                  <a:t>processing time </a:t>
                </a:r>
                <a:r>
                  <a:rPr lang="it-IT" sz="2400" b="0" i="0" u="none" strike="noStrike" dirty="0">
                    <a:solidFill>
                      <a:schemeClr val="tx1"/>
                    </a:solidFill>
                    <a:effectLst/>
                    <a:ea typeface="Cambria Math" panose="02040503050406030204" pitchFamily="18" charset="0"/>
                  </a:rPr>
                  <a:t>of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on machine </a:t>
                </a:r>
                <a:r>
                  <a:rPr lang="it-IT" i="1" dirty="0">
                    <a:latin typeface="Cambria" panose="02040503050406030204" pitchFamily="18" charset="0"/>
                    <a:ea typeface="Cambria" panose="02040503050406030204" pitchFamily="18" charset="0"/>
                  </a:rPr>
                  <a:t>i</a:t>
                </a:r>
              </a:p>
              <a:p>
                <a:pPr marL="0" rtl="0" eaLnBrk="1" fontAlgn="ctr" latinLnBrk="0" hangingPunct="1">
                  <a:lnSpc>
                    <a:spcPct val="150000"/>
                  </a:lnSpc>
                  <a:spcBef>
                    <a:spcPts val="2400"/>
                  </a:spcBef>
                  <a:spcAft>
                    <a:spcPts val="0"/>
                  </a:spcAft>
                  <a:tabLst>
                    <a:tab pos="685800" algn="l"/>
                    <a:tab pos="5024438" algn="l"/>
                    <a:tab pos="7177088" algn="l"/>
                  </a:tabLst>
                </a:pPr>
                <a:r>
                  <a:rPr lang="it-IT" sz="2400" b="0" i="1" u="none" strike="noStrike" dirty="0" err="1">
                    <a:solidFill>
                      <a:schemeClr val="tx1"/>
                    </a:solidFill>
                    <a:effectLst/>
                    <a:ea typeface="Cambria Math" panose="02040503050406030204" pitchFamily="18" charset="0"/>
                  </a:rPr>
                  <a:t>Variables</a:t>
                </a:r>
                <a:endParaRPr lang="it-IT" sz="2400" b="0" i="1" u="none" strike="noStrike" dirty="0">
                  <a:solidFill>
                    <a:schemeClr val="tx1"/>
                  </a:solidFill>
                  <a:effectLst/>
                  <a:ea typeface="Cambria Math" panose="02040503050406030204" pitchFamily="18" charset="0"/>
                </a:endParaRPr>
              </a:p>
              <a:p>
                <a:pPr marL="0" rtl="0" eaLnBrk="1" fontAlgn="ctr" latinLnBrk="0" hangingPunct="1">
                  <a:lnSpc>
                    <a:spcPct val="150000"/>
                  </a:lnSpc>
                  <a:spcBef>
                    <a:spcPts val="0"/>
                  </a:spcBef>
                  <a:spcAft>
                    <a:spcPts val="0"/>
                  </a:spcAft>
                  <a:tabLst>
                    <a:tab pos="685800" algn="l"/>
                    <a:tab pos="5024438" algn="l"/>
                    <a:tab pos="7177088" algn="l"/>
                  </a:tabLst>
                </a:pPr>
                <a:r>
                  <a:rPr lang="it-IT" i="1" dirty="0" err="1">
                    <a:latin typeface="Cambria" panose="02040503050406030204" pitchFamily="18" charset="0"/>
                    <a:ea typeface="Cambria" panose="02040503050406030204" pitchFamily="18" charset="0"/>
                  </a:rPr>
                  <a:t>x</a:t>
                </a:r>
                <a:r>
                  <a:rPr lang="it-IT" i="1" baseline="-25000" dirty="0" err="1">
                    <a:latin typeface="Cambria" panose="02040503050406030204" pitchFamily="18" charset="0"/>
                    <a:ea typeface="Cambria" panose="02040503050406030204" pitchFamily="18" charset="0"/>
                  </a:rPr>
                  <a:t>ij</a:t>
                </a:r>
                <a:r>
                  <a:rPr lang="it-IT" sz="2400" b="0" i="0" u="none" strike="noStrike" dirty="0">
                    <a:solidFill>
                      <a:schemeClr val="tx1"/>
                    </a:solidFill>
                    <a:effectLst/>
                    <a:ea typeface="Cambria Math" panose="02040503050406030204" pitchFamily="18" charset="0"/>
                  </a:rPr>
                  <a:t>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assigned</a:t>
                </a:r>
                <a:r>
                  <a:rPr lang="it-IT" sz="2400" b="0" i="0" u="none" strike="noStrike" dirty="0">
                    <a:solidFill>
                      <a:schemeClr val="tx1"/>
                    </a:solidFill>
                    <a:effectLst/>
                    <a:ea typeface="Cambria Math" panose="02040503050406030204" pitchFamily="18" charset="0"/>
                  </a:rPr>
                  <a:t> to machine </a:t>
                </a:r>
                <a:r>
                  <a:rPr lang="it-IT" i="1" dirty="0">
                    <a:latin typeface="Cambria" panose="02040503050406030204" pitchFamily="18" charset="0"/>
                    <a:ea typeface="Cambria" panose="02040503050406030204" pitchFamily="18" charset="0"/>
                  </a:rPr>
                  <a:t>i</a:t>
                </a:r>
              </a:p>
              <a:p>
                <a:pPr marL="0" rtl="0" eaLnBrk="1" fontAlgn="ctr" latinLnBrk="0" hangingPunct="1">
                  <a:lnSpc>
                    <a:spcPct val="150000"/>
                  </a:lnSpc>
                  <a:spcBef>
                    <a:spcPts val="0"/>
                  </a:spcBef>
                  <a:spcAft>
                    <a:spcPts val="0"/>
                  </a:spcAft>
                  <a:tabLst>
                    <a:tab pos="685800" algn="l"/>
                    <a:tab pos="5024438" algn="l"/>
                    <a:tab pos="7177088" algn="l"/>
                  </a:tabLst>
                </a:pPr>
                <a14:m>
                  <m:oMath xmlns:m="http://schemas.openxmlformats.org/officeDocument/2006/math">
                    <m:sSub>
                      <m:sSubPr>
                        <m:ctrlPr>
                          <a:rPr lang="it-IT" i="1">
                            <a:latin typeface="Cambria Math" panose="02040503050406030204" pitchFamily="18" charset="0"/>
                            <a:ea typeface="Cambria" panose="02040503050406030204" pitchFamily="18" charset="0"/>
                          </a:rPr>
                        </m:ctrlPr>
                      </m:sSubPr>
                      <m:e>
                        <m:r>
                          <a:rPr lang="it-IT" i="1">
                            <a:latin typeface="Cambria Math" panose="02040503050406030204" pitchFamily="18" charset="0"/>
                            <a:ea typeface="Cambria" panose="02040503050406030204" pitchFamily="18" charset="0"/>
                          </a:rPr>
                          <m:t>𝜉</m:t>
                        </m:r>
                      </m:e>
                      <m:sub>
                        <m:r>
                          <a:rPr lang="it-IT" i="1">
                            <a:latin typeface="Cambria Math" panose="02040503050406030204" pitchFamily="18" charset="0"/>
                            <a:ea typeface="Cambria" panose="02040503050406030204" pitchFamily="18" charset="0"/>
                          </a:rPr>
                          <m:t>𝑗</m:t>
                        </m:r>
                      </m:sub>
                    </m:sSub>
                  </m:oMath>
                </a14:m>
                <a:r>
                  <a:rPr lang="it-IT" sz="2400" b="0" i="0" u="none" strike="noStrike" dirty="0">
                    <a:solidFill>
                      <a:schemeClr val="tx1"/>
                    </a:solidFill>
                    <a:effectLst/>
                    <a:ea typeface="Cambria Math" panose="02040503050406030204" pitchFamily="18" charset="0"/>
                  </a:rPr>
                  <a:t>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not</a:t>
                </a:r>
                <a:r>
                  <a:rPr lang="it-IT" sz="2400" b="0" i="0" u="none" strike="noStrike" dirty="0">
                    <a:solidFill>
                      <a:srgbClr val="0070C0"/>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assigned</a:t>
                </a:r>
                <a:r>
                  <a:rPr lang="it-IT" sz="2400" b="0" i="0" u="none" strike="noStrike" dirty="0">
                    <a:solidFill>
                      <a:srgbClr val="0070C0"/>
                    </a:solidFill>
                    <a:effectLst/>
                    <a:ea typeface="Cambria Math" panose="02040503050406030204" pitchFamily="18" charset="0"/>
                  </a:rPr>
                  <a:t> </a:t>
                </a:r>
                <a:r>
                  <a:rPr lang="it-IT" sz="2400" b="0" i="0" u="none" strike="noStrike" dirty="0" err="1">
                    <a:solidFill>
                      <a:schemeClr val="tx1"/>
                    </a:solidFill>
                    <a:effectLst/>
                    <a:ea typeface="Cambria Math" panose="02040503050406030204" pitchFamily="18" charset="0"/>
                  </a:rPr>
                  <a:t>any</a:t>
                </a:r>
                <a:r>
                  <a:rPr lang="it-IT" sz="2400" b="0" i="0" u="none" strike="noStrike" dirty="0">
                    <a:solidFill>
                      <a:schemeClr val="tx1"/>
                    </a:solidFill>
                    <a:effectLst/>
                    <a:ea typeface="Cambria Math" panose="02040503050406030204" pitchFamily="18" charset="0"/>
                  </a:rPr>
                  <a:t> machine</a:t>
                </a: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1427" t="-34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47</a:t>
            </a:fld>
            <a:endParaRPr lang="it-IT" dirty="0"/>
          </a:p>
        </p:txBody>
      </p:sp>
    </p:spTree>
    <p:extLst>
      <p:ext uri="{BB962C8B-B14F-4D97-AF65-F5344CB8AC3E}">
        <p14:creationId xmlns:p14="http://schemas.microsoft.com/office/powerpoint/2010/main" val="3091164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2273974"/>
                <a:ext cx="8546175" cy="2824343"/>
              </a:xfrm>
            </p:spPr>
            <p:txBody>
              <a:bodyPr>
                <a:normAutofit/>
              </a:bodyPr>
              <a:lstStyle/>
              <a:p>
                <a:pPr fontAlgn="ctr">
                  <a:lnSpc>
                    <a:spcPct val="150000"/>
                  </a:lnSpc>
                  <a:spcBef>
                    <a:spcPts val="0"/>
                  </a:spcBef>
                  <a:tabLst>
                    <a:tab pos="1789113" algn="l"/>
                    <a:tab pos="5024438" algn="l"/>
                    <a:tab pos="760095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z(F1)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it-IT" sz="2400" b="0" i="1" smtClean="0">
                            <a:latin typeface="Cambria Math" panose="02040503050406030204" pitchFamily="18" charset="0"/>
                            <a:ea typeface="Cambria Math" panose="02040503050406030204" pitchFamily="18" charset="0"/>
                          </a:rPr>
                          <m:t>𝑗</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𝐽</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i="1">
                                <a:solidFill>
                                  <a:srgbClr val="00B050"/>
                                </a:solidFill>
                                <a:latin typeface="Cambria Math" panose="02040503050406030204" pitchFamily="18" charset="0"/>
                                <a:ea typeface="Cambria Math" panose="02040503050406030204" pitchFamily="18" charset="0"/>
                              </a:rPr>
                              <m:t>𝑗</m:t>
                            </m:r>
                          </m:sub>
                        </m:sSub>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b="0" i="0" smtClean="0">
                        <a:latin typeface="Cambria Math" panose="02040503050406030204" pitchFamily="18" charset="0"/>
                        <a:ea typeface="Cambria Math" panose="02040503050406030204" pitchFamily="18" charset="0"/>
                      </a:rPr>
                      <m:t>+</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b="0" i="1" smtClean="0">
                            <a:solidFill>
                              <a:srgbClr val="00B050"/>
                            </a:solidFill>
                            <a:latin typeface="Cambria Math" panose="02040503050406030204" pitchFamily="18" charset="0"/>
                            <a:ea typeface="Cambria Math" panose="02040503050406030204" pitchFamily="18" charset="0"/>
                          </a:rPr>
                          <m:t>𝑗</m:t>
                        </m:r>
                      </m:sub>
                    </m:sSub>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i="1" u="none" strike="noStrike" kern="1200" dirty="0">
                    <a:solidFill>
                      <a:schemeClr val="tx1"/>
                    </a:solidFill>
                    <a:effectLst/>
                    <a:latin typeface="Cambria" panose="02040503050406030204" pitchFamily="18" charset="0"/>
                    <a:ea typeface="Cambria" panose="02040503050406030204" pitchFamily="18" charset="0"/>
                  </a:rPr>
                  <a:t>J</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nary>
                      <m:naryPr>
                        <m:chr m:val="∑"/>
                        <m:limLoc m:val="subSup"/>
                        <m:supHide m:val="on"/>
                        <m:ctrlPr>
                          <a:rPr lang="en-US" sz="2400" i="1" smtClean="0">
                            <a:latin typeface="Cambria Math" panose="02040503050406030204" pitchFamily="18" charset="0"/>
                          </a:rPr>
                        </m:ctrlPr>
                      </m:naryPr>
                      <m:sub>
                        <m:r>
                          <m:rPr>
                            <m:brk m:alnAt="9"/>
                          </m:rPr>
                          <a:rPr lang="it-IT" sz="2400" b="0" i="1" smtClean="0">
                            <a:latin typeface="Cambria Math" panose="02040503050406030204" pitchFamily="18" charset="0"/>
                          </a:rPr>
                          <m:t>𝑗</m:t>
                        </m:r>
                        <m:r>
                          <a:rPr lang="it-IT" sz="2400" b="0" i="1" smtClean="0">
                            <a:latin typeface="Cambria Math" panose="02040503050406030204" pitchFamily="18" charset="0"/>
                          </a:rPr>
                          <m:t>∈</m:t>
                        </m:r>
                        <m:r>
                          <a:rPr lang="it-IT" sz="2400" b="0" i="1" smtClean="0">
                            <a:latin typeface="Cambria Math" panose="02040503050406030204" pitchFamily="18" charset="0"/>
                          </a:rPr>
                          <m:t>𝐽</m:t>
                        </m:r>
                      </m:sub>
                      <m:sup/>
                      <m:e>
                        <m:sSub>
                          <m:sSubPr>
                            <m:ctrlPr>
                              <a:rPr lang="it-IT" sz="2400" i="1">
                                <a:latin typeface="Cambria Math" panose="02040503050406030204" pitchFamily="18" charset="0"/>
                                <a:ea typeface="Cambria Math" panose="02040503050406030204" pitchFamily="18" charset="0"/>
                              </a:rPr>
                            </m:ctrlPr>
                          </m:sSubPr>
                          <m:e>
                            <m:r>
                              <a:rPr lang="it-IT" sz="2400" i="1">
                                <a:latin typeface="Cambria Math" panose="02040503050406030204" pitchFamily="18" charset="0"/>
                                <a:ea typeface="Cambria Math" panose="02040503050406030204" pitchFamily="18" charset="0"/>
                              </a:rPr>
                              <m:t>𝑝</m:t>
                            </m:r>
                          </m:e>
                          <m:sub>
                            <m:r>
                              <a:rPr lang="it-IT" sz="2400" i="1">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b="0" i="1" smtClean="0">
                        <a:latin typeface="Cambria Math" panose="02040503050406030204" pitchFamily="18" charset="0"/>
                      </a:rPr>
                      <m:t>≤</m:t>
                    </m:r>
                  </m:oMath>
                </a14:m>
                <a:r>
                  <a:rPr lang="it-IT" sz="2400" dirty="0">
                    <a:ea typeface="Cambria Math" panose="02040503050406030204" pitchFamily="18" charset="0"/>
                  </a:rPr>
                  <a:t> </a:t>
                </a:r>
                <a14:m>
                  <m:oMath xmlns:m="http://schemas.openxmlformats.org/officeDocument/2006/math">
                    <m:sSub>
                      <m:sSubPr>
                        <m:ctrlPr>
                          <a:rPr lang="it-IT" sz="2400" i="1">
                            <a:latin typeface="Cambria Math" panose="02040503050406030204" pitchFamily="18" charset="0"/>
                            <a:ea typeface="Cambria Math" panose="02040503050406030204" pitchFamily="18" charset="0"/>
                          </a:rPr>
                        </m:ctrlPr>
                      </m:sSubPr>
                      <m:e>
                        <m:r>
                          <a:rPr lang="it-IT" sz="2400" b="0" i="1" smtClean="0">
                            <a:latin typeface="Cambria Math" panose="02040503050406030204" pitchFamily="18" charset="0"/>
                            <a:ea typeface="Cambria Math" panose="02040503050406030204" pitchFamily="18" charset="0"/>
                          </a:rPr>
                          <m:t>𝑡</m:t>
                        </m:r>
                      </m:e>
                      <m:sub>
                        <m:r>
                          <a:rPr lang="it-IT" sz="2400" i="1">
                            <a:latin typeface="Cambria Math" panose="02040503050406030204" pitchFamily="18" charset="0"/>
                            <a:ea typeface="Cambria Math" panose="02040503050406030204" pitchFamily="18" charset="0"/>
                          </a:rPr>
                          <m:t>𝑚𝑎𝑥</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b="0" i="1" smtClean="0">
                        <a:latin typeface="Cambria Math" panose="02040503050406030204" pitchFamily="18" charset="0"/>
                        <a:ea typeface="Cambria Math" panose="02040503050406030204" pitchFamily="18" charset="0"/>
                      </a:rPr>
                      <m:t>, </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b="0" i="1" smtClean="0">
                            <a:solidFill>
                              <a:srgbClr val="00B050"/>
                            </a:solidFill>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(4)</a:t>
                </a:r>
                <a:r>
                  <a:rPr lang="en-US" sz="2400" baseline="-25000" dirty="0">
                    <a:latin typeface="Cambria Math" panose="02040503050406030204" pitchFamily="18" charset="0"/>
                    <a:ea typeface="Cambria Math" panose="02040503050406030204" pitchFamily="18" charset="0"/>
                  </a:rPr>
                  <a:t> </a:t>
                </a:r>
                <a:endParaRPr lang="en-US" sz="2400" dirty="0">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2273974"/>
                <a:ext cx="8546175" cy="2824343"/>
              </a:xfrm>
              <a:blipFill>
                <a:blip r:embed="rId2"/>
                <a:stretch>
                  <a:fillRect l="-1070" t="-1403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48</a:t>
            </a:fld>
            <a:endParaRPr lang="it-IT" dirty="0"/>
          </a:p>
        </p:txBody>
      </p:sp>
      <p:sp>
        <p:nvSpPr>
          <p:cNvPr id="6" name="Call-out: Line 5">
            <a:extLst>
              <a:ext uri="{FF2B5EF4-FFF2-40B4-BE49-F238E27FC236}">
                <a16:creationId xmlns:a16="http://schemas.microsoft.com/office/drawing/2014/main" id="{1F89F789-8724-8914-D182-1CD924F9A4A6}"/>
              </a:ext>
            </a:extLst>
          </p:cNvPr>
          <p:cNvSpPr/>
          <p:nvPr/>
        </p:nvSpPr>
        <p:spPr>
          <a:xfrm>
            <a:off x="4141694" y="1150081"/>
            <a:ext cx="3612777" cy="896012"/>
          </a:xfrm>
          <a:prstGeom prst="borderCallout1">
            <a:avLst>
              <a:gd name="adj1" fmla="val 66064"/>
              <a:gd name="adj2" fmla="val -3867"/>
              <a:gd name="adj3" fmla="val 156901"/>
              <a:gd name="adj4" fmla="val -30888"/>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sz="2000" dirty="0">
                <a:solidFill>
                  <a:srgbClr val="0070C0"/>
                </a:solidFill>
              </a:rPr>
              <a:t>Just </a:t>
            </a:r>
            <a:r>
              <a:rPr lang="it-IT" sz="2000" dirty="0" err="1">
                <a:solidFill>
                  <a:srgbClr val="0070C0"/>
                </a:solidFill>
              </a:rPr>
              <a:t>minimize</a:t>
            </a:r>
            <a:r>
              <a:rPr lang="it-IT" sz="2000" dirty="0">
                <a:solidFill>
                  <a:srgbClr val="0070C0"/>
                </a:solidFill>
              </a:rPr>
              <a:t> the </a:t>
            </a:r>
            <a:r>
              <a:rPr lang="it-IT" sz="2000" dirty="0" err="1">
                <a:solidFill>
                  <a:srgbClr val="0070C0"/>
                </a:solidFill>
              </a:rPr>
              <a:t>number</a:t>
            </a:r>
            <a:r>
              <a:rPr lang="it-IT" sz="2000" dirty="0">
                <a:solidFill>
                  <a:srgbClr val="0070C0"/>
                </a:solidFill>
              </a:rPr>
              <a:t> of </a:t>
            </a:r>
            <a:r>
              <a:rPr lang="it-IT" sz="2000" dirty="0" err="1">
                <a:solidFill>
                  <a:srgbClr val="0070C0"/>
                </a:solidFill>
              </a:rPr>
              <a:t>unsupported</a:t>
            </a:r>
            <a:r>
              <a:rPr lang="it-IT" sz="2000" dirty="0">
                <a:solidFill>
                  <a:srgbClr val="0070C0"/>
                </a:solidFill>
              </a:rPr>
              <a:t> </a:t>
            </a:r>
            <a:r>
              <a:rPr lang="it-IT" sz="2000" dirty="0" err="1">
                <a:solidFill>
                  <a:srgbClr val="0070C0"/>
                </a:solidFill>
              </a:rPr>
              <a:t>shipments</a:t>
            </a:r>
            <a:r>
              <a:rPr lang="it-IT" sz="2000" dirty="0">
                <a:solidFill>
                  <a:srgbClr val="0070C0"/>
                </a:solidFill>
              </a:rPr>
              <a:t> (trucks)</a:t>
            </a:r>
            <a:endParaRPr lang="en-US" sz="2000" dirty="0">
              <a:solidFill>
                <a:srgbClr val="0070C0"/>
              </a:solidFill>
            </a:endParaRPr>
          </a:p>
        </p:txBody>
      </p:sp>
      <p:sp>
        <p:nvSpPr>
          <p:cNvPr id="7" name="TextBox 6">
            <a:extLst>
              <a:ext uri="{FF2B5EF4-FFF2-40B4-BE49-F238E27FC236}">
                <a16:creationId xmlns:a16="http://schemas.microsoft.com/office/drawing/2014/main" id="{110C78DD-3873-5F64-96AB-648024039977}"/>
              </a:ext>
            </a:extLst>
          </p:cNvPr>
          <p:cNvSpPr txBox="1"/>
          <p:nvPr/>
        </p:nvSpPr>
        <p:spPr>
          <a:xfrm>
            <a:off x="298912" y="5098317"/>
            <a:ext cx="8235488" cy="1200329"/>
          </a:xfrm>
          <a:prstGeom prst="rect">
            <a:avLst/>
          </a:prstGeom>
          <a:noFill/>
          <a:ln>
            <a:noFill/>
          </a:ln>
        </p:spPr>
        <p:txBody>
          <a:bodyPr wrap="square" rtlCol="0" anchor="t" anchorCtr="0">
            <a:spAutoFit/>
          </a:bodyPr>
          <a:lstStyle/>
          <a:p>
            <a:r>
              <a:rPr lang="en-US" sz="2400" dirty="0"/>
              <a:t>Maximize the number of on-time jobs on unrelated machines with a common due date, R | </a:t>
            </a:r>
            <a:r>
              <a:rPr lang="en-US" sz="2400" dirty="0" err="1"/>
              <a:t>d_j</a:t>
            </a:r>
            <a:r>
              <a:rPr lang="en-US" sz="2400" dirty="0"/>
              <a:t> = </a:t>
            </a:r>
            <a:r>
              <a:rPr lang="en-US" sz="2400" dirty="0" err="1"/>
              <a:t>t_max</a:t>
            </a:r>
            <a:r>
              <a:rPr lang="en-US" sz="2400" dirty="0"/>
              <a:t> | Σ(1 − </a:t>
            </a:r>
            <a:r>
              <a:rPr lang="en-US" sz="2400" dirty="0" err="1"/>
              <a:t>U_j</a:t>
            </a:r>
            <a:r>
              <a:rPr lang="en-US" sz="2400" dirty="0"/>
              <a:t>). No sequencing decisions are needed</a:t>
            </a:r>
          </a:p>
        </p:txBody>
      </p:sp>
    </p:spTree>
    <p:extLst>
      <p:ext uri="{BB962C8B-B14F-4D97-AF65-F5344CB8AC3E}">
        <p14:creationId xmlns:p14="http://schemas.microsoft.com/office/powerpoint/2010/main" val="9695713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17740"/>
          </a:xfrm>
        </p:spPr>
        <p:txBody>
          <a:bodyPr>
            <a:noAutofit/>
          </a:bodyPr>
          <a:lstStyle/>
          <a:p>
            <a:pPr marL="0" rtl="0" eaLnBrk="1" fontAlgn="ctr" latinLnBrk="0" hangingPunct="1">
              <a:spcBef>
                <a:spcPts val="0"/>
              </a:spcBef>
              <a:spcAft>
                <a:spcPts val="0"/>
              </a:spcAft>
              <a:tabLst>
                <a:tab pos="804863" algn="l"/>
                <a:tab pos="5024438" algn="l"/>
                <a:tab pos="7177088" algn="l"/>
              </a:tabLst>
            </a:pPr>
            <a:r>
              <a:rPr lang="it-IT" sz="2000" i="1" dirty="0">
                <a:latin typeface="Cambria" panose="02040503050406030204" pitchFamily="18" charset="0"/>
                <a:ea typeface="Cambria" panose="02040503050406030204" pitchFamily="18" charset="0"/>
              </a:rPr>
              <a:t>J</a:t>
            </a:r>
            <a:r>
              <a:rPr lang="it-IT" sz="2000" b="0" i="0" u="none" strike="noStrike" kern="1200" dirty="0">
                <a:solidFill>
                  <a:schemeClr val="tx1"/>
                </a:solidFill>
                <a:effectLst/>
                <a:ea typeface="Cambria Math" panose="02040503050406030204" pitchFamily="18" charset="0"/>
              </a:rPr>
              <a:t> 	</a:t>
            </a:r>
            <a:r>
              <a:rPr lang="it-IT" sz="2000" b="0" i="0" u="none" strike="noStrike" kern="1200" dirty="0">
                <a:solidFill>
                  <a:srgbClr val="0070C0"/>
                </a:solidFill>
                <a:effectLst/>
                <a:ea typeface="Cambria Math" panose="02040503050406030204" pitchFamily="18" charset="0"/>
              </a:rPr>
              <a:t>jobs</a:t>
            </a:r>
            <a:r>
              <a:rPr lang="it-IT" sz="2000" b="0" i="0" u="none" strike="noStrike" kern="1200" dirty="0">
                <a:solidFill>
                  <a:schemeClr val="tx1"/>
                </a:solidFill>
                <a:effectLst/>
                <a:ea typeface="Cambria Math" panose="02040503050406030204" pitchFamily="18" charset="0"/>
              </a:rPr>
              <a:t> (trucks, index </a:t>
            </a:r>
            <a:r>
              <a:rPr lang="it-IT" sz="2000" i="1" dirty="0" err="1">
                <a:latin typeface="Cambria" panose="02040503050406030204" pitchFamily="18" charset="0"/>
                <a:ea typeface="Cambria" panose="02040503050406030204" pitchFamily="18" charset="0"/>
              </a:rPr>
              <a:t>j,k</a:t>
            </a:r>
            <a:r>
              <a:rPr lang="it-IT" sz="2000" b="0" i="0" u="none" strike="noStrike" kern="1200" dirty="0">
                <a:solidFill>
                  <a:schemeClr val="tx1"/>
                </a:solidFill>
                <a:effectLst/>
                <a:ea typeface="Cambria Math" panose="02040503050406030204" pitchFamily="18" charset="0"/>
              </a:rPr>
              <a:t>)</a:t>
            </a:r>
          </a:p>
          <a:p>
            <a:pPr marL="0" rtl="0" eaLnBrk="1" fontAlgn="ctr" latinLnBrk="0" hangingPunct="1">
              <a:spcBef>
                <a:spcPts val="600"/>
              </a:spcBef>
              <a:spcAft>
                <a:spcPts val="0"/>
              </a:spcAft>
              <a:tabLst>
                <a:tab pos="804863" algn="l"/>
                <a:tab pos="5024438" algn="l"/>
                <a:tab pos="7177088" algn="l"/>
              </a:tabLst>
            </a:pPr>
            <a:r>
              <a:rPr lang="it-IT" sz="2000" i="1" dirty="0">
                <a:latin typeface="Cambria" panose="02040503050406030204" pitchFamily="18" charset="0"/>
                <a:ea typeface="Cambria" panose="02040503050406030204" pitchFamily="18" charset="0"/>
              </a:rPr>
              <a:t>I</a:t>
            </a:r>
            <a:r>
              <a:rPr lang="it-IT" sz="2000" dirty="0">
                <a:ea typeface="Cambria Math" panose="02040503050406030204" pitchFamily="18" charset="0"/>
              </a:rPr>
              <a:t> 	</a:t>
            </a:r>
            <a:r>
              <a:rPr lang="it-IT" sz="2000" dirty="0">
                <a:solidFill>
                  <a:srgbClr val="0070C0"/>
                </a:solidFill>
                <a:ea typeface="Cambria Math" panose="02040503050406030204" pitchFamily="18" charset="0"/>
              </a:rPr>
              <a:t>machines</a:t>
            </a:r>
            <a:r>
              <a:rPr lang="it-IT" sz="2000" dirty="0">
                <a:ea typeface="Cambria Math" panose="02040503050406030204" pitchFamily="18" charset="0"/>
              </a:rPr>
              <a:t> (</a:t>
            </a:r>
            <a:r>
              <a:rPr lang="it-IT" sz="2000" dirty="0" err="1">
                <a:ea typeface="Cambria Math" panose="02040503050406030204" pitchFamily="18" charset="0"/>
              </a:rPr>
              <a:t>areas</a:t>
            </a:r>
            <a:r>
              <a:rPr lang="it-IT" sz="2000" dirty="0">
                <a:ea typeface="Cambria Math" panose="02040503050406030204" pitchFamily="18" charset="0"/>
              </a:rPr>
              <a:t>, index </a:t>
            </a:r>
            <a:r>
              <a:rPr lang="it-IT" sz="2000" i="1" dirty="0">
                <a:latin typeface="Cambria" panose="02040503050406030204" pitchFamily="18" charset="0"/>
                <a:ea typeface="Cambria" panose="02040503050406030204" pitchFamily="18" charset="0"/>
              </a:rPr>
              <a:t>i</a:t>
            </a:r>
            <a:r>
              <a:rPr lang="it-IT" sz="2000" dirty="0">
                <a:ea typeface="Cambria Math" panose="02040503050406030204" pitchFamily="18" charset="0"/>
              </a:rPr>
              <a:t>)</a:t>
            </a:r>
          </a:p>
          <a:p>
            <a:pPr marL="0" rtl="0" eaLnBrk="1" fontAlgn="ctr" latinLnBrk="0" hangingPunct="1">
              <a:spcBef>
                <a:spcPts val="600"/>
              </a:spcBef>
              <a:spcAft>
                <a:spcPts val="0"/>
              </a:spcAft>
              <a:tabLst>
                <a:tab pos="804863" algn="l"/>
                <a:tab pos="5024438" algn="l"/>
                <a:tab pos="7177088" algn="l"/>
              </a:tabLst>
            </a:pPr>
            <a:r>
              <a:rPr lang="it-IT" sz="2000" i="1" dirty="0" err="1">
                <a:latin typeface="Cambria" panose="02040503050406030204" pitchFamily="18" charset="0"/>
                <a:ea typeface="Cambria" panose="02040503050406030204" pitchFamily="18" charset="0"/>
              </a:rPr>
              <a:t>p</a:t>
            </a:r>
            <a:r>
              <a:rPr lang="it-IT" i="1" baseline="-25000" dirty="0" err="1">
                <a:latin typeface="Cambria" panose="02040503050406030204" pitchFamily="18" charset="0"/>
                <a:ea typeface="Cambria" panose="02040503050406030204" pitchFamily="18" charset="0"/>
              </a:rPr>
              <a:t>ij</a:t>
            </a:r>
            <a:r>
              <a:rPr lang="it-IT" sz="2000" b="0" i="0" u="none" strike="noStrike" dirty="0">
                <a:solidFill>
                  <a:schemeClr val="tx1"/>
                </a:solidFill>
                <a:effectLst/>
                <a:ea typeface="Cambria Math" panose="02040503050406030204" pitchFamily="18" charset="0"/>
              </a:rPr>
              <a:t> 	</a:t>
            </a:r>
            <a:r>
              <a:rPr lang="it-IT" sz="2000" b="0" i="0" u="none" strike="noStrike" dirty="0">
                <a:solidFill>
                  <a:srgbClr val="0070C0"/>
                </a:solidFill>
                <a:effectLst/>
                <a:ea typeface="Cambria Math" panose="02040503050406030204" pitchFamily="18" charset="0"/>
              </a:rPr>
              <a:t>processing time </a:t>
            </a:r>
            <a:r>
              <a:rPr lang="it-IT" sz="2000" b="0" i="0" u="none" strike="noStrike" dirty="0">
                <a:solidFill>
                  <a:schemeClr val="tx1"/>
                </a:solidFill>
                <a:effectLst/>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r>
              <a:rPr lang="it-IT" sz="2000" b="0" i="0" u="none" strike="noStrike" dirty="0">
                <a:solidFill>
                  <a:schemeClr val="tx1"/>
                </a:solidFill>
                <a:effectLst/>
                <a:ea typeface="Cambria Math" panose="02040503050406030204" pitchFamily="18" charset="0"/>
              </a:rPr>
              <a:t> on machine </a:t>
            </a:r>
            <a:r>
              <a:rPr lang="it-IT" sz="2000" i="1" dirty="0">
                <a:latin typeface="Cambria" panose="02040503050406030204" pitchFamily="18" charset="0"/>
                <a:ea typeface="Cambria" panose="02040503050406030204" pitchFamily="18" charset="0"/>
              </a:rPr>
              <a:t>i</a:t>
            </a:r>
          </a:p>
          <a:p>
            <a:pPr marL="0" rtl="0" eaLnBrk="1" fontAlgn="ctr" latinLnBrk="0" hangingPunct="1">
              <a:spcBef>
                <a:spcPts val="600"/>
              </a:spcBef>
              <a:spcAft>
                <a:spcPts val="0"/>
              </a:spcAft>
              <a:tabLst>
                <a:tab pos="804863" algn="l"/>
                <a:tab pos="5024438" algn="l"/>
                <a:tab pos="7177088" algn="l"/>
              </a:tabLst>
            </a:pPr>
            <a:r>
              <a:rPr lang="it-IT" sz="2000" i="1" dirty="0" err="1">
                <a:latin typeface="Cambria" panose="02040503050406030204" pitchFamily="18" charset="0"/>
                <a:ea typeface="Cambria" panose="02040503050406030204" pitchFamily="18" charset="0"/>
              </a:rPr>
              <a:t>r</a:t>
            </a:r>
            <a:r>
              <a:rPr lang="it-IT" i="1" baseline="-25000" dirty="0" err="1">
                <a:latin typeface="Cambria" panose="02040503050406030204" pitchFamily="18" charset="0"/>
                <a:ea typeface="Cambria" panose="02040503050406030204" pitchFamily="18" charset="0"/>
              </a:rPr>
              <a:t>j</a:t>
            </a:r>
            <a:r>
              <a:rPr lang="it-IT" sz="2000" dirty="0">
                <a:ea typeface="Cambria Math" panose="02040503050406030204" pitchFamily="18" charset="0"/>
              </a:rPr>
              <a:t> 	</a:t>
            </a:r>
            <a:r>
              <a:rPr lang="it-IT" sz="2000" dirty="0">
                <a:solidFill>
                  <a:srgbClr val="0070C0"/>
                </a:solidFill>
                <a:ea typeface="Cambria Math" panose="02040503050406030204" pitchFamily="18" charset="0"/>
              </a:rPr>
              <a:t>release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marL="0" rtl="0" eaLnBrk="1" fontAlgn="ctr" latinLnBrk="0" hangingPunct="1">
              <a:lnSpc>
                <a:spcPct val="150000"/>
              </a:lnSpc>
              <a:spcAft>
                <a:spcPts val="0"/>
              </a:spcAft>
              <a:tabLst>
                <a:tab pos="804863" algn="l"/>
                <a:tab pos="5024438" algn="l"/>
                <a:tab pos="7177088" algn="l"/>
              </a:tabLst>
            </a:pPr>
            <a:r>
              <a:rPr lang="it-IT" sz="2000" b="0" i="1" u="none" strike="noStrike" dirty="0" err="1">
                <a:solidFill>
                  <a:schemeClr val="tx1"/>
                </a:solidFill>
                <a:effectLst/>
                <a:ea typeface="Cambria Math" panose="02040503050406030204" pitchFamily="18" charset="0"/>
              </a:rPr>
              <a:t>Variables</a:t>
            </a:r>
            <a:endParaRPr lang="it-IT" sz="2000" b="0" i="1" u="none" strike="noStrike" dirty="0">
              <a:solidFill>
                <a:schemeClr val="tx1"/>
              </a:solidFill>
              <a:effectLst/>
              <a:ea typeface="Cambria Math" panose="02040503050406030204" pitchFamily="18" charset="0"/>
            </a:endParaRP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c</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err="1">
                <a:solidFill>
                  <a:srgbClr val="0070C0"/>
                </a:solidFill>
                <a:ea typeface="Cambria Math" panose="02040503050406030204" pitchFamily="18" charset="0"/>
              </a:rPr>
              <a:t>completion</a:t>
            </a:r>
            <a:r>
              <a:rPr lang="it-IT" sz="2000" dirty="0">
                <a:solidFill>
                  <a:srgbClr val="0070C0"/>
                </a:solidFill>
                <a:ea typeface="Cambria Math" panose="02040503050406030204" pitchFamily="18" charset="0"/>
              </a:rPr>
              <a:t>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t</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err="1">
                <a:solidFill>
                  <a:srgbClr val="0070C0"/>
                </a:solidFill>
                <a:ea typeface="Cambria Math" panose="02040503050406030204" pitchFamily="18" charset="0"/>
              </a:rPr>
              <a:t>tardiness</a:t>
            </a:r>
            <a:r>
              <a:rPr lang="it-IT" sz="2000" dirty="0">
                <a:ea typeface="Cambria Math" panose="02040503050406030204" pitchFamily="18" charset="0"/>
              </a:rPr>
              <a:t> 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s</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a:solidFill>
                  <a:srgbClr val="0070C0"/>
                </a:solidFill>
                <a:ea typeface="Cambria Math" panose="02040503050406030204" pitchFamily="18" charset="0"/>
              </a:rPr>
              <a:t>start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x</a:t>
            </a:r>
            <a:r>
              <a:rPr lang="it-IT" i="1" baseline="-25000" dirty="0" err="1">
                <a:latin typeface="Cambria" panose="02040503050406030204" pitchFamily="18" charset="0"/>
                <a:ea typeface="Cambria" panose="02040503050406030204" pitchFamily="18" charset="0"/>
              </a:rPr>
              <a:t>ij</a:t>
            </a:r>
            <a:r>
              <a:rPr lang="it-IT" sz="2000" i="1" dirty="0">
                <a:latin typeface="Cambria" panose="02040503050406030204" pitchFamily="18" charset="0"/>
                <a:ea typeface="Cambria" panose="02040503050406030204" pitchFamily="18" charset="0"/>
              </a:rPr>
              <a:t> 	</a:t>
            </a:r>
            <a:r>
              <a:rPr lang="it-IT" sz="2000" dirty="0">
                <a:ea typeface="Cambria Math" panose="02040503050406030204" pitchFamily="18" charset="0"/>
              </a:rPr>
              <a:t>job</a:t>
            </a:r>
            <a:r>
              <a:rPr lang="it-IT" sz="2000" i="1" dirty="0">
                <a:latin typeface="Cambria" panose="02040503050406030204" pitchFamily="18" charset="0"/>
                <a:ea typeface="Cambria" panose="02040503050406030204" pitchFamily="18" charset="0"/>
              </a:rPr>
              <a:t> j </a:t>
            </a:r>
            <a:r>
              <a:rPr lang="it-IT" sz="2000" dirty="0" err="1">
                <a:solidFill>
                  <a:srgbClr val="0070C0"/>
                </a:solidFill>
                <a:ea typeface="Cambria Math" panose="02040503050406030204" pitchFamily="18" charset="0"/>
              </a:rPr>
              <a:t>assigned</a:t>
            </a:r>
            <a:r>
              <a:rPr lang="it-IT" sz="2000" dirty="0">
                <a:ea typeface="Cambria Math" panose="02040503050406030204" pitchFamily="18" charset="0"/>
              </a:rPr>
              <a:t> to machine </a:t>
            </a:r>
            <a:r>
              <a:rPr lang="it-IT" sz="2000" i="1" dirty="0">
                <a:latin typeface="Cambria" panose="02040503050406030204" pitchFamily="18" charset="0"/>
                <a:ea typeface="Cambria" panose="02040503050406030204" pitchFamily="18" charset="0"/>
              </a:rPr>
              <a:t>i</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z</a:t>
            </a:r>
            <a:r>
              <a:rPr lang="it-IT" i="1" baseline="-25000" dirty="0" err="1">
                <a:latin typeface="Cambria" panose="02040503050406030204" pitchFamily="18" charset="0"/>
                <a:ea typeface="Cambria" panose="02040503050406030204" pitchFamily="18" charset="0"/>
              </a:rPr>
              <a:t>jk</a:t>
            </a:r>
            <a:r>
              <a:rPr lang="it-IT" sz="2000" i="1" dirty="0">
                <a:latin typeface="Cambria" panose="02040503050406030204" pitchFamily="18" charset="0"/>
                <a:ea typeface="Cambria" panose="02040503050406030204" pitchFamily="18" charset="0"/>
              </a:rPr>
              <a:t>	</a:t>
            </a:r>
            <a:r>
              <a:rPr lang="it-IT" sz="2000" dirty="0">
                <a:ea typeface="Cambria Math" panose="02040503050406030204" pitchFamily="18" charset="0"/>
              </a:rPr>
              <a:t>truck </a:t>
            </a:r>
            <a:r>
              <a:rPr lang="it-IT" sz="2000" i="1" dirty="0">
                <a:latin typeface="Cambria" panose="02040503050406030204" pitchFamily="18" charset="0"/>
                <a:ea typeface="Cambria" panose="02040503050406030204" pitchFamily="18" charset="0"/>
              </a:rPr>
              <a:t>k </a:t>
            </a:r>
            <a:r>
              <a:rPr lang="it-IT" sz="2000" dirty="0">
                <a:solidFill>
                  <a:srgbClr val="0070C0"/>
                </a:solidFill>
                <a:ea typeface="Cambria Math" panose="02040503050406030204" pitchFamily="18" charset="0"/>
              </a:rPr>
              <a:t>follows</a:t>
            </a:r>
            <a:r>
              <a:rPr lang="it-IT" sz="2000" dirty="0">
                <a:ea typeface="Cambria Math" panose="02040503050406030204" pitchFamily="18" charset="0"/>
              </a:rPr>
              <a:t> truck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t</a:t>
            </a:r>
            <a:r>
              <a:rPr lang="it-IT" i="1" baseline="-25000" dirty="0" err="1">
                <a:latin typeface="Cambria" panose="02040503050406030204" pitchFamily="18" charset="0"/>
                <a:ea typeface="Cambria" panose="02040503050406030204" pitchFamily="18" charset="0"/>
              </a:rPr>
              <a:t>max</a:t>
            </a:r>
            <a:r>
              <a:rPr lang="it-IT" sz="2000" i="1" dirty="0">
                <a:latin typeface="Cambria" panose="02040503050406030204" pitchFamily="18" charset="0"/>
                <a:ea typeface="Cambria" panose="02040503050406030204" pitchFamily="18" charset="0"/>
              </a:rPr>
              <a:t> 	</a:t>
            </a:r>
            <a:r>
              <a:rPr lang="it-IT" sz="2000" dirty="0">
                <a:solidFill>
                  <a:srgbClr val="0070C0"/>
                </a:solidFill>
                <a:ea typeface="Cambria Math" panose="02040503050406030204" pitchFamily="18" charset="0"/>
              </a:rPr>
              <a:t>maximum </a:t>
            </a:r>
            <a:r>
              <a:rPr lang="it-IT" sz="2000" dirty="0" err="1">
                <a:solidFill>
                  <a:srgbClr val="0070C0"/>
                </a:solidFill>
                <a:ea typeface="Cambria Math" panose="02040503050406030204" pitchFamily="18" charset="0"/>
              </a:rPr>
              <a:t>tardiness</a:t>
            </a:r>
            <a:endParaRPr lang="en-US" sz="2000" dirty="0">
              <a:solidFill>
                <a:srgbClr val="0070C0"/>
              </a:solidFill>
              <a:ea typeface="Cambria Math" panose="02040503050406030204" pitchFamily="18" charset="0"/>
            </a:endParaRPr>
          </a:p>
          <a:p>
            <a:endParaRPr lang="en-US" sz="2000" dirty="0">
              <a:solidFill>
                <a:schemeClr val="tx1"/>
              </a:solidFill>
            </a:endParaRPr>
          </a:p>
        </p:txBody>
      </p:sp>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F2</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49</a:t>
            </a:fld>
            <a:endParaRPr lang="it-IT" dirty="0"/>
          </a:p>
        </p:txBody>
      </p:sp>
    </p:spTree>
    <p:extLst>
      <p:ext uri="{BB962C8B-B14F-4D97-AF65-F5344CB8AC3E}">
        <p14:creationId xmlns:p14="http://schemas.microsoft.com/office/powerpoint/2010/main" val="37527899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fontScale="92500" lnSpcReduction="20000"/>
              </a:bodyPr>
              <a:lstStyle/>
              <a:p>
                <a:pPr marL="0" rtl="0" eaLnBrk="1" fontAlgn="ctr" latinLnBrk="0" hangingPunct="1">
                  <a:lnSpc>
                    <a:spcPct val="150000"/>
                  </a:lnSpc>
                  <a:spcBef>
                    <a:spcPts val="0"/>
                  </a:spcBef>
                  <a:spcAft>
                    <a:spcPts val="0"/>
                  </a:spcAft>
                  <a:tabLst>
                    <a:tab pos="1789113" algn="l"/>
                    <a:tab pos="5024438" algn="l"/>
                    <a:tab pos="760095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z(F2)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limLoc m:val="subSup"/>
                        <m:supHide m:val="on"/>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m:rPr>
                            <m:brk m:alnAt="9"/>
                          </m:r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𝑗</m:t>
                        </m:r>
                      </m:sub>
                      <m:sup/>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𝑤</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it-IT" sz="2400" dirty="0">
                    <a:latin typeface="Cambria Math" panose="02040503050406030204" pitchFamily="18" charset="0"/>
                    <a:ea typeface="Cambria Math" panose="02040503050406030204" pitchFamily="18" charset="0"/>
                  </a:rPr>
                  <a:t>	</a:t>
                </a:r>
                <a14:m>
                  <m:oMath xmlns:m="http://schemas.openxmlformats.org/officeDocument/2006/math">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𝑠</m:t>
                        </m:r>
                      </m:e>
                      <m:sub>
                        <m:r>
                          <a:rPr lang="it-IT" sz="2400" i="1">
                            <a:solidFill>
                              <a:srgbClr val="00B050"/>
                            </a:solidFill>
                            <a:latin typeface="Cambria Math" panose="02040503050406030204" pitchFamily="18" charset="0"/>
                            <a:ea typeface="Cambria Math" panose="02040503050406030204" pitchFamily="18" charset="0"/>
                          </a:rPr>
                          <m:t>𝑗</m:t>
                        </m:r>
                      </m:sub>
                    </m:sSub>
                    <m:r>
                      <a:rPr lang="it-IT" sz="2400" i="1">
                        <a:latin typeface="Cambria Math" panose="02040503050406030204" pitchFamily="18" charset="0"/>
                        <a:ea typeface="Cambria Math" panose="02040503050406030204" pitchFamily="18" charset="0"/>
                      </a:rPr>
                      <m:t>+</m:t>
                    </m:r>
                    <m:sSub>
                      <m:sSubPr>
                        <m:ctrlPr>
                          <a:rPr lang="it-IT" sz="2400" i="1">
                            <a:latin typeface="Cambria Math" panose="02040503050406030204" pitchFamily="18" charset="0"/>
                            <a:ea typeface="Cambria Math" panose="02040503050406030204" pitchFamily="18" charset="0"/>
                          </a:rPr>
                        </m:ctrlPr>
                      </m:sSubPr>
                      <m:e>
                        <m:r>
                          <a:rPr lang="it-IT" sz="2400" i="1">
                            <a:latin typeface="Cambria Math" panose="02040503050406030204" pitchFamily="18" charset="0"/>
                            <a:ea typeface="Cambria Math" panose="02040503050406030204" pitchFamily="18" charset="0"/>
                          </a:rPr>
                          <m:t>𝑝</m:t>
                        </m:r>
                      </m:e>
                      <m:sub>
                        <m:r>
                          <a:rPr lang="it-IT" sz="2400" i="1">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𝑠</m:t>
                        </m:r>
                      </m:e>
                      <m:sub>
                        <m:r>
                          <a:rPr lang="it-IT" sz="2400" i="1">
                            <a:solidFill>
                              <a:srgbClr val="00B050"/>
                            </a:solidFill>
                            <a:latin typeface="Cambria Math" panose="02040503050406030204" pitchFamily="18" charset="0"/>
                            <a:ea typeface="Cambria Math" panose="02040503050406030204" pitchFamily="18" charset="0"/>
                          </a:rPr>
                          <m:t>𝑘</m:t>
                        </m:r>
                      </m:sub>
                    </m:sSub>
                    <m:r>
                      <a:rPr lang="it-IT" sz="2400" i="1">
                        <a:latin typeface="Cambria Math" panose="02040503050406030204" pitchFamily="18" charset="0"/>
                        <a:ea typeface="Cambria Math" panose="02040503050406030204" pitchFamily="18" charset="0"/>
                      </a:rPr>
                      <m:t>+</m:t>
                    </m:r>
                    <m:r>
                      <a:rPr lang="it-IT" sz="2400" i="1">
                        <a:latin typeface="Cambria Math" panose="02040503050406030204" pitchFamily="18" charset="0"/>
                        <a:ea typeface="Cambria Math" panose="02040503050406030204" pitchFamily="18" charset="0"/>
                      </a:rPr>
                      <m:t>𝑀</m:t>
                    </m:r>
                    <m:r>
                      <a:rPr lang="it-IT" sz="2400" i="1">
                        <a:latin typeface="Cambria Math" panose="02040503050406030204" pitchFamily="18" charset="0"/>
                        <a:ea typeface="Cambria Math" panose="02040503050406030204" pitchFamily="18" charset="0"/>
                      </a:rPr>
                      <m:t>(3−</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𝑖𝑘</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𝑧</m:t>
                        </m:r>
                      </m:e>
                      <m:sub>
                        <m:r>
                          <a:rPr lang="it-IT" sz="2400" i="1">
                            <a:solidFill>
                              <a:srgbClr val="00B050"/>
                            </a:solidFill>
                            <a:latin typeface="Cambria Math" panose="02040503050406030204" pitchFamily="18" charset="0"/>
                            <a:ea typeface="Cambria Math" panose="02040503050406030204" pitchFamily="18" charset="0"/>
                          </a:rPr>
                          <m:t>𝑗𝑘</m:t>
                        </m:r>
                      </m:sub>
                    </m:sSub>
                    <m:r>
                      <a:rPr lang="it-IT" sz="2400" i="1">
                        <a:latin typeface="Cambria Math" panose="02040503050406030204" pitchFamily="18" charset="0"/>
                        <a:ea typeface="Cambria Math" panose="02040503050406030204" pitchFamily="18" charset="0"/>
                      </a:rPr>
                      <m:t>)</m:t>
                    </m:r>
                  </m:oMath>
                </a14:m>
                <a:r>
                  <a:rPr lang="it-IT"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𝑠</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𝑝</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𝑥</m:t>
                        </m:r>
                      </m:e>
                      <m:sub>
                        <m:r>
                          <a:rPr lang="it-IT" sz="2400" b="0" i="1" smtClean="0">
                            <a:solidFill>
                              <a:srgbClr val="00B050"/>
                            </a:solidFill>
                            <a:latin typeface="Cambria Math" panose="02040503050406030204" pitchFamily="18" charset="0"/>
                            <a:ea typeface="Cambria Math" panose="02040503050406030204" pitchFamily="18" charset="0"/>
                          </a:rPr>
                          <m:t>𝑖</m:t>
                        </m:r>
                        <m:r>
                          <a:rPr lang="it-IT" sz="2400" i="1">
                            <a:solidFill>
                              <a:srgbClr val="00B050"/>
                            </a:solidFill>
                            <a:latin typeface="Cambria Math" panose="02040503050406030204" pitchFamily="18" charset="0"/>
                            <a:ea typeface="Cambria Math" panose="02040503050406030204" pitchFamily="18" charset="0"/>
                          </a:rPr>
                          <m:t>𝑗</m:t>
                        </m:r>
                      </m:sub>
                    </m:sSub>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marL="0" rtl="0" eaLnBrk="1" fontAlgn="ctr" latinLnBrk="0" hangingPunct="1">
                  <a:lnSpc>
                    <a:spcPct val="150000"/>
                  </a:lnSpc>
                  <a:spcBef>
                    <a:spcPts val="0"/>
                  </a:spcBef>
                  <a:spcAft>
                    <a:spcPts val="0"/>
                  </a:spcAft>
                  <a:tabLst>
                    <a:tab pos="1789113" algn="l"/>
                    <a:tab pos="5024438" algn="l"/>
                    <a:tab pos="760095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𝑗</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89113" algn="l"/>
                    <a:tab pos="5024438" algn="l"/>
                    <a:tab pos="7600950" algn="l"/>
                  </a:tabLst>
                </a:pPr>
                <a:r>
                  <a:rPr lang="en-US" sz="2400" dirty="0">
                    <a:ea typeface="Cambria Math" panose="02040503050406030204" pitchFamily="18" charset="0"/>
                  </a:rPr>
                  <a:t>	</a:t>
                </a:r>
                <a14:m>
                  <m:oMath xmlns:m="http://schemas.openxmlformats.org/officeDocument/2006/math">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𝑡</m:t>
                        </m:r>
                      </m:e>
                      <m:sub>
                        <m:r>
                          <a:rPr lang="it-IT" sz="2400" b="0" i="1" smtClean="0">
                            <a:solidFill>
                              <a:srgbClr val="00B050"/>
                            </a:solidFill>
                            <a:latin typeface="Cambria Math" panose="02040503050406030204" pitchFamily="18" charset="0"/>
                            <a:ea typeface="Cambria Math" panose="02040503050406030204" pitchFamily="18" charset="0"/>
                          </a:rPr>
                          <m:t>𝑚𝑎𝑥</m:t>
                        </m:r>
                      </m:sub>
                    </m:sSub>
                    <m:r>
                      <a:rPr lang="it-IT" sz="2400" b="0" i="1" smtClean="0">
                        <a:latin typeface="Cambria Math" panose="02040503050406030204" pitchFamily="18" charset="0"/>
                        <a:ea typeface="Cambria Math" panose="02040503050406030204" pitchFamily="18" charset="0"/>
                      </a:rPr>
                      <m:t>≥</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𝑡</m:t>
                        </m:r>
                      </m:e>
                      <m:sub>
                        <m:r>
                          <a:rPr lang="it-IT" sz="2400" b="0" i="1" smtClean="0">
                            <a:solidFill>
                              <a:srgbClr val="00B050"/>
                            </a:solidFill>
                            <a:latin typeface="Cambria Math" panose="02040503050406030204" pitchFamily="18" charset="0"/>
                            <a:ea typeface="Cambria Math" panose="02040503050406030204" pitchFamily="18" charset="0"/>
                          </a:rPr>
                          <m:t>𝑗</m:t>
                        </m:r>
                      </m:sub>
                    </m:sSub>
                  </m:oMath>
                </a14:m>
                <a:r>
                  <a:rPr lang="en-US" sz="2400" dirty="0">
                    <a:solidFill>
                      <a:srgbClr val="00B050"/>
                    </a:solidFill>
                    <a:latin typeface="Arial" panose="020B0604020202020204" pitchFamily="34" charset="0"/>
                  </a:rPr>
                  <a:t> </a:t>
                </a:r>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sSub>
                      <m:sSubPr>
                        <m:ctrlPr>
                          <a:rPr lang="it-IT" sz="2400" b="0" i="1" smtClean="0">
                            <a:solidFill>
                              <a:srgbClr val="00B050"/>
                            </a:solidFill>
                            <a:latin typeface="Cambria Math" panose="02040503050406030204" pitchFamily="18" charset="0"/>
                          </a:rPr>
                        </m:ctrlPr>
                      </m:sSubPr>
                      <m:e>
                        <m:r>
                          <a:rPr lang="it-IT" sz="2400" b="0" i="1" smtClean="0">
                            <a:solidFill>
                              <a:srgbClr val="00B050"/>
                            </a:solidFill>
                            <a:latin typeface="Cambria Math" panose="02040503050406030204" pitchFamily="18" charset="0"/>
                          </a:rPr>
                          <m:t>𝑠</m:t>
                        </m:r>
                      </m:e>
                      <m:sub>
                        <m:r>
                          <a:rPr lang="it-IT" sz="2400" b="0" i="1" smtClean="0">
                            <a:solidFill>
                              <a:srgbClr val="00B050"/>
                            </a:solidFill>
                            <a:latin typeface="Cambria Math" panose="02040503050406030204" pitchFamily="18" charset="0"/>
                          </a:rPr>
                          <m:t>𝑗</m:t>
                        </m:r>
                      </m:sub>
                    </m:sSub>
                    <m:r>
                      <a:rPr lang="it-IT" sz="2400" b="0" i="1" smtClean="0">
                        <a:latin typeface="Cambria Math" panose="02040503050406030204" pitchFamily="18" charset="0"/>
                      </a:rPr>
                      <m:t>≥</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𝑟</m:t>
                        </m:r>
                      </m:e>
                      <m:sub>
                        <m:r>
                          <a:rPr lang="it-IT" sz="2400" b="0" i="1" smtClean="0">
                            <a:latin typeface="Cambria Math" panose="02040503050406030204" pitchFamily="18" charset="0"/>
                          </a:rPr>
                          <m:t>𝑗</m:t>
                        </m:r>
                      </m:sub>
                    </m:sSub>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𝑧</m:t>
                        </m:r>
                      </m:e>
                      <m:sub>
                        <m:r>
                          <a:rPr lang="it-IT" sz="2400" b="0" i="1" smtClean="0">
                            <a:solidFill>
                              <a:srgbClr val="00B050"/>
                            </a:solidFill>
                            <a:latin typeface="Cambria Math" panose="02040503050406030204" pitchFamily="18" charset="0"/>
                            <a:ea typeface="Cambria Math" panose="02040503050406030204" pitchFamily="18" charset="0"/>
                          </a:rPr>
                          <m:t>𝑗𝑘</m:t>
                        </m:r>
                      </m:sub>
                    </m:sSub>
                  </m:oMath>
                </a14:m>
                <a:r>
                  <a:rPr lang="en-US" sz="2400" dirty="0">
                    <a:latin typeface="Arial" panose="020B0604020202020204" pitchFamily="34" charset="0"/>
                  </a:rPr>
                  <a:t> + </a:t>
                </a:r>
                <a14:m>
                  <m:oMath xmlns:m="http://schemas.openxmlformats.org/officeDocument/2006/math">
                    <m:sSub>
                      <m:sSubPr>
                        <m:ctrlPr>
                          <a:rPr lang="it-IT" i="1">
                            <a:solidFill>
                              <a:srgbClr val="00B050"/>
                            </a:solidFill>
                            <a:latin typeface="Cambria Math" panose="02040503050406030204" pitchFamily="18" charset="0"/>
                            <a:ea typeface="Cambria Math" panose="02040503050406030204" pitchFamily="18" charset="0"/>
                          </a:rPr>
                        </m:ctrlPr>
                      </m:sSubPr>
                      <m:e>
                        <m:r>
                          <a:rPr lang="it-IT" i="1">
                            <a:solidFill>
                              <a:srgbClr val="00B050"/>
                            </a:solidFill>
                            <a:latin typeface="Cambria Math" panose="02040503050406030204" pitchFamily="18" charset="0"/>
                            <a:ea typeface="Cambria Math" panose="02040503050406030204" pitchFamily="18" charset="0"/>
                          </a:rPr>
                          <m:t>𝑧</m:t>
                        </m:r>
                      </m:e>
                      <m:sub>
                        <m:r>
                          <a:rPr lang="it-IT" i="1">
                            <a:solidFill>
                              <a:srgbClr val="00B050"/>
                            </a:solidFill>
                            <a:latin typeface="Cambria Math" panose="02040503050406030204" pitchFamily="18" charset="0"/>
                            <a:ea typeface="Cambria Math" panose="02040503050406030204" pitchFamily="18" charset="0"/>
                          </a:rPr>
                          <m:t>𝑗𝑘</m:t>
                        </m:r>
                      </m:sub>
                    </m:sSub>
                  </m:oMath>
                </a14:m>
                <a:r>
                  <a:rPr lang="en-US" sz="2400" dirty="0">
                    <a:latin typeface="Arial" panose="020B0604020202020204" pitchFamily="34" charset="0"/>
                  </a:rPr>
                  <a:t> </a:t>
                </a:r>
                <a14:m>
                  <m:oMath xmlns:m="http://schemas.openxmlformats.org/officeDocument/2006/math">
                    <m:r>
                      <a:rPr lang="it-IT" i="1">
                        <a:latin typeface="Cambria Math" panose="02040503050406030204" pitchFamily="18" charset="0"/>
                        <a:ea typeface="Cambria Math" panose="02040503050406030204" pitchFamily="18" charset="0"/>
                      </a:rPr>
                      <m:t>≤</m:t>
                    </m:r>
                  </m:oMath>
                </a14:m>
                <a:r>
                  <a:rPr lang="en-US" sz="2400" dirty="0">
                    <a:latin typeface="Arial" panose="020B0604020202020204" pitchFamily="34" charset="0"/>
                  </a:rPr>
                  <a:t> </a:t>
                </a:r>
                <a14:m>
                  <m:oMath xmlns:m="http://schemas.openxmlformats.org/officeDocument/2006/math">
                    <m:r>
                      <a:rPr lang="it-IT" i="1">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i="1" dirty="0" err="1">
                    <a:latin typeface="Cambria Math" panose="02040503050406030204" pitchFamily="18" charset="0"/>
                    <a:ea typeface="Cambria Math" panose="02040503050406030204" pitchFamily="18" charset="0"/>
                  </a:rPr>
                  <a:t>i</a:t>
                </a:r>
                <a:r>
                  <a:rPr lang="en-US" i="1" dirty="0">
                    <a:latin typeface="Cambria Math" panose="02040503050406030204" pitchFamily="18" charset="0"/>
                    <a:ea typeface="Cambria Math" panose="02040503050406030204" pitchFamily="18" charset="0"/>
                  </a:rPr>
                  <a:t>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I ,</a:t>
                </a:r>
                <a:r>
                  <a:rPr lang="en-US" baseline="-25000" dirty="0">
                    <a:latin typeface="Cambria Math" panose="02040503050406030204" pitchFamily="18" charset="0"/>
                    <a:ea typeface="Cambria Math" panose="02040503050406030204" pitchFamily="18" charset="0"/>
                  </a:rPr>
                  <a:t> </a:t>
                </a:r>
                <a:r>
                  <a:rPr lang="en-US" i="1" dirty="0">
                    <a:latin typeface="Cambria Math" panose="02040503050406030204" pitchFamily="18" charset="0"/>
                    <a:ea typeface="Cambria Math" panose="02040503050406030204" pitchFamily="18" charset="0"/>
                  </a:rPr>
                  <a:t>j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J	(7)</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b="0" i="1" smtClean="0">
                        <a:latin typeface="Cambria Math" panose="02040503050406030204" pitchFamily="18" charset="0"/>
                        <a:ea typeface="Cambria Math" panose="02040503050406030204" pitchFamily="18" charset="0"/>
                      </a:rPr>
                      <m:t>, </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𝑧</m:t>
                        </m:r>
                      </m:e>
                      <m:sub>
                        <m:r>
                          <a:rPr lang="it-IT" sz="2400" b="0" i="1" smtClean="0">
                            <a:solidFill>
                              <a:srgbClr val="00B050"/>
                            </a:solidFill>
                            <a:latin typeface="Cambria Math" panose="02040503050406030204" pitchFamily="18" charset="0"/>
                            <a:ea typeface="Cambria Math" panose="02040503050406030204" pitchFamily="18" charset="0"/>
                          </a:rPr>
                          <m:t>𝑗𝑘</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k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K</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(8)</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𝑚𝑎𝑥</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(9)</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927" t="-823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F2</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50</a:t>
            </a:fld>
            <a:endParaRPr lang="it-IT" dirty="0"/>
          </a:p>
        </p:txBody>
      </p:sp>
      <p:sp>
        <p:nvSpPr>
          <p:cNvPr id="6" name="Call-out: Line 5">
            <a:extLst>
              <a:ext uri="{FF2B5EF4-FFF2-40B4-BE49-F238E27FC236}">
                <a16:creationId xmlns:a16="http://schemas.microsoft.com/office/drawing/2014/main" id="{548F0DBE-8F01-8BE0-7038-CDB9E65A919E}"/>
              </a:ext>
            </a:extLst>
          </p:cNvPr>
          <p:cNvSpPr/>
          <p:nvPr/>
        </p:nvSpPr>
        <p:spPr>
          <a:xfrm>
            <a:off x="4168589" y="1026640"/>
            <a:ext cx="3074894" cy="766769"/>
          </a:xfrm>
          <a:prstGeom prst="borderCallout1">
            <a:avLst>
              <a:gd name="adj1" fmla="val 27961"/>
              <a:gd name="adj2" fmla="val -1826"/>
              <a:gd name="adj3" fmla="val 62696"/>
              <a:gd name="adj4" fmla="val -40193"/>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sz="2000" dirty="0" err="1">
                <a:solidFill>
                  <a:srgbClr val="0070C0"/>
                </a:solidFill>
              </a:rPr>
              <a:t>Minimize</a:t>
            </a:r>
            <a:r>
              <a:rPr lang="it-IT" sz="2000" dirty="0">
                <a:solidFill>
                  <a:srgbClr val="0070C0"/>
                </a:solidFill>
              </a:rPr>
              <a:t> the </a:t>
            </a:r>
            <a:r>
              <a:rPr lang="it-IT" sz="2000" dirty="0" err="1">
                <a:solidFill>
                  <a:srgbClr val="0070C0"/>
                </a:solidFill>
              </a:rPr>
              <a:t>weighted</a:t>
            </a:r>
            <a:r>
              <a:rPr lang="it-IT" sz="2000" dirty="0">
                <a:solidFill>
                  <a:srgbClr val="0070C0"/>
                </a:solidFill>
              </a:rPr>
              <a:t> </a:t>
            </a:r>
            <a:r>
              <a:rPr lang="it-IT" sz="2000" dirty="0" err="1">
                <a:solidFill>
                  <a:srgbClr val="0070C0"/>
                </a:solidFill>
              </a:rPr>
              <a:t>total</a:t>
            </a:r>
            <a:r>
              <a:rPr lang="it-IT" sz="2000" dirty="0">
                <a:solidFill>
                  <a:srgbClr val="0070C0"/>
                </a:solidFill>
              </a:rPr>
              <a:t> </a:t>
            </a:r>
            <a:r>
              <a:rPr lang="it-IT" sz="2000" dirty="0" err="1">
                <a:solidFill>
                  <a:srgbClr val="0070C0"/>
                </a:solidFill>
              </a:rPr>
              <a:t>tardiness</a:t>
            </a:r>
            <a:r>
              <a:rPr lang="it-IT" sz="2000" dirty="0">
                <a:solidFill>
                  <a:srgbClr val="0070C0"/>
                </a:solidFill>
              </a:rPr>
              <a:t> of the </a:t>
            </a:r>
            <a:r>
              <a:rPr lang="it-IT" sz="2000" dirty="0" err="1">
                <a:solidFill>
                  <a:srgbClr val="0070C0"/>
                </a:solidFill>
              </a:rPr>
              <a:t>shipments</a:t>
            </a:r>
            <a:endParaRPr lang="en-US" sz="2000" dirty="0">
              <a:solidFill>
                <a:srgbClr val="0070C0"/>
              </a:solidFill>
            </a:endParaRPr>
          </a:p>
        </p:txBody>
      </p:sp>
    </p:spTree>
    <p:extLst>
      <p:ext uri="{BB962C8B-B14F-4D97-AF65-F5344CB8AC3E}">
        <p14:creationId xmlns:p14="http://schemas.microsoft.com/office/powerpoint/2010/main" val="22773595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12"/>
          </p:nvPr>
        </p:nvSpPr>
        <p:spPr/>
        <p:txBody>
          <a:bodyPr/>
          <a:lstStyle/>
          <a:p>
            <a:pPr>
              <a:defRPr/>
            </a:pPr>
            <a:fld id="{476DEB1C-3253-4C07-8F02-456B7B2AD41D}" type="slidenum">
              <a:rPr lang="it-IT" smtClean="0"/>
              <a:pPr>
                <a:defRPr/>
              </a:pPr>
              <a:t>51</a:t>
            </a:fld>
            <a:endParaRPr lang="it-IT" dirty="0"/>
          </a:p>
        </p:txBody>
      </p:sp>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p:txBody>
          <a:bodyPr/>
          <a:lstStyle/>
          <a:p>
            <a:r>
              <a:rPr lang="it-IT" dirty="0" err="1"/>
              <a:t>Stochastic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mc:AlternateContent xmlns:mc="http://schemas.openxmlformats.org/markup-compatibility/2006" xmlns:a14="http://schemas.microsoft.com/office/drawing/2010/main">
        <mc:Choice Requires="a14">
          <p:sp>
            <p:nvSpPr>
              <p:cNvPr id="8" name="Content Placeholder 1">
                <a:extLst>
                  <a:ext uri="{FF2B5EF4-FFF2-40B4-BE49-F238E27FC236}">
                    <a16:creationId xmlns:a16="http://schemas.microsoft.com/office/drawing/2014/main" id="{2D1E8BDC-8072-E365-45C8-2008633588A2}"/>
                  </a:ext>
                </a:extLst>
              </p:cNvPr>
              <p:cNvSpPr txBox="1">
                <a:spLocks/>
              </p:cNvSpPr>
              <p:nvPr/>
            </p:nvSpPr>
            <p:spPr>
              <a:xfrm>
                <a:off x="298912" y="1846272"/>
                <a:ext cx="8546175" cy="2842272"/>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pPr fontAlgn="ctr">
                  <a:lnSpc>
                    <a:spcPct val="150000"/>
                  </a:lnSpc>
                  <a:spcBef>
                    <a:spcPts val="0"/>
                  </a:spcBef>
                  <a:tabLst>
                    <a:tab pos="1789113" algn="l"/>
                    <a:tab pos="5024438" algn="l"/>
                    <a:tab pos="7600950" algn="l"/>
                  </a:tabLst>
                </a:pPr>
                <a:r>
                  <a:rPr lang="en-US" sz="2400" dirty="0">
                    <a:latin typeface="Cambria Math" panose="02040503050406030204" pitchFamily="18" charset="0"/>
                    <a:ea typeface="Cambria Math" panose="02040503050406030204" pitchFamily="18" charset="0"/>
                  </a:rPr>
                  <a:t>z(F1) = </a:t>
                </a:r>
                <a:r>
                  <a:rPr lang="en-US" sz="2400" b="1" i="1" dirty="0">
                    <a:latin typeface="Cambria Math" panose="02040503050406030204" pitchFamily="18" charset="0"/>
                    <a:ea typeface="Cambria Math" panose="02040503050406030204" pitchFamily="18" charset="0"/>
                  </a:rPr>
                  <a:t>min</a:t>
                </a:r>
                <a:r>
                  <a:rPr lang="en-US" sz="2400" i="1" dirty="0">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it-IT" sz="2400" i="1" smtClean="0">
                            <a:latin typeface="Cambria Math" panose="02040503050406030204" pitchFamily="18" charset="0"/>
                            <a:ea typeface="Cambria Math" panose="02040503050406030204" pitchFamily="18" charset="0"/>
                          </a:rPr>
                          <m:t>𝑗</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𝐽</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a:solidFill>
                                  <a:srgbClr val="00B050"/>
                                </a:solidFill>
                                <a:latin typeface="Cambria Math" panose="02040503050406030204" pitchFamily="18" charset="0"/>
                                <a:ea typeface="Cambria Math" panose="02040503050406030204" pitchFamily="18" charset="0"/>
                              </a:rPr>
                              <m:t>𝑗</m:t>
                            </m:r>
                          </m:sub>
                        </m:sSub>
                      </m:e>
                    </m:nary>
                  </m:oMath>
                </a14:m>
                <a:r>
                  <a:rPr lang="en-US" sz="2400" dirty="0">
                    <a:latin typeface="Cambria Math" panose="02040503050406030204" pitchFamily="18" charset="0"/>
                    <a:ea typeface="Cambria Math" panose="02040503050406030204" pitchFamily="18" charset="0"/>
                  </a:rPr>
                  <a:t>		(1)</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1" i="1" dirty="0">
                    <a:latin typeface="Cambria Math" panose="02040503050406030204" pitchFamily="18" charset="0"/>
                    <a:ea typeface="Cambria Math" panose="02040503050406030204" pitchFamily="18" charset="0"/>
                  </a:rPr>
                  <a:t>subject to</a:t>
                </a:r>
                <a:r>
                  <a:rPr lang="en-US" sz="2400" i="1" dirty="0">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smtClean="0">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	</a:t>
                </a:r>
                <a:r>
                  <a:rPr lang="it-IT" sz="2400" dirty="0">
                    <a:latin typeface="Cambria Math" panose="02040503050406030204" pitchFamily="18" charset="0"/>
                    <a:ea typeface="Cambria Math" panose="02040503050406030204" pitchFamily="18" charset="0"/>
                  </a:rPr>
                  <a:t>(2)</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nary>
                      <m:naryPr>
                        <m:chr m:val="∑"/>
                        <m:limLoc m:val="subSup"/>
                        <m:supHide m:val="on"/>
                        <m:ctrlPr>
                          <a:rPr lang="en-US" sz="2400" i="1" smtClean="0">
                            <a:latin typeface="Cambria Math" panose="02040503050406030204" pitchFamily="18" charset="0"/>
                          </a:rPr>
                        </m:ctrlPr>
                      </m:naryPr>
                      <m:sub>
                        <m:r>
                          <m:rPr>
                            <m:brk m:alnAt="9"/>
                          </m:rPr>
                          <a:rPr lang="it-IT" sz="2400" i="1" smtClean="0">
                            <a:latin typeface="Cambria Math" panose="02040503050406030204" pitchFamily="18" charset="0"/>
                          </a:rPr>
                          <m:t>𝑗</m:t>
                        </m:r>
                        <m:r>
                          <a:rPr lang="it-IT" sz="2400" i="1" smtClean="0">
                            <a:latin typeface="Cambria Math" panose="02040503050406030204" pitchFamily="18" charset="0"/>
                          </a:rPr>
                          <m:t>∈</m:t>
                        </m:r>
                        <m:r>
                          <a:rPr lang="it-IT" sz="2400" i="1" smtClean="0">
                            <a:latin typeface="Cambria Math" panose="02040503050406030204" pitchFamily="18" charset="0"/>
                          </a:rPr>
                          <m:t>𝐽</m:t>
                        </m:r>
                      </m:sub>
                      <m:sup/>
                      <m:e>
                        <m:sSub>
                          <m:sSubPr>
                            <m:ctrlPr>
                              <a:rPr lang="it-IT" sz="240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𝜌</m:t>
                            </m:r>
                          </m:e>
                          <m:sub>
                            <m:r>
                              <a:rPr lang="it-IT" sz="2400" i="1">
                                <a:solidFill>
                                  <a:srgbClr val="FF0000"/>
                                </a:solidFill>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i="1" smtClean="0">
                        <a:latin typeface="Cambria Math" panose="02040503050406030204" pitchFamily="18" charset="0"/>
                      </a:rPr>
                      <m:t>≤</m:t>
                    </m:r>
                  </m:oMath>
                </a14:m>
                <a:r>
                  <a:rPr lang="it-IT" sz="2400" dirty="0">
                    <a:ea typeface="Cambria Math" panose="02040503050406030204" pitchFamily="18" charset="0"/>
                  </a:rPr>
                  <a:t> </a:t>
                </a:r>
                <a14:m>
                  <m:oMath xmlns:m="http://schemas.openxmlformats.org/officeDocument/2006/math">
                    <m:sSub>
                      <m:sSubPr>
                        <m:ctrlPr>
                          <a:rPr lang="it-IT" sz="2400" i="1" smtClean="0">
                            <a:latin typeface="Cambria Math" panose="02040503050406030204" pitchFamily="18" charset="0"/>
                            <a:ea typeface="Cambria Math" panose="02040503050406030204" pitchFamily="18" charset="0"/>
                          </a:rPr>
                        </m:ctrlPr>
                      </m:sSubPr>
                      <m:e>
                        <m:r>
                          <a:rPr lang="it-IT" sz="2400" b="0" i="1" smtClean="0">
                            <a:latin typeface="Cambria Math" panose="02040503050406030204" pitchFamily="18" charset="0"/>
                            <a:ea typeface="Cambria Math" panose="02040503050406030204" pitchFamily="18" charset="0"/>
                          </a:rPr>
                          <m:t>𝑡</m:t>
                        </m:r>
                      </m:e>
                      <m:sub>
                        <m:r>
                          <a:rPr lang="it-IT" sz="2400" i="1">
                            <a:latin typeface="Cambria Math" panose="02040503050406030204" pitchFamily="18" charset="0"/>
                            <a:ea typeface="Cambria Math" panose="02040503050406030204" pitchFamily="18" charset="0"/>
                          </a:rPr>
                          <m:t>𝑚𝑎𝑥</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i="1" smtClean="0">
                        <a:latin typeface="Cambria Math" panose="02040503050406030204" pitchFamily="18" charset="0"/>
                        <a:ea typeface="Cambria Math" panose="02040503050406030204" pitchFamily="18" charset="0"/>
                      </a:rPr>
                      <m:t>, </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(4)</a:t>
                </a:r>
                <a:r>
                  <a:rPr lang="en-US" sz="2400" baseline="-25000" dirty="0">
                    <a:latin typeface="Arial" panose="020B0604020202020204" pitchFamily="34" charset="0"/>
                  </a:rPr>
                  <a:t> </a:t>
                </a:r>
                <a:endParaRPr lang="en-US" sz="2400" dirty="0">
                  <a:latin typeface="Arial" panose="020B0604020202020204" pitchFamily="34" charset="0"/>
                </a:endParaRPr>
              </a:p>
              <a:p>
                <a:endParaRPr lang="en-US" sz="2400" dirty="0"/>
              </a:p>
            </p:txBody>
          </p:sp>
        </mc:Choice>
        <mc:Fallback xmlns="">
          <p:sp>
            <p:nvSpPr>
              <p:cNvPr id="8" name="Content Placeholder 1">
                <a:extLst>
                  <a:ext uri="{FF2B5EF4-FFF2-40B4-BE49-F238E27FC236}">
                    <a16:creationId xmlns:a16="http://schemas.microsoft.com/office/drawing/2014/main" id="{2D1E8BDC-8072-E365-45C8-2008633588A2}"/>
                  </a:ext>
                </a:extLst>
              </p:cNvPr>
              <p:cNvSpPr txBox="1">
                <a:spLocks noRot="1" noChangeAspect="1" noMove="1" noResize="1" noEditPoints="1" noAdjustHandles="1" noChangeArrowheads="1" noChangeShapeType="1" noTextEdit="1"/>
              </p:cNvSpPr>
              <p:nvPr/>
            </p:nvSpPr>
            <p:spPr>
              <a:xfrm>
                <a:off x="298912" y="1846272"/>
                <a:ext cx="8546175" cy="2842272"/>
              </a:xfrm>
              <a:prstGeom prst="rect">
                <a:avLst/>
              </a:prstGeom>
              <a:blipFill>
                <a:blip r:embed="rId2"/>
                <a:stretch>
                  <a:fillRect l="-1070" t="-13948"/>
                </a:stretch>
              </a:blipFill>
            </p:spPr>
            <p:txBody>
              <a:bodyPr/>
              <a:lstStyle/>
              <a:p>
                <a:r>
                  <a:rPr lang="en-US">
                    <a:noFill/>
                  </a:rPr>
                  <a:t> </a:t>
                </a:r>
              </a:p>
            </p:txBody>
          </p:sp>
        </mc:Fallback>
      </mc:AlternateContent>
      <p:sp>
        <p:nvSpPr>
          <p:cNvPr id="2" name="Call-out: Line 1">
            <a:extLst>
              <a:ext uri="{FF2B5EF4-FFF2-40B4-BE49-F238E27FC236}">
                <a16:creationId xmlns:a16="http://schemas.microsoft.com/office/drawing/2014/main" id="{D9B376AB-E7DF-4C82-A76B-E2D9FDD98CAA}"/>
              </a:ext>
            </a:extLst>
          </p:cNvPr>
          <p:cNvSpPr/>
          <p:nvPr/>
        </p:nvSpPr>
        <p:spPr>
          <a:xfrm>
            <a:off x="3131834" y="5002306"/>
            <a:ext cx="1655319" cy="728463"/>
          </a:xfrm>
          <a:prstGeom prst="borderCallout1">
            <a:avLst>
              <a:gd name="adj1" fmla="val -7093"/>
              <a:gd name="adj2" fmla="val 21995"/>
              <a:gd name="adj3" fmla="val -176699"/>
              <a:gd name="adj4" fmla="val -8547"/>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dirty="0" err="1">
                <a:solidFill>
                  <a:srgbClr val="0070C0"/>
                </a:solidFill>
              </a:rPr>
              <a:t>Uncertainty</a:t>
            </a:r>
            <a:r>
              <a:rPr lang="it-IT" dirty="0">
                <a:solidFill>
                  <a:srgbClr val="0070C0"/>
                </a:solidFill>
              </a:rPr>
              <a:t> on the load</a:t>
            </a:r>
            <a:endParaRPr lang="en-US" dirty="0">
              <a:solidFill>
                <a:srgbClr val="0070C0"/>
              </a:solidFill>
            </a:endParaRPr>
          </a:p>
        </p:txBody>
      </p:sp>
    </p:spTree>
    <p:extLst>
      <p:ext uri="{BB962C8B-B14F-4D97-AF65-F5344CB8AC3E}">
        <p14:creationId xmlns:p14="http://schemas.microsoft.com/office/powerpoint/2010/main" val="37047145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193040" y="1137040"/>
                <a:ext cx="8876922" cy="5184953"/>
              </a:xfrm>
            </p:spPr>
            <p:txBody>
              <a:bodyPr>
                <a:noAutofit/>
              </a:bodyPr>
              <a:lstStyle/>
              <a:p>
                <a:pPr fontAlgn="ctr">
                  <a:lnSpc>
                    <a:spcPct val="150000"/>
                  </a:lnSpc>
                  <a:spcBef>
                    <a:spcPts val="0"/>
                  </a:spcBef>
                  <a:tabLst>
                    <a:tab pos="1717675" algn="l"/>
                    <a:tab pos="5024438" algn="l"/>
                    <a:tab pos="7945438" algn="l"/>
                  </a:tabLst>
                </a:pPr>
                <a:r>
                  <a:rPr lang="en-US" sz="2200" b="0" i="0" u="none" strike="noStrike" kern="1200" dirty="0">
                    <a:solidFill>
                      <a:schemeClr val="tx1"/>
                    </a:solidFill>
                    <a:effectLst/>
                    <a:latin typeface="Cambria Math" panose="02040503050406030204" pitchFamily="18" charset="0"/>
                    <a:ea typeface="Cambria Math" panose="02040503050406030204" pitchFamily="18" charset="0"/>
                  </a:rPr>
                  <a:t>z(S2) = </a:t>
                </a:r>
                <a:r>
                  <a:rPr lang="en-US" sz="22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limLoc m:val="subSup"/>
                        <m:supHide m:val="on"/>
                        <m:ctrlPr>
                          <a:rPr lang="it-IT" sz="2200" i="1">
                            <a:solidFill>
                              <a:schemeClr val="tx1"/>
                            </a:solidFill>
                            <a:latin typeface="Cambria Math" panose="02040503050406030204" pitchFamily="18" charset="0"/>
                            <a:ea typeface="Cambria Math" panose="02040503050406030204" pitchFamily="18" charset="0"/>
                          </a:rPr>
                        </m:ctrlPr>
                      </m:naryPr>
                      <m:sub>
                        <m:r>
                          <m:rPr>
                            <m:brk m:alnAt="9"/>
                          </m:rPr>
                          <a:rPr lang="it-IT" sz="2200" i="1">
                            <a:solidFill>
                              <a:schemeClr val="tx1"/>
                            </a:solidFill>
                            <a:latin typeface="Cambria Math" panose="02040503050406030204" pitchFamily="18" charset="0"/>
                            <a:ea typeface="Cambria Math" panose="02040503050406030204" pitchFamily="18" charset="0"/>
                          </a:rPr>
                          <m:t>𝑗</m:t>
                        </m:r>
                      </m:sub>
                      <m:sup/>
                      <m:e>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𝑤</m:t>
                            </m:r>
                          </m:e>
                          <m:sub>
                            <m:r>
                              <a:rPr lang="it-IT" sz="2200" b="0" i="1" smtClean="0">
                                <a:solidFill>
                                  <a:schemeClr val="tx1"/>
                                </a:solidFill>
                                <a:latin typeface="Cambria Math" panose="02040503050406030204" pitchFamily="18" charset="0"/>
                                <a:ea typeface="Cambria Math" panose="02040503050406030204" pitchFamily="18" charset="0"/>
                              </a:rPr>
                              <m:t>𝑗</m:t>
                            </m:r>
                          </m:sub>
                        </m:sSub>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e>
                    </m:nary>
                  </m:oMath>
                </a14:m>
                <a:r>
                  <a:rPr lang="en-US" sz="22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200" b="0" i="0" u="none" strike="noStrike" dirty="0">
                  <a:solidFill>
                    <a:schemeClr val="tx1"/>
                  </a:solidFill>
                  <a:effectLst/>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200" i="1">
                            <a:solidFill>
                              <a:schemeClr val="tx1"/>
                            </a:solidFill>
                            <a:latin typeface="Cambria Math" panose="02040503050406030204" pitchFamily="18" charset="0"/>
                            <a:ea typeface="Cambria Math" panose="02040503050406030204" pitchFamily="18" charset="0"/>
                          </a:rPr>
                        </m:ctrlPr>
                      </m:naryPr>
                      <m:sub>
                        <m:r>
                          <a:rPr lang="en-US" sz="2200" i="1">
                            <a:solidFill>
                              <a:schemeClr val="tx1"/>
                            </a:solidFill>
                            <a:latin typeface="Cambria Math" panose="02040503050406030204" pitchFamily="18" charset="0"/>
                            <a:ea typeface="Cambria Math" panose="02040503050406030204" pitchFamily="18" charset="0"/>
                          </a:rPr>
                          <m:t>𝑖</m:t>
                        </m:r>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𝑀</m:t>
                        </m:r>
                      </m:sub>
                      <m:sup/>
                      <m:e>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e>
                    </m:nary>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oMath>
                </a14:m>
                <a:r>
                  <a:rPr lang="en-US" sz="2200" dirty="0">
                    <a:solidFill>
                      <a:schemeClr val="tx1"/>
                    </a:solidFill>
                    <a:latin typeface="Arial" panose="020B0604020202020204" pitchFamily="34" charset="0"/>
                  </a:rPr>
                  <a:t> +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𝑘𝑗</m:t>
                        </m:r>
                      </m:sub>
                    </m:sSub>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m:t>
                    </m:r>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&lt;k</a:t>
                </a:r>
                <a:r>
                  <a:rPr lang="en-US" sz="2200" dirty="0">
                    <a:solidFill>
                      <a:schemeClr val="tx1"/>
                    </a:solidFill>
                    <a:latin typeface="Cambria Math" panose="02040503050406030204" pitchFamily="18" charset="0"/>
                    <a:ea typeface="Cambria Math" panose="02040503050406030204" pitchFamily="18" charset="0"/>
                  </a:rPr>
                  <a:t>	(3)</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𝑘𝑗</m:t>
                        </m:r>
                      </m:sub>
                    </m:sSub>
                    <m:r>
                      <a:rPr lang="it-IT" sz="2200" i="1">
                        <a:solidFill>
                          <a:schemeClr val="tx1"/>
                        </a:solidFill>
                        <a:latin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oMath>
                </a14:m>
                <a:r>
                  <a:rPr lang="en-US" sz="2200" dirty="0">
                    <a:solidFill>
                      <a:schemeClr val="tx1"/>
                    </a:solidFill>
                    <a:latin typeface="Arial" panose="020B0604020202020204" pitchFamily="34" charset="0"/>
                  </a:rPr>
                  <a:t>+</a:t>
                </a:r>
                <a:r>
                  <a:rPr lang="it-IT" sz="2200" dirty="0">
                    <a:solidFill>
                      <a:schemeClr val="tx1"/>
                    </a:solidFill>
                    <a:ea typeface="Cambria Math" panose="02040503050406030204" pitchFamily="18"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𝑖𝑘</m:t>
                        </m:r>
                        <m:r>
                          <a:rPr lang="it-IT" sz="2200" i="1">
                            <a:solidFill>
                              <a:schemeClr val="tx1"/>
                            </a:solidFill>
                            <a:latin typeface="Cambria Math" panose="02040503050406030204" pitchFamily="18" charset="0"/>
                            <a:ea typeface="Cambria Math" panose="02040503050406030204" pitchFamily="18" charset="0"/>
                          </a:rPr>
                          <m:t>−1</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j&lt;k</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(4)</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𝑘</m:t>
                        </m:r>
                      </m:sub>
                    </m:sSub>
                    <m:r>
                      <a:rPr lang="it-IT" sz="2200" i="1">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𝑀</m:t>
                    </m:r>
                    <m:r>
                      <a:rPr lang="it-IT" sz="2200" i="1">
                        <a:solidFill>
                          <a:schemeClr val="tx1"/>
                        </a:solidFill>
                        <a:latin typeface="Cambria Math" panose="02040503050406030204" pitchFamily="18" charset="0"/>
                        <a:ea typeface="Cambria Math" panose="02040503050406030204" pitchFamily="18" charset="0"/>
                      </a:rPr>
                      <m:t>(3−</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i="1" dirty="0" err="1">
                    <a:solidFill>
                      <a:schemeClr val="tx1"/>
                    </a:solidFill>
                    <a:latin typeface="Cambria Math" panose="02040503050406030204" pitchFamily="18" charset="0"/>
                    <a:ea typeface="Cambria Math" panose="02040503050406030204" pitchFamily="18" charset="0"/>
                  </a:rPr>
                  <a:t>i</a:t>
                </a:r>
                <a:r>
                  <a:rPr lang="en-US" sz="2200" dirty="0" err="1">
                    <a:solidFill>
                      <a:schemeClr val="tx1"/>
                    </a:solidFill>
                    <a:latin typeface="Cambria Math" panose="02040503050406030204" pitchFamily="18" charset="0"/>
                    <a:ea typeface="Cambria Math" panose="02040503050406030204" pitchFamily="18" charset="0"/>
                    <a:sym typeface="Symbol" panose="05050102010706020507" pitchFamily="18" charset="2"/>
                  </a:rPr>
                  <a:t></a:t>
                </a:r>
                <a:r>
                  <a:rPr lang="en-US" sz="2200" dirty="0" err="1">
                    <a:solidFill>
                      <a:schemeClr val="tx1"/>
                    </a:solidFill>
                    <a:latin typeface="Cambria Math" panose="02040503050406030204" pitchFamily="18" charset="0"/>
                    <a:ea typeface="Cambria Math" panose="02040503050406030204" pitchFamily="18" charset="0"/>
                  </a:rPr>
                  <a:t>I</a:t>
                </a:r>
                <a:r>
                  <a:rPr lang="en-US" sz="22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nary>
                      <m:naryPr>
                        <m:chr m:val="∑"/>
                        <m:supHide m:val="on"/>
                        <m:ctrlPr>
                          <a:rPr lang="it-IT" sz="2200" b="0" i="1" smtClean="0">
                            <a:solidFill>
                              <a:schemeClr val="tx1"/>
                            </a:solidFill>
                            <a:latin typeface="Cambria Math" panose="02040503050406030204" pitchFamily="18" charset="0"/>
                            <a:ea typeface="Cambria Math" panose="02040503050406030204" pitchFamily="18" charset="0"/>
                          </a:rPr>
                        </m:ctrlPr>
                      </m:naryPr>
                      <m:sub>
                        <m:r>
                          <a:rPr lang="it-IT" sz="2200" b="0" i="1" smtClean="0">
                            <a:solidFill>
                              <a:schemeClr val="tx1"/>
                            </a:solidFill>
                            <a:latin typeface="Cambria Math" panose="02040503050406030204" pitchFamily="18" charset="0"/>
                            <a:ea typeface="Cambria Math" panose="02040503050406030204" pitchFamily="18" charset="0"/>
                          </a:rPr>
                          <m:t>𝑖</m:t>
                        </m:r>
                      </m:sub>
                      <m:sup/>
                      <m:e>
                        <m:sSub>
                          <m:sSubPr>
                            <m:ctrlPr>
                              <a:rPr lang="it-IT" sz="2000" i="1" smtClean="0">
                                <a:solidFill>
                                  <a:srgbClr val="FF0000"/>
                                </a:solidFill>
                                <a:latin typeface="Cambria Math" panose="02040503050406030204" pitchFamily="18" charset="0"/>
                                <a:ea typeface="Cambria Math" panose="02040503050406030204" pitchFamily="18" charset="0"/>
                              </a:rPr>
                            </m:ctrlPr>
                          </m:sSubPr>
                          <m:e>
                            <m:r>
                              <a:rPr lang="it-IT" sz="2000" i="1">
                                <a:solidFill>
                                  <a:srgbClr val="FF0000"/>
                                </a:solidFill>
                                <a:latin typeface="Cambria Math" panose="02040503050406030204" pitchFamily="18" charset="0"/>
                                <a:ea typeface="Cambria Math" panose="02040503050406030204" pitchFamily="18" charset="0"/>
                              </a:rPr>
                              <m:t>𝜌</m:t>
                            </m:r>
                          </m:e>
                          <m:sub>
                            <m:r>
                              <a:rPr lang="it-IT" sz="2000" i="1">
                                <a:solidFill>
                                  <a:srgbClr val="FF0000"/>
                                </a:solidFill>
                                <a:latin typeface="Cambria Math" panose="02040503050406030204" pitchFamily="18" charset="0"/>
                                <a:ea typeface="Cambria Math" panose="02040503050406030204" pitchFamily="18" charset="0"/>
                              </a:rPr>
                              <m:t>𝑖𝑗</m:t>
                            </m:r>
                          </m:sub>
                        </m:sSub>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e>
                    </m:nary>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(6)</a:t>
                </a:r>
              </a:p>
              <a:p>
                <a:pPr fontAlgn="ctr">
                  <a:lnSpc>
                    <a:spcPct val="150000"/>
                  </a:lnSpc>
                  <a:spcBef>
                    <a:spcPts val="0"/>
                  </a:spcBef>
                  <a:tabLst>
                    <a:tab pos="1717675" algn="l"/>
                    <a:tab pos="5024438" algn="l"/>
                    <a:tab pos="7945438" algn="l"/>
                  </a:tabLst>
                </a:pPr>
                <a:r>
                  <a:rPr lang="en-US" sz="2200" dirty="0">
                    <a:solidFill>
                      <a:schemeClr val="tx1"/>
                    </a:solidFill>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𝑚𝑎𝑥</m:t>
                        </m:r>
                      </m:sub>
                    </m:sSub>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(7)</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𝑥</m:t>
                        </m:r>
                      </m:e>
                      <m:sub>
                        <m:r>
                          <a:rPr lang="it-IT" sz="2200" b="0" i="1" smtClean="0">
                            <a:solidFill>
                              <a:schemeClr val="tx1"/>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 </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en-US" sz="2200" i="1">
                        <a:solidFill>
                          <a:schemeClr val="tx1"/>
                        </a:solidFill>
                        <a:latin typeface="Cambria Math" panose="02040503050406030204" pitchFamily="18" charset="0"/>
                        <a:ea typeface="Cambria Math" panose="02040503050406030204" pitchFamily="18" charset="0"/>
                      </a:rPr>
                      <m:t>∈</m:t>
                    </m:r>
                    <m:r>
                      <a:rPr lang="en-US" sz="2200">
                        <a:solidFill>
                          <a:schemeClr val="tx1"/>
                        </a:solidFill>
                        <a:latin typeface="Cambria Math" panose="02040503050406030204" pitchFamily="18" charset="0"/>
                        <a:ea typeface="Cambria Math" panose="02040503050406030204" pitchFamily="18" charset="0"/>
                      </a:rPr>
                      <m:t>{0,1}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i</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k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K</a:t>
                </a:r>
                <a:r>
                  <a:rPr lang="en-US" sz="2200" baseline="-25000" dirty="0">
                    <a:solidFill>
                      <a:schemeClr val="tx1"/>
                    </a:solidFill>
                    <a:latin typeface="Arial" panose="020B0604020202020204" pitchFamily="34"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200" dirty="0">
                    <a:solidFill>
                      <a:schemeClr val="tx1"/>
                    </a:solidFill>
                    <a:latin typeface="Cambria Math" panose="02040503050406030204" pitchFamily="18" charset="0"/>
                    <a:ea typeface="Cambria Math" panose="02040503050406030204" pitchFamily="18" charset="0"/>
                  </a:rPr>
                  <a:t>8</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6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 </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smtClean="0">
                        <a:solidFill>
                          <a:schemeClr val="tx1"/>
                        </a:solidFill>
                        <a:latin typeface="Cambria Math" panose="02040503050406030204" pitchFamily="18" charset="0"/>
                        <a:ea typeface="Cambria Math" panose="02040503050406030204" pitchFamily="18" charset="0"/>
                      </a:rPr>
                      <m:t>≥</m:t>
                    </m:r>
                    <m:r>
                      <a:rPr lang="it-IT" sz="2200" b="0" i="1" smtClean="0">
                        <a:solidFill>
                          <a:schemeClr val="tx1"/>
                        </a:solidFill>
                        <a:latin typeface="Cambria Math" panose="02040503050406030204" pitchFamily="18" charset="0"/>
                        <a:ea typeface="Cambria Math" panose="02040503050406030204" pitchFamily="18" charset="0"/>
                      </a:rPr>
                      <m:t>0,  </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b="0" i="1" smtClean="0">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𝑟</m:t>
                        </m:r>
                      </m:e>
                      <m:sub>
                        <m:r>
                          <a:rPr lang="it-IT" sz="2200" b="0" i="1" smtClean="0">
                            <a:solidFill>
                              <a:schemeClr val="tx1"/>
                            </a:solidFill>
                            <a:latin typeface="Cambria Math" panose="02040503050406030204" pitchFamily="18" charset="0"/>
                            <a:ea typeface="Cambria Math" panose="02040503050406030204" pitchFamily="18" charset="0"/>
                          </a:rPr>
                          <m:t>𝑗</m:t>
                        </m:r>
                      </m:sub>
                    </m:sSub>
                  </m:oMath>
                </a14:m>
                <a:r>
                  <a:rPr lang="en-US" sz="2200" dirty="0">
                    <a:solidFill>
                      <a:schemeClr val="tx1"/>
                    </a:solidFill>
                    <a:latin typeface="Arial" panose="020B0604020202020204" pitchFamily="34"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Arial" panose="020B0604020202020204" pitchFamily="34" charset="0"/>
                    <a:ea typeface="Cambria Math" panose="02040503050406030204" pitchFamily="18" charset="0"/>
                  </a:rPr>
                  <a:t>	</a:t>
                </a:r>
                <a:r>
                  <a:rPr lang="it-IT" sz="2200" dirty="0">
                    <a:solidFill>
                      <a:schemeClr val="tx1"/>
                    </a:solidFill>
                    <a:latin typeface="Cambria Math" panose="02040503050406030204" pitchFamily="18" charset="0"/>
                    <a:ea typeface="Cambria Math" panose="02040503050406030204" pitchFamily="18" charset="0"/>
                  </a:rPr>
                  <a:t>(9)</a:t>
                </a: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193040" y="1137040"/>
                <a:ext cx="8876922" cy="5184953"/>
              </a:xfrm>
              <a:blipFill>
                <a:blip r:embed="rId2"/>
                <a:stretch>
                  <a:fillRect l="-893" t="-694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Stochastic</a:t>
            </a:r>
            <a:r>
              <a:rPr lang="it-IT" dirty="0"/>
              <a:t> scheduling</a:t>
            </a:r>
            <a:r>
              <a:rPr lang="en-US" dirty="0"/>
              <a:t> F2</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52</a:t>
            </a:fld>
            <a:endParaRPr lang="it-IT" dirty="0"/>
          </a:p>
        </p:txBody>
      </p:sp>
    </p:spTree>
    <p:extLst>
      <p:ext uri="{BB962C8B-B14F-4D97-AF65-F5344CB8AC3E}">
        <p14:creationId xmlns:p14="http://schemas.microsoft.com/office/powerpoint/2010/main" val="4114225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193040" y="1137040"/>
                <a:ext cx="8876922" cy="5184953"/>
              </a:xfrm>
            </p:spPr>
            <p:txBody>
              <a:bodyPr>
                <a:noAutofit/>
              </a:bodyPr>
              <a:lstStyle/>
              <a:p>
                <a:pPr fontAlgn="ctr">
                  <a:lnSpc>
                    <a:spcPct val="150000"/>
                  </a:lnSpc>
                  <a:spcBef>
                    <a:spcPts val="0"/>
                  </a:spcBef>
                  <a:tabLst>
                    <a:tab pos="1717675" algn="l"/>
                    <a:tab pos="5024438" algn="l"/>
                    <a:tab pos="7945438" algn="l"/>
                  </a:tabLst>
                </a:pPr>
                <a:r>
                  <a:rPr lang="en-US" sz="2200" b="0" i="0" u="none" strike="noStrike" kern="1200" dirty="0">
                    <a:solidFill>
                      <a:schemeClr val="tx1"/>
                    </a:solidFill>
                    <a:effectLst/>
                    <a:latin typeface="Cambria Math" panose="02040503050406030204" pitchFamily="18" charset="0"/>
                    <a:ea typeface="Cambria Math" panose="02040503050406030204" pitchFamily="18" charset="0"/>
                  </a:rPr>
                  <a:t>z(S2) = </a:t>
                </a:r>
                <a:r>
                  <a:rPr lang="en-US" sz="22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200" i="1">
                            <a:solidFill>
                              <a:schemeClr val="tx1"/>
                            </a:solidFill>
                            <a:latin typeface="Cambria Math" panose="02040503050406030204" pitchFamily="18" charset="0"/>
                            <a:ea typeface="Cambria Math" panose="02040503050406030204" pitchFamily="18" charset="0"/>
                          </a:rPr>
                          <m:t>𝜔</m:t>
                        </m:r>
                        <m:r>
                          <a:rPr lang="it-IT" sz="2200" b="0" i="1"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l-GR" sz="2200" b="0" i="1" u="none" strike="noStrike" kern="1200" smtClean="0">
                            <a:solidFill>
                              <a:schemeClr val="tx1"/>
                            </a:solidFill>
                            <a:effectLst/>
                            <a:latin typeface="Cambria Math" panose="02040503050406030204" pitchFamily="18" charset="0"/>
                            <a:ea typeface="Cambria Math" panose="02040503050406030204" pitchFamily="18" charset="0"/>
                          </a:rPr>
                          <m:t>Ω</m:t>
                        </m:r>
                      </m:sub>
                      <m:sup/>
                      <m:e>
                        <m:sSub>
                          <m:sSubPr>
                            <m:ctrlPr>
                              <a:rPr lang="it-IT" sz="220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𝑝𝑟</m:t>
                            </m:r>
                          </m:e>
                          <m:sub>
                            <m:r>
                              <a:rPr lang="it-IT" sz="2200" i="1">
                                <a:solidFill>
                                  <a:srgbClr val="0070C0"/>
                                </a:solidFill>
                                <a:latin typeface="Cambria Math" panose="02040503050406030204" pitchFamily="18" charset="0"/>
                                <a:ea typeface="Cambria Math" panose="02040503050406030204" pitchFamily="18" charset="0"/>
                              </a:rPr>
                              <m:t>𝜔</m:t>
                            </m:r>
                          </m:sub>
                        </m:sSub>
                        <m:d>
                          <m:dPr>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dPr>
                          <m:e>
                            <m:nary>
                              <m:naryPr>
                                <m:chr m:val="∑"/>
                                <m:limLoc m:val="subSup"/>
                                <m:supHide m:val="on"/>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m:rPr>
                                    <m:brk m:alnAt="9"/>
                                  </m:r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t>𝑗</m:t>
                                </m:r>
                              </m:sub>
                              <m:sup/>
                              <m:e>
                                <m:sSubSup>
                                  <m:sSubSupPr>
                                    <m:ctrlPr>
                                      <a:rPr lang="it-IT" sz="2200" i="1">
                                        <a:solidFill>
                                          <a:schemeClr val="tx1"/>
                                        </a:solidFill>
                                        <a:latin typeface="Cambria Math" panose="02040503050406030204" pitchFamily="18" charset="0"/>
                                        <a:ea typeface="Cambria Math" panose="02040503050406030204" pitchFamily="18" charset="0"/>
                                      </a:rPr>
                                    </m:ctrlPr>
                                  </m:sSubSupPr>
                                  <m:e>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𝑤</m:t>
                                        </m:r>
                                      </m:e>
                                      <m:sub>
                                        <m:r>
                                          <a:rPr lang="it-IT" sz="2200" b="0" i="1" smtClean="0">
                                            <a:solidFill>
                                              <a:srgbClr val="0070C0"/>
                                            </a:solidFill>
                                            <a:latin typeface="Cambria Math" panose="02040503050406030204" pitchFamily="18" charset="0"/>
                                            <a:ea typeface="Cambria Math" panose="02040503050406030204" pitchFamily="18" charset="0"/>
                                          </a:rPr>
                                          <m:t>𝑗</m:t>
                                        </m:r>
                                      </m:sub>
                                    </m:sSub>
                                    <m:r>
                                      <a:rPr lang="it-IT" sz="2200" b="0" i="1" smtClean="0">
                                        <a:solidFill>
                                          <a:srgbClr val="0070C0"/>
                                        </a:solidFill>
                                        <a:latin typeface="Cambria Math" panose="02040503050406030204" pitchFamily="18" charset="0"/>
                                        <a:ea typeface="Cambria Math" panose="02040503050406030204" pitchFamily="18" charset="0"/>
                                      </a:rPr>
                                      <m:t> </m:t>
                                    </m:r>
                                    <m:r>
                                      <a:rPr lang="it-IT" sz="2200" i="1" smtClean="0">
                                        <a:solidFill>
                                          <a:srgbClr val="C00000"/>
                                        </a:solidFill>
                                        <a:latin typeface="Cambria Math" panose="02040503050406030204" pitchFamily="18" charset="0"/>
                                        <a:ea typeface="Cambria Math" panose="02040503050406030204" pitchFamily="18" charset="0"/>
                                      </a:rPr>
                                      <m:t>𝑡</m:t>
                                    </m:r>
                                  </m:e>
                                  <m:sub>
                                    <m:r>
                                      <a:rPr lang="it-IT" sz="2200" i="1" smtClean="0">
                                        <a:solidFill>
                                          <a:srgbClr val="C00000"/>
                                        </a:solidFill>
                                        <a:latin typeface="Cambria Math" panose="02040503050406030204" pitchFamily="18" charset="0"/>
                                        <a:ea typeface="Cambria Math" panose="02040503050406030204" pitchFamily="18" charset="0"/>
                                      </a:rPr>
                                      <m:t>𝑗</m:t>
                                    </m:r>
                                  </m:sub>
                                  <m:sup>
                                    <m:r>
                                      <a:rPr lang="it-IT" sz="2200" i="1" smtClean="0">
                                        <a:solidFill>
                                          <a:srgbClr val="C00000"/>
                                        </a:solidFill>
                                        <a:latin typeface="Cambria Math" panose="02040503050406030204" pitchFamily="18" charset="0"/>
                                        <a:ea typeface="Cambria Math" panose="02040503050406030204" pitchFamily="18" charset="0"/>
                                      </a:rPr>
                                      <m:t>𝜔</m:t>
                                    </m:r>
                                  </m:sup>
                                </m:sSubSup>
                              </m:e>
                            </m:nary>
                          </m:e>
                        </m:d>
                      </m:e>
                    </m:nary>
                  </m:oMath>
                </a14:m>
                <a:r>
                  <a:rPr lang="en-US" sz="22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200" b="0" i="0" u="none" strike="noStrike" dirty="0">
                  <a:solidFill>
                    <a:schemeClr val="tx1"/>
                  </a:solidFill>
                  <a:effectLst/>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200" i="1">
                            <a:solidFill>
                              <a:schemeClr val="tx1"/>
                            </a:solidFill>
                            <a:latin typeface="Cambria Math" panose="02040503050406030204" pitchFamily="18" charset="0"/>
                            <a:ea typeface="Cambria Math" panose="02040503050406030204" pitchFamily="18" charset="0"/>
                          </a:rPr>
                        </m:ctrlPr>
                      </m:naryPr>
                      <m:sub>
                        <m:r>
                          <a:rPr lang="en-US" sz="2200" i="1">
                            <a:solidFill>
                              <a:schemeClr val="tx1"/>
                            </a:solidFill>
                            <a:latin typeface="Cambria Math" panose="02040503050406030204" pitchFamily="18" charset="0"/>
                            <a:ea typeface="Cambria Math" panose="02040503050406030204" pitchFamily="18" charset="0"/>
                          </a:rPr>
                          <m:t>𝑖</m:t>
                        </m:r>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𝑀</m:t>
                        </m:r>
                      </m:sub>
                      <m:sup/>
                      <m:e>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e>
                    </m:nary>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oMath>
                </a14:m>
                <a:r>
                  <a:rPr lang="en-US" sz="2200" dirty="0">
                    <a:solidFill>
                      <a:schemeClr val="tx1"/>
                    </a:solidFill>
                    <a:latin typeface="Arial" panose="020B0604020202020204" pitchFamily="34" charset="0"/>
                  </a:rPr>
                  <a:t> +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𝑘𝑗</m:t>
                        </m:r>
                      </m:sub>
                    </m:sSub>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m:t>
                    </m:r>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&lt;k</a:t>
                </a:r>
                <a:r>
                  <a:rPr lang="en-US" sz="2200" dirty="0">
                    <a:solidFill>
                      <a:schemeClr val="tx1"/>
                    </a:solidFill>
                    <a:latin typeface="Cambria Math" panose="02040503050406030204" pitchFamily="18" charset="0"/>
                    <a:ea typeface="Cambria Math" panose="02040503050406030204" pitchFamily="18" charset="0"/>
                  </a:rPr>
                  <a:t>	(3)</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𝑘𝑗</m:t>
                        </m:r>
                      </m:sub>
                    </m:sSub>
                    <m:r>
                      <a:rPr lang="it-IT" sz="2200" i="1">
                        <a:solidFill>
                          <a:schemeClr val="tx1"/>
                        </a:solidFill>
                        <a:latin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oMath>
                </a14:m>
                <a:r>
                  <a:rPr lang="en-US" sz="2200" dirty="0">
                    <a:solidFill>
                      <a:schemeClr val="tx1"/>
                    </a:solidFill>
                    <a:latin typeface="Arial" panose="020B0604020202020204" pitchFamily="34" charset="0"/>
                  </a:rPr>
                  <a:t>+</a:t>
                </a:r>
                <a:r>
                  <a:rPr lang="it-IT" sz="2200" dirty="0">
                    <a:solidFill>
                      <a:schemeClr val="tx1"/>
                    </a:solidFill>
                    <a:ea typeface="Cambria Math" panose="02040503050406030204" pitchFamily="18"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𝑖𝑘</m:t>
                        </m:r>
                        <m:r>
                          <a:rPr lang="it-IT" sz="2200" i="1">
                            <a:solidFill>
                              <a:srgbClr val="C00000"/>
                            </a:solidFill>
                            <a:latin typeface="Cambria Math" panose="02040503050406030204" pitchFamily="18" charset="0"/>
                            <a:ea typeface="Cambria Math" panose="02040503050406030204" pitchFamily="18" charset="0"/>
                          </a:rPr>
                          <m:t>−1</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j&lt;k</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(4)</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b="0" i="1" smtClean="0">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𝑠</m:t>
                        </m:r>
                      </m:e>
                      <m:sub>
                        <m:r>
                          <a:rPr lang="it-IT" sz="2200" i="1">
                            <a:solidFill>
                              <a:srgbClr val="C00000"/>
                            </a:solidFill>
                            <a:latin typeface="Cambria Math" panose="02040503050406030204" pitchFamily="18" charset="0"/>
                            <a:ea typeface="Cambria Math" panose="02040503050406030204" pitchFamily="18" charset="0"/>
                          </a:rPr>
                          <m:t>𝑘</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r>
                      <a:rPr lang="it-IT" sz="2200" i="1" smtClean="0">
                        <a:solidFill>
                          <a:srgbClr val="0070C0"/>
                        </a:solidFill>
                        <a:latin typeface="Cambria Math" panose="02040503050406030204" pitchFamily="18" charset="0"/>
                        <a:ea typeface="Cambria Math" panose="02040503050406030204" pitchFamily="18" charset="0"/>
                      </a:rPr>
                      <m:t>𝑀</m:t>
                    </m:r>
                    <m:r>
                      <a:rPr lang="it-IT" sz="2200" i="1">
                        <a:solidFill>
                          <a:schemeClr val="tx1"/>
                        </a:solidFill>
                        <a:latin typeface="Cambria Math" panose="02040503050406030204" pitchFamily="18" charset="0"/>
                        <a:ea typeface="Cambria Math" panose="02040503050406030204" pitchFamily="18" charset="0"/>
                      </a:rPr>
                      <m:t>(3−</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i="1" dirty="0" err="1">
                    <a:solidFill>
                      <a:schemeClr val="tx1"/>
                    </a:solidFill>
                    <a:latin typeface="Cambria Math" panose="02040503050406030204" pitchFamily="18" charset="0"/>
                    <a:ea typeface="Cambria Math" panose="02040503050406030204" pitchFamily="18" charset="0"/>
                  </a:rPr>
                  <a:t>i</a:t>
                </a:r>
                <a:r>
                  <a:rPr lang="en-US" sz="2200" dirty="0" err="1">
                    <a:solidFill>
                      <a:schemeClr val="tx1"/>
                    </a:solidFill>
                    <a:latin typeface="Cambria Math" panose="02040503050406030204" pitchFamily="18" charset="0"/>
                    <a:ea typeface="Cambria Math" panose="02040503050406030204" pitchFamily="18" charset="0"/>
                    <a:sym typeface="Symbol" panose="05050102010706020507" pitchFamily="18" charset="2"/>
                  </a:rPr>
                  <a:t></a:t>
                </a:r>
                <a:r>
                  <a:rPr lang="en-US" sz="2200" dirty="0" err="1">
                    <a:solidFill>
                      <a:schemeClr val="tx1"/>
                    </a:solidFill>
                    <a:latin typeface="Cambria Math" panose="02040503050406030204" pitchFamily="18" charset="0"/>
                    <a:ea typeface="Cambria Math" panose="02040503050406030204" pitchFamily="18" charset="0"/>
                  </a:rPr>
                  <a:t>I</a:t>
                </a:r>
                <a:r>
                  <a:rPr lang="en-US" sz="22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baseline="-25000" dirty="0">
                    <a:solidFill>
                      <a:schemeClr val="tx1"/>
                    </a:solidFill>
                    <a:latin typeface="Arial" panose="020B0604020202020204" pitchFamily="34" charset="0"/>
                  </a:rPr>
                  <a:t> </a:t>
                </a:r>
                <a:r>
                  <a:rPr lang="en-US" sz="22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𝑠</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nary>
                      <m:naryPr>
                        <m:chr m:val="∑"/>
                        <m:supHide m:val="on"/>
                        <m:ctrlPr>
                          <a:rPr lang="it-IT" sz="2200" b="0" i="1" smtClean="0">
                            <a:solidFill>
                              <a:schemeClr val="tx1"/>
                            </a:solidFill>
                            <a:latin typeface="Cambria Math" panose="02040503050406030204" pitchFamily="18" charset="0"/>
                            <a:ea typeface="Cambria Math" panose="02040503050406030204" pitchFamily="18" charset="0"/>
                          </a:rPr>
                        </m:ctrlPr>
                      </m:naryPr>
                      <m:sub>
                        <m:r>
                          <a:rPr lang="it-IT" sz="2200" b="0" i="1" smtClean="0">
                            <a:solidFill>
                              <a:schemeClr val="tx1"/>
                            </a:solidFill>
                            <a:latin typeface="Cambria Math" panose="02040503050406030204" pitchFamily="18" charset="0"/>
                            <a:ea typeface="Cambria Math" panose="02040503050406030204" pitchFamily="18" charset="0"/>
                          </a:rPr>
                          <m:t>𝑖</m:t>
                        </m:r>
                      </m:sub>
                      <m:sup/>
                      <m:e>
                        <m:sSubSup>
                          <m:sSubSupPr>
                            <m:ctrlPr>
                              <a:rPr lang="it-IT" sz="2200" i="1" smtClean="0">
                                <a:solidFill>
                                  <a:srgbClr val="0070C0"/>
                                </a:solidFill>
                                <a:latin typeface="Cambria Math" panose="02040503050406030204" pitchFamily="18" charset="0"/>
                                <a:ea typeface="Cambria Math" panose="02040503050406030204" pitchFamily="18" charset="0"/>
                              </a:rPr>
                            </m:ctrlPr>
                          </m:sSubSupPr>
                          <m:e>
                            <m:r>
                              <a:rPr lang="it-IT" sz="2200" b="0" i="1" smtClean="0">
                                <a:solidFill>
                                  <a:srgbClr val="0070C0"/>
                                </a:solidFill>
                                <a:latin typeface="Cambria Math" panose="02040503050406030204" pitchFamily="18" charset="0"/>
                                <a:ea typeface="Cambria Math" panose="02040503050406030204" pitchFamily="18" charset="0"/>
                              </a:rPr>
                              <m:t>𝜌</m:t>
                            </m:r>
                          </m:e>
                          <m:sub>
                            <m:r>
                              <a:rPr lang="it-IT" sz="2200" i="1">
                                <a:solidFill>
                                  <a:srgbClr val="0070C0"/>
                                </a:solidFill>
                                <a:latin typeface="Cambria Math" panose="02040503050406030204" pitchFamily="18" charset="0"/>
                                <a:ea typeface="Cambria Math" panose="02040503050406030204" pitchFamily="18" charset="0"/>
                              </a:rPr>
                              <m:t>𝑖𝑗</m:t>
                            </m:r>
                          </m:sub>
                          <m:sup>
                            <m:r>
                              <a:rPr lang="it-IT" sz="2200" i="1">
                                <a:solidFill>
                                  <a:srgbClr val="0070C0"/>
                                </a:solidFill>
                                <a:latin typeface="Cambria Math" panose="02040503050406030204" pitchFamily="18" charset="0"/>
                                <a:ea typeface="Cambria Math" panose="02040503050406030204" pitchFamily="18" charset="0"/>
                              </a:rPr>
                              <m:t>𝜔</m:t>
                            </m:r>
                          </m:sup>
                        </m:sSubSup>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e>
                    </m:nary>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r>
                      <a:rPr lang="el-GR" sz="2200" i="1">
                        <a:solidFill>
                          <a:schemeClr val="tx1"/>
                        </a:solidFill>
                        <a:latin typeface="Cambria Math" panose="02040503050406030204" pitchFamily="18" charset="0"/>
                        <a:ea typeface="Cambria Math" panose="02040503050406030204" pitchFamily="18" charset="0"/>
                      </a:rPr>
                      <m:t> </m:t>
                    </m:r>
                  </m:oMath>
                </a14:m>
                <a:r>
                  <a:rPr lang="en-US" sz="2200" baseline="-25000" dirty="0">
                    <a:solidFill>
                      <a:schemeClr val="tx1"/>
                    </a:solidFill>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(6)</a:t>
                </a:r>
              </a:p>
              <a:p>
                <a:pPr fontAlgn="ctr">
                  <a:lnSpc>
                    <a:spcPct val="150000"/>
                  </a:lnSpc>
                  <a:spcBef>
                    <a:spcPts val="0"/>
                  </a:spcBef>
                  <a:tabLst>
                    <a:tab pos="1717675" algn="l"/>
                    <a:tab pos="5024438" algn="l"/>
                    <a:tab pos="7945438" algn="l"/>
                  </a:tabLst>
                </a:pPr>
                <a:r>
                  <a:rPr lang="en-US" sz="2200" dirty="0">
                    <a:solidFill>
                      <a:schemeClr val="tx1"/>
                    </a:solidFill>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𝑡</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𝑡</m:t>
                        </m:r>
                      </m:e>
                      <m:sub>
                        <m:r>
                          <a:rPr lang="it-IT" sz="2200" b="0" i="1" smtClean="0">
                            <a:solidFill>
                              <a:srgbClr val="0070C0"/>
                            </a:solidFill>
                            <a:latin typeface="Cambria Math" panose="02040503050406030204" pitchFamily="18" charset="0"/>
                            <a:ea typeface="Cambria Math" panose="02040503050406030204" pitchFamily="18" charset="0"/>
                          </a:rPr>
                          <m:t>𝑚𝑎𝑥</m:t>
                        </m:r>
                      </m:sub>
                    </m:sSub>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(7)</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rgbClr val="C00000"/>
                            </a:solidFill>
                            <a:latin typeface="Cambria Math" panose="02040503050406030204" pitchFamily="18" charset="0"/>
                            <a:ea typeface="Cambria Math" panose="02040503050406030204" pitchFamily="18" charset="0"/>
                          </a:rPr>
                        </m:ctrlPr>
                      </m:sSubPr>
                      <m:e>
                        <m:r>
                          <a:rPr lang="it-IT" sz="2200" b="0" i="1" smtClean="0">
                            <a:solidFill>
                              <a:srgbClr val="C00000"/>
                            </a:solidFill>
                            <a:latin typeface="Cambria Math" panose="02040503050406030204" pitchFamily="18" charset="0"/>
                            <a:ea typeface="Cambria Math" panose="02040503050406030204" pitchFamily="18" charset="0"/>
                          </a:rPr>
                          <m:t>𝑥</m:t>
                        </m:r>
                      </m:e>
                      <m:sub>
                        <m:r>
                          <a:rPr lang="it-IT" sz="2200" b="0" i="1" smtClean="0">
                            <a:solidFill>
                              <a:srgbClr val="C00000"/>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 </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en-US" sz="2200" i="1">
                        <a:solidFill>
                          <a:schemeClr val="tx1"/>
                        </a:solidFill>
                        <a:latin typeface="Cambria Math" panose="02040503050406030204" pitchFamily="18" charset="0"/>
                        <a:ea typeface="Cambria Math" panose="02040503050406030204" pitchFamily="18" charset="0"/>
                      </a:rPr>
                      <m:t>∈</m:t>
                    </m:r>
                    <m:r>
                      <a:rPr lang="en-US" sz="2200">
                        <a:solidFill>
                          <a:schemeClr val="tx1"/>
                        </a:solidFill>
                        <a:latin typeface="Cambria Math" panose="02040503050406030204" pitchFamily="18" charset="0"/>
                        <a:ea typeface="Cambria Math" panose="02040503050406030204" pitchFamily="18" charset="0"/>
                      </a:rPr>
                      <m:t>{0,1}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i</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k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K</a:t>
                </a:r>
                <a:r>
                  <a:rPr lang="en-US" sz="2200" baseline="-25000" dirty="0">
                    <a:solidFill>
                      <a:schemeClr val="tx1"/>
                    </a:solidFill>
                    <a:latin typeface="Arial" panose="020B0604020202020204" pitchFamily="34"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200" dirty="0">
                    <a:solidFill>
                      <a:schemeClr val="tx1"/>
                    </a:solidFill>
                    <a:latin typeface="Cambria Math" panose="02040503050406030204" pitchFamily="18" charset="0"/>
                    <a:ea typeface="Cambria Math" panose="02040503050406030204" pitchFamily="18" charset="0"/>
                  </a:rPr>
                  <a:t>8</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6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Sup>
                      <m:sSubSupPr>
                        <m:ctrlPr>
                          <a:rPr lang="it-IT" sz="2200" i="1" smtClean="0">
                            <a:solidFill>
                              <a:srgbClr val="C00000"/>
                            </a:solidFill>
                            <a:latin typeface="Cambria Math" panose="02040503050406030204" pitchFamily="18" charset="0"/>
                            <a:ea typeface="Cambria Math" panose="02040503050406030204" pitchFamily="18" charset="0"/>
                          </a:rPr>
                        </m:ctrlPr>
                      </m:sSubSupPr>
                      <m:e>
                        <m:r>
                          <a:rPr lang="it-IT" sz="2200">
                            <a:solidFill>
                              <a:srgbClr val="C00000"/>
                            </a:solidFill>
                            <a:latin typeface="Cambria Math" panose="02040503050406030204" pitchFamily="18" charset="0"/>
                            <a:ea typeface="Cambria Math" panose="02040503050406030204" pitchFamily="18" charset="0"/>
                          </a:rPr>
                          <m:t>𝑐</m:t>
                        </m:r>
                      </m:e>
                      <m:sub>
                        <m:r>
                          <a:rPr lang="it-IT" sz="2200">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 </m:t>
                    </m:r>
                    <m:sSubSup>
                      <m:sSubSupPr>
                        <m:ctrlPr>
                          <a:rPr lang="it-IT" sz="2200" i="1" smtClean="0">
                            <a:solidFill>
                              <a:srgbClr val="C00000"/>
                            </a:solidFill>
                            <a:latin typeface="Cambria Math" panose="02040503050406030204" pitchFamily="18" charset="0"/>
                            <a:ea typeface="Cambria Math" panose="02040503050406030204" pitchFamily="18" charset="0"/>
                          </a:rPr>
                        </m:ctrlPr>
                      </m:sSubSupPr>
                      <m:e>
                        <m:r>
                          <a:rPr lang="it-IT" sz="2200">
                            <a:solidFill>
                              <a:srgbClr val="C00000"/>
                            </a:solidFill>
                            <a:latin typeface="Cambria Math" panose="02040503050406030204" pitchFamily="18" charset="0"/>
                            <a:ea typeface="Cambria Math" panose="02040503050406030204" pitchFamily="18" charset="0"/>
                          </a:rPr>
                          <m:t>𝑡</m:t>
                        </m:r>
                      </m:e>
                      <m:sub>
                        <m:r>
                          <a:rPr lang="it-IT" sz="2200">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smtClean="0">
                        <a:solidFill>
                          <a:schemeClr val="tx1"/>
                        </a:solidFill>
                        <a:latin typeface="Cambria Math" panose="02040503050406030204" pitchFamily="18" charset="0"/>
                        <a:ea typeface="Cambria Math" panose="02040503050406030204" pitchFamily="18" charset="0"/>
                      </a:rPr>
                      <m:t>≥</m:t>
                    </m:r>
                    <m:r>
                      <a:rPr lang="it-IT" sz="2200" b="0" i="1" smtClean="0">
                        <a:solidFill>
                          <a:schemeClr val="tx1"/>
                        </a:solidFill>
                        <a:latin typeface="Cambria Math" panose="02040503050406030204" pitchFamily="18" charset="0"/>
                        <a:ea typeface="Cambria Math" panose="02040503050406030204" pitchFamily="18" charset="0"/>
                      </a:rPr>
                      <m:t>0,  </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b="0" i="1" smtClean="0">
                            <a:solidFill>
                              <a:srgbClr val="C00000"/>
                            </a:solidFill>
                            <a:latin typeface="Cambria Math" panose="02040503050406030204" pitchFamily="18" charset="0"/>
                            <a:ea typeface="Cambria Math" panose="02040503050406030204" pitchFamily="18" charset="0"/>
                          </a:rPr>
                          <m:t>𝑠</m:t>
                        </m:r>
                      </m:e>
                      <m:sub>
                        <m:r>
                          <a:rPr lang="it-IT" sz="2200" b="0" i="1" smtClean="0">
                            <a:solidFill>
                              <a:srgbClr val="C00000"/>
                            </a:solidFill>
                            <a:latin typeface="Cambria Math" panose="02040503050406030204" pitchFamily="18" charset="0"/>
                            <a:ea typeface="Cambria Math" panose="02040503050406030204" pitchFamily="18" charset="0"/>
                          </a:rPr>
                          <m:t>𝑗</m:t>
                        </m:r>
                      </m:sub>
                      <m:sup>
                        <m:r>
                          <a:rPr lang="it-IT" sz="2200" b="0" i="1" smtClean="0">
                            <a:solidFill>
                              <a:srgbClr val="C00000"/>
                            </a:solidFill>
                            <a:latin typeface="Cambria Math" panose="02040503050406030204" pitchFamily="18" charset="0"/>
                            <a:ea typeface="Cambria Math" panose="02040503050406030204" pitchFamily="18" charset="0"/>
                          </a:rPr>
                          <m:t>𝜔</m:t>
                        </m:r>
                      </m:sup>
                    </m:sSubSup>
                    <m:r>
                      <a:rPr lang="it-IT" sz="2200" b="0" i="1" smtClean="0">
                        <a:solidFill>
                          <a:schemeClr val="tx1"/>
                        </a:solidFill>
                        <a:latin typeface="Cambria Math" panose="02040503050406030204" pitchFamily="18" charset="0"/>
                        <a:ea typeface="Cambria Math" panose="02040503050406030204" pitchFamily="18" charset="0"/>
                      </a:rPr>
                      <m:t>≥</m:t>
                    </m:r>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𝑟</m:t>
                        </m:r>
                      </m:e>
                      <m:sub>
                        <m:r>
                          <a:rPr lang="it-IT" sz="2200" b="0" i="1" smtClean="0">
                            <a:solidFill>
                              <a:srgbClr val="0070C0"/>
                            </a:solidFill>
                            <a:latin typeface="Cambria Math" panose="02040503050406030204" pitchFamily="18" charset="0"/>
                            <a:ea typeface="Cambria Math" panose="02040503050406030204" pitchFamily="18" charset="0"/>
                          </a:rPr>
                          <m:t>𝑗</m:t>
                        </m:r>
                      </m:sub>
                    </m:sSub>
                  </m:oMath>
                </a14:m>
                <a:r>
                  <a:rPr lang="en-US" sz="2200" dirty="0">
                    <a:solidFill>
                      <a:srgbClr val="0070C0"/>
                    </a:solidFill>
                    <a:latin typeface="Arial" panose="020B0604020202020204" pitchFamily="34" charset="0"/>
                    <a:ea typeface="Cambria Math" panose="02040503050406030204" pitchFamily="18" charset="0"/>
                  </a:rPr>
                  <a:t> </a:t>
                </a:r>
                <a:r>
                  <a:rPr lang="en-US" sz="2200" dirty="0">
                    <a:solidFill>
                      <a:schemeClr val="tx1"/>
                    </a:solidFill>
                    <a:latin typeface="Arial" panose="020B0604020202020204" pitchFamily="34"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dirty="0">
                    <a:solidFill>
                      <a:schemeClr val="tx1"/>
                    </a:solidFill>
                    <a:latin typeface="Arial" panose="020B0604020202020204" pitchFamily="34" charset="0"/>
                    <a:ea typeface="Cambria Math" panose="02040503050406030204" pitchFamily="18" charset="0"/>
                  </a:rPr>
                  <a:t> </a:t>
                </a:r>
                <a:r>
                  <a:rPr lang="en-US" sz="2200" dirty="0">
                    <a:latin typeface="Arial" panose="020B0604020202020204" pitchFamily="34" charset="0"/>
                    <a:ea typeface="Cambria Math" panose="02040503050406030204" pitchFamily="18" charset="0"/>
                  </a:rPr>
                  <a:t>	</a:t>
                </a:r>
                <a:r>
                  <a:rPr lang="it-IT" sz="2200" dirty="0">
                    <a:latin typeface="Cambria Math" panose="02040503050406030204" pitchFamily="18" charset="0"/>
                    <a:ea typeface="Cambria Math" panose="02040503050406030204" pitchFamily="18" charset="0"/>
                  </a:rPr>
                  <a:t>(9)</a:t>
                </a: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193040" y="1137040"/>
                <a:ext cx="8876922" cy="5184953"/>
              </a:xfrm>
              <a:blipFill>
                <a:blip r:embed="rId2"/>
                <a:stretch>
                  <a:fillRect l="-893" t="-6353" b="-117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en-US" dirty="0"/>
              <a:t>BESO-SAA F2</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53</a:t>
            </a:fld>
            <a:endParaRPr lang="it-IT" dirty="0"/>
          </a:p>
        </p:txBody>
      </p:sp>
      <p:sp>
        <p:nvSpPr>
          <p:cNvPr id="6" name="Callout: Line 5">
            <a:extLst>
              <a:ext uri="{FF2B5EF4-FFF2-40B4-BE49-F238E27FC236}">
                <a16:creationId xmlns:a16="http://schemas.microsoft.com/office/drawing/2014/main" id="{D066AED8-8CCC-4DA7-B604-860438E290E2}"/>
              </a:ext>
            </a:extLst>
          </p:cNvPr>
          <p:cNvSpPr/>
          <p:nvPr/>
        </p:nvSpPr>
        <p:spPr>
          <a:xfrm>
            <a:off x="5093208" y="1048472"/>
            <a:ext cx="2203704" cy="435728"/>
          </a:xfrm>
          <a:prstGeom prst="borderCallout1">
            <a:avLst>
              <a:gd name="adj1" fmla="val 106890"/>
              <a:gd name="adj2" fmla="val 31502"/>
              <a:gd name="adj3" fmla="val 701263"/>
              <a:gd name="adj4" fmla="val -50551"/>
            </a:avLst>
          </a:prstGeom>
          <a:noFill/>
          <a:ln>
            <a:solidFill>
              <a:srgbClr val="00B0F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00B0F0"/>
                </a:solidFill>
              </a:rPr>
              <a:t>We forecast these</a:t>
            </a:r>
          </a:p>
        </p:txBody>
      </p:sp>
    </p:spTree>
    <p:extLst>
      <p:ext uri="{BB962C8B-B14F-4D97-AF65-F5344CB8AC3E}">
        <p14:creationId xmlns:p14="http://schemas.microsoft.com/office/powerpoint/2010/main" val="5141160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B8497692-6A0C-48FC-874E-C7078D42A743}"/>
                  </a:ext>
                </a:extLst>
              </p:cNvPr>
              <p:cNvSpPr>
                <a:spLocks noGrp="1"/>
              </p:cNvSpPr>
              <p:nvPr>
                <p:ph idx="1"/>
              </p:nvPr>
            </p:nvSpPr>
            <p:spPr>
              <a:xfrm>
                <a:off x="298907" y="1173916"/>
                <a:ext cx="8546175" cy="5646806"/>
              </a:xfrm>
            </p:spPr>
            <p:txBody>
              <a:bodyPr>
                <a:normAutofit lnSpcReduction="10000"/>
              </a:bodyPr>
              <a:lstStyle/>
              <a:p>
                <a:pPr rtl="0"/>
                <a:r>
                  <a:rPr lang="en-US" sz="1800" dirty="0"/>
                  <a:t>The assignment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m:t>
                        </m:r>
                      </m:sub>
                    </m:sSub>
                  </m:oMath>
                </a14:m>
                <a:r>
                  <a:rPr lang="en-US" sz="1800" dirty="0"/>
                  <a:t> is the first-stage (here-and-now) decision, and the tardiness is the second-stage quantity determined after the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𝑖𝑗</m:t>
                        </m:r>
                      </m:sub>
                    </m:sSub>
                  </m:oMath>
                </a14:m>
                <a:r>
                  <a:rPr lang="en-US" sz="1800" dirty="0"/>
                  <a:t> are realized. With a scenario set Ω of S samples (SAA).</a:t>
                </a:r>
              </a:p>
              <a:p>
                <a:pPr>
                  <a:spcBef>
                    <a:spcPts val="0"/>
                  </a:spcBef>
                </a:pPr>
                <a:r>
                  <a:rPr lang="en-US" sz="1800" b="1" dirty="0"/>
                  <a:t>stochastic unrelated-machine problem with a common due date</a:t>
                </a:r>
                <a:r>
                  <a:rPr lang="en-US" sz="1800" dirty="0"/>
                  <a:t>, R |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𝑖𝑗</m:t>
                        </m:r>
                      </m:sub>
                    </m:sSub>
                  </m:oMath>
                </a14:m>
                <a:r>
                  <a:rPr lang="en-US" sz="1800" dirty="0"/>
                  <a:t> stochastic, </a:t>
                </a:r>
                <a:r>
                  <a:rPr lang="en-US" sz="1800" dirty="0" err="1"/>
                  <a:t>d_j</a:t>
                </a:r>
                <a:r>
                  <a:rPr lang="en-US" sz="1800" dirty="0"/>
                  <a:t> = d | E[</a:t>
                </a:r>
                <a:r>
                  <a:rPr lang="el-GR" sz="1800" dirty="0"/>
                  <a:t>Σ </a:t>
                </a:r>
                <a:r>
                  <a:rPr lang="en-US" sz="1800" dirty="0" err="1"/>
                  <a:t>T_j</a:t>
                </a:r>
                <a:r>
                  <a:rPr lang="en-US" sz="1800" dirty="0"/>
                  <a:t>], with d =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𝑚𝑎𝑥</m:t>
                        </m:r>
                      </m:sub>
                    </m:sSub>
                  </m:oMath>
                </a14:m>
                <a:r>
                  <a:rPr lang="en-US" sz="1800" dirty="0"/>
                  <a:t>. Unlike machine-level overtime, sequencing matters, so the model needs positional variables. </a:t>
                </a:r>
              </a:p>
              <a:p>
                <a:pPr>
                  <a:spcBef>
                    <a:spcPts val="0"/>
                  </a:spcBef>
                </a:pPr>
                <a:r>
                  <a:rPr lang="en-US" sz="1800" dirty="0"/>
                  <a:t>Jobs finishing before d cost nothing, the choice of which jobs fill the window [0, d] on each machine becomes a knapsack-like decision</a:t>
                </a:r>
              </a:p>
              <a:p>
                <a:pPr rtl="0">
                  <a:spcBef>
                    <a:spcPts val="0"/>
                  </a:spcBef>
                </a:pPr>
                <a:r>
                  <a:rPr lang="en-US" sz="1800" dirty="0"/>
                  <a:t>Let </a:t>
                </a:r>
                <a:r>
                  <a:rPr lang="el-GR" sz="1800" dirty="0"/>
                  <a:t>Ω </a:t>
                </a:r>
                <a:r>
                  <a:rPr lang="en-US" sz="1800" dirty="0"/>
                  <a:t>be a set of S scenarios, with realizations </a:t>
                </a:r>
                <a14:m>
                  <m:oMath xmlns:m="http://schemas.openxmlformats.org/officeDocument/2006/math">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𝑝</m:t>
                        </m:r>
                      </m:e>
                      <m:sub>
                        <m:r>
                          <a:rPr lang="it-IT" sz="1800" b="0" i="1" smtClean="0">
                            <a:latin typeface="Cambria Math" panose="02040503050406030204" pitchFamily="18" charset="0"/>
                          </a:rPr>
                          <m:t>𝑖𝑗</m:t>
                        </m:r>
                      </m:sub>
                      <m:sup>
                        <m:r>
                          <a:rPr lang="it-IT" sz="1800" b="0" i="1" smtClean="0">
                            <a:latin typeface="Cambria Math" panose="02040503050406030204" pitchFamily="18" charset="0"/>
                          </a:rPr>
                          <m:t>𝜔</m:t>
                        </m:r>
                      </m:sup>
                    </m:sSubSup>
                  </m:oMath>
                </a14:m>
                <a:r>
                  <a:rPr lang="el-GR" sz="1800" dirty="0"/>
                  <a:t>. </a:t>
                </a:r>
                <a:r>
                  <a:rPr lang="en-US" sz="1800" dirty="0"/>
                  <a:t>Let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𝑖𝑗𝑘</m:t>
                        </m:r>
                      </m:sub>
                    </m:sSub>
                    <m:r>
                      <a:rPr lang="it-IT" sz="1800" b="0" i="1" smtClean="0">
                        <a:latin typeface="Cambria Math" panose="02040503050406030204" pitchFamily="18" charset="0"/>
                      </a:rPr>
                      <m:t>=1</m:t>
                    </m:r>
                  </m:oMath>
                </a14:m>
                <a:r>
                  <a:rPr lang="en-US" sz="1800" dirty="0"/>
                  <a:t> if job j is in position k on machine </a:t>
                </a:r>
                <a:r>
                  <a:rPr lang="en-US" sz="1800" dirty="0" err="1"/>
                  <a:t>i</a:t>
                </a:r>
                <a:r>
                  <a:rPr lang="en-US" sz="1800" dirty="0"/>
                  <a:t>, for k = 1..K with K ≤ n. Define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𝑦</m:t>
                        </m:r>
                      </m:e>
                      <m:sub>
                        <m:r>
                          <a:rPr lang="it-IT" sz="1800" b="0" i="1" smtClean="0">
                            <a:latin typeface="Cambria Math" panose="02040503050406030204" pitchFamily="18" charset="0"/>
                          </a:rPr>
                          <m:t>𝑖𝑘</m:t>
                        </m:r>
                      </m:sub>
                    </m:sSub>
                    <m:r>
                      <a:rPr lang="it-IT" sz="1800" b="0" i="1" smtClean="0">
                        <a:latin typeface="Cambria Math" panose="02040503050406030204" pitchFamily="18" charset="0"/>
                      </a:rPr>
                      <m:t>=</m:t>
                    </m:r>
                    <m:nary>
                      <m:naryPr>
                        <m:chr m:val="∑"/>
                        <m:supHide m:val="on"/>
                        <m:ctrlPr>
                          <a:rPr lang="it-IT" sz="1800" b="0" i="1" smtClean="0">
                            <a:latin typeface="Cambria Math" panose="02040503050406030204" pitchFamily="18" charset="0"/>
                          </a:rPr>
                        </m:ctrlPr>
                      </m:naryPr>
                      <m:sub>
                        <m:r>
                          <a:rPr lang="it-IT" sz="1800" b="0" i="1" smtClean="0">
                            <a:latin typeface="Cambria Math" panose="02040503050406030204" pitchFamily="18" charset="0"/>
                          </a:rPr>
                          <m:t>𝑗</m:t>
                        </m:r>
                      </m:sub>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𝑖𝑗𝑘</m:t>
                            </m:r>
                          </m:sub>
                        </m:sSub>
                      </m:e>
                    </m:nary>
                  </m:oMath>
                </a14:m>
                <a:r>
                  <a:rPr lang="en-US" sz="1800" dirty="0"/>
                  <a:t>, which equals 1 if position k is occupied.</a:t>
                </a:r>
              </a:p>
              <a:p>
                <a:pPr rtl="0">
                  <a:spcBef>
                    <a:spcPts val="600"/>
                  </a:spcBef>
                </a:pPr>
                <a:r>
                  <a:rPr lang="en-US" sz="1800" dirty="0"/>
                  <a:t>Min </a:t>
                </a:r>
                <a14:m>
                  <m:oMath xmlns:m="http://schemas.openxmlformats.org/officeDocument/2006/math">
                    <m:f>
                      <m:fPr>
                        <m:ctrlPr>
                          <a:rPr lang="en-US" sz="1800" i="1" smtClean="0">
                            <a:latin typeface="Cambria Math" panose="02040503050406030204" pitchFamily="18" charset="0"/>
                          </a:rPr>
                        </m:ctrlPr>
                      </m:fPr>
                      <m:num>
                        <m:r>
                          <a:rPr lang="it-IT" sz="1800" b="0" i="1" smtClean="0">
                            <a:latin typeface="Cambria Math" panose="02040503050406030204" pitchFamily="18" charset="0"/>
                          </a:rPr>
                          <m:t>1</m:t>
                        </m:r>
                      </m:num>
                      <m:den>
                        <m:r>
                          <a:rPr lang="it-IT" sz="1800" b="0" i="1" smtClean="0">
                            <a:latin typeface="Cambria Math" panose="02040503050406030204" pitchFamily="18" charset="0"/>
                          </a:rPr>
                          <m:t>𝑆</m:t>
                        </m:r>
                      </m:den>
                    </m:f>
                    <m:nary>
                      <m:naryPr>
                        <m:chr m:val="∑"/>
                        <m:limLoc m:val="subSup"/>
                        <m:supHide m:val="on"/>
                        <m:ctrlPr>
                          <a:rPr lang="en-US" sz="1800" i="1" smtClean="0">
                            <a:latin typeface="Cambria Math" panose="02040503050406030204" pitchFamily="18" charset="0"/>
                          </a:rPr>
                        </m:ctrlPr>
                      </m:naryPr>
                      <m:sub>
                        <m:r>
                          <a:rPr lang="it-IT" sz="1800" b="0" i="1" smtClean="0">
                            <a:latin typeface="Cambria Math" panose="02040503050406030204" pitchFamily="18" charset="0"/>
                          </a:rPr>
                          <m:t>𝜔</m:t>
                        </m:r>
                      </m:sub>
                      <m:sup/>
                      <m:e>
                        <m:nary>
                          <m:naryPr>
                            <m:chr m:val="∑"/>
                            <m:limLoc m:val="subSup"/>
                            <m:supHide m:val="on"/>
                            <m:ctrlPr>
                              <a:rPr lang="en-US" sz="1800" i="1" smtClean="0">
                                <a:latin typeface="Cambria Math" panose="02040503050406030204" pitchFamily="18" charset="0"/>
                              </a:rPr>
                            </m:ctrlPr>
                          </m:naryPr>
                          <m:sub>
                            <m:r>
                              <m:rPr>
                                <m:brk m:alnAt="9"/>
                              </m:rPr>
                              <a:rPr lang="it-IT" sz="1800" b="0" i="1" smtClean="0">
                                <a:latin typeface="Cambria Math" panose="02040503050406030204" pitchFamily="18" charset="0"/>
                              </a:rPr>
                              <m:t>𝑖</m:t>
                            </m:r>
                          </m:sub>
                          <m:sup/>
                          <m:e>
                            <m:nary>
                              <m:naryPr>
                                <m:chr m:val="∑"/>
                                <m:limLoc m:val="subSup"/>
                                <m:supHide m:val="on"/>
                                <m:ctrlPr>
                                  <a:rPr lang="en-US" sz="1800" i="1" smtClean="0">
                                    <a:latin typeface="Cambria Math" panose="02040503050406030204" pitchFamily="18" charset="0"/>
                                  </a:rPr>
                                </m:ctrlPr>
                              </m:naryPr>
                              <m:sub>
                                <m:r>
                                  <m:rPr>
                                    <m:brk m:alnAt="9"/>
                                  </m:rPr>
                                  <a:rPr lang="it-IT" sz="1800" b="0" i="1" smtClean="0">
                                    <a:latin typeface="Cambria Math" panose="02040503050406030204" pitchFamily="18" charset="0"/>
                                  </a:rPr>
                                  <m:t>𝑘</m:t>
                                </m:r>
                              </m:sub>
                              <m:sup/>
                              <m:e>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𝑇</m:t>
                                    </m:r>
                                  </m:e>
                                  <m:sub>
                                    <m:r>
                                      <a:rPr lang="it-IT" sz="1800" b="0" i="1" smtClean="0">
                                        <a:latin typeface="Cambria Math" panose="02040503050406030204" pitchFamily="18" charset="0"/>
                                      </a:rPr>
                                      <m:t>𝑖𝑘</m:t>
                                    </m:r>
                                  </m:sub>
                                  <m:sup>
                                    <m:r>
                                      <a:rPr lang="it-IT" sz="1800" b="0" i="1" smtClean="0">
                                        <a:latin typeface="Cambria Math" panose="02040503050406030204" pitchFamily="18" charset="0"/>
                                      </a:rPr>
                                      <m:t>𝜔</m:t>
                                    </m:r>
                                  </m:sup>
                                </m:sSubSup>
                              </m:e>
                            </m:nary>
                          </m:e>
                        </m:nary>
                      </m:e>
                    </m:nary>
                  </m:oMath>
                </a14:m>
                <a:endParaRPr lang="el-GR" sz="1800" dirty="0"/>
              </a:p>
              <a:p>
                <a:pPr rtl="0">
                  <a:spcBef>
                    <a:spcPts val="600"/>
                  </a:spcBef>
                </a:pPr>
                <a:r>
                  <a:rPr lang="en-US" sz="1800" dirty="0"/>
                  <a:t>subject to</a:t>
                </a:r>
              </a:p>
              <a:p>
                <a:pPr rtl="0">
                  <a:spcBef>
                    <a:spcPts val="600"/>
                  </a:spcBef>
                </a:pPr>
                <a14:m>
                  <m:oMath xmlns:m="http://schemas.openxmlformats.org/officeDocument/2006/math">
                    <m:nary>
                      <m:naryPr>
                        <m:chr m:val="∑"/>
                        <m:limLoc m:val="subSup"/>
                        <m:supHide m:val="on"/>
                        <m:ctrlPr>
                          <a:rPr lang="it-IT" sz="1800" i="1" smtClean="0">
                            <a:latin typeface="Cambria Math" panose="02040503050406030204" pitchFamily="18" charset="0"/>
                          </a:rPr>
                        </m:ctrlPr>
                      </m:naryPr>
                      <m:sub>
                        <m:r>
                          <m:rPr>
                            <m:brk m:alnAt="9"/>
                          </m:rPr>
                          <a:rPr lang="it-IT" sz="1800" b="0" i="1" smtClean="0">
                            <a:latin typeface="Cambria Math" panose="02040503050406030204" pitchFamily="18" charset="0"/>
                          </a:rPr>
                          <m:t>𝑖</m:t>
                        </m:r>
                      </m:sub>
                      <m:sup/>
                      <m:e>
                        <m:nary>
                          <m:naryPr>
                            <m:chr m:val="∑"/>
                            <m:limLoc m:val="subSup"/>
                            <m:supHide m:val="on"/>
                            <m:ctrlPr>
                              <a:rPr lang="it-IT" sz="1800" i="1" smtClean="0">
                                <a:latin typeface="Cambria Math" panose="02040503050406030204" pitchFamily="18" charset="0"/>
                              </a:rPr>
                            </m:ctrlPr>
                          </m:naryPr>
                          <m:sub>
                            <m:r>
                              <m:rPr>
                                <m:brk m:alnAt="9"/>
                              </m:rPr>
                              <a:rPr lang="it-IT" sz="1800" b="0" i="1" smtClean="0">
                                <a:latin typeface="Cambria Math" panose="02040503050406030204" pitchFamily="18" charset="0"/>
                              </a:rPr>
                              <m:t>𝑘</m:t>
                            </m:r>
                          </m:sub>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𝑖𝑗𝑘</m:t>
                                </m:r>
                              </m:sub>
                            </m:sSub>
                            <m:r>
                              <a:rPr lang="it-IT" sz="1800" b="0" i="1" smtClean="0">
                                <a:latin typeface="Cambria Math" panose="02040503050406030204" pitchFamily="18" charset="0"/>
                              </a:rPr>
                              <m:t>=1</m:t>
                            </m:r>
                          </m:e>
                        </m:nary>
                      </m:e>
                    </m:nary>
                  </m:oMath>
                </a14:m>
                <a:r>
                  <a:rPr lang="en-US" sz="1800" dirty="0"/>
                  <a:t> for every job j</a:t>
                </a:r>
              </a:p>
              <a:p>
                <a:pPr rtl="0">
                  <a:spcBef>
                    <a:spcPts val="600"/>
                  </a:spcBef>
                </a:pP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𝑦</m:t>
                        </m:r>
                      </m:e>
                      <m:sub>
                        <m:r>
                          <a:rPr lang="it-IT" sz="1800" b="0" i="1" smtClean="0">
                            <a:latin typeface="Cambria Math" panose="02040503050406030204" pitchFamily="18" charset="0"/>
                          </a:rPr>
                          <m:t>𝑖𝑘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𝑦</m:t>
                        </m:r>
                      </m:e>
                      <m:sub>
                        <m:r>
                          <a:rPr lang="it-IT" sz="1800" b="0" i="1" smtClean="0">
                            <a:latin typeface="Cambria Math" panose="02040503050406030204" pitchFamily="18" charset="0"/>
                          </a:rPr>
                          <m:t>𝑖𝑘</m:t>
                        </m:r>
                        <m:r>
                          <a:rPr lang="it-IT" sz="1800" b="0" i="1" smtClean="0">
                            <a:latin typeface="Cambria Math" panose="02040503050406030204" pitchFamily="18" charset="0"/>
                          </a:rPr>
                          <m:t>+1</m:t>
                        </m:r>
                      </m:sub>
                    </m:sSub>
                  </m:oMath>
                </a14:m>
                <a:r>
                  <a:rPr lang="en-US" sz="1800" dirty="0"/>
                  <a:t> for every </a:t>
                </a:r>
                <a:r>
                  <a:rPr lang="en-US" sz="1800" dirty="0" err="1"/>
                  <a:t>i</a:t>
                </a:r>
                <a:r>
                  <a:rPr lang="en-US" sz="1800" dirty="0"/>
                  <a:t>, k (no gaps)</a:t>
                </a:r>
              </a:p>
              <a:p>
                <a:pPr rtl="0">
                  <a:spcBef>
                    <a:spcPts val="600"/>
                  </a:spcBef>
                </a:pPr>
                <a14:m>
                  <m:oMath xmlns:m="http://schemas.openxmlformats.org/officeDocument/2006/math">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𝐶</m:t>
                        </m:r>
                      </m:e>
                      <m:sub>
                        <m:r>
                          <a:rPr lang="it-IT" sz="1800" b="0" i="1" smtClean="0">
                            <a:latin typeface="Cambria Math" panose="02040503050406030204" pitchFamily="18" charset="0"/>
                          </a:rPr>
                          <m:t>𝑖𝑘</m:t>
                        </m:r>
                      </m:sub>
                      <m:sup>
                        <m:r>
                          <a:rPr lang="it-IT" sz="1800" b="0" i="1" smtClean="0">
                            <a:latin typeface="Cambria Math" panose="02040503050406030204" pitchFamily="18" charset="0"/>
                          </a:rPr>
                          <m:t>𝜔</m:t>
                        </m:r>
                      </m:sup>
                    </m:sSubSup>
                    <m:r>
                      <a:rPr lang="it-IT" sz="1800" b="0" i="1" smtClean="0">
                        <a:latin typeface="Cambria Math" panose="02040503050406030204" pitchFamily="18" charset="0"/>
                      </a:rPr>
                      <m:t>=</m:t>
                    </m:r>
                    <m:nary>
                      <m:naryPr>
                        <m:chr m:val="∑"/>
                        <m:supHide m:val="on"/>
                        <m:ctrlPr>
                          <a:rPr lang="it-IT" sz="1800" b="0" i="1" smtClean="0">
                            <a:latin typeface="Cambria Math" panose="02040503050406030204" pitchFamily="18" charset="0"/>
                          </a:rPr>
                        </m:ctrlPr>
                      </m:naryPr>
                      <m:sub>
                        <m:r>
                          <a:rPr lang="it-IT" sz="1800" b="0" i="1" smtClean="0">
                            <a:latin typeface="Cambria Math" panose="02040503050406030204" pitchFamily="18" charset="0"/>
                          </a:rPr>
                          <m:t>𝑙</m:t>
                        </m:r>
                        <m:r>
                          <a:rPr lang="it-IT" sz="1800" b="0" i="1" smtClean="0">
                            <a:latin typeface="Cambria Math" panose="02040503050406030204" pitchFamily="18" charset="0"/>
                          </a:rPr>
                          <m:t>≤</m:t>
                        </m:r>
                        <m:r>
                          <a:rPr lang="it-IT" sz="1800" b="0" i="1" smtClean="0">
                            <a:latin typeface="Cambria Math" panose="02040503050406030204" pitchFamily="18" charset="0"/>
                          </a:rPr>
                          <m:t>𝑘</m:t>
                        </m:r>
                      </m:sub>
                      <m:sup/>
                      <m:e>
                        <m:nary>
                          <m:naryPr>
                            <m:chr m:val="∑"/>
                            <m:supHide m:val="on"/>
                            <m:ctrlPr>
                              <a:rPr lang="it-IT" sz="1800" b="0" i="1" smtClean="0">
                                <a:latin typeface="Cambria Math" panose="02040503050406030204" pitchFamily="18" charset="0"/>
                              </a:rPr>
                            </m:ctrlPr>
                          </m:naryPr>
                          <m:sub>
                            <m:r>
                              <a:rPr lang="it-IT" sz="1800" b="0" i="1" smtClean="0">
                                <a:latin typeface="Cambria Math" panose="02040503050406030204" pitchFamily="18" charset="0"/>
                              </a:rPr>
                              <m:t>𝑗</m:t>
                            </m:r>
                          </m:sub>
                          <m:sup/>
                          <m:e>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𝑝</m:t>
                                </m:r>
                              </m:e>
                              <m:sub>
                                <m:r>
                                  <a:rPr lang="it-IT" sz="1800" b="0" i="1" smtClean="0">
                                    <a:latin typeface="Cambria Math" panose="02040503050406030204" pitchFamily="18" charset="0"/>
                                  </a:rPr>
                                  <m:t>𝑖𝑗</m:t>
                                </m:r>
                              </m:sub>
                              <m:sup>
                                <m:r>
                                  <a:rPr lang="it-IT" sz="1800" b="0" i="1" smtClean="0">
                                    <a:latin typeface="Cambria Math" panose="02040503050406030204" pitchFamily="18" charset="0"/>
                                  </a:rPr>
                                  <m:t>𝜔</m:t>
                                </m:r>
                              </m:sup>
                            </m:sSubSup>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𝑖𝑗𝑙</m:t>
                                </m:r>
                              </m:sub>
                            </m:sSub>
                          </m:e>
                        </m:nary>
                      </m:e>
                    </m:nary>
                  </m:oMath>
                </a14:m>
                <a:r>
                  <a:rPr lang="en-US" sz="1800" dirty="0"/>
                  <a:t> for every </a:t>
                </a:r>
                <a:r>
                  <a:rPr lang="en-US" sz="1800" dirty="0" err="1"/>
                  <a:t>i</a:t>
                </a:r>
                <a:r>
                  <a:rPr lang="en-US" sz="1800" dirty="0"/>
                  <a:t>, k, </a:t>
                </a:r>
                <a:r>
                  <a:rPr lang="el-GR" sz="1800" dirty="0"/>
                  <a:t>ω</a:t>
                </a:r>
              </a:p>
              <a:p>
                <a:pPr rtl="0">
                  <a:spcBef>
                    <a:spcPts val="600"/>
                  </a:spcBef>
                </a:pPr>
                <a14:m>
                  <m:oMath xmlns:m="http://schemas.openxmlformats.org/officeDocument/2006/math">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𝑇</m:t>
                        </m:r>
                      </m:e>
                      <m:sub>
                        <m:r>
                          <a:rPr lang="it-IT" sz="1800" b="0" i="1" smtClean="0">
                            <a:latin typeface="Cambria Math" panose="02040503050406030204" pitchFamily="18" charset="0"/>
                          </a:rPr>
                          <m:t>𝑖𝑘</m:t>
                        </m:r>
                      </m:sub>
                      <m:sup>
                        <m:r>
                          <a:rPr lang="it-IT" sz="1800" b="0" i="1" smtClean="0">
                            <a:latin typeface="Cambria Math" panose="02040503050406030204" pitchFamily="18" charset="0"/>
                          </a:rPr>
                          <m:t>𝜔</m:t>
                        </m:r>
                      </m:sup>
                    </m:sSubSup>
                    <m:r>
                      <a:rPr lang="it-IT" sz="1800" b="0" i="1" smtClean="0">
                        <a:latin typeface="Cambria Math" panose="02040503050406030204" pitchFamily="18" charset="0"/>
                      </a:rPr>
                      <m:t>≥</m:t>
                    </m:r>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𝐶</m:t>
                        </m:r>
                      </m:e>
                      <m:sub>
                        <m:r>
                          <a:rPr lang="it-IT" sz="1800" b="0" i="1" smtClean="0">
                            <a:latin typeface="Cambria Math" panose="02040503050406030204" pitchFamily="18" charset="0"/>
                          </a:rPr>
                          <m:t>𝑖𝑘</m:t>
                        </m:r>
                      </m:sub>
                      <m:sup>
                        <m:r>
                          <a:rPr lang="it-IT" sz="1800" b="0" i="1" smtClean="0">
                            <a:latin typeface="Cambria Math" panose="02040503050406030204" pitchFamily="18" charset="0"/>
                          </a:rPr>
                          <m:t>𝜔</m:t>
                        </m:r>
                      </m:sup>
                    </m:sSubSup>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𝑡</m:t>
                        </m:r>
                      </m:e>
                      <m:sub>
                        <m:r>
                          <a:rPr lang="it-IT" sz="1800" b="0" i="1" smtClean="0">
                            <a:latin typeface="Cambria Math" panose="02040503050406030204" pitchFamily="18" charset="0"/>
                          </a:rPr>
                          <m:t>𝑚𝑎𝑥</m:t>
                        </m:r>
                      </m:sub>
                    </m:sSub>
                    <m:r>
                      <a:rPr lang="it-IT" sz="1800" b="0" i="1" smtClean="0">
                        <a:latin typeface="Cambria Math" panose="02040503050406030204" pitchFamily="18" charset="0"/>
                      </a:rPr>
                      <m:t> −</m:t>
                    </m:r>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𝑀</m:t>
                        </m:r>
                      </m:e>
                      <m:sub>
                        <m:r>
                          <a:rPr lang="it-IT" sz="1800" b="0" i="1" smtClean="0">
                            <a:latin typeface="Cambria Math" panose="02040503050406030204" pitchFamily="18" charset="0"/>
                          </a:rPr>
                          <m:t>𝑖𝑘</m:t>
                        </m:r>
                      </m:sub>
                      <m:sup>
                        <m:r>
                          <a:rPr lang="it-IT" sz="1800" b="0" i="1" smtClean="0">
                            <a:latin typeface="Cambria Math" panose="02040503050406030204" pitchFamily="18" charset="0"/>
                          </a:rPr>
                          <m:t>𝜔</m:t>
                        </m:r>
                      </m:sup>
                    </m:sSubSup>
                    <m:r>
                      <a:rPr lang="it-IT" sz="1800" b="0" i="1" smtClean="0">
                        <a:latin typeface="Cambria Math" panose="02040503050406030204" pitchFamily="18" charset="0"/>
                      </a:rPr>
                      <m:t>(1−</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𝑦</m:t>
                        </m:r>
                      </m:e>
                      <m:sub>
                        <m:r>
                          <a:rPr lang="it-IT" sz="1800" b="0" i="1" smtClean="0">
                            <a:latin typeface="Cambria Math" panose="02040503050406030204" pitchFamily="18" charset="0"/>
                          </a:rPr>
                          <m:t>𝑖𝑘</m:t>
                        </m:r>
                      </m:sub>
                    </m:sSub>
                    <m:r>
                      <a:rPr lang="it-IT" sz="1800" b="0" i="1" smtClean="0">
                        <a:latin typeface="Cambria Math" panose="02040503050406030204" pitchFamily="18" charset="0"/>
                      </a:rPr>
                      <m:t>)</m:t>
                    </m:r>
                  </m:oMath>
                </a14:m>
                <a:r>
                  <a:rPr lang="en-US" sz="1800" dirty="0"/>
                  <a:t>, with </a:t>
                </a:r>
                <a:r>
                  <a:rPr lang="en-US" sz="1800" dirty="0" err="1"/>
                  <a:t>T_ik</a:t>
                </a:r>
                <a:r>
                  <a:rPr lang="en-US" sz="1800" dirty="0"/>
                  <a:t>^</a:t>
                </a:r>
                <a:r>
                  <a:rPr lang="el-GR" sz="1800" dirty="0"/>
                  <a:t>ω ≥ 0</a:t>
                </a:r>
              </a:p>
              <a:p>
                <a:pPr rtl="0">
                  <a:spcBef>
                    <a:spcPts val="600"/>
                  </a:spcBef>
                </a:pPr>
                <a:r>
                  <a:rPr lang="it-IT" sz="1800" b="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𝑖𝑗𝑘</m:t>
                        </m:r>
                      </m:sub>
                    </m:sSub>
                    <m:r>
                      <a:rPr lang="it-IT" sz="1800" b="0" i="1" smtClean="0">
                        <a:latin typeface="Cambria Math" panose="02040503050406030204" pitchFamily="18" charset="0"/>
                      </a:rPr>
                      <m:t>∈{0,1}</m:t>
                    </m:r>
                  </m:oMath>
                </a14:m>
                <a:endParaRPr lang="en-US" sz="1800" dirty="0"/>
              </a:p>
            </p:txBody>
          </p:sp>
        </mc:Choice>
        <mc:Fallback>
          <p:sp>
            <p:nvSpPr>
              <p:cNvPr id="2" name="Content Placeholder 1">
                <a:extLst>
                  <a:ext uri="{FF2B5EF4-FFF2-40B4-BE49-F238E27FC236}">
                    <a16:creationId xmlns:a16="http://schemas.microsoft.com/office/drawing/2014/main" id="{B8497692-6A0C-48FC-874E-C7078D42A743}"/>
                  </a:ext>
                </a:extLst>
              </p:cNvPr>
              <p:cNvSpPr>
                <a:spLocks noGrp="1" noRot="1" noChangeAspect="1" noMove="1" noResize="1" noEditPoints="1" noAdjustHandles="1" noChangeArrowheads="1" noChangeShapeType="1" noTextEdit="1"/>
              </p:cNvSpPr>
              <p:nvPr>
                <p:ph idx="1"/>
              </p:nvPr>
            </p:nvSpPr>
            <p:spPr>
              <a:xfrm>
                <a:off x="298907" y="1173916"/>
                <a:ext cx="8546175" cy="5646806"/>
              </a:xfrm>
              <a:blipFill>
                <a:blip r:embed="rId2"/>
                <a:stretch>
                  <a:fillRect l="-3923" t="-972" r="-78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2219F0E-A8E4-4149-8CF9-553E743FBFBE}"/>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2763E777-7B13-4C09-8CC3-6C6DA368B0A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5EF5CB7-2CA8-41D9-A84C-B17037E6C7BF}"/>
              </a:ext>
            </a:extLst>
          </p:cNvPr>
          <p:cNvSpPr>
            <a:spLocks noGrp="1"/>
          </p:cNvSpPr>
          <p:nvPr>
            <p:ph type="sldNum" sz="quarter" idx="4"/>
          </p:nvPr>
        </p:nvSpPr>
        <p:spPr/>
        <p:txBody>
          <a:bodyPr/>
          <a:lstStyle/>
          <a:p>
            <a:pPr>
              <a:defRPr/>
            </a:pPr>
            <a:fld id="{476DEB1C-3253-4C07-8F02-456B7B2AD41D}" type="slidenum">
              <a:rPr lang="it-IT" smtClean="0"/>
              <a:pPr>
                <a:defRPr/>
              </a:pPr>
              <a:t>54</a:t>
            </a:fld>
            <a:endParaRPr lang="it-IT" dirty="0"/>
          </a:p>
        </p:txBody>
      </p:sp>
    </p:spTree>
    <p:extLst>
      <p:ext uri="{BB962C8B-B14F-4D97-AF65-F5344CB8AC3E}">
        <p14:creationId xmlns:p14="http://schemas.microsoft.com/office/powerpoint/2010/main" val="14439185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5879DB-4DE7-4174-8C19-2CB9A0440F59}"/>
                  </a:ext>
                </a:extLst>
              </p:cNvPr>
              <p:cNvSpPr>
                <a:spLocks noGrp="1"/>
              </p:cNvSpPr>
              <p:nvPr>
                <p:ph idx="1"/>
              </p:nvPr>
            </p:nvSpPr>
            <p:spPr>
              <a:xfrm>
                <a:off x="298907" y="1081555"/>
                <a:ext cx="8546175" cy="3251780"/>
              </a:xfrm>
            </p:spPr>
            <p:txBody>
              <a:bodyPr>
                <a:normAutofit/>
              </a:bodyPr>
              <a:lstStyle/>
              <a:p>
                <a:r>
                  <a:rPr lang="en-US" sz="2400" dirty="0"/>
                  <a:t>We fit an AR(p) model on the Mondays series (the most demanding) for each customer category</a:t>
                </a:r>
              </a:p>
              <a:p>
                <a:pPr>
                  <a:spcBef>
                    <a:spcPts val="1200"/>
                  </a:spcBef>
                </a:pPr>
                <a:r>
                  <a:rPr lang="en-US" sz="2400" dirty="0"/>
                  <a:t>We extracted the </a:t>
                </a:r>
                <a:r>
                  <a:rPr lang="en-US" sz="2400" dirty="0">
                    <a:solidFill>
                      <a:srgbClr val="C00000"/>
                    </a:solidFill>
                  </a:rPr>
                  <a:t>residuals</a:t>
                </a:r>
                <a:r>
                  <a:rPr lang="en-US" sz="2400" dirty="0"/>
                  <a:t> </a:t>
                </a:r>
                <a14:m>
                  <m:oMath xmlns:m="http://schemas.openxmlformats.org/officeDocument/2006/math">
                    <m:sSub>
                      <m:sSubPr>
                        <m:ctrlPr>
                          <a:rPr lang="it-IT" sz="2400" b="0" i="1" smtClean="0">
                            <a:latin typeface="Cambria Math" panose="02040503050406030204" pitchFamily="18" charset="0"/>
                            <a:ea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𝜀</m:t>
                        </m:r>
                      </m:e>
                      <m:sub>
                        <m:r>
                          <a:rPr lang="it-IT" sz="2400" b="0" i="1" smtClean="0">
                            <a:latin typeface="Cambria Math" panose="02040503050406030204" pitchFamily="18" charset="0"/>
                            <a:ea typeface="Cambria Math" panose="02040503050406030204" pitchFamily="18" charset="0"/>
                          </a:rPr>
                          <m:t>𝑡</m:t>
                        </m:r>
                      </m:sub>
                    </m:sSub>
                  </m:oMath>
                </a14:m>
                <a:r>
                  <a:rPr lang="en-US" sz="2400" dirty="0"/>
                  <a:t> of the model. </a:t>
                </a:r>
              </a:p>
              <a:p>
                <a:pPr>
                  <a:spcBef>
                    <a:spcPts val="1200"/>
                  </a:spcBef>
                </a:pPr>
                <a:r>
                  <a:rPr lang="en-US" sz="2400" dirty="0"/>
                  <a:t>We resampled the residuals </a:t>
                </a:r>
                <a14:m>
                  <m:oMath xmlns:m="http://schemas.openxmlformats.org/officeDocument/2006/math">
                    <m:sSub>
                      <m:sSubPr>
                        <m:ctrlPr>
                          <a:rPr lang="it-IT"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𝜀</m:t>
                        </m:r>
                      </m:e>
                      <m:sub>
                        <m:r>
                          <a:rPr lang="it-IT" sz="2400" i="1">
                            <a:latin typeface="Cambria Math" panose="02040503050406030204" pitchFamily="18" charset="0"/>
                            <a:ea typeface="Cambria Math" panose="02040503050406030204" pitchFamily="18" charset="0"/>
                          </a:rPr>
                          <m:t>𝑡</m:t>
                        </m:r>
                      </m:sub>
                    </m:sSub>
                  </m:oMath>
                </a14:m>
                <a:r>
                  <a:rPr lang="en-US" sz="2400" dirty="0"/>
                  <a:t> as </a:t>
                </a:r>
                <a14:m>
                  <m:oMath xmlns:m="http://schemas.openxmlformats.org/officeDocument/2006/math">
                    <m:sSubSup>
                      <m:sSubSupPr>
                        <m:ctrlPr>
                          <a:rPr lang="it-IT" sz="2400" b="0" i="1" smtClean="0">
                            <a:latin typeface="Cambria Math" panose="02040503050406030204" pitchFamily="18" charset="0"/>
                            <a:ea typeface="Cambria Math" panose="02040503050406030204" pitchFamily="18" charset="0"/>
                          </a:rPr>
                        </m:ctrlPr>
                      </m:sSubSupPr>
                      <m:e>
                        <m:r>
                          <a:rPr lang="en-US" sz="2400" i="1" smtClean="0">
                            <a:latin typeface="Cambria Math" panose="02040503050406030204" pitchFamily="18" charset="0"/>
                            <a:ea typeface="Cambria Math" panose="02040503050406030204" pitchFamily="18" charset="0"/>
                          </a:rPr>
                          <m:t>𝜀</m:t>
                        </m:r>
                      </m:e>
                      <m:sub>
                        <m:r>
                          <a:rPr lang="it-IT" sz="2400" b="0" i="1" smtClean="0">
                            <a:latin typeface="Cambria Math" panose="02040503050406030204" pitchFamily="18" charset="0"/>
                            <a:ea typeface="Cambria Math" panose="02040503050406030204" pitchFamily="18" charset="0"/>
                          </a:rPr>
                          <m:t>𝑡</m:t>
                        </m:r>
                      </m:sub>
                      <m:sup>
                        <m:r>
                          <a:rPr lang="it-IT" sz="2400" b="0" i="1" smtClean="0">
                            <a:latin typeface="Cambria Math" panose="02040503050406030204" pitchFamily="18" charset="0"/>
                            <a:ea typeface="Cambria Math" panose="02040503050406030204" pitchFamily="18" charset="0"/>
                          </a:rPr>
                          <m:t>∗</m:t>
                        </m:r>
                      </m:sup>
                    </m:sSubSup>
                  </m:oMath>
                </a14:m>
                <a:r>
                  <a:rPr lang="en-US" sz="2400" dirty="0"/>
                  <a:t> and simulated new series as:</a:t>
                </a:r>
              </a:p>
              <a:p>
                <a:pPr>
                  <a:spcBef>
                    <a:spcPts val="1200"/>
                  </a:spcBef>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𝜙</m:t>
                          </m:r>
                        </m:e>
                        <m:sub>
                          <m:r>
                            <a:rPr lang="it-IT" sz="2400" b="0" i="1" smtClean="0">
                              <a:latin typeface="Cambria Math" panose="02040503050406030204" pitchFamily="18" charset="0"/>
                            </a:rPr>
                            <m:t>1</m:t>
                          </m:r>
                        </m:sub>
                      </m:sSub>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r>
                            <a:rPr lang="it-IT" sz="2400" b="0" i="1" smtClean="0">
                              <a:latin typeface="Cambria Math" panose="02040503050406030204" pitchFamily="18" charset="0"/>
                            </a:rPr>
                            <m:t>−1</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 …+</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𝜙</m:t>
                          </m:r>
                        </m:e>
                        <m:sub>
                          <m:r>
                            <a:rPr lang="it-IT" sz="2400" b="0" i="1" smtClean="0">
                              <a:latin typeface="Cambria Math" panose="02040503050406030204" pitchFamily="18" charset="0"/>
                            </a:rPr>
                            <m:t>𝑝</m:t>
                          </m:r>
                        </m:sub>
                      </m:sSub>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r>
                            <a:rPr lang="it-IT" sz="2400" b="0" i="1" smtClean="0">
                              <a:latin typeface="Cambria Math" panose="02040503050406030204" pitchFamily="18" charset="0"/>
                            </a:rPr>
                            <m:t>−</m:t>
                          </m:r>
                          <m:r>
                            <a:rPr lang="it-IT" sz="2400" b="0" i="1" smtClean="0">
                              <a:latin typeface="Cambria Math" panose="02040503050406030204" pitchFamily="18" charset="0"/>
                            </a:rPr>
                            <m:t>𝑝</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m:t>
                      </m:r>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𝜀</m:t>
                          </m:r>
                        </m:e>
                        <m:sub>
                          <m:r>
                            <a:rPr lang="it-IT" sz="2400" b="0" i="1" smtClean="0">
                              <a:latin typeface="Cambria Math" panose="02040503050406030204" pitchFamily="18" charset="0"/>
                            </a:rPr>
                            <m:t>𝑡</m:t>
                          </m:r>
                        </m:sub>
                        <m:sup>
                          <m:r>
                            <a:rPr lang="it-IT" sz="2400" b="0" i="1" smtClean="0">
                              <a:latin typeface="Cambria Math" panose="02040503050406030204" pitchFamily="18" charset="0"/>
                            </a:rPr>
                            <m:t>∗</m:t>
                          </m:r>
                        </m:sup>
                      </m:sSubSup>
                    </m:oMath>
                  </m:oMathPara>
                </a14:m>
                <a:endParaRPr lang="en-US" sz="2400" dirty="0"/>
              </a:p>
              <a:p>
                <a:pPr>
                  <a:spcBef>
                    <a:spcPts val="1200"/>
                  </a:spcBef>
                </a:pPr>
                <a:r>
                  <a:rPr lang="en-US" sz="2400" dirty="0"/>
                  <a:t>We bootstrapped the residual series and reconstructed request series.</a:t>
                </a:r>
              </a:p>
            </p:txBody>
          </p:sp>
        </mc:Choice>
        <mc:Fallback xmlns="">
          <p:sp>
            <p:nvSpPr>
              <p:cNvPr id="2" name="Content Placeholder 1">
                <a:extLst>
                  <a:ext uri="{FF2B5EF4-FFF2-40B4-BE49-F238E27FC236}">
                    <a16:creationId xmlns:a16="http://schemas.microsoft.com/office/drawing/2014/main" id="{C85879DB-4DE7-4174-8C19-2CB9A0440F59}"/>
                  </a:ext>
                </a:extLst>
              </p:cNvPr>
              <p:cNvSpPr>
                <a:spLocks noGrp="1" noRot="1" noChangeAspect="1" noMove="1" noResize="1" noEditPoints="1" noAdjustHandles="1" noChangeArrowheads="1" noChangeShapeType="1" noTextEdit="1"/>
              </p:cNvSpPr>
              <p:nvPr>
                <p:ph idx="1"/>
              </p:nvPr>
            </p:nvSpPr>
            <p:spPr>
              <a:xfrm>
                <a:off x="298907" y="1081555"/>
                <a:ext cx="8546175" cy="3251780"/>
              </a:xfrm>
              <a:blipFill>
                <a:blip r:embed="rId2"/>
                <a:stretch>
                  <a:fillRect l="-1070" t="-1498" r="-499" b="-74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9A06050C-9BA7-4D38-BC68-FED697FECD85}"/>
              </a:ext>
            </a:extLst>
          </p:cNvPr>
          <p:cNvSpPr>
            <a:spLocks noGrp="1"/>
          </p:cNvSpPr>
          <p:nvPr>
            <p:ph type="title"/>
          </p:nvPr>
        </p:nvSpPr>
        <p:spPr/>
        <p:txBody>
          <a:bodyPr/>
          <a:lstStyle/>
          <a:p>
            <a:r>
              <a:rPr lang="en-US" dirty="0"/>
              <a:t>bootstrapping</a:t>
            </a:r>
          </a:p>
        </p:txBody>
      </p:sp>
      <p:sp>
        <p:nvSpPr>
          <p:cNvPr id="4" name="Footer Placeholder 3">
            <a:extLst>
              <a:ext uri="{FF2B5EF4-FFF2-40B4-BE49-F238E27FC236}">
                <a16:creationId xmlns:a16="http://schemas.microsoft.com/office/drawing/2014/main" id="{041C44BB-771E-4337-84BA-119A3BF8807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A5E24EB-6EDE-4EDA-86C8-1F7EC53C7293}"/>
              </a:ext>
            </a:extLst>
          </p:cNvPr>
          <p:cNvSpPr>
            <a:spLocks noGrp="1"/>
          </p:cNvSpPr>
          <p:nvPr>
            <p:ph type="sldNum" sz="quarter" idx="4"/>
          </p:nvPr>
        </p:nvSpPr>
        <p:spPr/>
        <p:txBody>
          <a:bodyPr/>
          <a:lstStyle/>
          <a:p>
            <a:pPr>
              <a:defRPr/>
            </a:pPr>
            <a:fld id="{476DEB1C-3253-4C07-8F02-456B7B2AD41D}" type="slidenum">
              <a:rPr lang="it-IT" smtClean="0"/>
              <a:pPr>
                <a:defRPr/>
              </a:pPr>
              <a:t>55</a:t>
            </a:fld>
            <a:endParaRPr lang="it-IT" dirty="0"/>
          </a:p>
        </p:txBody>
      </p:sp>
      <p:pic>
        <p:nvPicPr>
          <p:cNvPr id="7" name="Picture 6">
            <a:extLst>
              <a:ext uri="{FF2B5EF4-FFF2-40B4-BE49-F238E27FC236}">
                <a16:creationId xmlns:a16="http://schemas.microsoft.com/office/drawing/2014/main" id="{F5C9EF28-5FC7-D763-B99C-949182E35A7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22622" y="3661441"/>
            <a:ext cx="5580264" cy="3151521"/>
          </a:xfrm>
          <a:prstGeom prst="rect">
            <a:avLst/>
          </a:prstGeom>
        </p:spPr>
      </p:pic>
    </p:spTree>
    <p:extLst>
      <p:ext uri="{BB962C8B-B14F-4D97-AF65-F5344CB8AC3E}">
        <p14:creationId xmlns:p14="http://schemas.microsoft.com/office/powerpoint/2010/main" val="1167473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EE236-424A-4239-BA22-9D2048E75548}"/>
              </a:ext>
            </a:extLst>
          </p:cNvPr>
          <p:cNvSpPr>
            <a:spLocks noGrp="1"/>
          </p:cNvSpPr>
          <p:nvPr>
            <p:ph idx="1"/>
          </p:nvPr>
        </p:nvSpPr>
        <p:spPr/>
        <p:txBody>
          <a:bodyPr>
            <a:normAutofit/>
          </a:bodyPr>
          <a:lstStyle/>
          <a:p>
            <a:r>
              <a:rPr lang="en-US" sz="2400" dirty="0"/>
              <a:t>MEB bootstrap sets can be aggregated (bagged) to obtain forecasts.</a:t>
            </a:r>
          </a:p>
          <a:p>
            <a:r>
              <a:rPr lang="en-US" sz="2400" dirty="0"/>
              <a:t>Besides MEB bagging we also considered alternative forecasts modules based on:</a:t>
            </a:r>
          </a:p>
          <a:p>
            <a:pPr marL="342900" indent="-342900">
              <a:spcBef>
                <a:spcPts val="1200"/>
              </a:spcBef>
              <a:buFont typeface="Arial" panose="020B0604020202020204" pitchFamily="34" charset="0"/>
              <a:buChar char="•"/>
            </a:pPr>
            <a:r>
              <a:rPr lang="en-US" sz="2400" dirty="0"/>
              <a:t>AR</a:t>
            </a:r>
          </a:p>
          <a:p>
            <a:pPr marL="342900" indent="-342900">
              <a:spcBef>
                <a:spcPts val="1200"/>
              </a:spcBef>
              <a:buFont typeface="Arial" panose="020B0604020202020204" pitchFamily="34" charset="0"/>
              <a:buChar char="•"/>
            </a:pPr>
            <a:r>
              <a:rPr lang="en-US" sz="2400" dirty="0"/>
              <a:t>Holt-Winters</a:t>
            </a:r>
          </a:p>
          <a:p>
            <a:pPr marL="342900" indent="-342900">
              <a:spcBef>
                <a:spcPts val="1200"/>
              </a:spcBef>
              <a:buFont typeface="Arial" panose="020B0604020202020204" pitchFamily="34" charset="0"/>
              <a:buChar char="•"/>
            </a:pPr>
            <a:r>
              <a:rPr lang="en-US" sz="2400" dirty="0"/>
              <a:t>SARIMA</a:t>
            </a:r>
          </a:p>
          <a:p>
            <a:pPr marL="342900" indent="-342900">
              <a:spcBef>
                <a:spcPts val="1200"/>
              </a:spcBef>
              <a:buFont typeface="Arial" panose="020B0604020202020204" pitchFamily="34" charset="0"/>
              <a:buChar char="•"/>
            </a:pPr>
            <a:r>
              <a:rPr lang="en-US" sz="2400" dirty="0"/>
              <a:t>Multilayer </a:t>
            </a:r>
            <a:r>
              <a:rPr lang="en-US" sz="2400" dirty="0" err="1"/>
              <a:t>perceptrons</a:t>
            </a:r>
            <a:endParaRPr lang="en-US" sz="2400" dirty="0"/>
          </a:p>
          <a:p>
            <a:pPr marL="342900" indent="-342900">
              <a:spcBef>
                <a:spcPts val="1200"/>
              </a:spcBef>
              <a:buFont typeface="Arial" panose="020B0604020202020204" pitchFamily="34" charset="0"/>
              <a:buChar char="•"/>
            </a:pPr>
            <a:r>
              <a:rPr lang="en-US" sz="2400" dirty="0"/>
              <a:t>LSTM networks</a:t>
            </a:r>
          </a:p>
          <a:p>
            <a:pPr marL="342900" indent="-342900">
              <a:spcBef>
                <a:spcPts val="1200"/>
              </a:spcBef>
              <a:buFont typeface="Arial" panose="020B0604020202020204" pitchFamily="34" charset="0"/>
              <a:buChar char="•"/>
            </a:pPr>
            <a:r>
              <a:rPr lang="en-US" sz="2400" dirty="0"/>
              <a:t>Random forests</a:t>
            </a:r>
          </a:p>
          <a:p>
            <a:pPr marL="342900" indent="-342900">
              <a:spcBef>
                <a:spcPts val="1200"/>
              </a:spcBef>
              <a:buFont typeface="Arial" panose="020B0604020202020204" pitchFamily="34" charset="0"/>
              <a:buChar char="•"/>
            </a:pPr>
            <a:r>
              <a:rPr lang="en-US" sz="2400" dirty="0" err="1"/>
              <a:t>XGboost</a:t>
            </a:r>
            <a:endParaRPr lang="en-US" sz="2400" dirty="0"/>
          </a:p>
        </p:txBody>
      </p:sp>
      <p:sp>
        <p:nvSpPr>
          <p:cNvPr id="3" name="Title 2">
            <a:extLst>
              <a:ext uri="{FF2B5EF4-FFF2-40B4-BE49-F238E27FC236}">
                <a16:creationId xmlns:a16="http://schemas.microsoft.com/office/drawing/2014/main" id="{7B15D2CC-336C-4085-9492-B0D3CF53C866}"/>
              </a:ext>
            </a:extLst>
          </p:cNvPr>
          <p:cNvSpPr>
            <a:spLocks noGrp="1"/>
          </p:cNvSpPr>
          <p:nvPr>
            <p:ph type="title"/>
          </p:nvPr>
        </p:nvSpPr>
        <p:spPr/>
        <p:txBody>
          <a:bodyPr/>
          <a:lstStyle/>
          <a:p>
            <a:r>
              <a:rPr lang="en-US" dirty="0"/>
              <a:t>Forecasts</a:t>
            </a:r>
          </a:p>
        </p:txBody>
      </p:sp>
      <p:sp>
        <p:nvSpPr>
          <p:cNvPr id="4" name="Footer Placeholder 3">
            <a:extLst>
              <a:ext uri="{FF2B5EF4-FFF2-40B4-BE49-F238E27FC236}">
                <a16:creationId xmlns:a16="http://schemas.microsoft.com/office/drawing/2014/main" id="{990DECC6-8D2D-4C53-80A7-CCD15FE36E5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D96CDC2-49FB-474A-90CA-F9B00D80110C}"/>
              </a:ext>
            </a:extLst>
          </p:cNvPr>
          <p:cNvSpPr>
            <a:spLocks noGrp="1"/>
          </p:cNvSpPr>
          <p:nvPr>
            <p:ph type="sldNum" sz="quarter" idx="4"/>
          </p:nvPr>
        </p:nvSpPr>
        <p:spPr/>
        <p:txBody>
          <a:bodyPr/>
          <a:lstStyle/>
          <a:p>
            <a:pPr>
              <a:defRPr/>
            </a:pPr>
            <a:fld id="{476DEB1C-3253-4C07-8F02-456B7B2AD41D}" type="slidenum">
              <a:rPr lang="it-IT" smtClean="0"/>
              <a:pPr>
                <a:defRPr/>
              </a:pPr>
              <a:t>56</a:t>
            </a:fld>
            <a:endParaRPr lang="it-IT" dirty="0"/>
          </a:p>
        </p:txBody>
      </p:sp>
    </p:spTree>
    <p:extLst>
      <p:ext uri="{BB962C8B-B14F-4D97-AF65-F5344CB8AC3E}">
        <p14:creationId xmlns:p14="http://schemas.microsoft.com/office/powerpoint/2010/main" val="29771249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9F596C-3993-309B-C16F-9C0BA57833DC}"/>
              </a:ext>
            </a:extLst>
          </p:cNvPr>
          <p:cNvSpPr>
            <a:spLocks noGrp="1"/>
          </p:cNvSpPr>
          <p:nvPr>
            <p:ph idx="1"/>
          </p:nvPr>
        </p:nvSpPr>
        <p:spPr>
          <a:xfrm>
            <a:off x="298907" y="956846"/>
            <a:ext cx="8546175" cy="490292"/>
          </a:xfrm>
        </p:spPr>
        <p:txBody>
          <a:bodyPr>
            <a:normAutofit fontScale="85000" lnSpcReduction="10000"/>
          </a:bodyPr>
          <a:lstStyle/>
          <a:p>
            <a:r>
              <a:rPr lang="en-US" dirty="0"/>
              <a:t>MEB based forecasting. Average rankings for different </a:t>
            </a:r>
            <a:r>
              <a:rPr lang="en-US" dirty="0" err="1"/>
              <a:t>boostset</a:t>
            </a:r>
            <a:r>
              <a:rPr lang="en-US" dirty="0"/>
              <a:t> sizes.</a:t>
            </a:r>
          </a:p>
          <a:p>
            <a:endParaRPr lang="en-US" dirty="0"/>
          </a:p>
          <a:p>
            <a:endParaRPr lang="it-IT" dirty="0"/>
          </a:p>
        </p:txBody>
      </p:sp>
      <p:sp>
        <p:nvSpPr>
          <p:cNvPr id="3" name="Title 2">
            <a:extLst>
              <a:ext uri="{FF2B5EF4-FFF2-40B4-BE49-F238E27FC236}">
                <a16:creationId xmlns:a16="http://schemas.microsoft.com/office/drawing/2014/main" id="{EFE71628-30DF-2175-CCB1-FFF5F40E3C67}"/>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6A56DC0A-2CB0-A862-E697-E630A404857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D239EC-68A7-7A7A-B5C0-DC3C98E60408}"/>
              </a:ext>
            </a:extLst>
          </p:cNvPr>
          <p:cNvSpPr>
            <a:spLocks noGrp="1"/>
          </p:cNvSpPr>
          <p:nvPr>
            <p:ph type="sldNum" sz="quarter" idx="4"/>
          </p:nvPr>
        </p:nvSpPr>
        <p:spPr/>
        <p:txBody>
          <a:bodyPr/>
          <a:lstStyle/>
          <a:p>
            <a:pPr>
              <a:defRPr/>
            </a:pPr>
            <a:fld id="{476DEB1C-3253-4C07-8F02-456B7B2AD41D}" type="slidenum">
              <a:rPr lang="it-IT" smtClean="0"/>
              <a:pPr>
                <a:defRPr/>
              </a:pPr>
              <a:t>57</a:t>
            </a:fld>
            <a:endParaRPr lang="it-IT" dirty="0"/>
          </a:p>
        </p:txBody>
      </p:sp>
      <p:sp>
        <p:nvSpPr>
          <p:cNvPr id="6" name="AutoShape 2">
            <a:extLst>
              <a:ext uri="{FF2B5EF4-FFF2-40B4-BE49-F238E27FC236}">
                <a16:creationId xmlns:a16="http://schemas.microsoft.com/office/drawing/2014/main" id="{7AB47DEF-C84E-4092-B595-D18B9173F03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 name="Picture 9">
            <a:extLst>
              <a:ext uri="{FF2B5EF4-FFF2-40B4-BE49-F238E27FC236}">
                <a16:creationId xmlns:a16="http://schemas.microsoft.com/office/drawing/2014/main" id="{8FA84434-439B-416D-DB36-338728666130}"/>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5252997" y="4325305"/>
            <a:ext cx="3102649" cy="2495417"/>
          </a:xfrm>
          <a:prstGeom prst="rect">
            <a:avLst/>
          </a:prstGeom>
        </p:spPr>
      </p:pic>
      <p:pic>
        <p:nvPicPr>
          <p:cNvPr id="9" name="Picture 8">
            <a:extLst>
              <a:ext uri="{FF2B5EF4-FFF2-40B4-BE49-F238E27FC236}">
                <a16:creationId xmlns:a16="http://schemas.microsoft.com/office/drawing/2014/main" id="{8FDE3DCD-9623-14FF-2B69-EA6D20D8478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596322" y="4366890"/>
            <a:ext cx="2996113" cy="2401232"/>
          </a:xfrm>
          <a:prstGeom prst="rect">
            <a:avLst/>
          </a:prstGeom>
        </p:spPr>
      </p:pic>
      <p:graphicFrame>
        <p:nvGraphicFramePr>
          <p:cNvPr id="8" name="Table 7">
            <a:extLst>
              <a:ext uri="{FF2B5EF4-FFF2-40B4-BE49-F238E27FC236}">
                <a16:creationId xmlns:a16="http://schemas.microsoft.com/office/drawing/2014/main" id="{49E0AB41-EC9D-5073-4499-D2D1887BA1C4}"/>
              </a:ext>
            </a:extLst>
          </p:cNvPr>
          <p:cNvGraphicFramePr>
            <a:graphicFrameLocks noGrp="1"/>
          </p:cNvGraphicFramePr>
          <p:nvPr/>
        </p:nvGraphicFramePr>
        <p:xfrm>
          <a:off x="1900362" y="1319918"/>
          <a:ext cx="5176297" cy="2994290"/>
        </p:xfrm>
        <a:graphic>
          <a:graphicData uri="http://schemas.openxmlformats.org/drawingml/2006/table">
            <a:tbl>
              <a:tblPr>
                <a:tableStyleId>{2D5ABB26-0587-4C30-8999-92F81FD0307C}</a:tableStyleId>
              </a:tblPr>
              <a:tblGrid>
                <a:gridCol w="867703">
                  <a:extLst>
                    <a:ext uri="{9D8B030D-6E8A-4147-A177-3AD203B41FA5}">
                      <a16:colId xmlns:a16="http://schemas.microsoft.com/office/drawing/2014/main" val="3890614898"/>
                    </a:ext>
                  </a:extLst>
                </a:gridCol>
                <a:gridCol w="718099">
                  <a:extLst>
                    <a:ext uri="{9D8B030D-6E8A-4147-A177-3AD203B41FA5}">
                      <a16:colId xmlns:a16="http://schemas.microsoft.com/office/drawing/2014/main" val="1334008323"/>
                    </a:ext>
                  </a:extLst>
                </a:gridCol>
                <a:gridCol w="718099">
                  <a:extLst>
                    <a:ext uri="{9D8B030D-6E8A-4147-A177-3AD203B41FA5}">
                      <a16:colId xmlns:a16="http://schemas.microsoft.com/office/drawing/2014/main" val="1627367245"/>
                    </a:ext>
                  </a:extLst>
                </a:gridCol>
                <a:gridCol w="718099">
                  <a:extLst>
                    <a:ext uri="{9D8B030D-6E8A-4147-A177-3AD203B41FA5}">
                      <a16:colId xmlns:a16="http://schemas.microsoft.com/office/drawing/2014/main" val="2199817440"/>
                    </a:ext>
                  </a:extLst>
                </a:gridCol>
                <a:gridCol w="718099">
                  <a:extLst>
                    <a:ext uri="{9D8B030D-6E8A-4147-A177-3AD203B41FA5}">
                      <a16:colId xmlns:a16="http://schemas.microsoft.com/office/drawing/2014/main" val="3089305207"/>
                    </a:ext>
                  </a:extLst>
                </a:gridCol>
                <a:gridCol w="718099">
                  <a:extLst>
                    <a:ext uri="{9D8B030D-6E8A-4147-A177-3AD203B41FA5}">
                      <a16:colId xmlns:a16="http://schemas.microsoft.com/office/drawing/2014/main" val="2451329385"/>
                    </a:ext>
                  </a:extLst>
                </a:gridCol>
                <a:gridCol w="718099">
                  <a:extLst>
                    <a:ext uri="{9D8B030D-6E8A-4147-A177-3AD203B41FA5}">
                      <a16:colId xmlns:a16="http://schemas.microsoft.com/office/drawing/2014/main" val="272863990"/>
                    </a:ext>
                  </a:extLst>
                </a:gridCol>
              </a:tblGrid>
              <a:tr h="364668">
                <a:tc>
                  <a:txBody>
                    <a:bodyPr/>
                    <a:lstStyle/>
                    <a:p>
                      <a:pPr algn="ctr" fontAlgn="t">
                        <a:buNone/>
                      </a:pPr>
                      <a:r>
                        <a:rPr lang="en-US" sz="2400" u="none" strike="noStrike" dirty="0">
                          <a:effectLst/>
                        </a:rPr>
                        <a:t> </a:t>
                      </a:r>
                      <a:endParaRPr lang="en-US" sz="2400" b="0" i="0" u="none" strike="noStrike" dirty="0">
                        <a:solidFill>
                          <a:srgbClr val="000000"/>
                        </a:solidFill>
                        <a:effectLst/>
                        <a:latin typeface="Calibri Light" panose="020F0302020204030204" pitchFamily="34" charset="0"/>
                      </a:endParaRPr>
                    </a:p>
                  </a:txBody>
                  <a:tcPr marL="6350" marR="6350" marT="6350" marB="0">
                    <a:lnR w="12700" cap="flat" cmpd="sng" algn="ctr">
                      <a:noFill/>
                      <a:prstDash val="solid"/>
                      <a:round/>
                      <a:headEnd type="none" w="med" len="med"/>
                      <a:tailEnd type="none" w="med" len="med"/>
                    </a:lnR>
                  </a:tcPr>
                </a:tc>
                <a:tc gridSpan="3">
                  <a:txBody>
                    <a:bodyPr/>
                    <a:lstStyle/>
                    <a:p>
                      <a:pPr algn="ctr" rtl="0" fontAlgn="ctr">
                        <a:buNone/>
                      </a:pPr>
                      <a:r>
                        <a:rPr lang="en-US" sz="1600" b="1" u="none" strike="noStrike" dirty="0">
                          <a:effectLst/>
                        </a:rPr>
                        <a:t>res_YW_AR_75</a:t>
                      </a:r>
                      <a:endParaRPr lang="en-US" sz="1600" b="1" i="0" u="none" strike="noStrike" dirty="0">
                        <a:solidFill>
                          <a:srgbClr val="FFFFFF"/>
                        </a:solidFill>
                        <a:effectLst/>
                        <a:latin typeface="Calibri Light" panose="020F0302020204030204" pitchFamily="34" charset="0"/>
                      </a:endParaRPr>
                    </a:p>
                  </a:txBody>
                  <a:tcPr marL="6350" marR="6350" marT="635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it-IT"/>
                    </a:p>
                  </a:txBody>
                  <a:tcPr/>
                </a:tc>
                <a:tc hMerge="1">
                  <a:txBody>
                    <a:bodyPr/>
                    <a:lstStyle/>
                    <a:p>
                      <a:endParaRPr lang="it-IT"/>
                    </a:p>
                  </a:txBody>
                  <a:tcPr/>
                </a:tc>
                <a:tc gridSpan="3">
                  <a:txBody>
                    <a:bodyPr/>
                    <a:lstStyle/>
                    <a:p>
                      <a:pPr algn="ctr" rtl="0" fontAlgn="ctr">
                        <a:buNone/>
                      </a:pPr>
                      <a:r>
                        <a:rPr lang="en-US" sz="1600" b="1" u="none" strike="noStrike" dirty="0">
                          <a:effectLst/>
                        </a:rPr>
                        <a:t>res_YW_AR_125</a:t>
                      </a:r>
                      <a:endParaRPr lang="en-US" sz="1600" b="1" i="0" u="none" strike="noStrike" dirty="0">
                        <a:solidFill>
                          <a:srgbClr val="FFFFFF"/>
                        </a:solidFill>
                        <a:effectLst/>
                        <a:latin typeface="Calibri Light" panose="020F0302020204030204" pitchFamily="34" charset="0"/>
                      </a:endParaRPr>
                    </a:p>
                  </a:txBody>
                  <a:tcPr marL="6350" marR="6350" marT="6350" marB="0" anchor="ctr">
                    <a:lnL w="12700" cap="flat" cmpd="sng" algn="ctr">
                      <a:no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it-IT"/>
                    </a:p>
                  </a:txBody>
                  <a:tcPr/>
                </a:tc>
                <a:tc hMerge="1">
                  <a:txBody>
                    <a:bodyPr/>
                    <a:lstStyle/>
                    <a:p>
                      <a:endParaRPr lang="it-IT"/>
                    </a:p>
                  </a:txBody>
                  <a:tcPr/>
                </a:tc>
                <a:extLst>
                  <a:ext uri="{0D108BD9-81ED-4DB2-BD59-A6C34878D82A}">
                    <a16:rowId xmlns:a16="http://schemas.microsoft.com/office/drawing/2014/main" val="1591026120"/>
                  </a:ext>
                </a:extLst>
              </a:tr>
              <a:tr h="206222">
                <a:tc>
                  <a:txBody>
                    <a:bodyPr/>
                    <a:lstStyle/>
                    <a:p>
                      <a:pPr algn="ctr" fontAlgn="t">
                        <a:buNone/>
                      </a:pPr>
                      <a:r>
                        <a:rPr lang="en-US" sz="2400" b="1" u="none" strike="noStrike" dirty="0">
                          <a:effectLst/>
                        </a:rPr>
                        <a:t> </a:t>
                      </a:r>
                      <a:endParaRPr lang="en-US" sz="2400" b="1" i="0" u="none" strike="noStrike" dirty="0">
                        <a:solidFill>
                          <a:srgbClr val="000000"/>
                        </a:solidFill>
                        <a:effectLst/>
                        <a:latin typeface="Calibri Light" panose="020F0302020204030204" pitchFamily="34" charset="0"/>
                      </a:endParaRPr>
                    </a:p>
                  </a:txBody>
                  <a:tcPr marL="6350" marR="6350" marT="6350" marB="0">
                    <a:lnR w="12700" cap="flat" cmpd="sng" algn="ctr">
                      <a:solidFill>
                        <a:schemeClr val="tx1"/>
                      </a:solidFill>
                      <a:prstDash val="solid"/>
                      <a:round/>
                      <a:headEnd type="none" w="med" len="med"/>
                      <a:tailEnd type="none" w="med" len="med"/>
                    </a:lnR>
                  </a:tcPr>
                </a:tc>
                <a:tc>
                  <a:txBody>
                    <a:bodyPr/>
                    <a:lstStyle/>
                    <a:p>
                      <a:pPr algn="ctr" rtl="0" fontAlgn="ctr">
                        <a:buNone/>
                      </a:pPr>
                      <a:r>
                        <a:rPr lang="en-US" sz="1200" b="1" u="none" strike="noStrike" dirty="0">
                          <a:effectLst/>
                        </a:rPr>
                        <a:t>MSE</a:t>
                      </a:r>
                      <a:endParaRPr lang="en-US" sz="1200" b="1" i="0" u="none" strike="noStrike" dirty="0">
                        <a:solidFill>
                          <a:srgbClr val="4E8542"/>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buNone/>
                      </a:pPr>
                      <a:r>
                        <a:rPr lang="en-US" sz="1200" b="1" u="none" strike="noStrike" dirty="0">
                          <a:effectLst/>
                        </a:rPr>
                        <a:t>MAE</a:t>
                      </a:r>
                      <a:endParaRPr lang="en-US" sz="1200" b="1" i="0" u="none" strike="noStrike" dirty="0">
                        <a:solidFill>
                          <a:srgbClr val="4E8542"/>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buNone/>
                      </a:pPr>
                      <a:r>
                        <a:rPr lang="en-US" sz="1200" b="1" u="none" strike="noStrike" dirty="0">
                          <a:effectLst/>
                        </a:rPr>
                        <a:t>BIAS</a:t>
                      </a:r>
                      <a:endParaRPr lang="en-US" sz="1200" b="1" i="0" u="none" strike="noStrike" dirty="0">
                        <a:solidFill>
                          <a:srgbClr val="4E8542"/>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buNone/>
                      </a:pPr>
                      <a:r>
                        <a:rPr lang="en-US" sz="1200" b="1" u="none" strike="noStrike" dirty="0">
                          <a:effectLst/>
                        </a:rPr>
                        <a:t>MSE</a:t>
                      </a:r>
                      <a:endParaRPr lang="en-US" sz="1200" b="1" i="0" u="none" strike="noStrike" dirty="0">
                        <a:solidFill>
                          <a:srgbClr val="4E8542"/>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buNone/>
                      </a:pPr>
                      <a:r>
                        <a:rPr lang="en-US" sz="1200" b="1" u="none" strike="noStrike" dirty="0">
                          <a:effectLst/>
                        </a:rPr>
                        <a:t>MAE</a:t>
                      </a:r>
                      <a:endParaRPr lang="en-US" sz="1200" b="1" i="0" u="none" strike="noStrike" dirty="0">
                        <a:solidFill>
                          <a:srgbClr val="4E8542"/>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buNone/>
                      </a:pPr>
                      <a:r>
                        <a:rPr lang="en-US" sz="1200" b="1" u="none" strike="noStrike" dirty="0">
                          <a:effectLst/>
                        </a:rPr>
                        <a:t>BIAS</a:t>
                      </a:r>
                      <a:endParaRPr lang="en-US" sz="1200" b="1" i="0" u="none" strike="noStrike" dirty="0">
                        <a:solidFill>
                          <a:srgbClr val="4E8542"/>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7588484"/>
                  </a:ext>
                </a:extLst>
              </a:tr>
              <a:tr h="225007">
                <a:tc>
                  <a:txBody>
                    <a:bodyPr/>
                    <a:lstStyle/>
                    <a:p>
                      <a:pPr algn="ctr" rtl="0" fontAlgn="ctr">
                        <a:buNone/>
                      </a:pPr>
                      <a:r>
                        <a:rPr lang="en-US" sz="1400" b="1" u="none" strike="noStrike" dirty="0" err="1">
                          <a:effectLst/>
                        </a:rPr>
                        <a:t>fcast_avg</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3.55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rtl="0" fontAlgn="ctr">
                        <a:buNone/>
                      </a:pPr>
                      <a:r>
                        <a:rPr lang="en-US" sz="1400" u="none" strike="noStrike">
                          <a:effectLst/>
                        </a:rPr>
                        <a:t>3.55</a:t>
                      </a:r>
                      <a:endParaRPr lang="en-US" sz="1400" b="1" i="0" u="none" strike="noStrike">
                        <a:solidFill>
                          <a:srgbClr val="000000"/>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tcPr>
                </a:tc>
                <a:tc>
                  <a:txBody>
                    <a:bodyPr/>
                    <a:lstStyle/>
                    <a:p>
                      <a:pPr algn="ctr" rtl="0" fontAlgn="ctr">
                        <a:buNone/>
                      </a:pPr>
                      <a:r>
                        <a:rPr lang="en-US" sz="1400" u="none" strike="noStrike" dirty="0">
                          <a:effectLst/>
                        </a:rPr>
                        <a:t>0.056</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lgn="ctr" rtl="0" fontAlgn="ctr">
                        <a:buNone/>
                      </a:pPr>
                      <a:r>
                        <a:rPr lang="en-US" sz="1400" u="none" strike="noStrike">
                          <a:effectLst/>
                        </a:rPr>
                        <a:t>2.1</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rtl="0" fontAlgn="ctr">
                        <a:buNone/>
                      </a:pPr>
                      <a:r>
                        <a:rPr lang="en-US" sz="1400" u="none" strike="noStrike">
                          <a:effectLst/>
                        </a:rPr>
                        <a:t>2.1</a:t>
                      </a:r>
                      <a:endParaRPr lang="en-US" sz="1400" b="1" i="0" u="none" strike="noStrike">
                        <a:solidFill>
                          <a:srgbClr val="000000"/>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tcPr>
                </a:tc>
                <a:tc>
                  <a:txBody>
                    <a:bodyPr/>
                    <a:lstStyle/>
                    <a:p>
                      <a:pPr algn="ctr" rtl="0" fontAlgn="ctr">
                        <a:buNone/>
                      </a:pPr>
                      <a:r>
                        <a:rPr lang="en-US" sz="1400" u="none" strike="noStrike">
                          <a:effectLst/>
                        </a:rPr>
                        <a:t>0.043</a:t>
                      </a:r>
                      <a:endParaRPr lang="en-US" sz="1400" b="1" i="0" u="none" strike="noStrike">
                        <a:solidFill>
                          <a:srgbClr val="000000"/>
                        </a:solidFill>
                        <a:effectLst/>
                        <a:latin typeface="Calibri Light" panose="020F0302020204030204" pitchFamily="34" charset="0"/>
                      </a:endParaRPr>
                    </a:p>
                  </a:txBody>
                  <a:tcPr marL="6350" marR="6350" marT="6350"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08861661"/>
                  </a:ext>
                </a:extLst>
              </a:tr>
              <a:tr h="225007">
                <a:tc>
                  <a:txBody>
                    <a:bodyPr/>
                    <a:lstStyle/>
                    <a:p>
                      <a:pPr algn="ctr" rtl="0" fontAlgn="ctr">
                        <a:buNone/>
                      </a:pPr>
                      <a:r>
                        <a:rPr lang="en-US" sz="1400" b="1" u="none" strike="noStrike" dirty="0">
                          <a:effectLst/>
                        </a:rPr>
                        <a:t>fcast_50</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4.75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4.75</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0.073</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3.75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3.75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0.041</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2904116378"/>
                  </a:ext>
                </a:extLst>
              </a:tr>
              <a:tr h="225007">
                <a:tc>
                  <a:txBody>
                    <a:bodyPr/>
                    <a:lstStyle/>
                    <a:p>
                      <a:pPr algn="ctr" rtl="0" fontAlgn="ctr">
                        <a:buNone/>
                      </a:pPr>
                      <a:r>
                        <a:rPr lang="en-US" sz="1400" b="1" u="none" strike="noStrike" dirty="0" err="1">
                          <a:effectLst/>
                        </a:rPr>
                        <a:t>yarima</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4.6</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4.6</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0.069</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4.6</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4.6</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0.068</a:t>
                      </a:r>
                      <a:endParaRPr lang="en-US" sz="1400" b="1" i="0" u="none" strike="noStrike" dirty="0">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1492561954"/>
                  </a:ext>
                </a:extLst>
              </a:tr>
              <a:tr h="225007">
                <a:tc>
                  <a:txBody>
                    <a:bodyPr/>
                    <a:lstStyle/>
                    <a:p>
                      <a:pPr algn="ctr" rtl="0" fontAlgn="ctr">
                        <a:buNone/>
                      </a:pPr>
                      <a:r>
                        <a:rPr lang="en-US" sz="1400" b="1" u="none" strike="noStrike" dirty="0" err="1">
                          <a:effectLst/>
                        </a:rPr>
                        <a:t>ymlp</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4.25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4.25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0.062</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5.1</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5.1</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0.067</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593323453"/>
                  </a:ext>
                </a:extLst>
              </a:tr>
              <a:tr h="225007">
                <a:tc>
                  <a:txBody>
                    <a:bodyPr/>
                    <a:lstStyle/>
                    <a:p>
                      <a:pPr algn="ctr" rtl="0" fontAlgn="ctr">
                        <a:buNone/>
                      </a:pPr>
                      <a:r>
                        <a:rPr lang="en-US" sz="1400" b="1" u="none" strike="noStrike" dirty="0" err="1">
                          <a:effectLst/>
                        </a:rPr>
                        <a:t>yrf</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4.2</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4.2</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0.057</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5.5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5.5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0.082</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2656386559"/>
                  </a:ext>
                </a:extLst>
              </a:tr>
              <a:tr h="225007">
                <a:tc>
                  <a:txBody>
                    <a:bodyPr/>
                    <a:lstStyle/>
                    <a:p>
                      <a:pPr algn="ctr" rtl="0" fontAlgn="ctr">
                        <a:buNone/>
                      </a:pPr>
                      <a:r>
                        <a:rPr lang="en-US" sz="1400" b="1" u="none" strike="noStrike" dirty="0" err="1">
                          <a:effectLst/>
                        </a:rPr>
                        <a:t>yhw</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4.75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4.75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0.065</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6.15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6.15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0.079</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441101363"/>
                  </a:ext>
                </a:extLst>
              </a:tr>
              <a:tr h="225007">
                <a:tc>
                  <a:txBody>
                    <a:bodyPr/>
                    <a:lstStyle/>
                    <a:p>
                      <a:pPr algn="ctr" rtl="0" fontAlgn="ctr">
                        <a:buNone/>
                      </a:pPr>
                      <a:r>
                        <a:rPr lang="en-US" sz="1400" b="1" u="none" strike="noStrike" dirty="0" err="1">
                          <a:effectLst/>
                        </a:rPr>
                        <a:t>ysvm</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8.9</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8.9</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0.115</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6.5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6.5</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0.078</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2429929493"/>
                  </a:ext>
                </a:extLst>
              </a:tr>
              <a:tr h="225007">
                <a:tc>
                  <a:txBody>
                    <a:bodyPr/>
                    <a:lstStyle/>
                    <a:p>
                      <a:pPr algn="ctr" rtl="0" fontAlgn="ctr">
                        <a:buNone/>
                      </a:pPr>
                      <a:r>
                        <a:rPr lang="en-US" sz="1400" b="1" u="none" strike="noStrike" dirty="0" err="1">
                          <a:effectLst/>
                        </a:rPr>
                        <a:t>yxgb</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4.95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4.95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0.074</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dirty="0">
                          <a:effectLst/>
                        </a:rPr>
                        <a:t>6.95</a:t>
                      </a:r>
                      <a:endParaRPr lang="en-US" sz="1400" b="1" i="0" u="none" strike="noStrike" dirty="0">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6.95</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a:effectLst/>
                        </a:rPr>
                        <a:t>0.097</a:t>
                      </a:r>
                      <a:endParaRPr lang="en-US" sz="1400" b="1" i="0" u="none" strike="noStrike">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2648332208"/>
                  </a:ext>
                </a:extLst>
              </a:tr>
              <a:tr h="225007">
                <a:tc>
                  <a:txBody>
                    <a:bodyPr/>
                    <a:lstStyle/>
                    <a:p>
                      <a:pPr algn="ctr" rtl="0" fontAlgn="ctr">
                        <a:buNone/>
                      </a:pPr>
                      <a:r>
                        <a:rPr lang="en-US" sz="1400" b="1" u="none" strike="noStrike" dirty="0">
                          <a:effectLst/>
                        </a:rPr>
                        <a:t>yar</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7.1</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7.1</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0.099</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7.05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7.05</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0.101</a:t>
                      </a:r>
                      <a:endParaRPr lang="en-US" sz="1400" b="1" i="0" u="none" strike="noStrike" dirty="0">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1901993419"/>
                  </a:ext>
                </a:extLst>
              </a:tr>
              <a:tr h="225007">
                <a:tc>
                  <a:txBody>
                    <a:bodyPr/>
                    <a:lstStyle/>
                    <a:p>
                      <a:pPr algn="ctr" rtl="0" fontAlgn="ctr">
                        <a:buNone/>
                      </a:pPr>
                      <a:r>
                        <a:rPr lang="en-US" sz="1400" b="1" u="none" strike="noStrike" dirty="0" err="1">
                          <a:effectLst/>
                        </a:rPr>
                        <a:t>ylstm</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7.95</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a:effectLst/>
                        </a:rPr>
                        <a:t>7.95</a:t>
                      </a:r>
                      <a:endParaRPr lang="en-US" sz="1400" b="1" i="0" u="none" strike="noStrike">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0.063</a:t>
                      </a:r>
                      <a:endParaRPr lang="en-US" sz="1400" b="1" i="0" u="none" strike="noStrike" dirty="0">
                        <a:solidFill>
                          <a:srgbClr val="000000"/>
                        </a:solidFill>
                        <a:effectLst/>
                        <a:latin typeface="Calibri Light" panose="020F0302020204030204" pitchFamily="34" charset="0"/>
                      </a:endParaRPr>
                    </a:p>
                  </a:txBody>
                  <a:tcPr marL="6350" marR="6350" marT="6350" marB="0" anchor="ctr">
                    <a:lnR w="12700" cap="flat" cmpd="sng" algn="ctr">
                      <a:solidFill>
                        <a:schemeClr val="tx1"/>
                      </a:solidFill>
                      <a:prstDash val="solid"/>
                      <a:round/>
                      <a:headEnd type="none" w="med" len="med"/>
                      <a:tailEnd type="none" w="med" len="med"/>
                    </a:lnR>
                  </a:tcPr>
                </a:tc>
                <a:tc>
                  <a:txBody>
                    <a:bodyPr/>
                    <a:lstStyle/>
                    <a:p>
                      <a:pPr algn="ctr" rtl="0" fontAlgn="ctr">
                        <a:buNone/>
                      </a:pPr>
                      <a:r>
                        <a:rPr lang="en-US" sz="1400" u="none" strike="noStrike">
                          <a:effectLst/>
                        </a:rPr>
                        <a:t>7.3</a:t>
                      </a:r>
                      <a:endParaRPr lang="en-US" sz="1400" b="1" i="0" u="none" strike="noStrike">
                        <a:solidFill>
                          <a:srgbClr val="000000"/>
                        </a:solidFill>
                        <a:effectLst/>
                        <a:latin typeface="Calibri Light" panose="020F0302020204030204" pitchFamily="34" charset="0"/>
                      </a:endParaRPr>
                    </a:p>
                  </a:txBody>
                  <a:tcPr marL="6350" marR="6350" marT="6350" marB="0" anchor="ctr">
                    <a:lnL w="12700" cap="flat" cmpd="sng" algn="ctr">
                      <a:solidFill>
                        <a:schemeClr val="tx1"/>
                      </a:solidFill>
                      <a:prstDash val="solid"/>
                      <a:round/>
                      <a:headEnd type="none" w="med" len="med"/>
                      <a:tailEnd type="none" w="med" len="med"/>
                    </a:lnL>
                  </a:tcPr>
                </a:tc>
                <a:tc>
                  <a:txBody>
                    <a:bodyPr/>
                    <a:lstStyle/>
                    <a:p>
                      <a:pPr algn="ctr" rtl="0" fontAlgn="ctr">
                        <a:buNone/>
                      </a:pPr>
                      <a:r>
                        <a:rPr lang="en-US" sz="1400" u="none" strike="noStrike" dirty="0">
                          <a:effectLst/>
                        </a:rPr>
                        <a:t>7.3</a:t>
                      </a:r>
                      <a:endParaRPr lang="en-US" sz="1400" b="1" i="0" u="none" strike="noStrike" dirty="0">
                        <a:solidFill>
                          <a:srgbClr val="000000"/>
                        </a:solidFill>
                        <a:effectLst/>
                        <a:latin typeface="Calibri Light" panose="020F0302020204030204" pitchFamily="34" charset="0"/>
                      </a:endParaRPr>
                    </a:p>
                  </a:txBody>
                  <a:tcPr marL="6350" marR="6350" marT="6350" marB="0" anchor="ctr"/>
                </a:tc>
                <a:tc>
                  <a:txBody>
                    <a:bodyPr/>
                    <a:lstStyle/>
                    <a:p>
                      <a:pPr algn="ctr" rtl="0" fontAlgn="ctr">
                        <a:buNone/>
                      </a:pPr>
                      <a:r>
                        <a:rPr lang="en-US" sz="1400" u="none" strike="noStrike" dirty="0">
                          <a:effectLst/>
                        </a:rPr>
                        <a:t>0.077</a:t>
                      </a:r>
                      <a:endParaRPr lang="en-US" sz="1400" b="1" i="0" u="none" strike="noStrike" dirty="0">
                        <a:solidFill>
                          <a:srgbClr val="000000"/>
                        </a:solidFill>
                        <a:effectLst/>
                        <a:latin typeface="Calibri Light" panose="020F0302020204030204" pitchFamily="34" charset="0"/>
                      </a:endParaRPr>
                    </a:p>
                  </a:txBody>
                  <a:tcPr marL="6350" marR="6350" marT="6350" marB="0" anchor="ctr"/>
                </a:tc>
                <a:extLst>
                  <a:ext uri="{0D108BD9-81ED-4DB2-BD59-A6C34878D82A}">
                    <a16:rowId xmlns:a16="http://schemas.microsoft.com/office/drawing/2014/main" val="1584684937"/>
                  </a:ext>
                </a:extLst>
              </a:tr>
            </a:tbl>
          </a:graphicData>
        </a:graphic>
      </p:graphicFrame>
    </p:spTree>
    <p:extLst>
      <p:ext uri="{BB962C8B-B14F-4D97-AF65-F5344CB8AC3E}">
        <p14:creationId xmlns:p14="http://schemas.microsoft.com/office/powerpoint/2010/main" val="40665083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CF30E9-3DC7-3EA0-32CA-F2ADAED3C6E5}"/>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8E913267-F1C1-E815-B1AC-6F042FCBB76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A3360F6-BABC-ABDE-FB0F-7D110E9789E0}"/>
              </a:ext>
            </a:extLst>
          </p:cNvPr>
          <p:cNvSpPr>
            <a:spLocks noGrp="1"/>
          </p:cNvSpPr>
          <p:nvPr>
            <p:ph type="sldNum" sz="quarter" idx="4"/>
          </p:nvPr>
        </p:nvSpPr>
        <p:spPr/>
        <p:txBody>
          <a:bodyPr/>
          <a:lstStyle/>
          <a:p>
            <a:pPr>
              <a:defRPr/>
            </a:pPr>
            <a:fld id="{476DEB1C-3253-4C07-8F02-456B7B2AD41D}" type="slidenum">
              <a:rPr lang="it-IT" smtClean="0"/>
              <a:pPr>
                <a:defRPr/>
              </a:pPr>
              <a:t>58</a:t>
            </a:fld>
            <a:endParaRPr lang="it-IT" dirty="0"/>
          </a:p>
        </p:txBody>
      </p:sp>
      <p:sp>
        <p:nvSpPr>
          <p:cNvPr id="8" name="TextBox 7">
            <a:extLst>
              <a:ext uri="{FF2B5EF4-FFF2-40B4-BE49-F238E27FC236}">
                <a16:creationId xmlns:a16="http://schemas.microsoft.com/office/drawing/2014/main" id="{ECAF7F87-2B3A-5157-5F27-3D4E450930F3}"/>
              </a:ext>
            </a:extLst>
          </p:cNvPr>
          <p:cNvSpPr txBox="1"/>
          <p:nvPr/>
        </p:nvSpPr>
        <p:spPr>
          <a:xfrm>
            <a:off x="1202359" y="972001"/>
            <a:ext cx="6238568" cy="914400"/>
          </a:xfrm>
          <a:prstGeom prst="rect">
            <a:avLst/>
          </a:prstGeom>
          <a:noFill/>
          <a:ln>
            <a:noFill/>
          </a:ln>
        </p:spPr>
        <p:txBody>
          <a:bodyPr wrap="none" rtlCol="0" anchor="t" anchorCtr="0">
            <a:noAutofit/>
          </a:bodyPr>
          <a:lstStyle/>
          <a:p>
            <a:r>
              <a:rPr lang="it-IT" sz="2400" dirty="0"/>
              <a:t>Critical </a:t>
            </a:r>
            <a:r>
              <a:rPr lang="it-IT" sz="2400" dirty="0" err="1"/>
              <a:t>difference</a:t>
            </a:r>
            <a:r>
              <a:rPr lang="it-IT" sz="2400" dirty="0"/>
              <a:t> </a:t>
            </a:r>
            <a:r>
              <a:rPr lang="it-IT" sz="2400" dirty="0" err="1"/>
              <a:t>diagrams</a:t>
            </a:r>
            <a:r>
              <a:rPr lang="it-IT" sz="2400" dirty="0"/>
              <a:t> (</a:t>
            </a:r>
            <a:r>
              <a:rPr lang="it-IT" sz="2400" dirty="0" err="1"/>
              <a:t>Fawaz</a:t>
            </a:r>
            <a:r>
              <a:rPr lang="it-IT" sz="2400" dirty="0"/>
              <a:t> et al., 2019)</a:t>
            </a:r>
          </a:p>
        </p:txBody>
      </p:sp>
      <p:pic>
        <p:nvPicPr>
          <p:cNvPr id="6" name="Picture 5">
            <a:extLst>
              <a:ext uri="{FF2B5EF4-FFF2-40B4-BE49-F238E27FC236}">
                <a16:creationId xmlns:a16="http://schemas.microsoft.com/office/drawing/2014/main" id="{19ED0FD6-76C1-4CD2-BD37-8C9F1D5F29A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278767" y="4047666"/>
            <a:ext cx="8342857" cy="2409524"/>
          </a:xfrm>
          <a:prstGeom prst="rect">
            <a:avLst/>
          </a:prstGeom>
        </p:spPr>
      </p:pic>
      <p:pic>
        <p:nvPicPr>
          <p:cNvPr id="12" name="Picture 11">
            <a:extLst>
              <a:ext uri="{FF2B5EF4-FFF2-40B4-BE49-F238E27FC236}">
                <a16:creationId xmlns:a16="http://schemas.microsoft.com/office/drawing/2014/main" id="{6BF7D50C-FB5E-48B0-9954-3DE67284BC6F}"/>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24381" y="1577553"/>
            <a:ext cx="8295238" cy="2323809"/>
          </a:xfrm>
          <a:prstGeom prst="rect">
            <a:avLst/>
          </a:prstGeom>
        </p:spPr>
      </p:pic>
    </p:spTree>
    <p:extLst>
      <p:ext uri="{BB962C8B-B14F-4D97-AF65-F5344CB8AC3E}">
        <p14:creationId xmlns:p14="http://schemas.microsoft.com/office/powerpoint/2010/main" val="14014826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9AD77-5EE7-F954-33B4-3A8F8A48DECA}"/>
              </a:ext>
            </a:extLst>
          </p:cNvPr>
          <p:cNvSpPr>
            <a:spLocks noGrp="1"/>
          </p:cNvSpPr>
          <p:nvPr>
            <p:ph type="title"/>
          </p:nvPr>
        </p:nvSpPr>
        <p:spPr/>
        <p:txBody>
          <a:bodyPr/>
          <a:lstStyle/>
          <a:p>
            <a:r>
              <a:rPr lang="it-IT" dirty="0" err="1"/>
              <a:t>Results</a:t>
            </a:r>
            <a:r>
              <a:rPr lang="it-IT" dirty="0"/>
              <a:t>, </a:t>
            </a:r>
            <a:r>
              <a:rPr lang="it-IT" dirty="0" err="1"/>
              <a:t>optimization</a:t>
            </a:r>
            <a:endParaRPr lang="it-IT" dirty="0"/>
          </a:p>
        </p:txBody>
      </p:sp>
      <p:sp>
        <p:nvSpPr>
          <p:cNvPr id="4" name="Footer Placeholder 3">
            <a:extLst>
              <a:ext uri="{FF2B5EF4-FFF2-40B4-BE49-F238E27FC236}">
                <a16:creationId xmlns:a16="http://schemas.microsoft.com/office/drawing/2014/main" id="{F02EAB2B-6A02-ECDF-B23E-EABF394512F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309B41E-08EB-587F-56AE-21B50991ADA8}"/>
              </a:ext>
            </a:extLst>
          </p:cNvPr>
          <p:cNvSpPr>
            <a:spLocks noGrp="1"/>
          </p:cNvSpPr>
          <p:nvPr>
            <p:ph type="sldNum" sz="quarter" idx="4"/>
          </p:nvPr>
        </p:nvSpPr>
        <p:spPr/>
        <p:txBody>
          <a:bodyPr/>
          <a:lstStyle/>
          <a:p>
            <a:pPr>
              <a:defRPr/>
            </a:pPr>
            <a:fld id="{476DEB1C-3253-4C07-8F02-456B7B2AD41D}" type="slidenum">
              <a:rPr lang="it-IT" smtClean="0"/>
              <a:pPr>
                <a:defRPr/>
              </a:pPr>
              <a:t>59</a:t>
            </a:fld>
            <a:endParaRPr lang="it-IT" dirty="0"/>
          </a:p>
        </p:txBody>
      </p:sp>
      <p:sp>
        <p:nvSpPr>
          <p:cNvPr id="2" name="TextBox 1">
            <a:extLst>
              <a:ext uri="{FF2B5EF4-FFF2-40B4-BE49-F238E27FC236}">
                <a16:creationId xmlns:a16="http://schemas.microsoft.com/office/drawing/2014/main" id="{C705BEAE-9A63-435D-1BDA-9F8BBEF88057}"/>
              </a:ext>
            </a:extLst>
          </p:cNvPr>
          <p:cNvSpPr txBox="1"/>
          <p:nvPr/>
        </p:nvSpPr>
        <p:spPr>
          <a:xfrm>
            <a:off x="278767" y="4352235"/>
            <a:ext cx="8389889" cy="2739211"/>
          </a:xfrm>
          <a:prstGeom prst="rect">
            <a:avLst/>
          </a:prstGeom>
          <a:noFill/>
          <a:ln>
            <a:noFill/>
          </a:ln>
        </p:spPr>
        <p:txBody>
          <a:bodyPr wrap="square" rtlCol="0" anchor="t" anchorCtr="0">
            <a:spAutoFit/>
          </a:bodyPr>
          <a:lstStyle/>
          <a:p>
            <a:pPr algn="l">
              <a:spcBef>
                <a:spcPts val="1200"/>
              </a:spcBef>
            </a:pPr>
            <a:r>
              <a:rPr lang="en-US" sz="2200" dirty="0"/>
              <a:t>The cost increases significantly in the case of the 125 </a:t>
            </a:r>
            <a:r>
              <a:rPr lang="en-US" sz="2200" dirty="0" err="1"/>
              <a:t>boostset</a:t>
            </a:r>
            <a:r>
              <a:rPr lang="en-US" sz="2200" dirty="0"/>
              <a:t>.</a:t>
            </a:r>
          </a:p>
          <a:p>
            <a:pPr algn="l">
              <a:spcBef>
                <a:spcPts val="1200"/>
              </a:spcBef>
            </a:pPr>
            <a:r>
              <a:rPr lang="en-US" sz="2200" dirty="0"/>
              <a:t>This is due to some extreme scenarios appearing in the forecasts. </a:t>
            </a:r>
          </a:p>
          <a:p>
            <a:pPr marL="342900" indent="-342900">
              <a:spcBef>
                <a:spcPts val="1200"/>
              </a:spcBef>
              <a:buFont typeface="Arial" panose="020B0604020202020204" pitchFamily="34" charset="0"/>
              <a:buChar char="•"/>
            </a:pPr>
            <a:r>
              <a:rPr lang="en-US" sz="2200" dirty="0"/>
              <a:t>3 out of 75 instances were infeasible in the case of the 75 </a:t>
            </a:r>
            <a:r>
              <a:rPr lang="en-US" sz="2200" dirty="0" err="1"/>
              <a:t>boostset</a:t>
            </a:r>
            <a:r>
              <a:rPr lang="en-US" sz="2200" dirty="0"/>
              <a:t>. </a:t>
            </a:r>
          </a:p>
          <a:p>
            <a:pPr marL="342900" indent="-342900">
              <a:spcBef>
                <a:spcPts val="1200"/>
              </a:spcBef>
              <a:buFont typeface="Arial" panose="020B0604020202020204" pitchFamily="34" charset="0"/>
              <a:buChar char="•"/>
            </a:pPr>
            <a:r>
              <a:rPr lang="en-US" sz="2200" dirty="0"/>
              <a:t>18 out of 125 instances were infeasible in the case of the 125 </a:t>
            </a:r>
            <a:r>
              <a:rPr lang="en-US" sz="2200" dirty="0" err="1"/>
              <a:t>boostset</a:t>
            </a:r>
            <a:r>
              <a:rPr lang="en-US" sz="2200" dirty="0"/>
              <a:t>.</a:t>
            </a:r>
            <a:endParaRPr lang="it-IT" sz="2200" dirty="0"/>
          </a:p>
          <a:p>
            <a:pPr algn="l">
              <a:spcBef>
                <a:spcPts val="1200"/>
              </a:spcBef>
            </a:pPr>
            <a:endParaRPr lang="it-IT" sz="2200" dirty="0"/>
          </a:p>
        </p:txBody>
      </p:sp>
      <p:pic>
        <p:nvPicPr>
          <p:cNvPr id="9" name="Picture 8">
            <a:extLst>
              <a:ext uri="{FF2B5EF4-FFF2-40B4-BE49-F238E27FC236}">
                <a16:creationId xmlns:a16="http://schemas.microsoft.com/office/drawing/2014/main" id="{CE38487A-86BD-0DED-C051-15A85812B3FC}"/>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56848" y="1048484"/>
            <a:ext cx="5602540" cy="3364254"/>
          </a:xfrm>
          <a:prstGeom prst="rect">
            <a:avLst/>
          </a:prstGeom>
        </p:spPr>
      </p:pic>
    </p:spTree>
    <p:extLst>
      <p:ext uri="{BB962C8B-B14F-4D97-AF65-F5344CB8AC3E}">
        <p14:creationId xmlns:p14="http://schemas.microsoft.com/office/powerpoint/2010/main" val="33943365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4659330-3083-3C91-697D-DDCCFC2E7D54}"/>
              </a:ext>
            </a:extLst>
          </p:cNvPr>
          <p:cNvPicPr>
            <a:picLocks noGrp="1" noChangeAspect="1"/>
          </p:cNvPicPr>
          <p:nvPr>
            <p:ph idx="1"/>
          </p:nvPr>
        </p:nvPicPr>
        <p:blipFill>
          <a:blip r:embed="rId2">
            <a:clrChange>
              <a:clrFrom>
                <a:srgbClr val="F5F8EC"/>
              </a:clrFrom>
              <a:clrTo>
                <a:srgbClr val="F5F8EC">
                  <a:alpha val="0"/>
                </a:srgbClr>
              </a:clrTo>
            </a:clrChange>
          </a:blip>
          <a:stretch>
            <a:fillRect/>
          </a:stretch>
        </p:blipFill>
        <p:spPr>
          <a:xfrm>
            <a:off x="113926" y="1200647"/>
            <a:ext cx="8895220" cy="5192202"/>
          </a:xfrm>
        </p:spPr>
      </p:pic>
      <p:sp>
        <p:nvSpPr>
          <p:cNvPr id="3" name="Title 2">
            <a:extLst>
              <a:ext uri="{FF2B5EF4-FFF2-40B4-BE49-F238E27FC236}">
                <a16:creationId xmlns:a16="http://schemas.microsoft.com/office/drawing/2014/main" id="{D0CE8511-6CD4-8B16-A6D5-B57D4FB02CAB}"/>
              </a:ext>
            </a:extLst>
          </p:cNvPr>
          <p:cNvSpPr>
            <a:spLocks noGrp="1"/>
          </p:cNvSpPr>
          <p:nvPr>
            <p:ph type="title"/>
          </p:nvPr>
        </p:nvSpPr>
        <p:spPr/>
        <p:txBody>
          <a:bodyPr/>
          <a:lstStyle/>
          <a:p>
            <a:r>
              <a:rPr lang="it-IT" dirty="0"/>
              <a:t>The </a:t>
            </a:r>
            <a:r>
              <a:rPr lang="it-IT" dirty="0" err="1"/>
              <a:t>result</a:t>
            </a:r>
            <a:endParaRPr lang="it-IT" dirty="0"/>
          </a:p>
        </p:txBody>
      </p:sp>
      <p:sp>
        <p:nvSpPr>
          <p:cNvPr id="4" name="Footer Placeholder 3">
            <a:extLst>
              <a:ext uri="{FF2B5EF4-FFF2-40B4-BE49-F238E27FC236}">
                <a16:creationId xmlns:a16="http://schemas.microsoft.com/office/drawing/2014/main" id="{0205E7FD-647C-00C3-E15B-DD33F01D826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25B06F4-E22A-9AEC-021D-8D3B88789C12}"/>
              </a:ext>
            </a:extLst>
          </p:cNvPr>
          <p:cNvSpPr>
            <a:spLocks noGrp="1"/>
          </p:cNvSpPr>
          <p:nvPr>
            <p:ph type="sldNum" sz="quarter" idx="4"/>
          </p:nvPr>
        </p:nvSpPr>
        <p:spPr/>
        <p:txBody>
          <a:bodyPr/>
          <a:lstStyle/>
          <a:p>
            <a:pPr>
              <a:defRPr/>
            </a:pPr>
            <a:fld id="{476DEB1C-3253-4C07-8F02-456B7B2AD41D}" type="slidenum">
              <a:rPr lang="it-IT" smtClean="0"/>
              <a:pPr>
                <a:defRPr/>
              </a:pPr>
              <a:t>60</a:t>
            </a:fld>
            <a:endParaRPr lang="it-IT" dirty="0"/>
          </a:p>
        </p:txBody>
      </p:sp>
    </p:spTree>
    <p:extLst>
      <p:ext uri="{BB962C8B-B14F-4D97-AF65-F5344CB8AC3E}">
        <p14:creationId xmlns:p14="http://schemas.microsoft.com/office/powerpoint/2010/main" val="3235732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4B4448-CAFD-B4E2-E62A-767CDB4D6C99}"/>
              </a:ext>
            </a:extLst>
          </p:cNvPr>
          <p:cNvSpPr>
            <a:spLocks noGrp="1"/>
          </p:cNvSpPr>
          <p:nvPr>
            <p:ph idx="1"/>
          </p:nvPr>
        </p:nvSpPr>
        <p:spPr>
          <a:xfrm>
            <a:off x="298912" y="1138056"/>
            <a:ext cx="8546175" cy="5259392"/>
          </a:xfrm>
        </p:spPr>
        <p:txBody>
          <a:bodyPr>
            <a:noAutofit/>
          </a:bodyPr>
          <a:lstStyle/>
          <a:p>
            <a:pPr>
              <a:spcBef>
                <a:spcPts val="1200"/>
              </a:spcBef>
            </a:pPr>
            <a:r>
              <a:rPr lang="en-US" sz="2400" dirty="0"/>
              <a:t>We applied the </a:t>
            </a:r>
            <a:r>
              <a:rPr lang="en-US" sz="2400" dirty="0">
                <a:solidFill>
                  <a:srgbClr val="C00000"/>
                </a:solidFill>
              </a:rPr>
              <a:t>BESO approach </a:t>
            </a:r>
            <a:r>
              <a:rPr lang="en-US" sz="2400" dirty="0"/>
              <a:t>to a real-world warehouse logistic case.</a:t>
            </a:r>
          </a:p>
          <a:p>
            <a:r>
              <a:rPr lang="en-US" sz="2400" dirty="0">
                <a:solidFill>
                  <a:srgbClr val="C00000"/>
                </a:solidFill>
              </a:rPr>
              <a:t>Different forecasting algorithms </a:t>
            </a:r>
            <a:r>
              <a:rPr lang="en-US" sz="2400" dirty="0"/>
              <a:t>were tested and compared, in our case bootstrap forecasting was most reliable. </a:t>
            </a:r>
          </a:p>
          <a:p>
            <a:r>
              <a:rPr lang="en-US" sz="2400" dirty="0"/>
              <a:t>Bootstrapped forecasting enables an </a:t>
            </a:r>
            <a:r>
              <a:rPr lang="en-US" sz="2400" dirty="0">
                <a:solidFill>
                  <a:srgbClr val="C00000"/>
                </a:solidFill>
              </a:rPr>
              <a:t>empirical probability distribution </a:t>
            </a:r>
            <a:r>
              <a:rPr lang="en-US" sz="2400" dirty="0"/>
              <a:t>estimation, supporting </a:t>
            </a:r>
            <a:r>
              <a:rPr lang="en-US" sz="2400" dirty="0">
                <a:solidFill>
                  <a:srgbClr val="C00000"/>
                </a:solidFill>
              </a:rPr>
              <a:t>data-driven scenario generation</a:t>
            </a:r>
            <a:r>
              <a:rPr lang="en-US" sz="2400" dirty="0"/>
              <a:t>.</a:t>
            </a:r>
          </a:p>
          <a:p>
            <a:r>
              <a:rPr lang="en-US" sz="2400" dirty="0"/>
              <a:t>The validity of this approach composed by MEB for forecasting and deterministic equivalent based on the bootstrapped series </a:t>
            </a:r>
            <a:r>
              <a:rPr lang="en-US" sz="2400" dirty="0">
                <a:solidFill>
                  <a:srgbClr val="C00000"/>
                </a:solidFill>
              </a:rPr>
              <a:t>extends beyond the case study.</a:t>
            </a:r>
            <a:endParaRPr lang="en-US" sz="2400" dirty="0"/>
          </a:p>
          <a:p>
            <a:r>
              <a:rPr lang="en-US" sz="2400" dirty="0"/>
              <a:t>It can be of interest from an application perspective also because of the </a:t>
            </a:r>
            <a:r>
              <a:rPr lang="en-US" sz="2400" dirty="0">
                <a:solidFill>
                  <a:srgbClr val="C00000"/>
                </a:solidFill>
              </a:rPr>
              <a:t>justified insights </a:t>
            </a:r>
            <a:r>
              <a:rPr lang="en-US" sz="2400" dirty="0"/>
              <a:t>it provides.</a:t>
            </a:r>
            <a:endParaRPr lang="it-IT" sz="2400" dirty="0"/>
          </a:p>
        </p:txBody>
      </p:sp>
      <p:sp>
        <p:nvSpPr>
          <p:cNvPr id="3" name="Title 2">
            <a:extLst>
              <a:ext uri="{FF2B5EF4-FFF2-40B4-BE49-F238E27FC236}">
                <a16:creationId xmlns:a16="http://schemas.microsoft.com/office/drawing/2014/main" id="{D04DAED7-D714-269C-7743-94197EFF4356}"/>
              </a:ext>
            </a:extLst>
          </p:cNvPr>
          <p:cNvSpPr>
            <a:spLocks noGrp="1"/>
          </p:cNvSpPr>
          <p:nvPr>
            <p:ph type="title"/>
          </p:nvPr>
        </p:nvSpPr>
        <p:spPr/>
        <p:txBody>
          <a:bodyPr/>
          <a:lstStyle/>
          <a:p>
            <a:r>
              <a:rPr lang="en-US" dirty="0"/>
              <a:t>Comments</a:t>
            </a:r>
            <a:endParaRPr lang="it-IT" dirty="0"/>
          </a:p>
        </p:txBody>
      </p:sp>
      <p:sp>
        <p:nvSpPr>
          <p:cNvPr id="4" name="Footer Placeholder 3">
            <a:extLst>
              <a:ext uri="{FF2B5EF4-FFF2-40B4-BE49-F238E27FC236}">
                <a16:creationId xmlns:a16="http://schemas.microsoft.com/office/drawing/2014/main" id="{FBD412EF-17C0-FCFB-E885-D4434F5F988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9BD00F7-5AC9-C4A4-D1C3-39483C05977A}"/>
              </a:ext>
            </a:extLst>
          </p:cNvPr>
          <p:cNvSpPr>
            <a:spLocks noGrp="1"/>
          </p:cNvSpPr>
          <p:nvPr>
            <p:ph type="sldNum" sz="quarter" idx="4"/>
          </p:nvPr>
        </p:nvSpPr>
        <p:spPr/>
        <p:txBody>
          <a:bodyPr/>
          <a:lstStyle/>
          <a:p>
            <a:pPr>
              <a:defRPr/>
            </a:pPr>
            <a:fld id="{476DEB1C-3253-4C07-8F02-456B7B2AD41D}" type="slidenum">
              <a:rPr lang="it-IT" smtClean="0"/>
              <a:pPr>
                <a:defRPr/>
              </a:pPr>
              <a:t>61</a:t>
            </a:fld>
            <a:endParaRPr lang="it-IT" dirty="0"/>
          </a:p>
        </p:txBody>
      </p:sp>
    </p:spTree>
    <p:extLst>
      <p:ext uri="{BB962C8B-B14F-4D97-AF65-F5344CB8AC3E}">
        <p14:creationId xmlns:p14="http://schemas.microsoft.com/office/powerpoint/2010/main" val="4514409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ThemeQuadretti">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Custom 1">
      <a:majorFont>
        <a:latin typeface="Arial Rounded MT Bold"/>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hade val="90000"/>
                <a:satMod val="150000"/>
              </a:schemeClr>
            </a:gs>
            <a:gs pos="60000">
              <a:schemeClr val="phClr">
                <a:shade val="20000"/>
                <a:satMod val="255000"/>
              </a:schemeClr>
            </a:gs>
          </a:gsLst>
          <a:lin ang="5400000" scaled="0"/>
        </a:gradFill>
        <a:blipFill rotWithShape="1">
          <a:blip xmlns:r="http://schemas.openxmlformats.org/officeDocument/2006/relationships" r:embed="rId1">
            <a:duotone>
              <a:schemeClr val="phClr">
                <a:shade val="12000"/>
                <a:satMod val="240000"/>
              </a:schemeClr>
              <a:schemeClr val="phClr"/>
            </a:duotone>
          </a:blip>
          <a:stretch/>
        </a:blipFill>
      </a:bgFillStyleLst>
    </a:fmtScheme>
  </a:themeElements>
  <a:objectDefaults>
    <a:spDef>
      <a:spPr>
        <a:noFill/>
        <a:ln>
          <a:solidFill>
            <a:schemeClr val="tx1"/>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3">
          <a:schemeClr val="lt1"/>
        </a:lnRef>
        <a:fillRef idx="1">
          <a:schemeClr val="accent2"/>
        </a:fillRef>
        <a:effectRef idx="1">
          <a:schemeClr val="accent2"/>
        </a:effectRef>
        <a:fontRef idx="minor">
          <a:schemeClr val="lt1"/>
        </a:fontRef>
      </a:style>
    </a:spDef>
    <a:lnDef>
      <a:spPr>
        <a:ln w="1905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square" rtlCol="0" anchor="t" anchorCtr="0">
        <a:noAutofit/>
      </a:bodyPr>
      <a:lstStyle>
        <a:defPPr>
          <a:defRPr sz="2400" dirty="0" smtClean="0"/>
        </a:defPPr>
      </a:lstStyle>
    </a:txDef>
  </a:objectDefaults>
  <a:extraClrSchemeLst/>
  <a:extLst>
    <a:ext uri="{05A4C25C-085E-4340-85A3-A5531E510DB2}">
      <thm15:themeFamily xmlns:thm15="http://schemas.microsoft.com/office/thememl/2012/main" name="ThemeQuadretti" id="{19AB7872-5255-42EA-897B-4062C768F031}" vid="{57F8082C-57DB-4447-A402-D3E99C17B649}"/>
    </a:ext>
  </a:extLst>
</a:theme>
</file>

<file path=docProps/app.xml><?xml version="1.0" encoding="utf-8"?>
<Properties xmlns="http://schemas.openxmlformats.org/officeDocument/2006/extended-properties" xmlns:vt="http://schemas.openxmlformats.org/officeDocument/2006/docPropsVTypes">
  <Template>ThemeQuadretti</Template>
  <TotalTime>3257</TotalTime>
  <Words>5592</Words>
  <Application>Microsoft Office PowerPoint</Application>
  <PresentationFormat>On-screen Show (4:3)</PresentationFormat>
  <Paragraphs>646</Paragraphs>
  <Slides>61</Slides>
  <Notes>0</Notes>
  <HiddenSlides>0</HiddenSlides>
  <MMClips>0</MMClips>
  <ScaleCrop>false</ScaleCrop>
  <HeadingPairs>
    <vt:vector size="6" baseType="variant">
      <vt:variant>
        <vt:lpstr>Fonts Used</vt:lpstr>
      </vt:variant>
      <vt:variant>
        <vt:i4>20</vt:i4>
      </vt:variant>
      <vt:variant>
        <vt:lpstr>Theme</vt:lpstr>
      </vt:variant>
      <vt:variant>
        <vt:i4>1</vt:i4>
      </vt:variant>
      <vt:variant>
        <vt:lpstr>Slide Titles</vt:lpstr>
      </vt:variant>
      <vt:variant>
        <vt:i4>61</vt:i4>
      </vt:variant>
    </vt:vector>
  </HeadingPairs>
  <TitlesOfParts>
    <vt:vector size="82" baseType="lpstr">
      <vt:lpstr>AAchalk</vt:lpstr>
      <vt:lpstr>Aptos Light</vt:lpstr>
      <vt:lpstr>Arial</vt:lpstr>
      <vt:lpstr>Calibri</vt:lpstr>
      <vt:lpstr>Calibri Light</vt:lpstr>
      <vt:lpstr>Cambria</vt:lpstr>
      <vt:lpstr>Cambria Math</vt:lpstr>
      <vt:lpstr>CMEX10</vt:lpstr>
      <vt:lpstr>CMMI10</vt:lpstr>
      <vt:lpstr>CMMI5</vt:lpstr>
      <vt:lpstr>CMMI7</vt:lpstr>
      <vt:lpstr>CMR10</vt:lpstr>
      <vt:lpstr>CMR7</vt:lpstr>
      <vt:lpstr>CMSY10</vt:lpstr>
      <vt:lpstr>ManiezzoSlides</vt:lpstr>
      <vt:lpstr>MSBM10</vt:lpstr>
      <vt:lpstr>SFRM1000</vt:lpstr>
      <vt:lpstr>SFTI1000</vt:lpstr>
      <vt:lpstr>Times New Roman</vt:lpstr>
      <vt:lpstr>Wingdings</vt:lpstr>
      <vt:lpstr>ThemeQuadretti</vt:lpstr>
      <vt:lpstr>Bootstrap-Enhanced Distributionally Robust Scheduling of Loading Yards</vt:lpstr>
      <vt:lpstr>Agenda</vt:lpstr>
      <vt:lpstr>First problem</vt:lpstr>
      <vt:lpstr>Second problem</vt:lpstr>
      <vt:lpstr>Prequel: Stochastic programming and SAA</vt:lpstr>
      <vt:lpstr>Prequel: Robust optimization</vt:lpstr>
      <vt:lpstr>Prequel: Distributionally robust optimization and ambiguity sets</vt:lpstr>
      <vt:lpstr>PowerPoint Presentation</vt:lpstr>
      <vt:lpstr>Smart Predict-then-Optimize (SPO)</vt:lpstr>
      <vt:lpstr>BESO, generalities</vt:lpstr>
      <vt:lpstr>Univariate time series forecasting</vt:lpstr>
      <vt:lpstr>Resampling, bootstrapping</vt:lpstr>
      <vt:lpstr>Prewhitening</vt:lpstr>
      <vt:lpstr>Recoloring</vt:lpstr>
      <vt:lpstr>Entropy tilting</vt:lpstr>
      <vt:lpstr>Bootstrapping time series</vt:lpstr>
      <vt:lpstr>Bootstrapping</vt:lpstr>
      <vt:lpstr>Maximum entropy bootstrap</vt:lpstr>
      <vt:lpstr>The prescriptive component</vt:lpstr>
      <vt:lpstr>BESO-SAA</vt:lpstr>
      <vt:lpstr>BESO-DRO</vt:lpstr>
      <vt:lpstr>BESO-DRO</vt:lpstr>
      <vt:lpstr>BESO-DRO</vt:lpstr>
      <vt:lpstr>BESO decision models</vt:lpstr>
      <vt:lpstr>The first case study</vt:lpstr>
      <vt:lpstr>Toward a formulation</vt:lpstr>
      <vt:lpstr>Deterministic allocation (SAP)</vt:lpstr>
      <vt:lpstr>Stochastic allocation</vt:lpstr>
      <vt:lpstr>Entropy tilting</vt:lpstr>
      <vt:lpstr>BESO: bootstrapped enhanced scenario optimization</vt:lpstr>
      <vt:lpstr>BESO-SAA</vt:lpstr>
      <vt:lpstr>BESO-DRO</vt:lpstr>
      <vt:lpstr>Tests, forecasts</vt:lpstr>
      <vt:lpstr>Preprocessing, COVID adjustment</vt:lpstr>
      <vt:lpstr>Results, forecasts</vt:lpstr>
      <vt:lpstr>Results, forecasts</vt:lpstr>
      <vt:lpstr>Results, optimization</vt:lpstr>
      <vt:lpstr>Results, comparison</vt:lpstr>
      <vt:lpstr>Results, comparison</vt:lpstr>
      <vt:lpstr>Comments</vt:lpstr>
      <vt:lpstr>Warehousing application</vt:lpstr>
      <vt:lpstr>A warehouse</vt:lpstr>
      <vt:lpstr>Internal flows</vt:lpstr>
      <vt:lpstr>Daily number of outbound SKUs</vt:lpstr>
      <vt:lpstr>Daily number of outbound SKUs</vt:lpstr>
      <vt:lpstr>From global to detailed</vt:lpstr>
      <vt:lpstr>Deterministic scheduling: F1</vt:lpstr>
      <vt:lpstr>Deterministic scheduling F1</vt:lpstr>
      <vt:lpstr>Deterministic scheduling: F2</vt:lpstr>
      <vt:lpstr>Deterministic scheduling F2</vt:lpstr>
      <vt:lpstr>Stochastic scheduling, F1</vt:lpstr>
      <vt:lpstr>Stochastic scheduling F2</vt:lpstr>
      <vt:lpstr>BESO-SAA F2</vt:lpstr>
      <vt:lpstr>PowerPoint Presentation</vt:lpstr>
      <vt:lpstr>bootstrapping</vt:lpstr>
      <vt:lpstr>Forecasts</vt:lpstr>
      <vt:lpstr>Results, forecasts</vt:lpstr>
      <vt:lpstr>Results, forecasts</vt:lpstr>
      <vt:lpstr>Results, optimization</vt:lpstr>
      <vt:lpstr>The result</vt:lpstr>
      <vt:lpstr>Comments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Vittorio Maniezzo</dc:creator>
  <cp:lastModifiedBy>Vittorio Maniezzo</cp:lastModifiedBy>
  <cp:revision>322</cp:revision>
  <cp:lastPrinted>2026-10-19T08:12:27Z</cp:lastPrinted>
  <dcterms:created xsi:type="dcterms:W3CDTF">2024-02-06T11:14:54Z</dcterms:created>
  <dcterms:modified xsi:type="dcterms:W3CDTF">2026-10-20T10:18:52Z</dcterms:modified>
</cp:coreProperties>
</file>
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275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547" r:id="rId26"/>
    <p:sldId id="257" r:id="rId27"/>
    <p:sldId id="319" r:id="rId28"/>
    <p:sldId id="267" r:id="rId29"/>
    <p:sldId id="273" r:id="rId30"/>
    <p:sldId id="347" r:id="rId31"/>
    <p:sldId id="278" r:id="rId32"/>
    <p:sldId id="274" r:id="rId33"/>
    <p:sldId id="348" r:id="rId34"/>
    <p:sldId id="277" r:id="rId35"/>
    <p:sldId id="259" r:id="rId36"/>
    <p:sldId id="265" r:id="rId37"/>
    <p:sldId id="280" r:id="rId38"/>
    <p:sldId id="279" r:id="rId39"/>
    <p:sldId id="266" r:id="rId40"/>
    <p:sldId id="260" r:id="rId41"/>
    <p:sldId id="548" r:id="rId42"/>
    <p:sldId id="284" r:id="rId43"/>
    <p:sldId id="289" r:id="rId44"/>
    <p:sldId id="288" r:id="rId45"/>
    <p:sldId id="351" r:id="rId46"/>
    <p:sldId id="290" r:id="rId47"/>
    <p:sldId id="291" r:id="rId48"/>
    <p:sldId id="352" r:id="rId49"/>
    <p:sldId id="292" r:id="rId50"/>
    <p:sldId id="300" r:id="rId51"/>
    <p:sldId id="286" r:id="rId52"/>
    <p:sldId id="287" r:id="rId53"/>
    <p:sldId id="297" r:id="rId54"/>
    <p:sldId id="349" r:id="rId55"/>
    <p:sldId id="324" r:id="rId56"/>
    <p:sldId id="295" r:id="rId57"/>
    <p:sldId id="332" r:id="rId58"/>
    <p:sldId id="330" r:id="rId59"/>
    <p:sldId id="326" r:id="rId60"/>
    <p:sldId id="306" r:id="rId61"/>
    <p:sldId id="350" r:id="rId62"/>
    <p:sldId id="293" r:id="rId63"/>
    <p:sldId id="308" r:id="rId64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7" autoAdjust="0"/>
    <p:restoredTop sz="95736" autoAdjust="0"/>
  </p:normalViewPr>
  <p:slideViewPr>
    <p:cSldViewPr snapToGrid="0">
      <p:cViewPr varScale="1">
        <p:scale>
          <a:sx n="74" d="100"/>
          <a:sy n="74" d="100"/>
        </p:scale>
        <p:origin x="1133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</a:t>
            </a:r>
            <a:r>
              <a:rPr lang="en-US" sz="4000"/>
              <a:t>Scheduling of </a:t>
            </a:r>
            <a:r>
              <a:rPr lang="en-US" sz="4000" dirty="0"/>
              <a:t>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BESO (</a:t>
            </a:r>
            <a:r>
              <a:rPr lang="it-IT" sz="3200" dirty="0">
                <a:solidFill>
                  <a:srgbClr val="C00000"/>
                </a:solidFill>
              </a:rPr>
              <a:t>B</a:t>
            </a:r>
            <a:r>
              <a:rPr lang="it-IT" sz="3200" dirty="0"/>
              <a:t>ootstrap </a:t>
            </a:r>
            <a:r>
              <a:rPr lang="it-IT" sz="3200" dirty="0" err="1">
                <a:solidFill>
                  <a:srgbClr val="C00000"/>
                </a:solidFill>
              </a:rPr>
              <a:t>E</a:t>
            </a:r>
            <a:r>
              <a:rPr lang="it-IT" sz="3200" dirty="0" err="1"/>
              <a:t>nhanced</a:t>
            </a:r>
            <a:r>
              <a:rPr lang="it-IT" sz="3200" dirty="0"/>
              <a:t> </a:t>
            </a:r>
            <a:r>
              <a:rPr lang="it-IT" sz="3200" dirty="0">
                <a:solidFill>
                  <a:srgbClr val="C00000"/>
                </a:solidFill>
              </a:rPr>
              <a:t>S</a:t>
            </a:r>
            <a:r>
              <a:rPr lang="it-IT" sz="3200" dirty="0"/>
              <a:t>cenario </a:t>
            </a:r>
            <a:r>
              <a:rPr lang="it-IT" sz="3200" dirty="0" err="1">
                <a:solidFill>
                  <a:srgbClr val="C00000"/>
                </a:solidFill>
              </a:rPr>
              <a:t>O</a:t>
            </a:r>
            <a:r>
              <a:rPr lang="it-IT" sz="3200" dirty="0" err="1"/>
              <a:t>ptimization</a:t>
            </a:r>
            <a:r>
              <a:rPr lang="it-IT" sz="3200" dirty="0"/>
              <a:t>)</a:t>
            </a: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Decisions often </a:t>
                </a:r>
                <a:r>
                  <a:rPr lang="en-US" dirty="0">
                    <a:solidFill>
                      <a:srgbClr val="C00000"/>
                    </a:solidFill>
                  </a:rPr>
                  <a:t>precede the observation </a:t>
                </a:r>
                <a:r>
                  <a:rPr lang="en-US" dirty="0"/>
                  <a:t>of uncertain quantities.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Stochastic programming </a:t>
                </a:r>
                <a:r>
                  <a:rPr lang="en-US" dirty="0"/>
                  <a:t>describes uncertainty through a probability distribution </a:t>
                </a:r>
                <a:r>
                  <a:rPr lang="en-US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</a:t>
                </a:r>
                <a:r>
                  <a:rPr lang="en-US" dirty="0">
                    <a:solidFill>
                      <a:srgbClr val="C00000"/>
                    </a:solidFill>
                  </a:rPr>
                  <a:t>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uncertain parameters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</a:t>
                </a:r>
                <a:r>
                  <a:rPr lang="en-US" dirty="0">
                    <a:solidFill>
                      <a:srgbClr val="C00000"/>
                    </a:solidFill>
                  </a:rPr>
                  <a:t>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</a:t>
                </a:r>
                <a:r>
                  <a:rPr lang="en-US" dirty="0">
                    <a:solidFill>
                      <a:srgbClr val="C00000"/>
                    </a:solidFill>
                  </a:rPr>
                  <a:t>minimize expected total cost</a:t>
                </a:r>
                <a:r>
                  <a:rPr lang="en-US" dirty="0"/>
                  <a:t>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Bef>
                    <a:spcPts val="3000"/>
                  </a:spcBef>
                </a:pPr>
                <a:r>
                  <a:rPr lang="en-US" dirty="0">
                    <a:solidFill>
                      <a:srgbClr val="C00000"/>
                    </a:solidFill>
                  </a:rPr>
                  <a:t>Sample Average Approximation </a:t>
                </a:r>
                <a:r>
                  <a:rPr lang="en-US" dirty="0"/>
                  <a:t>(</a:t>
                </a:r>
                <a:r>
                  <a:rPr lang="en-US" dirty="0">
                    <a:solidFill>
                      <a:srgbClr val="C00000"/>
                    </a:solidFill>
                  </a:rPr>
                  <a:t>SAA</a:t>
                </a:r>
                <a:r>
                  <a:rPr lang="en-US" dirty="0"/>
                  <a:t>):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P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sampled </a:t>
                </a:r>
                <a:r>
                  <a:rPr lang="en-US" dirty="0">
                    <a:solidFill>
                      <a:srgbClr val="C00000"/>
                    </a:solidFill>
                  </a:rPr>
                  <a:t>scenarios</a:t>
                </a:r>
                <a:r>
                  <a:rPr lang="en-US" dirty="0"/>
                  <a:t>,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	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expectations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	sample averages, </a:t>
                </a:r>
              </a:p>
              <a:p>
                <a:r>
                  <a:rPr lang="en-US" dirty="0"/>
                  <a:t>Standard SAA can </a:t>
                </a:r>
                <a:r>
                  <a:rPr lang="en-US" dirty="0">
                    <a:solidFill>
                      <a:srgbClr val="C00000"/>
                    </a:solidFill>
                  </a:rPr>
                  <a:t>disappoint</a:t>
                </a:r>
                <a:r>
                  <a:rPr lang="en-US" dirty="0"/>
                  <a:t> out of sample, especially if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204" r="-9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sz="2400" dirty="0"/>
                  <a:t>Uncertain </a:t>
                </a:r>
                <a:r>
                  <a:rPr lang="en-US" sz="2400" dirty="0">
                    <a:solidFill>
                      <a:schemeClr val="tx1"/>
                    </a:solidFill>
                  </a:rPr>
                  <a:t>parameters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belong </a:t>
                </a:r>
                <a:r>
                  <a:rPr lang="en-US" sz="2400" dirty="0"/>
                  <a:t>to an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uncertainty set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, specifying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realizations</a:t>
                </a:r>
                <a:r>
                  <a:rPr lang="en-US" sz="2400" dirty="0"/>
                  <a:t> against which protection is required.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>
                    <a:solidFill>
                      <a:srgbClr val="C00000"/>
                    </a:solidFill>
                  </a:rPr>
                  <a:t>No probability distribution </a:t>
                </a:r>
                <a:r>
                  <a:rPr lang="en-US" sz="2400" dirty="0"/>
                  <a:t>over these realizations is specified.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/>
                  <a:t>Decisions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minimize worst-case cost </a:t>
                </a:r>
                <a:r>
                  <a:rPr lang="en-US" sz="2400" dirty="0"/>
                  <a:t>while remaining feasible 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lim>
                          </m:limLow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  <m:e>
                          <m:r>
                            <m:rPr>
                              <m:nor/>
                            </m:rPr>
                            <a:rPr lang="en-US" sz="2400" i="0"/>
                            <m:t>subject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 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to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≤0&amp;&amp;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𝒰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→ worst-case objective and feasibility across the uncertainty set.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strengthens protection but increases the optimal cost: the uncertainty set controls the degree of conservatism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DRO: </a:t>
                </a:r>
                <a:r>
                  <a:rPr lang="en-US" dirty="0">
                    <a:solidFill>
                      <a:srgbClr val="C00000"/>
                    </a:solidFill>
                  </a:rPr>
                  <a:t>uncertainty about the probability distribution </a:t>
                </a:r>
                <a:r>
                  <a:rPr lang="en-US" dirty="0"/>
                  <a:t>itself, not just the random parameters.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An </a:t>
                </a:r>
                <a:r>
                  <a:rPr lang="en-US" dirty="0">
                    <a:solidFill>
                      <a:srgbClr val="C00000"/>
                    </a:solidFill>
                  </a:rPr>
                  <a:t>ambiguity set 𝒫 </a:t>
                </a:r>
                <a:r>
                  <a:rPr lang="en-US" dirty="0"/>
                  <a:t>is the set of plausible distributions.</a:t>
                </a:r>
              </a:p>
              <a:p>
                <a:pPr>
                  <a:tabLst>
                    <a:tab pos="2630488" algn="l"/>
                  </a:tabLst>
                </a:pPr>
                <a:r>
                  <a:rPr lang="en-US" dirty="0"/>
                  <a:t>DRO </a:t>
                </a:r>
                <a:r>
                  <a:rPr lang="en-US" dirty="0">
                    <a:solidFill>
                      <a:srgbClr val="C00000"/>
                    </a:solidFill>
                  </a:rPr>
                  <a:t>minimizes the worst-case expected cost </a:t>
                </a:r>
                <a:r>
                  <a:rPr lang="en-US" dirty="0"/>
                  <a:t>over 𝒫. 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common ways to construct 𝒫: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</a:t>
                </a:r>
                <a:r>
                  <a:rPr lang="en-US" dirty="0">
                    <a:solidFill>
                      <a:srgbClr val="C00000"/>
                    </a:solidFill>
                  </a:rPr>
                  <a:t>radius ε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→ </a:t>
                </a:r>
                <a:r>
                  <a:rPr lang="en-US" i="1" dirty="0"/>
                  <a:t>stochastic programming </a:t>
                </a:r>
                <a:r>
                  <a:rPr lang="en-US" dirty="0"/>
                  <a:t>(no distributional uncertainty),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→ </a:t>
                </a:r>
                <a:r>
                  <a:rPr lang="en-US" i="1" dirty="0"/>
                  <a:t>SAA</a:t>
                </a:r>
                <a:r>
                  <a:rPr lang="en-US" dirty="0"/>
                  <a:t> (empirical distribution is taken as the truth);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DRO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all distributions already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→ </a:t>
                </a:r>
                <a:r>
                  <a:rPr lang="en-US" i="1" dirty="0"/>
                  <a:t>robust optimization </a:t>
                </a:r>
                <a:r>
                  <a:rPr lang="en-US" dirty="0"/>
                  <a:t>(worst case over the support).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  <a:blipFill>
                <a:blip r:embed="rId2"/>
                <a:stretch>
                  <a:fillRect l="-927" t="-18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Distributional ignorance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/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it-IT" sz="2200" b="1" dirty="0">
                    <a:solidFill>
                      <a:schemeClr val="tx1"/>
                    </a:solidFill>
                  </a:rPr>
                  <a:t>Robust </a:t>
                </a:r>
                <a:r>
                  <a:rPr lang="it-IT" sz="2200" b="1" dirty="0" err="1">
                    <a:solidFill>
                      <a:schemeClr val="tx1"/>
                    </a:solidFill>
                  </a:rPr>
                  <a:t>optimization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𝒫 = all distributions represented by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/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accent4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DRO</a:t>
                </a: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/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7150">
                <a:solidFill>
                  <a:schemeClr val="accent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SA</a:t>
                </a:r>
                <a:r>
                  <a:rPr lang="en-US" sz="2200" b="1" dirty="0">
                    <a:solidFill>
                      <a:sysClr val="windowText" lastClr="000000"/>
                    </a:solidFill>
                  </a:rPr>
                  <a:t>A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 (ε=0) 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748B46-78FE-3BA2-D23C-37F86881AD1F}"/>
              </a:ext>
            </a:extLst>
          </p:cNvPr>
          <p:cNvSpPr/>
          <p:nvPr/>
        </p:nvSpPr>
        <p:spPr>
          <a:xfrm>
            <a:off x="2491073" y="3552210"/>
            <a:ext cx="4283287" cy="152177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200" b="1" dirty="0">
                <a:solidFill>
                  <a:sysClr val="windowText" lastClr="000000"/>
                </a:solidFill>
              </a:rPr>
              <a:t>Stochastic programming </a:t>
            </a:r>
            <a:r>
              <a:rPr lang="en-US" sz="2200" dirty="0">
                <a:solidFill>
                  <a:sysClr val="windowText" lastClr="000000"/>
                </a:solidFill>
              </a:rPr>
              <a:t>𝒫 = </a:t>
            </a:r>
            <a:r>
              <a:rPr lang="en-US" sz="2200" dirty="0">
                <a:solidFill>
                  <a:sysClr val="windowText" lastClr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{P}</a:t>
            </a:r>
            <a:endParaRPr lang="it-IT" sz="22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3AAD0A-E20A-5696-6F62-D7C4272A6CBD}"/>
              </a:ext>
            </a:extLst>
          </p:cNvPr>
          <p:cNvCxnSpPr>
            <a:cxnSpLocks/>
          </p:cNvCxnSpPr>
          <p:nvPr/>
        </p:nvCxnSpPr>
        <p:spPr>
          <a:xfrm flipV="1">
            <a:off x="534256" y="1458930"/>
            <a:ext cx="0" cy="464391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3B017EF-4B42-4700-42F8-0564CDD4B98B}"/>
              </a:ext>
            </a:extLst>
          </p:cNvPr>
          <p:cNvSpPr txBox="1"/>
          <p:nvPr/>
        </p:nvSpPr>
        <p:spPr>
          <a:xfrm rot="16200000">
            <a:off x="-981059" y="3412457"/>
            <a:ext cx="2633798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Increasing</a:t>
            </a:r>
            <a:r>
              <a:rPr lang="it-IT" sz="2200" dirty="0"/>
              <a:t> </a:t>
            </a:r>
            <a:r>
              <a:rPr lang="it-IT" sz="2200" dirty="0" err="1"/>
              <a:t>robustness</a:t>
            </a:r>
            <a:endParaRPr lang="it-IT" sz="22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FB75F3-F9EF-9E2E-6D88-549361999189}"/>
              </a:ext>
            </a:extLst>
          </p:cNvPr>
          <p:cNvCxnSpPr>
            <a:cxnSpLocks/>
          </p:cNvCxnSpPr>
          <p:nvPr/>
        </p:nvCxnSpPr>
        <p:spPr>
          <a:xfrm>
            <a:off x="8556706" y="1309955"/>
            <a:ext cx="0" cy="497782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527223-24B8-F256-DAB5-3ADF827AD20B}"/>
              </a:ext>
            </a:extLst>
          </p:cNvPr>
          <p:cNvSpPr txBox="1"/>
          <p:nvPr/>
        </p:nvSpPr>
        <p:spPr>
          <a:xfrm rot="5400000">
            <a:off x="7297771" y="3482908"/>
            <a:ext cx="3010311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Distributional</a:t>
            </a:r>
            <a:r>
              <a:rPr lang="it-IT" sz="2200" dirty="0"/>
              <a:t> knowledge</a:t>
            </a:r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420804"/>
            <a:ext cx="8616493" cy="4248476"/>
          </a:xfrm>
        </p:spPr>
        <p:txBody>
          <a:bodyPr>
            <a:normAutofit/>
          </a:bodyPr>
          <a:lstStyle/>
          <a:p>
            <a:r>
              <a:rPr lang="en-US" sz="2400" dirty="0"/>
              <a:t>SPO uses predictions as inputs to an optimization model.</a:t>
            </a:r>
          </a:p>
          <a:p>
            <a:r>
              <a:rPr lang="en-US" sz="2400" dirty="0"/>
              <a:t>Conventional prediction models </a:t>
            </a:r>
            <a:r>
              <a:rPr lang="en-US" sz="2400" dirty="0">
                <a:solidFill>
                  <a:srgbClr val="C00000"/>
                </a:solidFill>
              </a:rPr>
              <a:t>minimize statistical forecast error</a:t>
            </a:r>
            <a:endParaRPr lang="en-US" sz="2400" dirty="0"/>
          </a:p>
          <a:p>
            <a:pPr algn="r">
              <a:spcBef>
                <a:spcPts val="0"/>
              </a:spcBef>
            </a:pPr>
            <a:r>
              <a:rPr lang="en-US" sz="2400" dirty="0"/>
              <a:t>→ small forecast errors do not necessarily imply good decisions.</a:t>
            </a:r>
          </a:p>
          <a:p>
            <a:r>
              <a:rPr lang="en-US" sz="2400" dirty="0"/>
              <a:t>SPO uses a tractable </a:t>
            </a:r>
            <a:r>
              <a:rPr lang="en-US" sz="2400" dirty="0">
                <a:solidFill>
                  <a:srgbClr val="C00000"/>
                </a:solidFill>
              </a:rPr>
              <a:t>surrogate loss to train predictions</a:t>
            </a:r>
            <a:r>
              <a:rPr lang="en-US" sz="2400" dirty="0"/>
              <a:t> according to their decision consequences (</a:t>
            </a:r>
            <a:r>
              <a:rPr lang="en-US" sz="2400" i="1" dirty="0" err="1"/>
              <a:t>Elmachtoub</a:t>
            </a:r>
            <a:r>
              <a:rPr lang="en-US" sz="2400" i="1" dirty="0"/>
              <a:t>, Grigas, 2017</a:t>
            </a:r>
            <a:r>
              <a:rPr lang="en-US" sz="2400" dirty="0"/>
              <a:t>).</a:t>
            </a:r>
          </a:p>
          <a:p>
            <a:r>
              <a:rPr lang="en-US" sz="2400" dirty="0"/>
              <a:t>Decision awareness enters through the predictor’s training objective: it </a:t>
            </a:r>
            <a:r>
              <a:rPr lang="en-US" sz="2400" dirty="0">
                <a:solidFill>
                  <a:srgbClr val="C00000"/>
                </a:solidFill>
              </a:rPr>
              <a:t>does not optimize over an ambiguity set </a:t>
            </a:r>
            <a:r>
              <a:rPr lang="en-US" sz="2400" dirty="0"/>
              <a:t>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integrates forecasting and optimization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through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bidirectional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forecasting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embeds 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-relevant structure (without modifying the forecasting loss function),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is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built on forecast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outputs and their uncertainty characterization.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when innovation noise and random shocks do not dominate forecast errors: </a:t>
            </a:r>
          </a:p>
          <a:p>
            <a:pPr algn="l">
              <a:spcBef>
                <a:spcPts val="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→ 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forecasts used by the optimizer may be inaccurate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but are usable if their errors are not systematically biased. 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two models: BESO-SAA and BESO-DRO</a:t>
            </a:r>
            <a:endParaRPr lang="en-US" sz="24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Statistical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Neural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Tree-based ensembles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 We can use any of them.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Data-driven distribution estimation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data-limited real-world settings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Bootstrap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, 1979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generates empirical distributions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MEB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Vinod, 2004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produces bootstrap replicates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scenario pool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387893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STL (i.e. </a:t>
            </a:r>
            <a:r>
              <a:rPr lang="en-US" sz="2400" i="1" dirty="0"/>
              <a:t>innovation noise and 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</a:t>
            </a:r>
            <a:r>
              <a:rPr lang="en-US" sz="2400" i="1" dirty="0"/>
              <a:t>hopefully 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distribution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</a:t>
            </a:r>
            <a:r>
              <a:rPr lang="en-US" sz="2400" b="1" dirty="0"/>
              <a:t>samples that could have occurred</a:t>
            </a:r>
            <a:r>
              <a:rPr lang="en-US" sz="24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how we did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probability weights </a:t>
                </a:r>
                <a:r>
                  <a:rPr lang="en-US" sz="2400" b="0" i="0" u="none" strike="noStrike" baseline="0" dirty="0">
                    <a:latin typeface="+mn-lt"/>
                  </a:rPr>
                  <a:t>whose values are </a:t>
                </a:r>
                <a:r>
                  <a:rPr lang="en-US" sz="2400" b="1" i="0" u="none" strike="noStrike" baseline="0" dirty="0">
                    <a:latin typeface="+mn-lt"/>
                  </a:rPr>
                  <a:t>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BESO defines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 weights</a:t>
                </a:r>
                <a:r>
                  <a:rPr lang="en-US" sz="2400" b="0" i="0" u="none" strike="noStrike" baseline="0" dirty="0">
                    <a:latin typeface="+mn-lt"/>
                  </a:rPr>
                  <a:t>,</a:t>
                </a:r>
              </a:p>
              <a:p>
                <a:pPr>
                  <a:spcBef>
                    <a:spcPts val="600"/>
                  </a:spcBef>
                  <a:tabLst>
                    <a:tab pos="3373438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:r>
                  <a:rPr lang="en-US" sz="2400" dirty="0">
                    <a:solidFill>
                      <a:srgbClr val="000000"/>
                    </a:solidFill>
                  </a:rPr>
                  <a:t>are computed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before</a:t>
                </a:r>
                <a:r>
                  <a:rPr lang="en-US" sz="2400" dirty="0">
                    <a:solidFill>
                      <a:srgbClr val="000000"/>
                    </a:solidFill>
                  </a:rPr>
                  <a:t> the final optimization,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cost-aware reference distribution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  <a:blipFill>
                <a:blip r:embed="rId2"/>
                <a:stretch>
                  <a:fillRect l="-1030" t="-901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scenario-based formulation </a:t>
                </a:r>
                <a:r>
                  <a:rPr lang="en-US" sz="2400" b="0" i="0" u="none" strike="noStrike" baseline="0" dirty="0">
                    <a:latin typeface="+mn-lt"/>
                  </a:rPr>
                  <a:t>corresponds to SAA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trajectories are regarded as alternative realizations of a single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expected downstream cost </a:t>
                </a:r>
                <a:r>
                  <a:rPr lang="en-US" sz="2200" b="0" i="0" u="none" strike="noStrike" baseline="0" dirty="0">
                    <a:latin typeface="+mn-lt"/>
                  </a:rPr>
                  <a:t>is approximated by its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weighted average </a:t>
                </a:r>
                <a:r>
                  <a:rPr lang="en-US" sz="2200" b="0" i="0" u="none" strike="noStrike" baseline="0" dirty="0">
                    <a:latin typeface="+mn-lt"/>
                  </a:rPr>
                  <a:t>over the bootstrap trajectories, leading to a </a:t>
                </a:r>
                <a:r>
                  <a:rPr lang="en-US" sz="2200" b="1" i="0" u="none" strike="noStrike" baseline="0" dirty="0">
                    <a:latin typeface="+mn-lt"/>
                  </a:rPr>
                  <a:t>weighted sample average approximation</a:t>
                </a:r>
                <a:r>
                  <a:rPr lang="en-US" sz="2200" b="0" i="0" u="none" strike="noStrike" baseline="0" dirty="0">
                    <a:latin typeface="+mn-lt"/>
                  </a:rPr>
                  <a:t>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one estimated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takes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expectation within </a:t>
                </a:r>
                <a:r>
                  <a:rPr lang="en-US" sz="1800" b="0" i="0" u="none" strike="noStrike" baseline="0" dirty="0">
                    <a:latin typeface="+mn-lt"/>
                  </a:rPr>
                  <a:t>each bootstrap distribution, and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 case across </a:t>
                </a:r>
                <a:r>
                  <a:rPr lang="en-US" sz="1800" b="0" i="0" u="none" strike="noStrike" baseline="0" dirty="0">
                    <a:latin typeface="+mn-lt"/>
                  </a:rPr>
                  <a:t>bootstrap distributions.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We repeatedly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trajectories from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each set of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is interpreted as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set of realizations of a different distribution</a:t>
                </a:r>
                <a:r>
                  <a:rPr lang="en-US" sz="1800" b="0" i="0" u="none" strike="noStrike" baseline="0" dirty="0">
                    <a:latin typeface="+mn-lt"/>
                  </a:rPr>
                  <a:t>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is the number of times series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appears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upon defining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  <m:r>
                      <a:rPr lang="en-US" sz="1800" b="0" i="1" u="none" strike="noStrike" baseline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</m:num>
                      <m:den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as the relative frequency of the series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we can define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collection of empirical distributions</a:t>
                </a:r>
              </a:p>
              <a:p>
                <a:pPr algn="ctr">
                  <a:spcBef>
                    <a:spcPts val="12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	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8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dirty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800" b="0" i="0" u="none" strike="noStrike" baseline="0" dirty="0">
                    <a:latin typeface="+mn-lt"/>
                  </a:rPr>
                  <a:t> being the number of resampled empirical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ambiguity set </a:t>
                </a:r>
                <a:r>
                  <a:rPr lang="en-US" sz="1800" b="0" i="0" u="none" strike="noStrike" baseline="0" dirty="0">
                    <a:latin typeface="+mn-lt"/>
                  </a:rPr>
                  <a:t>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32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sz="2400" b="0" i="0" u="none" strike="noStrike" baseline="0" dirty="0">
                    <a:latin typeface="+mn-lt"/>
                  </a:rPr>
                  <a:t>, the supremum over the convex hull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occurs at an extreme point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DRO objective </a:t>
                </a:r>
                <a:r>
                  <a:rPr lang="en-US" sz="2400" b="0" i="0" u="none" strike="noStrike" baseline="0" dirty="0">
                    <a:latin typeface="+mn-lt"/>
                  </a:rPr>
                  <a:t>becomes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36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  <a:p>
                <a:pPr algn="l">
                  <a:spcBef>
                    <a:spcPts val="2400"/>
                  </a:spcBef>
                </a:pPr>
                <a:r>
                  <a:rPr lang="en-US" sz="2400" dirty="0">
                    <a:solidFill>
                      <a:srgbClr val="C00000"/>
                    </a:solidFill>
                    <a:latin typeface="+mn-lt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2400" dirty="0">
                    <a:latin typeface="+mn-lt"/>
                  </a:rPr>
                  <a:t>: reduce distributional spread, 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BESO-SAA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  <a:sym typeface="Symbol" panose="05050102010706020507" pitchFamily="18" charset="2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m</a:t>
                </a:r>
                <a:r>
                  <a:rPr lang="en-US" sz="2400" b="0" i="0" u="none" strike="noStrike" baseline="0" dirty="0">
                    <a:latin typeface="+mn-lt"/>
                    <a:sym typeface="Symbol" panose="05050102010706020507" pitchFamily="18" charset="2"/>
                  </a:rPr>
                  <a:t>: enlarges ambiguity set, </a:t>
                </a:r>
                <a:r>
                  <a:rPr lang="en-US" sz="2400" dirty="0">
                    <a:latin typeface="+mn-lt"/>
                  </a:rPr>
                  <a:t>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robust optimization</a:t>
                </a:r>
                <a:endParaRPr lang="en-US" sz="2400" b="0" i="0" u="none" strike="noStrike" baseline="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  <a:blipFill>
                <a:blip r:embed="rId2"/>
                <a:stretch>
                  <a:fillRect l="-927" t="-1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1. Retain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24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transportation problem </a:t>
                </a:r>
                <a:r>
                  <a:rPr lang="en-US" sz="2400" dirty="0"/>
                  <a:t>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weighted </a:t>
                </a:r>
                <a:r>
                  <a:rPr lang="en-US" sz="2400" dirty="0">
                    <a:solidFill>
                      <a:schemeClr val="tx1"/>
                    </a:solidFill>
                  </a:rPr>
                  <a:t>by the corresponding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MIP solver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1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	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34523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i="1" dirty="0" err="1"/>
              <a:t>Fawaz</a:t>
            </a:r>
            <a:r>
              <a:rPr lang="it-IT" sz="2400" i="1" dirty="0"/>
              <a:t> et al., 2019</a:t>
            </a:r>
            <a:r>
              <a:rPr lang="it-IT" sz="2400" dirty="0"/>
              <a:t>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CCC3BA-7872-9FD1-5AA9-08F6A3AC5A7E}"/>
              </a:ext>
            </a:extLst>
          </p:cNvPr>
          <p:cNvSpPr txBox="1"/>
          <p:nvPr/>
        </p:nvSpPr>
        <p:spPr>
          <a:xfrm>
            <a:off x="1745673" y="5867289"/>
            <a:ext cx="4999061" cy="461665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400" dirty="0"/>
              <a:t>MEB: </a:t>
            </a:r>
            <a:r>
              <a:rPr lang="it-IT" sz="2400" dirty="0" err="1"/>
              <a:t>wider</a:t>
            </a:r>
            <a:r>
              <a:rPr lang="it-IT" sz="2400" dirty="0"/>
              <a:t> range and </a:t>
            </a:r>
            <a:r>
              <a:rPr lang="it-IT" sz="2400" dirty="0" err="1"/>
              <a:t>higher</a:t>
            </a:r>
            <a:r>
              <a:rPr lang="it-IT" sz="2400" dirty="0"/>
              <a:t> </a:t>
            </a:r>
            <a:r>
              <a:rPr lang="it-IT" sz="2400" dirty="0" err="1"/>
              <a:t>skewness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142996"/>
            <a:ext cx="9060874" cy="4530437"/>
          </a:xfr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6CD99E6-7579-493F-6FE6-691CA45775B7}"/>
              </a:ext>
            </a:extLst>
          </p:cNvPr>
          <p:cNvSpPr/>
          <p:nvPr/>
        </p:nvSpPr>
        <p:spPr>
          <a:xfrm>
            <a:off x="1766455" y="4810987"/>
            <a:ext cx="384463" cy="36368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CD97D-A3CA-1E72-66FA-5F807838792F}"/>
              </a:ext>
            </a:extLst>
          </p:cNvPr>
          <p:cNvSpPr txBox="1"/>
          <p:nvPr/>
        </p:nvSpPr>
        <p:spPr>
          <a:xfrm>
            <a:off x="883227" y="5666321"/>
            <a:ext cx="707620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BESO: </a:t>
            </a:r>
            <a:r>
              <a:rPr lang="it-IT" sz="2400" dirty="0" err="1"/>
              <a:t>same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than</a:t>
            </a:r>
            <a:r>
              <a:rPr lang="it-IT" sz="2400" dirty="0"/>
              <a:t> </a:t>
            </a:r>
            <a:r>
              <a:rPr lang="it-IT" sz="2400" dirty="0" err="1"/>
              <a:t>Wasserstein-based</a:t>
            </a:r>
            <a:r>
              <a:rPr lang="it-IT" sz="2400" dirty="0"/>
              <a:t>, </a:t>
            </a:r>
            <a:r>
              <a:rPr lang="it-IT" sz="2400" dirty="0" err="1"/>
              <a:t>formulation</a:t>
            </a:r>
            <a:r>
              <a:rPr lang="it-IT" sz="2400" dirty="0"/>
              <a:t> </a:t>
            </a:r>
            <a:r>
              <a:rPr lang="it-IT" sz="2400" dirty="0" err="1"/>
              <a:t>fairly</a:t>
            </a:r>
            <a:r>
              <a:rPr lang="it-IT" sz="2400" dirty="0"/>
              <a:t> </a:t>
            </a:r>
            <a:r>
              <a:rPr lang="it-IT" sz="2400" dirty="0" err="1"/>
              <a:t>simpler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</a:t>
            </a:r>
            <a:r>
              <a:rPr lang="en-US" sz="2000" dirty="0">
                <a:solidFill>
                  <a:srgbClr val="C00000"/>
                </a:solidFill>
              </a:rPr>
              <a:t>extreme scenarios appearing in the forecasts</a:t>
            </a:r>
            <a:r>
              <a:rPr lang="en-US" sz="2000" dirty="0"/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07659"/>
            <a:ext cx="8546175" cy="5372359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BESO leads </a:t>
            </a:r>
            <a:r>
              <a:rPr lang="en-US" sz="2400" dirty="0">
                <a:solidFill>
                  <a:srgbClr val="C00000"/>
                </a:solidFill>
              </a:rPr>
              <a:t>from forecasts to decisions </a:t>
            </a:r>
            <a:r>
              <a:rPr lang="en-US" sz="2400" dirty="0"/>
              <a:t>that account for forecast uncertainty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Bootstrapped forecasts generate </a:t>
            </a:r>
            <a:r>
              <a:rPr lang="en-US" sz="2400" dirty="0">
                <a:solidFill>
                  <a:srgbClr val="C00000"/>
                </a:solidFill>
              </a:rPr>
              <a:t>realistic future scenarios </a:t>
            </a:r>
            <a:r>
              <a:rPr lang="en-US" sz="2400" dirty="0"/>
              <a:t>directly from data, even from short, irregular histories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Scenarios are </a:t>
            </a:r>
            <a:r>
              <a:rPr lang="en-US" sz="2400" dirty="0">
                <a:solidFill>
                  <a:srgbClr val="C00000"/>
                </a:solidFill>
              </a:rPr>
              <a:t>weighted by their cost impact </a:t>
            </a:r>
            <a:r>
              <a:rPr lang="en-US" sz="2400" dirty="0"/>
              <a:t>and fed into stochastic (SAA) or robust (DRO) optimization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Every step is </a:t>
            </a:r>
            <a:r>
              <a:rPr lang="en-US" sz="2400" dirty="0">
                <a:solidFill>
                  <a:srgbClr val="C00000"/>
                </a:solidFill>
              </a:rPr>
              <a:t>transparent and explainable</a:t>
            </a:r>
            <a:r>
              <a:rPr lang="en-US" sz="2400" dirty="0"/>
              <a:t>: forecast, scenarios, weights, decision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Proof of concept: DC-to-warehouse allocation and capacity sizing, where BESO proved </a:t>
            </a:r>
            <a:r>
              <a:rPr lang="en-US" sz="2400" dirty="0">
                <a:solidFill>
                  <a:srgbClr val="C00000"/>
                </a:solidFill>
              </a:rPr>
              <a:t>competitive against the state of the art</a:t>
            </a:r>
            <a:r>
              <a:rPr lang="en-US" sz="24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350563"/>
            <a:ext cx="8771055" cy="4603429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43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rgbClr val="C00000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</a:t>
            </a:r>
            <a:r>
              <a:rPr lang="en-US" sz="2400" dirty="0">
                <a:solidFill>
                  <a:srgbClr val="C00000"/>
                </a:solidFill>
              </a:rPr>
              <a:t>number of SKU </a:t>
            </a:r>
            <a:r>
              <a:rPr lang="en-US" sz="2400" dirty="0"/>
              <a:t>(</a:t>
            </a:r>
            <a:r>
              <a:rPr lang="en-US" sz="2400" i="1" dirty="0"/>
              <a:t>pallets, HU</a:t>
            </a:r>
            <a:r>
              <a:rPr lang="en-US" sz="2400" dirty="0"/>
              <a:t>) and corresponding </a:t>
            </a:r>
            <a:r>
              <a:rPr lang="en-US" sz="2400" dirty="0">
                <a:solidFill>
                  <a:srgbClr val="C00000"/>
                </a:solidFill>
              </a:rPr>
              <a:t>daily shipments </a:t>
            </a:r>
            <a:r>
              <a:rPr lang="en-US" sz="2400" dirty="0"/>
              <a:t>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b="1" noProof="0" dirty="0"/>
              <a:t>Shipment forecast procedure </a:t>
            </a:r>
          </a:p>
          <a:p>
            <a:pPr>
              <a:spcBef>
                <a:spcPts val="0"/>
              </a:spcBef>
            </a:pPr>
            <a:r>
              <a:rPr lang="en-US" sz="2400" i="1" noProof="0" dirty="0"/>
              <a:t># provides the set of shipments to serve and their load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Forecast</a:t>
            </a:r>
            <a:r>
              <a:rPr lang="en-US" sz="2400" dirty="0"/>
              <a:t>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Estimate</a:t>
            </a:r>
            <a:r>
              <a:rPr lang="en-US" sz="2400" dirty="0"/>
              <a:t>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>
                <a:solidFill>
                  <a:srgbClr val="C00000"/>
                </a:solidFill>
              </a:rPr>
              <a:t>Split</a:t>
            </a:r>
            <a:r>
              <a:rPr lang="en-US" sz="2400" noProof="0" dirty="0"/>
              <a:t>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Compute</a:t>
            </a:r>
            <a:r>
              <a:rPr lang="en-US" sz="2400" dirty="0"/>
              <a:t>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</a:t>
                </a:r>
              </a:p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It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is</a:t>
                </a:r>
                <a:r>
                  <a:rPr lang="it-IT" sz="2400" dirty="0">
                    <a:ea typeface="Cambria Math" panose="02040503050406030204" pitchFamily="18" charset="0"/>
                  </a:rPr>
                  <a:t> a </a:t>
                </a:r>
                <a:r>
                  <a:rPr lang="it-IT" sz="2400" b="1" i="1" dirty="0">
                    <a:ea typeface="Cambria Math" panose="02040503050406030204" pitchFamily="18" charset="0"/>
                  </a:rPr>
                  <a:t>GAP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</a:t>
                </a:r>
                <a:r>
                  <a:rPr lang="it-IT" sz="2400" b="1" i="1" dirty="0">
                    <a:ea typeface="Cambria Math" panose="02040503050406030204" pitchFamily="18" charset="0"/>
                  </a:rPr>
                  <a:t>multiple </a:t>
                </a:r>
                <a:r>
                  <a:rPr lang="it-IT" sz="2400" b="1" i="1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b="1" i="1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232" b="-16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</a:t>
            </a:r>
            <a:r>
              <a:rPr lang="en-US" sz="2400" dirty="0">
                <a:solidFill>
                  <a:srgbClr val="C00000"/>
                </a:solidFill>
              </a:rPr>
              <a:t>F1 GAP-like instance </a:t>
            </a:r>
            <a:r>
              <a:rPr lang="en-US" sz="2400" dirty="0"/>
              <a:t>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unrelated-machine problem with a common due date</a:t>
            </a:r>
            <a:r>
              <a:rPr lang="en-US" sz="2000" dirty="0">
                <a:solidFill>
                  <a:schemeClr val="tx1"/>
                </a:solidFill>
              </a:rPr>
              <a:t>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>
                    <a:solidFill>
                      <a:srgbClr val="C00000"/>
                    </a:solidFill>
                  </a:rPr>
                  <a:t>For comparison</a:t>
                </a:r>
                <a:r>
                  <a:rPr lang="en-US" sz="2200" dirty="0"/>
                  <a:t>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>
                    <a:solidFill>
                      <a:srgbClr val="C00000"/>
                    </a:solidFill>
                  </a:rPr>
                  <a:t>Smaller but looser</a:t>
                </a:r>
                <a:r>
                  <a:rPr lang="en-US" sz="2200" dirty="0"/>
                  <a:t>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468039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111245"/>
            <a:ext cx="8389889" cy="492442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Implementation in C++, linking </a:t>
            </a:r>
            <a:r>
              <a:rPr lang="en-US" sz="2400" dirty="0" err="1"/>
              <a:t>Cplex</a:t>
            </a:r>
            <a:r>
              <a:rPr lang="en-US" sz="24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What-if analysis with data projected 6 months ahead (point forecasts).</a:t>
            </a:r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06668"/>
          </a:xfrm>
        </p:spPr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scenarios were deemed exceeding the future infrastructure. 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scenarios were deemed exceeding the future infrastructure.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E004-8CC5-9A44-4C5F-A9B3A23589C2}"/>
              </a:ext>
            </a:extLst>
          </p:cNvPr>
          <p:cNvSpPr txBox="1"/>
          <p:nvPr/>
        </p:nvSpPr>
        <p:spPr>
          <a:xfrm>
            <a:off x="363681" y="5330536"/>
            <a:ext cx="812569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High </a:t>
            </a:r>
            <a:r>
              <a:rPr lang="it-IT" sz="2400" dirty="0" err="1"/>
              <a:t>quality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obtained</a:t>
            </a:r>
            <a:r>
              <a:rPr lang="it-IT" sz="2400" dirty="0"/>
              <a:t> in limited </a:t>
            </a:r>
            <a:r>
              <a:rPr lang="it-IT" sz="2400" dirty="0" err="1"/>
              <a:t>computation</a:t>
            </a:r>
            <a:r>
              <a:rPr lang="it-IT" sz="2400" dirty="0"/>
              <a:t> time.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The degree of </a:t>
            </a:r>
            <a:r>
              <a:rPr lang="it-IT" sz="2400" dirty="0" err="1"/>
              <a:t>robustness</a:t>
            </a:r>
            <a:r>
              <a:rPr lang="it-IT" sz="2400" dirty="0"/>
              <a:t> can be </a:t>
            </a:r>
            <a:r>
              <a:rPr lang="it-IT" sz="2400" dirty="0" err="1"/>
              <a:t>gauged</a:t>
            </a:r>
            <a:r>
              <a:rPr lang="it-IT" sz="2400" dirty="0"/>
              <a:t> </a:t>
            </a:r>
            <a:r>
              <a:rPr lang="it-IT" sz="2400" dirty="0" err="1"/>
              <a:t>using</a:t>
            </a:r>
            <a:r>
              <a:rPr lang="it-IT" sz="2400" dirty="0"/>
              <a:t> easy-to-</a:t>
            </a:r>
            <a:r>
              <a:rPr lang="it-IT" sz="2400" dirty="0" err="1"/>
              <a:t>understand</a:t>
            </a:r>
            <a:r>
              <a:rPr lang="it-IT" sz="2400" dirty="0"/>
              <a:t> </a:t>
            </a:r>
            <a:r>
              <a:rPr lang="it-IT" sz="2400" dirty="0" err="1"/>
              <a:t>parameters</a:t>
            </a:r>
            <a:r>
              <a:rPr lang="it-IT" sz="2400" dirty="0"/>
              <a:t>.</a:t>
            </a:r>
            <a:endParaRPr lang="en-US" sz="24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D8CFC4F-F261-3E0B-D24E-81DD42BEB290}"/>
              </a:ext>
            </a:extLst>
          </p:cNvPr>
          <p:cNvSpPr/>
          <p:nvPr/>
        </p:nvSpPr>
        <p:spPr>
          <a:xfrm>
            <a:off x="4021283" y="4904509"/>
            <a:ext cx="810491" cy="426027"/>
          </a:xfrm>
          <a:prstGeom prst="downArrow">
            <a:avLst/>
          </a:prstGeom>
          <a:noFill/>
          <a:ln w="38100">
            <a:solidFill>
              <a:srgbClr val="C0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57150">
                <a:solidFill>
                  <a:srgbClr val="C0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951263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463196-26AA-46F0-D302-F3B7631C2F44}"/>
              </a:ext>
            </a:extLst>
          </p:cNvPr>
          <p:cNvSpPr txBox="1"/>
          <p:nvPr/>
        </p:nvSpPr>
        <p:spPr>
          <a:xfrm>
            <a:off x="966360" y="5756562"/>
            <a:ext cx="816185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A </a:t>
            </a:r>
            <a:r>
              <a:rPr lang="it-IT" sz="2400" dirty="0" err="1"/>
              <a:t>usage</a:t>
            </a:r>
            <a:r>
              <a:rPr lang="it-IT" sz="2400" dirty="0"/>
              <a:t>-ready </a:t>
            </a:r>
            <a:r>
              <a:rPr lang="it-IT" sz="2400" dirty="0" err="1"/>
              <a:t>solution</a:t>
            </a:r>
            <a:r>
              <a:rPr lang="it-IT" sz="2400" dirty="0"/>
              <a:t>, </a:t>
            </a:r>
            <a:r>
              <a:rPr lang="it-IT" sz="2400" dirty="0" err="1"/>
              <a:t>robustness</a:t>
            </a:r>
            <a:r>
              <a:rPr lang="it-IT" sz="2400" dirty="0"/>
              <a:t> </a:t>
            </a:r>
            <a:r>
              <a:rPr lang="it-IT" sz="2400" dirty="0" err="1"/>
              <a:t>absorbed</a:t>
            </a:r>
            <a:r>
              <a:rPr lang="it-IT" sz="2400" dirty="0"/>
              <a:t> in the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preparation</a:t>
            </a:r>
            <a:r>
              <a:rPr lang="it-IT" sz="2400" dirty="0"/>
              <a:t> times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262744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 featuring: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 enabled by bootstrapped forecasting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data-driven, cost-aware scenario generation </a:t>
            </a:r>
            <a:r>
              <a:rPr lang="en-US" sz="2400" dirty="0"/>
              <a:t>fed into stochastic SAA optimization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easy application to real-world contexts </a:t>
            </a:r>
            <a:r>
              <a:rPr lang="en-US" sz="2400" dirty="0"/>
              <a:t>even with nonstationary noisy historical data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managerial interest </a:t>
            </a:r>
            <a:r>
              <a:rPr lang="en-US" sz="2400" dirty="0"/>
              <a:t>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4646</TotalTime>
  <Words>5148</Words>
  <Application>Microsoft Office PowerPoint</Application>
  <PresentationFormat>On-screen Show (4:3)</PresentationFormat>
  <Paragraphs>620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8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CMMI7</vt:lpstr>
      <vt:lpstr>ManiezzoSlides</vt:lpstr>
      <vt:lpstr>Palace Script MT</vt:lpstr>
      <vt:lpstr>SFRM1000</vt:lpstr>
      <vt:lpstr>Symbol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Distributional ignorance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Bootstrapping, how we did it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Entropy tilting</vt:lpstr>
      <vt:lpstr>BESO-SAA</vt:lpstr>
      <vt:lpstr>BESO-SAA</vt:lpstr>
      <vt:lpstr>BESO-DRO</vt:lpstr>
      <vt:lpstr>Tests, forecasts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Daily number of outbound SKUs</vt:lpstr>
      <vt:lpstr>If one has a hammer …</vt:lpstr>
      <vt:lpstr>From global to detailed</vt:lpstr>
      <vt:lpstr>bootstrapping</vt:lpstr>
      <vt:lpstr>Deterministic scheduling: F1</vt:lpstr>
      <vt:lpstr>Deterministic scheduling F1</vt:lpstr>
      <vt:lpstr>Stochastic scheduling, F1</vt:lpstr>
      <vt:lpstr>Entropy tilting</vt:lpstr>
      <vt:lpstr>Deterministic scheduling: F2</vt:lpstr>
      <vt:lpstr>Deterministic scheduling F2</vt:lpstr>
      <vt:lpstr>Stochastic scheduling F2</vt:lpstr>
      <vt:lpstr>BESO-SAA F2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461</cp:revision>
  <cp:lastPrinted>2026-10-19T08:12:27Z</cp:lastPrinted>
  <dcterms:created xsi:type="dcterms:W3CDTF">2024-02-06T11:14:54Z</dcterms:created>
  <dcterms:modified xsi:type="dcterms:W3CDTF">2026-10-28T19:02:20Z</dcterms:modified>
</cp:coreProperties>
</file>
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278" r:id="rId31"/>
    <p:sldId id="347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352" r:id="rId48"/>
    <p:sldId id="291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00" r:id="rId58"/>
    <p:sldId id="349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70" d="100"/>
          <a:sy n="70" d="100"/>
        </p:scale>
        <p:origin x="660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 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 err="1">
                    <a:solidFill>
                      <a:schemeClr val="tx1"/>
                    </a:solidFill>
                  </a:rPr>
                  <a:t>Robu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14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569027"/>
            <a:ext cx="9060874" cy="4530437"/>
          </a:xfrm>
        </p:spPr>
      </p:pic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73916"/>
            <a:ext cx="8546175" cy="525939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Bootstrap-based forecasting </a:t>
            </a:r>
            <a:r>
              <a:rPr lang="en-US" sz="2400" dirty="0">
                <a:solidFill>
                  <a:srgbClr val="C00000"/>
                </a:solidFill>
              </a:rPr>
              <a:t>outperformed</a:t>
            </a:r>
            <a:r>
              <a:rPr lang="en-US" sz="2400" dirty="0"/>
              <a:t> the statistical and AI-based alternatives tested in our case study.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Bootstrap-based forecasting estimates a predictive distribution of future requests, </a:t>
            </a:r>
            <a:r>
              <a:rPr lang="en-US" sz="2400" dirty="0">
                <a:solidFill>
                  <a:srgbClr val="C00000"/>
                </a:solidFill>
              </a:rPr>
              <a:t>supporting data-driven scenario generation </a:t>
            </a:r>
            <a:r>
              <a:rPr lang="en-US" sz="2400" dirty="0"/>
              <a:t>while considering both costs and forecast uncertainty.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BESO supports both SAA and DRO formulations, with competitive performance.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BESO framework combines MEB-based forecasting with bootstrap-driven SAA or DRO and is not restricted to this case study.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approach is </a:t>
            </a:r>
            <a:r>
              <a:rPr lang="en-US" sz="2400" dirty="0">
                <a:solidFill>
                  <a:srgbClr val="C00000"/>
                </a:solidFill>
              </a:rPr>
              <a:t>straightforward to implement</a:t>
            </a:r>
            <a:r>
              <a:rPr lang="en-US" sz="2400" dirty="0"/>
              <a:t>, and its results are </a:t>
            </a:r>
            <a:r>
              <a:rPr lang="en-US" sz="2400" dirty="0">
                <a:solidFill>
                  <a:srgbClr val="C00000"/>
                </a:solidFill>
              </a:rPr>
              <a:t>easy to explain </a:t>
            </a:r>
            <a:r>
              <a:rPr lang="en-US" sz="2400" dirty="0"/>
              <a:t>and justify.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771055" cy="5259392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chemeClr val="accent2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number of SKU (</a:t>
            </a:r>
            <a:r>
              <a:rPr lang="en-US" sz="2400" i="1" dirty="0"/>
              <a:t>pallets, HU</a:t>
            </a:r>
            <a:r>
              <a:rPr lang="en-US" sz="2400" dirty="0"/>
              <a:t>) and corresponding daily shipments 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028117"/>
            <a:ext cx="8389889" cy="544764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  <a:p>
            <a:pPr algn="l">
              <a:spcBef>
                <a:spcPts val="1200"/>
              </a:spcBef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1200647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442528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case.</a:t>
            </a:r>
          </a:p>
          <a:p>
            <a:r>
              <a:rPr lang="en-US" sz="2400" dirty="0"/>
              <a:t>Bootstrapped forecasting enables an </a:t>
            </a: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estimation, supporting </a:t>
            </a:r>
            <a:r>
              <a:rPr lang="en-US" sz="2400" dirty="0">
                <a:solidFill>
                  <a:srgbClr val="C00000"/>
                </a:solidFill>
              </a:rPr>
              <a:t>data-driven scenario generation</a:t>
            </a:r>
            <a:r>
              <a:rPr lang="en-US" sz="2400" dirty="0"/>
              <a:t>.</a:t>
            </a:r>
          </a:p>
          <a:p>
            <a:r>
              <a:rPr lang="en-US" sz="2400" dirty="0"/>
              <a:t>The approach, tilted MEB for forecasting and SAA based on the bootstrapped series, </a:t>
            </a:r>
            <a:r>
              <a:rPr lang="en-US" sz="2400" dirty="0">
                <a:solidFill>
                  <a:srgbClr val="C00000"/>
                </a:solidFill>
              </a:rPr>
              <a:t>can easily be applied in real-world contexts where reliable forecasts for future variables are available.</a:t>
            </a:r>
            <a:endParaRPr lang="en-US" sz="2400" dirty="0"/>
          </a:p>
          <a:p>
            <a:r>
              <a:rPr lang="en-US" sz="2400" dirty="0"/>
              <a:t>It is of interest from an application perspective 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r>
              <a:rPr lang="en-US" sz="2400" dirty="0"/>
              <a:t>BESO bridges forecasting and optimization for practical warehouse decisions under uncertainty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4364</TotalTime>
  <Words>5085</Words>
  <Application>Microsoft Office PowerPoint</Application>
  <PresentationFormat>On-screen Show (4:3)</PresentationFormat>
  <Paragraphs>611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8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Symbol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BESO-SAA</vt:lpstr>
      <vt:lpstr>Entropy tilting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435</cp:revision>
  <cp:lastPrinted>2026-10-19T08:12:27Z</cp:lastPrinted>
  <dcterms:created xsi:type="dcterms:W3CDTF">2024-02-06T11:14:54Z</dcterms:created>
  <dcterms:modified xsi:type="dcterms:W3CDTF">2026-10-25T06:01:14Z</dcterms:modified>
</cp:coreProperties>
</file>
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2" r:id="rId2"/>
  </p:sldMasterIdLst>
  <p:sldIdLst>
    <p:sldId id="256" r:id="rId3"/>
    <p:sldId id="294" r:id="rId4"/>
    <p:sldId id="309" r:id="rId5"/>
    <p:sldId id="310" r:id="rId6"/>
    <p:sldId id="546" r:id="rId7"/>
    <p:sldId id="333" r:id="rId8"/>
    <p:sldId id="334" r:id="rId9"/>
    <p:sldId id="335" r:id="rId10"/>
    <p:sldId id="336" r:id="rId11"/>
    <p:sldId id="337" r:id="rId12"/>
    <p:sldId id="338" r:id="rId13"/>
    <p:sldId id="320" r:id="rId14"/>
    <p:sldId id="339" r:id="rId15"/>
    <p:sldId id="322" r:id="rId16"/>
    <p:sldId id="323" r:id="rId17"/>
    <p:sldId id="275" r:id="rId18"/>
    <p:sldId id="340" r:id="rId19"/>
    <p:sldId id="341" r:id="rId20"/>
    <p:sldId id="342" r:id="rId21"/>
    <p:sldId id="343" r:id="rId22"/>
    <p:sldId id="346" r:id="rId23"/>
    <p:sldId id="344" r:id="rId24"/>
    <p:sldId id="345" r:id="rId25"/>
    <p:sldId id="547" r:id="rId26"/>
    <p:sldId id="257" r:id="rId27"/>
    <p:sldId id="319" r:id="rId28"/>
    <p:sldId id="267" r:id="rId29"/>
    <p:sldId id="273" r:id="rId30"/>
    <p:sldId id="347" r:id="rId31"/>
    <p:sldId id="278" r:id="rId32"/>
    <p:sldId id="274" r:id="rId33"/>
    <p:sldId id="348" r:id="rId34"/>
    <p:sldId id="277" r:id="rId35"/>
    <p:sldId id="259" r:id="rId36"/>
    <p:sldId id="265" r:id="rId37"/>
    <p:sldId id="280" r:id="rId38"/>
    <p:sldId id="279" r:id="rId39"/>
    <p:sldId id="266" r:id="rId40"/>
    <p:sldId id="260" r:id="rId41"/>
    <p:sldId id="548" r:id="rId42"/>
    <p:sldId id="284" r:id="rId43"/>
    <p:sldId id="289" r:id="rId44"/>
    <p:sldId id="288" r:id="rId45"/>
    <p:sldId id="351" r:id="rId46"/>
    <p:sldId id="290" r:id="rId47"/>
    <p:sldId id="352" r:id="rId48"/>
    <p:sldId id="291" r:id="rId49"/>
    <p:sldId id="292" r:id="rId50"/>
    <p:sldId id="286" r:id="rId51"/>
    <p:sldId id="287" r:id="rId52"/>
    <p:sldId id="297" r:id="rId53"/>
    <p:sldId id="324" r:id="rId54"/>
    <p:sldId id="295" r:id="rId55"/>
    <p:sldId id="332" r:id="rId56"/>
    <p:sldId id="330" r:id="rId57"/>
    <p:sldId id="300" r:id="rId58"/>
    <p:sldId id="349" r:id="rId59"/>
    <p:sldId id="326" r:id="rId60"/>
    <p:sldId id="306" r:id="rId61"/>
    <p:sldId id="350" r:id="rId62"/>
    <p:sldId id="293" r:id="rId63"/>
    <p:sldId id="308" r:id="rId64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7" autoAdjust="0"/>
    <p:restoredTop sz="95736" autoAdjust="0"/>
  </p:normalViewPr>
  <p:slideViewPr>
    <p:cSldViewPr snapToGrid="0">
      <p:cViewPr varScale="1">
        <p:scale>
          <a:sx n="97" d="100"/>
          <a:sy n="97" d="100"/>
        </p:scale>
        <p:origin x="112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9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used cars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34925" cap="rnd">
                <a:solidFill>
                  <a:srgbClr val="FF0000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val>
            <c:numRef>
              <c:f>Sheet1!$B$1:$B$84</c:f>
              <c:numCache>
                <c:formatCode>General</c:formatCode>
                <c:ptCount val="84"/>
                <c:pt idx="0">
                  <c:v>6766</c:v>
                </c:pt>
                <c:pt idx="1">
                  <c:v>8397</c:v>
                </c:pt>
                <c:pt idx="2">
                  <c:v>8250</c:v>
                </c:pt>
                <c:pt idx="3">
                  <c:v>7411</c:v>
                </c:pt>
                <c:pt idx="4">
                  <c:v>7190</c:v>
                </c:pt>
                <c:pt idx="5">
                  <c:v>6970</c:v>
                </c:pt>
                <c:pt idx="6">
                  <c:v>6963</c:v>
                </c:pt>
                <c:pt idx="7">
                  <c:v>7269</c:v>
                </c:pt>
                <c:pt idx="8">
                  <c:v>6243</c:v>
                </c:pt>
                <c:pt idx="9">
                  <c:v>6682</c:v>
                </c:pt>
                <c:pt idx="10">
                  <c:v>6183</c:v>
                </c:pt>
                <c:pt idx="11">
                  <c:v>5592</c:v>
                </c:pt>
                <c:pt idx="12">
                  <c:v>6065</c:v>
                </c:pt>
                <c:pt idx="13">
                  <c:v>8022</c:v>
                </c:pt>
                <c:pt idx="14">
                  <c:v>8564</c:v>
                </c:pt>
                <c:pt idx="15">
                  <c:v>7601</c:v>
                </c:pt>
                <c:pt idx="16">
                  <c:v>7695</c:v>
                </c:pt>
                <c:pt idx="17">
                  <c:v>7542</c:v>
                </c:pt>
                <c:pt idx="18">
                  <c:v>7657</c:v>
                </c:pt>
                <c:pt idx="19">
                  <c:v>7936</c:v>
                </c:pt>
                <c:pt idx="20">
                  <c:v>7584</c:v>
                </c:pt>
                <c:pt idx="21">
                  <c:v>7933</c:v>
                </c:pt>
                <c:pt idx="22">
                  <c:v>6822</c:v>
                </c:pt>
                <c:pt idx="23">
                  <c:v>7003</c:v>
                </c:pt>
                <c:pt idx="24">
                  <c:v>7435</c:v>
                </c:pt>
                <c:pt idx="25">
                  <c:v>9092</c:v>
                </c:pt>
                <c:pt idx="26">
                  <c:v>9331</c:v>
                </c:pt>
                <c:pt idx="27">
                  <c:v>8969</c:v>
                </c:pt>
                <c:pt idx="28">
                  <c:v>8544</c:v>
                </c:pt>
                <c:pt idx="29">
                  <c:v>8337</c:v>
                </c:pt>
                <c:pt idx="30">
                  <c:v>8377</c:v>
                </c:pt>
                <c:pt idx="31">
                  <c:v>8353</c:v>
                </c:pt>
                <c:pt idx="32">
                  <c:v>7689</c:v>
                </c:pt>
                <c:pt idx="33">
                  <c:v>7911</c:v>
                </c:pt>
                <c:pt idx="34">
                  <c:v>7193</c:v>
                </c:pt>
                <c:pt idx="35">
                  <c:v>7099</c:v>
                </c:pt>
                <c:pt idx="36">
                  <c:v>7638</c:v>
                </c:pt>
                <c:pt idx="37">
                  <c:v>10269</c:v>
                </c:pt>
                <c:pt idx="38">
                  <c:v>9947</c:v>
                </c:pt>
                <c:pt idx="39">
                  <c:v>9093</c:v>
                </c:pt>
                <c:pt idx="40">
                  <c:v>8490</c:v>
                </c:pt>
                <c:pt idx="41">
                  <c:v>8896</c:v>
                </c:pt>
                <c:pt idx="42">
                  <c:v>8743</c:v>
                </c:pt>
                <c:pt idx="43">
                  <c:v>9287</c:v>
                </c:pt>
                <c:pt idx="44">
                  <c:v>8421</c:v>
                </c:pt>
                <c:pt idx="45">
                  <c:v>8792</c:v>
                </c:pt>
                <c:pt idx="46">
                  <c:v>7864</c:v>
                </c:pt>
                <c:pt idx="47">
                  <c:v>8465</c:v>
                </c:pt>
                <c:pt idx="48">
                  <c:v>8497</c:v>
                </c:pt>
                <c:pt idx="49">
                  <c:v>9598</c:v>
                </c:pt>
                <c:pt idx="50">
                  <c:v>10955</c:v>
                </c:pt>
                <c:pt idx="51">
                  <c:v>9237</c:v>
                </c:pt>
                <c:pt idx="52">
                  <c:v>9726</c:v>
                </c:pt>
                <c:pt idx="53">
                  <c:v>9778</c:v>
                </c:pt>
                <c:pt idx="54">
                  <c:v>9527</c:v>
                </c:pt>
                <c:pt idx="55">
                  <c:v>9632</c:v>
                </c:pt>
                <c:pt idx="56">
                  <c:v>9265</c:v>
                </c:pt>
                <c:pt idx="57">
                  <c:v>9139</c:v>
                </c:pt>
                <c:pt idx="58">
                  <c:v>8594</c:v>
                </c:pt>
                <c:pt idx="59">
                  <c:v>8226</c:v>
                </c:pt>
                <c:pt idx="60">
                  <c:v>8836</c:v>
                </c:pt>
                <c:pt idx="61">
                  <c:v>9923</c:v>
                </c:pt>
                <c:pt idx="62">
                  <c:v>11259</c:v>
                </c:pt>
                <c:pt idx="63">
                  <c:v>9543</c:v>
                </c:pt>
                <c:pt idx="64">
                  <c:v>10096</c:v>
                </c:pt>
                <c:pt idx="65">
                  <c:v>9777</c:v>
                </c:pt>
                <c:pt idx="66">
                  <c:v>9788</c:v>
                </c:pt>
                <c:pt idx="67">
                  <c:v>10081</c:v>
                </c:pt>
                <c:pt idx="68">
                  <c:v>8951</c:v>
                </c:pt>
                <c:pt idx="69">
                  <c:v>9104</c:v>
                </c:pt>
                <c:pt idx="70">
                  <c:v>8656</c:v>
                </c:pt>
                <c:pt idx="71">
                  <c:v>8376</c:v>
                </c:pt>
                <c:pt idx="72">
                  <c:v>8828</c:v>
                </c:pt>
                <c:pt idx="73">
                  <c:v>9675</c:v>
                </c:pt>
                <c:pt idx="74">
                  <c:v>11856</c:v>
                </c:pt>
                <c:pt idx="75">
                  <c:v>10345</c:v>
                </c:pt>
                <c:pt idx="76">
                  <c:v>10549</c:v>
                </c:pt>
                <c:pt idx="77">
                  <c:v>10078</c:v>
                </c:pt>
                <c:pt idx="78">
                  <c:v>10255</c:v>
                </c:pt>
                <c:pt idx="79">
                  <c:v>10357</c:v>
                </c:pt>
                <c:pt idx="80">
                  <c:v>9404</c:v>
                </c:pt>
                <c:pt idx="81">
                  <c:v>9696</c:v>
                </c:pt>
                <c:pt idx="82">
                  <c:v>9355</c:v>
                </c:pt>
                <c:pt idx="83">
                  <c:v>8669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A9-43B2-BECA-98F555A6AB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2261408"/>
        <c:axId val="1032265152"/>
      </c:lineChart>
      <c:catAx>
        <c:axId val="1032261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265152"/>
        <c:crosses val="autoZero"/>
        <c:auto val="1"/>
        <c:lblAlgn val="ctr"/>
        <c:lblOffset val="100"/>
        <c:tickLblSkip val="6"/>
        <c:tickMarkSkip val="1"/>
        <c:noMultiLvlLbl val="0"/>
      </c:catAx>
      <c:valAx>
        <c:axId val="10322651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2261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Detrended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val>
            <c:numRef>
              <c:f>Sheet1!$A$20:$A$103</c:f>
              <c:numCache>
                <c:formatCode>General</c:formatCode>
                <c:ptCount val="84"/>
                <c:pt idx="0">
                  <c:v>-252</c:v>
                </c:pt>
                <c:pt idx="1">
                  <c:v>1340</c:v>
                </c:pt>
                <c:pt idx="2">
                  <c:v>1155</c:v>
                </c:pt>
                <c:pt idx="3">
                  <c:v>277</c:v>
                </c:pt>
                <c:pt idx="4">
                  <c:v>17</c:v>
                </c:pt>
                <c:pt idx="5">
                  <c:v>-241</c:v>
                </c:pt>
                <c:pt idx="6">
                  <c:v>-287</c:v>
                </c:pt>
                <c:pt idx="7">
                  <c:v>180</c:v>
                </c:pt>
                <c:pt idx="8">
                  <c:v>-684</c:v>
                </c:pt>
                <c:pt idx="9">
                  <c:v>-284</c:v>
                </c:pt>
                <c:pt idx="10">
                  <c:v>-821</c:v>
                </c:pt>
                <c:pt idx="11">
                  <c:v>-1251</c:v>
                </c:pt>
                <c:pt idx="12">
                  <c:v>-817</c:v>
                </c:pt>
                <c:pt idx="13">
                  <c:v>502</c:v>
                </c:pt>
                <c:pt idx="14">
                  <c:v>1005</c:v>
                </c:pt>
                <c:pt idx="15">
                  <c:v>3</c:v>
                </c:pt>
                <c:pt idx="16">
                  <c:v>59</c:v>
                </c:pt>
                <c:pt idx="17">
                  <c:v>-133</c:v>
                </c:pt>
                <c:pt idx="18">
                  <c:v>-57</c:v>
                </c:pt>
                <c:pt idx="19">
                  <c:v>184</c:v>
                </c:pt>
                <c:pt idx="20">
                  <c:v>-207</c:v>
                </c:pt>
                <c:pt idx="21">
                  <c:v>104</c:v>
                </c:pt>
                <c:pt idx="22">
                  <c:v>-1046</c:v>
                </c:pt>
                <c:pt idx="23">
                  <c:v>-904</c:v>
                </c:pt>
                <c:pt idx="24">
                  <c:v>-510</c:v>
                </c:pt>
                <c:pt idx="25">
                  <c:v>1108</c:v>
                </c:pt>
                <c:pt idx="26">
                  <c:v>1308</c:v>
                </c:pt>
                <c:pt idx="27">
                  <c:v>908</c:v>
                </c:pt>
                <c:pt idx="28">
                  <c:v>444</c:v>
                </c:pt>
                <c:pt idx="29">
                  <c:v>198</c:v>
                </c:pt>
                <c:pt idx="30">
                  <c:v>200</c:v>
                </c:pt>
                <c:pt idx="31">
                  <c:v>137</c:v>
                </c:pt>
                <c:pt idx="32">
                  <c:v>-565</c:v>
                </c:pt>
                <c:pt idx="33">
                  <c:v>-382</c:v>
                </c:pt>
                <c:pt idx="34">
                  <c:v>-1139</c:v>
                </c:pt>
                <c:pt idx="35">
                  <c:v>-1271</c:v>
                </c:pt>
                <c:pt idx="36">
                  <c:v>-771</c:v>
                </c:pt>
                <c:pt idx="37">
                  <c:v>1821</c:v>
                </c:pt>
                <c:pt idx="38">
                  <c:v>1461</c:v>
                </c:pt>
                <c:pt idx="39">
                  <c:v>568</c:v>
                </c:pt>
                <c:pt idx="40">
                  <c:v>-74</c:v>
                </c:pt>
                <c:pt idx="41">
                  <c:v>294</c:v>
                </c:pt>
                <c:pt idx="42">
                  <c:v>102</c:v>
                </c:pt>
                <c:pt idx="43">
                  <c:v>608</c:v>
                </c:pt>
                <c:pt idx="44">
                  <c:v>-297</c:v>
                </c:pt>
                <c:pt idx="45">
                  <c:v>35</c:v>
                </c:pt>
                <c:pt idx="46">
                  <c:v>-931</c:v>
                </c:pt>
                <c:pt idx="47">
                  <c:v>-369</c:v>
                </c:pt>
                <c:pt idx="48">
                  <c:v>-376</c:v>
                </c:pt>
                <c:pt idx="49">
                  <c:v>687</c:v>
                </c:pt>
                <c:pt idx="50">
                  <c:v>2005</c:v>
                </c:pt>
                <c:pt idx="51">
                  <c:v>248</c:v>
                </c:pt>
                <c:pt idx="52">
                  <c:v>699</c:v>
                </c:pt>
                <c:pt idx="53">
                  <c:v>712</c:v>
                </c:pt>
                <c:pt idx="54">
                  <c:v>423</c:v>
                </c:pt>
                <c:pt idx="55">
                  <c:v>489</c:v>
                </c:pt>
                <c:pt idx="56">
                  <c:v>83</c:v>
                </c:pt>
                <c:pt idx="57">
                  <c:v>-81</c:v>
                </c:pt>
                <c:pt idx="58">
                  <c:v>-665</c:v>
                </c:pt>
                <c:pt idx="59">
                  <c:v>-1072</c:v>
                </c:pt>
                <c:pt idx="60">
                  <c:v>-500</c:v>
                </c:pt>
                <c:pt idx="61">
                  <c:v>548</c:v>
                </c:pt>
                <c:pt idx="62">
                  <c:v>1845</c:v>
                </c:pt>
                <c:pt idx="63">
                  <c:v>91</c:v>
                </c:pt>
                <c:pt idx="64">
                  <c:v>605</c:v>
                </c:pt>
                <c:pt idx="65">
                  <c:v>248</c:v>
                </c:pt>
                <c:pt idx="66">
                  <c:v>220</c:v>
                </c:pt>
                <c:pt idx="67">
                  <c:v>474</c:v>
                </c:pt>
                <c:pt idx="68">
                  <c:v>-694</c:v>
                </c:pt>
                <c:pt idx="69">
                  <c:v>-580</c:v>
                </c:pt>
                <c:pt idx="70">
                  <c:v>-1067</c:v>
                </c:pt>
                <c:pt idx="71">
                  <c:v>-1385</c:v>
                </c:pt>
                <c:pt idx="72">
                  <c:v>-972</c:v>
                </c:pt>
                <c:pt idx="73">
                  <c:v>-164</c:v>
                </c:pt>
                <c:pt idx="74">
                  <c:v>1979</c:v>
                </c:pt>
                <c:pt idx="75">
                  <c:v>429</c:v>
                </c:pt>
                <c:pt idx="76">
                  <c:v>595</c:v>
                </c:pt>
                <c:pt idx="77">
                  <c:v>85</c:v>
                </c:pt>
                <c:pt idx="78">
                  <c:v>223</c:v>
                </c:pt>
                <c:pt idx="79">
                  <c:v>287</c:v>
                </c:pt>
                <c:pt idx="80">
                  <c:v>-705</c:v>
                </c:pt>
                <c:pt idx="81">
                  <c:v>-452</c:v>
                </c:pt>
                <c:pt idx="82">
                  <c:v>-831</c:v>
                </c:pt>
                <c:pt idx="83">
                  <c:v>-1556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A1-42A6-A815-947698503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30017088"/>
        <c:axId val="1030013760"/>
      </c:lineChart>
      <c:catAx>
        <c:axId val="1030017088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013760"/>
        <c:crosses val="autoZero"/>
        <c:auto val="1"/>
        <c:lblAlgn val="ctr"/>
        <c:lblOffset val="100"/>
        <c:tickLblSkip val="6"/>
        <c:noMultiLvlLbl val="0"/>
      </c:catAx>
      <c:valAx>
        <c:axId val="1030013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3001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Deseasonalized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val>
            <c:numRef>
              <c:f>Sheet1!$E$23:$E$106</c:f>
              <c:numCache>
                <c:formatCode>General</c:formatCode>
                <c:ptCount val="84"/>
                <c:pt idx="0">
                  <c:v>433</c:v>
                </c:pt>
                <c:pt idx="1">
                  <c:v>506</c:v>
                </c:pt>
                <c:pt idx="2">
                  <c:v>-382</c:v>
                </c:pt>
                <c:pt idx="3">
                  <c:v>-84</c:v>
                </c:pt>
                <c:pt idx="4">
                  <c:v>-318</c:v>
                </c:pt>
                <c:pt idx="5">
                  <c:v>-407</c:v>
                </c:pt>
                <c:pt idx="6">
                  <c:v>-405</c:v>
                </c:pt>
                <c:pt idx="7">
                  <c:v>-128</c:v>
                </c:pt>
                <c:pt idx="8">
                  <c:v>-189</c:v>
                </c:pt>
                <c:pt idx="9">
                  <c:v>8</c:v>
                </c:pt>
                <c:pt idx="10">
                  <c:v>164</c:v>
                </c:pt>
                <c:pt idx="11">
                  <c:v>-50</c:v>
                </c:pt>
                <c:pt idx="12">
                  <c:v>-131</c:v>
                </c:pt>
                <c:pt idx="13">
                  <c:v>-333</c:v>
                </c:pt>
                <c:pt idx="14">
                  <c:v>-532</c:v>
                </c:pt>
                <c:pt idx="15">
                  <c:v>-357</c:v>
                </c:pt>
                <c:pt idx="16">
                  <c:v>-276</c:v>
                </c:pt>
                <c:pt idx="17">
                  <c:v>-299</c:v>
                </c:pt>
                <c:pt idx="18">
                  <c:v>-174</c:v>
                </c:pt>
                <c:pt idx="19">
                  <c:v>-125</c:v>
                </c:pt>
                <c:pt idx="20">
                  <c:v>289</c:v>
                </c:pt>
                <c:pt idx="21">
                  <c:v>395</c:v>
                </c:pt>
                <c:pt idx="22">
                  <c:v>-60</c:v>
                </c:pt>
                <c:pt idx="23">
                  <c:v>297</c:v>
                </c:pt>
                <c:pt idx="24">
                  <c:v>175</c:v>
                </c:pt>
                <c:pt idx="25">
                  <c:v>273</c:v>
                </c:pt>
                <c:pt idx="26">
                  <c:v>-229</c:v>
                </c:pt>
                <c:pt idx="27">
                  <c:v>547</c:v>
                </c:pt>
                <c:pt idx="28">
                  <c:v>109</c:v>
                </c:pt>
                <c:pt idx="29">
                  <c:v>32</c:v>
                </c:pt>
                <c:pt idx="30">
                  <c:v>82</c:v>
                </c:pt>
                <c:pt idx="31">
                  <c:v>-171</c:v>
                </c:pt>
                <c:pt idx="32">
                  <c:v>-70</c:v>
                </c:pt>
                <c:pt idx="33">
                  <c:v>-91</c:v>
                </c:pt>
                <c:pt idx="34">
                  <c:v>-153</c:v>
                </c:pt>
                <c:pt idx="35">
                  <c:v>-70</c:v>
                </c:pt>
                <c:pt idx="36">
                  <c:v>-86</c:v>
                </c:pt>
                <c:pt idx="37">
                  <c:v>987</c:v>
                </c:pt>
                <c:pt idx="38">
                  <c:v>-76</c:v>
                </c:pt>
                <c:pt idx="39">
                  <c:v>207</c:v>
                </c:pt>
                <c:pt idx="40">
                  <c:v>-409</c:v>
                </c:pt>
                <c:pt idx="41">
                  <c:v>128</c:v>
                </c:pt>
                <c:pt idx="42">
                  <c:v>-16</c:v>
                </c:pt>
                <c:pt idx="43">
                  <c:v>299</c:v>
                </c:pt>
                <c:pt idx="44">
                  <c:v>199</c:v>
                </c:pt>
                <c:pt idx="45">
                  <c:v>327</c:v>
                </c:pt>
                <c:pt idx="46">
                  <c:v>54</c:v>
                </c:pt>
                <c:pt idx="47">
                  <c:v>832</c:v>
                </c:pt>
                <c:pt idx="48">
                  <c:v>310</c:v>
                </c:pt>
                <c:pt idx="49">
                  <c:v>-148</c:v>
                </c:pt>
                <c:pt idx="50">
                  <c:v>468</c:v>
                </c:pt>
                <c:pt idx="51">
                  <c:v>-112</c:v>
                </c:pt>
                <c:pt idx="52">
                  <c:v>364</c:v>
                </c:pt>
                <c:pt idx="53">
                  <c:v>546</c:v>
                </c:pt>
                <c:pt idx="54">
                  <c:v>305</c:v>
                </c:pt>
                <c:pt idx="55">
                  <c:v>181</c:v>
                </c:pt>
                <c:pt idx="56">
                  <c:v>579</c:v>
                </c:pt>
                <c:pt idx="57">
                  <c:v>210</c:v>
                </c:pt>
                <c:pt idx="58">
                  <c:v>321</c:v>
                </c:pt>
                <c:pt idx="59">
                  <c:v>130</c:v>
                </c:pt>
                <c:pt idx="60">
                  <c:v>185</c:v>
                </c:pt>
                <c:pt idx="61">
                  <c:v>-287</c:v>
                </c:pt>
                <c:pt idx="62">
                  <c:v>309</c:v>
                </c:pt>
                <c:pt idx="63">
                  <c:v>-270</c:v>
                </c:pt>
                <c:pt idx="64">
                  <c:v>270</c:v>
                </c:pt>
                <c:pt idx="65">
                  <c:v>81</c:v>
                </c:pt>
                <c:pt idx="66">
                  <c:v>102</c:v>
                </c:pt>
                <c:pt idx="67">
                  <c:v>166</c:v>
                </c:pt>
                <c:pt idx="68">
                  <c:v>-199</c:v>
                </c:pt>
                <c:pt idx="69">
                  <c:v>-289</c:v>
                </c:pt>
                <c:pt idx="70">
                  <c:v>-81</c:v>
                </c:pt>
                <c:pt idx="71">
                  <c:v>-184</c:v>
                </c:pt>
                <c:pt idx="72">
                  <c:v>-286</c:v>
                </c:pt>
                <c:pt idx="73">
                  <c:v>-998</c:v>
                </c:pt>
                <c:pt idx="74">
                  <c:v>442</c:v>
                </c:pt>
                <c:pt idx="75">
                  <c:v>69</c:v>
                </c:pt>
                <c:pt idx="76">
                  <c:v>260</c:v>
                </c:pt>
                <c:pt idx="77">
                  <c:v>-81</c:v>
                </c:pt>
                <c:pt idx="78">
                  <c:v>106</c:v>
                </c:pt>
                <c:pt idx="79">
                  <c:v>-22</c:v>
                </c:pt>
                <c:pt idx="80">
                  <c:v>-209</c:v>
                </c:pt>
                <c:pt idx="81">
                  <c:v>-160</c:v>
                </c:pt>
                <c:pt idx="82">
                  <c:v>155</c:v>
                </c:pt>
                <c:pt idx="83">
                  <c:v>-355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6C-4F33-8D44-4AF0BA7AD9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58891040"/>
        <c:axId val="1158892288"/>
      </c:lineChart>
      <c:catAx>
        <c:axId val="115889104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accent4">
                <a:lumMod val="75000"/>
                <a:alpha val="97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892288"/>
        <c:crosses val="autoZero"/>
        <c:auto val="1"/>
        <c:lblAlgn val="ctr"/>
        <c:lblOffset val="100"/>
        <c:tickLblSkip val="6"/>
        <c:noMultiLvlLbl val="0"/>
      </c:catAx>
      <c:valAx>
        <c:axId val="11588922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8891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6847" y="3657124"/>
            <a:ext cx="707429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400" cap="none" baseline="0">
                <a:solidFill>
                  <a:srgbClr val="002060"/>
                </a:solidFill>
                <a:latin typeface="AAchalk" pitchFamily="2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3" name="Title 1"/>
          <p:cNvSpPr>
            <a:spLocks noGrp="1"/>
          </p:cNvSpPr>
          <p:nvPr>
            <p:ph type="ctrTitle"/>
          </p:nvPr>
        </p:nvSpPr>
        <p:spPr>
          <a:xfrm>
            <a:off x="1032863" y="1905004"/>
            <a:ext cx="7078274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320584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5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0" name="Footer Placeholder 4">
            <a:extLst>
              <a:ext uri="{FF2B5EF4-FFF2-40B4-BE49-F238E27FC236}">
                <a16:creationId xmlns:a16="http://schemas.microsoft.com/office/drawing/2014/main" id="{E4BE8164-996A-474C-978A-F0A76F8C9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81" name="Slide Number Placeholder 5">
            <a:extLst>
              <a:ext uri="{FF2B5EF4-FFF2-40B4-BE49-F238E27FC236}">
                <a16:creationId xmlns:a16="http://schemas.microsoft.com/office/drawing/2014/main" id="{39CA8FFC-AF78-45E6-98A9-C8B0B8648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1530991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7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9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0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1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2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3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4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5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6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7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8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19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0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1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2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3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4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5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6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7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8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29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0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1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2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3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4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5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6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7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8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39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0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1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2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3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4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5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6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7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8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49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0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1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2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3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4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5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6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7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8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59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0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1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2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3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4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5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6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7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8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69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0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1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2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3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4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5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6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7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8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79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  <p:sp>
          <p:nvSpPr>
            <p:cNvPr id="80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800">
                <a:ln>
                  <a:noFill/>
                </a:ln>
              </a:endParaRPr>
            </a:p>
          </p:txBody>
        </p:sp>
      </p:grpSp>
      <p:sp>
        <p:nvSpPr>
          <p:cNvPr id="81" name="Footer Placeholder 4">
            <a:extLst>
              <a:ext uri="{FF2B5EF4-FFF2-40B4-BE49-F238E27FC236}">
                <a16:creationId xmlns:a16="http://schemas.microsoft.com/office/drawing/2014/main" id="{3E84B2B8-6A6C-4172-8F92-776075D81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59287632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C9A75-8A08-4035-85FB-5EA0B5BB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2090886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0"/>
          </p:nvPr>
        </p:nvSpPr>
        <p:spPr>
          <a:xfrm>
            <a:off x="107504" y="6597352"/>
            <a:ext cx="3096344" cy="26064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 dirty="0"/>
              <a:t>Vittorio Maniezzo - </a:t>
            </a:r>
            <a:r>
              <a:rPr lang="it-IT" dirty="0" err="1"/>
              <a:t>University</a:t>
            </a:r>
            <a:r>
              <a:rPr lang="it-IT" dirty="0"/>
              <a:t> of Bologna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95C6C1-66D2-4A7C-8B60-02391940B58A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9365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36848" y="3657125"/>
            <a:ext cx="7074291" cy="99107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215" cap="none" baseline="0">
                <a:solidFill>
                  <a:srgbClr val="002060"/>
                </a:solidFill>
                <a:latin typeface="AAchalk" pitchFamily="2" charset="0"/>
              </a:defRPr>
            </a:lvl1pPr>
            <a:lvl2pPr marL="422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440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66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110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532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54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43" name="Title 1"/>
          <p:cNvSpPr>
            <a:spLocks noGrp="1"/>
          </p:cNvSpPr>
          <p:nvPr>
            <p:ph type="ctrTitle"/>
          </p:nvPr>
        </p:nvSpPr>
        <p:spPr>
          <a:xfrm>
            <a:off x="1032863" y="1905006"/>
            <a:ext cx="7078274" cy="1625599"/>
          </a:xfrm>
        </p:spPr>
        <p:txBody>
          <a:bodyPr>
            <a:normAutofit/>
          </a:bodyPr>
          <a:lstStyle>
            <a:lvl1pPr algn="ctr">
              <a:lnSpc>
                <a:spcPct val="90000"/>
              </a:lnSpc>
              <a:defRPr sz="4431"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1039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Tx/>
              <a:defRPr/>
            </a:lvl1pPr>
            <a:lvl2pPr>
              <a:buClrTx/>
              <a:defRPr/>
            </a:lvl2pPr>
            <a:lvl3pPr>
              <a:buClrTx/>
              <a:defRPr/>
            </a:lvl3pPr>
            <a:lvl4pPr>
              <a:buClrTx/>
              <a:defRPr/>
            </a:lvl4pPr>
            <a:lvl5pPr>
              <a:buClrTx/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4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5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8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9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0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1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2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3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4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5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6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7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8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9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0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1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2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3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4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5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6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7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8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9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0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1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2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3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4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5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6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7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8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9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0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1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2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3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4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5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6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7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8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9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0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1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2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3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4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5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6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7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8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9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0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1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2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3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4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5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6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7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8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9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0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1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2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3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4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5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6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7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8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9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</p:grpSp>
      <p:sp>
        <p:nvSpPr>
          <p:cNvPr id="80" name="Footer Placeholder 4">
            <a:extLst>
              <a:ext uri="{FF2B5EF4-FFF2-40B4-BE49-F238E27FC236}">
                <a16:creationId xmlns:a16="http://schemas.microsoft.com/office/drawing/2014/main" id="{E4BE8164-996A-474C-978A-F0A76F8C9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6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 eaLnBrk="1" hangingPunct="1">
              <a:defRPr/>
            </a:pPr>
            <a:r>
              <a:rPr lang="it-IT"/>
              <a:t>Vittorio Maniezzo - University of Bologna </a:t>
            </a:r>
            <a:endParaRPr lang="it-IT" dirty="0"/>
          </a:p>
        </p:txBody>
      </p:sp>
      <p:sp>
        <p:nvSpPr>
          <p:cNvPr id="81" name="Slide Number Placeholder 5">
            <a:extLst>
              <a:ext uri="{FF2B5EF4-FFF2-40B4-BE49-F238E27FC236}">
                <a16:creationId xmlns:a16="http://schemas.microsoft.com/office/drawing/2014/main" id="{39CA8FFC-AF78-45E6-98A9-C8B0B8648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5">
                <a:solidFill>
                  <a:schemeClr val="tx1"/>
                </a:solidFill>
              </a:defRPr>
            </a:lvl1pPr>
          </a:lstStyle>
          <a:p>
            <a:pPr eaLnBrk="1" hangingPunct="1">
              <a:defRPr/>
            </a:pPr>
            <a:fld id="{476DEB1C-3253-4C07-8F02-456B7B2AD41D}" type="slidenum">
              <a:rPr lang="it-IT" smtClean="0"/>
              <a:pPr eaLnBrk="1" hangingPunct="1">
                <a:defRPr/>
              </a:pPr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3459909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eaLnBrk="1" hangingPunct="1">
              <a:defRPr/>
            </a:pPr>
            <a:fld id="{476DEB1C-3253-4C07-8F02-456B7B2AD41D}" type="slidenum">
              <a:rPr lang="it-IT" smtClean="0"/>
              <a:pPr eaLnBrk="1" hangingPunct="1">
                <a:defRPr/>
              </a:pPr>
              <a:t>‹#›</a:t>
            </a:fld>
            <a:endParaRPr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6" name="linea"/>
          <p:cNvGrpSpPr/>
          <p:nvPr/>
        </p:nvGrpSpPr>
        <p:grpSpPr bwMode="invGray">
          <a:xfrm>
            <a:off x="315162" y="840518"/>
            <a:ext cx="7929246" cy="64008"/>
            <a:chOff x="1522413" y="1514475"/>
            <a:chExt cx="10569575" cy="64008"/>
          </a:xfrm>
          <a:solidFill>
            <a:schemeClr val="accent2">
              <a:lumMod val="75000"/>
            </a:schemeClr>
          </a:solidFill>
        </p:grpSpPr>
        <p:sp>
          <p:nvSpPr>
            <p:cNvPr id="7" name="Figura a mano libera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8" name="Figura a mano libera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9" name="Figura a mano libera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0" name="Figura a mano libera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1" name="Figura a mano libera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2" name="Figura a mano libera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3" name="Figura a mano libera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4" name="Figura a mano libera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5" name="Figura a mano libera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6" name="Figura a mano libera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7" name="Figura a mano libera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8" name="Figura a mano libera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19" name="Figura a mano libera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0" name="Figura a mano libera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1" name="Figura a mano libera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2" name="Figura a mano libera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3" name="Figura a mano libera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4" name="Figura a mano libera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5" name="Figura a mano libera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6" name="Figura a mano libera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7" name="Figura a mano libera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8" name="Figura a mano libera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29" name="Figura a mano libera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0" name="Figura a mano libera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1" name="Figura a mano libera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2" name="Figura a mano libera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3" name="Figura a mano libera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4" name="Figura a mano libera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5" name="Figura a mano libera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6" name="Figura a mano libera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7" name="Figura a mano libera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8" name="Figura a mano libera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39" name="Figura a mano libera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0" name="Figura a mano libera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1" name="Figura a mano libera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2" name="Figura a mano libera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3" name="Figura a mano libera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4" name="Figura a mano libera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5" name="Figura a mano libera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6" name="Figura a mano libera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7" name="Figura a mano libera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8" name="Figura a mano libera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49" name="Figura a mano libera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0" name="Figura a mano libera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1" name="Figura a mano libera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2" name="Figura a mano libera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3" name="Figura a mano libera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4" name="Figura a mano libera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5" name="Figura a mano libera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6" name="Figura a mano libera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7" name="Figura a mano libera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8" name="Figura a mano libera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59" name="Figura a mano libera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0" name="Figura a mano libera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1" name="Figura a mano libera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2" name="Figura a mano libera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3" name="Figura a mano libera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4" name="Figura a mano libera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5" name="Figura a mano libera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6" name="Figura a mano libera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7" name="Figura a mano libera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8" name="Figura a mano libera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69" name="Figura a mano libera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0" name="Figura a mano libera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1" name="Figura a mano libera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2" name="Figura a mano libera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3" name="Figura a mano libera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4" name="Figura a mano libera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5" name="Figura a mano libera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6" name="Figura a mano libera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7" name="Figura a mano libera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8" name="Figura a mano libera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79" name="Figura a mano libera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  <p:sp>
          <p:nvSpPr>
            <p:cNvPr id="80" name="Figura a mano libera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t-IT" sz="1662">
                <a:ln>
                  <a:noFill/>
                </a:ln>
              </a:endParaRPr>
            </a:p>
          </p:txBody>
        </p:sp>
      </p:grpSp>
      <p:sp>
        <p:nvSpPr>
          <p:cNvPr id="81" name="Footer Placeholder 4">
            <a:extLst>
              <a:ext uri="{FF2B5EF4-FFF2-40B4-BE49-F238E27FC236}">
                <a16:creationId xmlns:a16="http://schemas.microsoft.com/office/drawing/2014/main" id="{3E84B2B8-6A6C-4172-8F92-776075D81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6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 eaLnBrk="1" hangingPunct="1">
              <a:defRPr/>
            </a:pPr>
            <a:r>
              <a:rPr lang="it-IT"/>
              <a:t>Vittorio Maniezzo - University of Bologna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9003015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eaLnBrk="1" hangingPunct="1">
              <a:defRPr/>
            </a:pPr>
            <a:fld id="{476DEB1C-3253-4C07-8F02-456B7B2AD41D}" type="slidenum">
              <a:rPr lang="it-IT" smtClean="0"/>
              <a:pPr eaLnBrk="1" hangingPunct="1">
                <a:defRPr/>
              </a:pPr>
              <a:t>‹#›</a:t>
            </a:fld>
            <a:endParaRPr lang="it-IT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C9A75-8A08-4035-85FB-5EA0B5BB5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186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 eaLnBrk="1" hangingPunct="1">
              <a:defRPr/>
            </a:pPr>
            <a:r>
              <a:rPr lang="it-IT"/>
              <a:t>Vittorio Maniezzo - University of Bologna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00676072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"/>
          <p:cNvGrpSpPr>
            <a:grpSpLocks/>
          </p:cNvGrpSpPr>
          <p:nvPr/>
        </p:nvGrpSpPr>
        <p:grpSpPr bwMode="ltGray">
          <a:xfrm>
            <a:off x="72070" y="37277"/>
            <a:ext cx="9071930" cy="6856413"/>
            <a:chOff x="0" y="0"/>
            <a:chExt cx="5759" cy="4319"/>
          </a:xfrm>
        </p:grpSpPr>
        <p:sp>
          <p:nvSpPr>
            <p:cNvPr id="13" name="Line 4"/>
            <p:cNvSpPr>
              <a:spLocks noChangeShapeType="1"/>
            </p:cNvSpPr>
            <p:nvPr/>
          </p:nvSpPr>
          <p:spPr bwMode="ltGray">
            <a:xfrm>
              <a:off x="0" y="14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4" name="Line 5"/>
            <p:cNvSpPr>
              <a:spLocks noChangeShapeType="1"/>
            </p:cNvSpPr>
            <p:nvPr/>
          </p:nvSpPr>
          <p:spPr bwMode="ltGray">
            <a:xfrm>
              <a:off x="0" y="33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ltGray">
            <a:xfrm>
              <a:off x="0" y="52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ltGray">
            <a:xfrm>
              <a:off x="0" y="72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ltGray">
            <a:xfrm>
              <a:off x="0" y="91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ltGray">
            <a:xfrm>
              <a:off x="0" y="110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ltGray">
            <a:xfrm>
              <a:off x="0" y="129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ltGray">
            <a:xfrm>
              <a:off x="0" y="148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ltGray">
            <a:xfrm>
              <a:off x="0" y="168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ltGray">
            <a:xfrm>
              <a:off x="0" y="187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ltGray">
            <a:xfrm>
              <a:off x="0" y="206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ltGray">
            <a:xfrm>
              <a:off x="0" y="225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ltGray">
            <a:xfrm>
              <a:off x="0" y="244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ltGray">
            <a:xfrm>
              <a:off x="0" y="264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ltGray">
            <a:xfrm>
              <a:off x="0" y="283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ltGray">
            <a:xfrm>
              <a:off x="0" y="302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29" name="Line 20"/>
            <p:cNvSpPr>
              <a:spLocks noChangeShapeType="1"/>
            </p:cNvSpPr>
            <p:nvPr/>
          </p:nvSpPr>
          <p:spPr bwMode="ltGray">
            <a:xfrm>
              <a:off x="0" y="321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0" name="Line 21"/>
            <p:cNvSpPr>
              <a:spLocks noChangeShapeType="1"/>
            </p:cNvSpPr>
            <p:nvPr/>
          </p:nvSpPr>
          <p:spPr bwMode="ltGray">
            <a:xfrm>
              <a:off x="0" y="340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ltGray">
            <a:xfrm>
              <a:off x="0" y="360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ltGray">
            <a:xfrm>
              <a:off x="0" y="379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ltGray">
            <a:xfrm>
              <a:off x="0" y="398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4" name="Line 25"/>
            <p:cNvSpPr>
              <a:spLocks noChangeShapeType="1"/>
            </p:cNvSpPr>
            <p:nvPr/>
          </p:nvSpPr>
          <p:spPr bwMode="ltGray">
            <a:xfrm>
              <a:off x="0" y="417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5" name="Line 26"/>
            <p:cNvSpPr>
              <a:spLocks noChangeShapeType="1"/>
            </p:cNvSpPr>
            <p:nvPr/>
          </p:nvSpPr>
          <p:spPr bwMode="ltGray">
            <a:xfrm>
              <a:off x="1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 dirty="0"/>
            </a:p>
          </p:txBody>
        </p:sp>
        <p:sp>
          <p:nvSpPr>
            <p:cNvPr id="36" name="Line 27"/>
            <p:cNvSpPr>
              <a:spLocks noChangeShapeType="1"/>
            </p:cNvSpPr>
            <p:nvPr/>
          </p:nvSpPr>
          <p:spPr bwMode="ltGray">
            <a:xfrm>
              <a:off x="3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7" name="Line 28"/>
            <p:cNvSpPr>
              <a:spLocks noChangeShapeType="1"/>
            </p:cNvSpPr>
            <p:nvPr/>
          </p:nvSpPr>
          <p:spPr bwMode="ltGray">
            <a:xfrm>
              <a:off x="5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ltGray">
            <a:xfrm>
              <a:off x="7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ltGray">
            <a:xfrm>
              <a:off x="9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ltGray">
            <a:xfrm>
              <a:off x="110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ltGray">
            <a:xfrm>
              <a:off x="129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2" name="Line 33"/>
            <p:cNvSpPr>
              <a:spLocks noChangeShapeType="1"/>
            </p:cNvSpPr>
            <p:nvPr/>
          </p:nvSpPr>
          <p:spPr bwMode="ltGray">
            <a:xfrm>
              <a:off x="148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ltGray">
            <a:xfrm>
              <a:off x="168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ltGray">
            <a:xfrm>
              <a:off x="187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5" name="Line 36"/>
            <p:cNvSpPr>
              <a:spLocks noChangeShapeType="1"/>
            </p:cNvSpPr>
            <p:nvPr/>
          </p:nvSpPr>
          <p:spPr bwMode="ltGray">
            <a:xfrm>
              <a:off x="206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ltGray">
            <a:xfrm>
              <a:off x="225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7" name="Line 38"/>
            <p:cNvSpPr>
              <a:spLocks noChangeShapeType="1"/>
            </p:cNvSpPr>
            <p:nvPr/>
          </p:nvSpPr>
          <p:spPr bwMode="ltGray">
            <a:xfrm>
              <a:off x="244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ltGray">
            <a:xfrm>
              <a:off x="264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49" name="Line 40"/>
            <p:cNvSpPr>
              <a:spLocks noChangeShapeType="1"/>
            </p:cNvSpPr>
            <p:nvPr/>
          </p:nvSpPr>
          <p:spPr bwMode="ltGray">
            <a:xfrm>
              <a:off x="283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0" name="Line 41"/>
            <p:cNvSpPr>
              <a:spLocks noChangeShapeType="1"/>
            </p:cNvSpPr>
            <p:nvPr/>
          </p:nvSpPr>
          <p:spPr bwMode="ltGray">
            <a:xfrm>
              <a:off x="302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1" name="Line 42"/>
            <p:cNvSpPr>
              <a:spLocks noChangeShapeType="1"/>
            </p:cNvSpPr>
            <p:nvPr/>
          </p:nvSpPr>
          <p:spPr bwMode="ltGray">
            <a:xfrm>
              <a:off x="321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2" name="Line 43"/>
            <p:cNvSpPr>
              <a:spLocks noChangeShapeType="1"/>
            </p:cNvSpPr>
            <p:nvPr/>
          </p:nvSpPr>
          <p:spPr bwMode="ltGray">
            <a:xfrm>
              <a:off x="340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3" name="Line 44"/>
            <p:cNvSpPr>
              <a:spLocks noChangeShapeType="1"/>
            </p:cNvSpPr>
            <p:nvPr/>
          </p:nvSpPr>
          <p:spPr bwMode="ltGray">
            <a:xfrm>
              <a:off x="360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4" name="Line 45"/>
            <p:cNvSpPr>
              <a:spLocks noChangeShapeType="1"/>
            </p:cNvSpPr>
            <p:nvPr/>
          </p:nvSpPr>
          <p:spPr bwMode="ltGray">
            <a:xfrm>
              <a:off x="379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5" name="Line 46"/>
            <p:cNvSpPr>
              <a:spLocks noChangeShapeType="1"/>
            </p:cNvSpPr>
            <p:nvPr/>
          </p:nvSpPr>
          <p:spPr bwMode="ltGray">
            <a:xfrm>
              <a:off x="398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6" name="Line 47"/>
            <p:cNvSpPr>
              <a:spLocks noChangeShapeType="1"/>
            </p:cNvSpPr>
            <p:nvPr/>
          </p:nvSpPr>
          <p:spPr bwMode="ltGray">
            <a:xfrm>
              <a:off x="417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7" name="Line 48"/>
            <p:cNvSpPr>
              <a:spLocks noChangeShapeType="1"/>
            </p:cNvSpPr>
            <p:nvPr/>
          </p:nvSpPr>
          <p:spPr bwMode="ltGray">
            <a:xfrm>
              <a:off x="436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8" name="Line 49"/>
            <p:cNvSpPr>
              <a:spLocks noChangeShapeType="1"/>
            </p:cNvSpPr>
            <p:nvPr/>
          </p:nvSpPr>
          <p:spPr bwMode="ltGray">
            <a:xfrm>
              <a:off x="456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59" name="Line 50"/>
            <p:cNvSpPr>
              <a:spLocks noChangeShapeType="1"/>
            </p:cNvSpPr>
            <p:nvPr/>
          </p:nvSpPr>
          <p:spPr bwMode="ltGray">
            <a:xfrm>
              <a:off x="475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ltGray">
            <a:xfrm>
              <a:off x="49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1" name="Line 52"/>
            <p:cNvSpPr>
              <a:spLocks noChangeShapeType="1"/>
            </p:cNvSpPr>
            <p:nvPr/>
          </p:nvSpPr>
          <p:spPr bwMode="ltGray">
            <a:xfrm>
              <a:off x="51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2" name="Line 53"/>
            <p:cNvSpPr>
              <a:spLocks noChangeShapeType="1"/>
            </p:cNvSpPr>
            <p:nvPr/>
          </p:nvSpPr>
          <p:spPr bwMode="ltGray">
            <a:xfrm>
              <a:off x="53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3" name="Line 54"/>
            <p:cNvSpPr>
              <a:spLocks noChangeShapeType="1"/>
            </p:cNvSpPr>
            <p:nvPr/>
          </p:nvSpPr>
          <p:spPr bwMode="ltGray">
            <a:xfrm>
              <a:off x="55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  <p:sp>
          <p:nvSpPr>
            <p:cNvPr id="64" name="Line 55"/>
            <p:cNvSpPr>
              <a:spLocks noChangeShapeType="1"/>
            </p:cNvSpPr>
            <p:nvPr/>
          </p:nvSpPr>
          <p:spPr bwMode="ltGray">
            <a:xfrm>
              <a:off x="57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800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185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‹#›</a:t>
            </a:fld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907" y="1173916"/>
            <a:ext cx="8546175" cy="525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8767" y="37278"/>
            <a:ext cx="8791195" cy="766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081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2060"/>
          </a:solidFill>
          <a:latin typeface="AAchalk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800"/>
        </a:spcBef>
        <a:buClrTx/>
        <a:buFont typeface="Arial" panose="020B0604020202020204" pitchFamily="34" charset="0"/>
        <a:buNone/>
        <a:defRPr sz="2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48640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0392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152144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453896" indent="-246888" algn="l" defTabSz="914400" rtl="0" eaLnBrk="1" latinLnBrk="0" hangingPunct="1">
        <a:lnSpc>
          <a:spcPct val="100000"/>
        </a:lnSpc>
        <a:spcBef>
          <a:spcPts val="800"/>
        </a:spcBef>
        <a:buClrTx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755648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359152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660904" indent="-246888" algn="l" defTabSz="914400" rtl="0" eaLnBrk="1" latinLnBrk="0" hangingPunct="1">
        <a:lnSpc>
          <a:spcPct val="90000"/>
        </a:lnSpc>
        <a:spcBef>
          <a:spcPts val="800"/>
        </a:spcBef>
        <a:buClr>
          <a:schemeClr val="accent5"/>
        </a:buClr>
        <a:buFont typeface="Wingdings" panose="05000000000000000000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3"/>
          <p:cNvGrpSpPr>
            <a:grpSpLocks/>
          </p:cNvGrpSpPr>
          <p:nvPr/>
        </p:nvGrpSpPr>
        <p:grpSpPr bwMode="ltGray">
          <a:xfrm>
            <a:off x="72070" y="37279"/>
            <a:ext cx="9071930" cy="6856413"/>
            <a:chOff x="0" y="0"/>
            <a:chExt cx="5759" cy="4319"/>
          </a:xfrm>
        </p:grpSpPr>
        <p:sp>
          <p:nvSpPr>
            <p:cNvPr id="13" name="Line 4"/>
            <p:cNvSpPr>
              <a:spLocks noChangeShapeType="1"/>
            </p:cNvSpPr>
            <p:nvPr/>
          </p:nvSpPr>
          <p:spPr bwMode="ltGray">
            <a:xfrm>
              <a:off x="0" y="14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14" name="Line 5"/>
            <p:cNvSpPr>
              <a:spLocks noChangeShapeType="1"/>
            </p:cNvSpPr>
            <p:nvPr/>
          </p:nvSpPr>
          <p:spPr bwMode="ltGray">
            <a:xfrm>
              <a:off x="0" y="33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15" name="Line 6"/>
            <p:cNvSpPr>
              <a:spLocks noChangeShapeType="1"/>
            </p:cNvSpPr>
            <p:nvPr/>
          </p:nvSpPr>
          <p:spPr bwMode="ltGray">
            <a:xfrm>
              <a:off x="0" y="52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ltGray">
            <a:xfrm>
              <a:off x="0" y="72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17" name="Line 8"/>
            <p:cNvSpPr>
              <a:spLocks noChangeShapeType="1"/>
            </p:cNvSpPr>
            <p:nvPr/>
          </p:nvSpPr>
          <p:spPr bwMode="ltGray">
            <a:xfrm>
              <a:off x="0" y="91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ltGray">
            <a:xfrm>
              <a:off x="0" y="110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19" name="Line 10"/>
            <p:cNvSpPr>
              <a:spLocks noChangeShapeType="1"/>
            </p:cNvSpPr>
            <p:nvPr/>
          </p:nvSpPr>
          <p:spPr bwMode="ltGray">
            <a:xfrm>
              <a:off x="0" y="129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0" name="Line 11"/>
            <p:cNvSpPr>
              <a:spLocks noChangeShapeType="1"/>
            </p:cNvSpPr>
            <p:nvPr/>
          </p:nvSpPr>
          <p:spPr bwMode="ltGray">
            <a:xfrm>
              <a:off x="0" y="148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1" name="Line 12"/>
            <p:cNvSpPr>
              <a:spLocks noChangeShapeType="1"/>
            </p:cNvSpPr>
            <p:nvPr/>
          </p:nvSpPr>
          <p:spPr bwMode="ltGray">
            <a:xfrm>
              <a:off x="0" y="168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2" name="Line 13"/>
            <p:cNvSpPr>
              <a:spLocks noChangeShapeType="1"/>
            </p:cNvSpPr>
            <p:nvPr/>
          </p:nvSpPr>
          <p:spPr bwMode="ltGray">
            <a:xfrm>
              <a:off x="0" y="187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3" name="Line 14"/>
            <p:cNvSpPr>
              <a:spLocks noChangeShapeType="1"/>
            </p:cNvSpPr>
            <p:nvPr/>
          </p:nvSpPr>
          <p:spPr bwMode="ltGray">
            <a:xfrm>
              <a:off x="0" y="206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4" name="Line 15"/>
            <p:cNvSpPr>
              <a:spLocks noChangeShapeType="1"/>
            </p:cNvSpPr>
            <p:nvPr/>
          </p:nvSpPr>
          <p:spPr bwMode="ltGray">
            <a:xfrm>
              <a:off x="0" y="225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5" name="Line 16"/>
            <p:cNvSpPr>
              <a:spLocks noChangeShapeType="1"/>
            </p:cNvSpPr>
            <p:nvPr/>
          </p:nvSpPr>
          <p:spPr bwMode="ltGray">
            <a:xfrm>
              <a:off x="0" y="244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6" name="Line 17"/>
            <p:cNvSpPr>
              <a:spLocks noChangeShapeType="1"/>
            </p:cNvSpPr>
            <p:nvPr/>
          </p:nvSpPr>
          <p:spPr bwMode="ltGray">
            <a:xfrm>
              <a:off x="0" y="264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7" name="Line 18"/>
            <p:cNvSpPr>
              <a:spLocks noChangeShapeType="1"/>
            </p:cNvSpPr>
            <p:nvPr/>
          </p:nvSpPr>
          <p:spPr bwMode="ltGray">
            <a:xfrm>
              <a:off x="0" y="283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8" name="Line 19"/>
            <p:cNvSpPr>
              <a:spLocks noChangeShapeType="1"/>
            </p:cNvSpPr>
            <p:nvPr/>
          </p:nvSpPr>
          <p:spPr bwMode="ltGray">
            <a:xfrm>
              <a:off x="0" y="302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29" name="Line 20"/>
            <p:cNvSpPr>
              <a:spLocks noChangeShapeType="1"/>
            </p:cNvSpPr>
            <p:nvPr/>
          </p:nvSpPr>
          <p:spPr bwMode="ltGray">
            <a:xfrm>
              <a:off x="0" y="321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0" name="Line 21"/>
            <p:cNvSpPr>
              <a:spLocks noChangeShapeType="1"/>
            </p:cNvSpPr>
            <p:nvPr/>
          </p:nvSpPr>
          <p:spPr bwMode="ltGray">
            <a:xfrm>
              <a:off x="0" y="3408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ltGray">
            <a:xfrm>
              <a:off x="0" y="3600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2" name="Line 23"/>
            <p:cNvSpPr>
              <a:spLocks noChangeShapeType="1"/>
            </p:cNvSpPr>
            <p:nvPr/>
          </p:nvSpPr>
          <p:spPr bwMode="ltGray">
            <a:xfrm>
              <a:off x="0" y="3792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3" name="Line 24"/>
            <p:cNvSpPr>
              <a:spLocks noChangeShapeType="1"/>
            </p:cNvSpPr>
            <p:nvPr/>
          </p:nvSpPr>
          <p:spPr bwMode="ltGray">
            <a:xfrm>
              <a:off x="0" y="3984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4" name="Line 25"/>
            <p:cNvSpPr>
              <a:spLocks noChangeShapeType="1"/>
            </p:cNvSpPr>
            <p:nvPr/>
          </p:nvSpPr>
          <p:spPr bwMode="ltGray">
            <a:xfrm>
              <a:off x="0" y="4176"/>
              <a:ext cx="5759" cy="0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5" name="Line 26"/>
            <p:cNvSpPr>
              <a:spLocks noChangeShapeType="1"/>
            </p:cNvSpPr>
            <p:nvPr/>
          </p:nvSpPr>
          <p:spPr bwMode="ltGray">
            <a:xfrm>
              <a:off x="1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 dirty="0"/>
            </a:p>
          </p:txBody>
        </p:sp>
        <p:sp>
          <p:nvSpPr>
            <p:cNvPr id="36" name="Line 27"/>
            <p:cNvSpPr>
              <a:spLocks noChangeShapeType="1"/>
            </p:cNvSpPr>
            <p:nvPr/>
          </p:nvSpPr>
          <p:spPr bwMode="ltGray">
            <a:xfrm>
              <a:off x="3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7" name="Line 28"/>
            <p:cNvSpPr>
              <a:spLocks noChangeShapeType="1"/>
            </p:cNvSpPr>
            <p:nvPr/>
          </p:nvSpPr>
          <p:spPr bwMode="ltGray">
            <a:xfrm>
              <a:off x="5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8" name="Line 29"/>
            <p:cNvSpPr>
              <a:spLocks noChangeShapeType="1"/>
            </p:cNvSpPr>
            <p:nvPr/>
          </p:nvSpPr>
          <p:spPr bwMode="ltGray">
            <a:xfrm>
              <a:off x="7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39" name="Line 30"/>
            <p:cNvSpPr>
              <a:spLocks noChangeShapeType="1"/>
            </p:cNvSpPr>
            <p:nvPr/>
          </p:nvSpPr>
          <p:spPr bwMode="ltGray">
            <a:xfrm>
              <a:off x="9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0" name="Line 31"/>
            <p:cNvSpPr>
              <a:spLocks noChangeShapeType="1"/>
            </p:cNvSpPr>
            <p:nvPr/>
          </p:nvSpPr>
          <p:spPr bwMode="ltGray">
            <a:xfrm>
              <a:off x="110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1" name="Line 32"/>
            <p:cNvSpPr>
              <a:spLocks noChangeShapeType="1"/>
            </p:cNvSpPr>
            <p:nvPr/>
          </p:nvSpPr>
          <p:spPr bwMode="ltGray">
            <a:xfrm>
              <a:off x="129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2" name="Line 33"/>
            <p:cNvSpPr>
              <a:spLocks noChangeShapeType="1"/>
            </p:cNvSpPr>
            <p:nvPr/>
          </p:nvSpPr>
          <p:spPr bwMode="ltGray">
            <a:xfrm>
              <a:off x="148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3" name="Line 34"/>
            <p:cNvSpPr>
              <a:spLocks noChangeShapeType="1"/>
            </p:cNvSpPr>
            <p:nvPr/>
          </p:nvSpPr>
          <p:spPr bwMode="ltGray">
            <a:xfrm>
              <a:off x="168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4" name="Line 35"/>
            <p:cNvSpPr>
              <a:spLocks noChangeShapeType="1"/>
            </p:cNvSpPr>
            <p:nvPr/>
          </p:nvSpPr>
          <p:spPr bwMode="ltGray">
            <a:xfrm>
              <a:off x="187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5" name="Line 36"/>
            <p:cNvSpPr>
              <a:spLocks noChangeShapeType="1"/>
            </p:cNvSpPr>
            <p:nvPr/>
          </p:nvSpPr>
          <p:spPr bwMode="ltGray">
            <a:xfrm>
              <a:off x="206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6" name="Line 37"/>
            <p:cNvSpPr>
              <a:spLocks noChangeShapeType="1"/>
            </p:cNvSpPr>
            <p:nvPr/>
          </p:nvSpPr>
          <p:spPr bwMode="ltGray">
            <a:xfrm>
              <a:off x="225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7" name="Line 38"/>
            <p:cNvSpPr>
              <a:spLocks noChangeShapeType="1"/>
            </p:cNvSpPr>
            <p:nvPr/>
          </p:nvSpPr>
          <p:spPr bwMode="ltGray">
            <a:xfrm>
              <a:off x="244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8" name="Line 39"/>
            <p:cNvSpPr>
              <a:spLocks noChangeShapeType="1"/>
            </p:cNvSpPr>
            <p:nvPr/>
          </p:nvSpPr>
          <p:spPr bwMode="ltGray">
            <a:xfrm>
              <a:off x="264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49" name="Line 40"/>
            <p:cNvSpPr>
              <a:spLocks noChangeShapeType="1"/>
            </p:cNvSpPr>
            <p:nvPr/>
          </p:nvSpPr>
          <p:spPr bwMode="ltGray">
            <a:xfrm>
              <a:off x="283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0" name="Line 41"/>
            <p:cNvSpPr>
              <a:spLocks noChangeShapeType="1"/>
            </p:cNvSpPr>
            <p:nvPr/>
          </p:nvSpPr>
          <p:spPr bwMode="ltGray">
            <a:xfrm>
              <a:off x="302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1" name="Line 42"/>
            <p:cNvSpPr>
              <a:spLocks noChangeShapeType="1"/>
            </p:cNvSpPr>
            <p:nvPr/>
          </p:nvSpPr>
          <p:spPr bwMode="ltGray">
            <a:xfrm>
              <a:off x="321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2" name="Line 43"/>
            <p:cNvSpPr>
              <a:spLocks noChangeShapeType="1"/>
            </p:cNvSpPr>
            <p:nvPr/>
          </p:nvSpPr>
          <p:spPr bwMode="ltGray">
            <a:xfrm>
              <a:off x="340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3" name="Line 44"/>
            <p:cNvSpPr>
              <a:spLocks noChangeShapeType="1"/>
            </p:cNvSpPr>
            <p:nvPr/>
          </p:nvSpPr>
          <p:spPr bwMode="ltGray">
            <a:xfrm>
              <a:off x="360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4" name="Line 45"/>
            <p:cNvSpPr>
              <a:spLocks noChangeShapeType="1"/>
            </p:cNvSpPr>
            <p:nvPr/>
          </p:nvSpPr>
          <p:spPr bwMode="ltGray">
            <a:xfrm>
              <a:off x="379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5" name="Line 46"/>
            <p:cNvSpPr>
              <a:spLocks noChangeShapeType="1"/>
            </p:cNvSpPr>
            <p:nvPr/>
          </p:nvSpPr>
          <p:spPr bwMode="ltGray">
            <a:xfrm>
              <a:off x="398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6" name="Line 47"/>
            <p:cNvSpPr>
              <a:spLocks noChangeShapeType="1"/>
            </p:cNvSpPr>
            <p:nvPr/>
          </p:nvSpPr>
          <p:spPr bwMode="ltGray">
            <a:xfrm>
              <a:off x="417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7" name="Line 48"/>
            <p:cNvSpPr>
              <a:spLocks noChangeShapeType="1"/>
            </p:cNvSpPr>
            <p:nvPr/>
          </p:nvSpPr>
          <p:spPr bwMode="ltGray">
            <a:xfrm>
              <a:off x="436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8" name="Line 49"/>
            <p:cNvSpPr>
              <a:spLocks noChangeShapeType="1"/>
            </p:cNvSpPr>
            <p:nvPr/>
          </p:nvSpPr>
          <p:spPr bwMode="ltGray">
            <a:xfrm>
              <a:off x="456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59" name="Line 50"/>
            <p:cNvSpPr>
              <a:spLocks noChangeShapeType="1"/>
            </p:cNvSpPr>
            <p:nvPr/>
          </p:nvSpPr>
          <p:spPr bwMode="ltGray">
            <a:xfrm>
              <a:off x="475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60" name="Line 51"/>
            <p:cNvSpPr>
              <a:spLocks noChangeShapeType="1"/>
            </p:cNvSpPr>
            <p:nvPr/>
          </p:nvSpPr>
          <p:spPr bwMode="ltGray">
            <a:xfrm>
              <a:off x="4944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61" name="Line 52"/>
            <p:cNvSpPr>
              <a:spLocks noChangeShapeType="1"/>
            </p:cNvSpPr>
            <p:nvPr/>
          </p:nvSpPr>
          <p:spPr bwMode="ltGray">
            <a:xfrm>
              <a:off x="5136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62" name="Line 53"/>
            <p:cNvSpPr>
              <a:spLocks noChangeShapeType="1"/>
            </p:cNvSpPr>
            <p:nvPr/>
          </p:nvSpPr>
          <p:spPr bwMode="ltGray">
            <a:xfrm>
              <a:off x="5328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63" name="Line 54"/>
            <p:cNvSpPr>
              <a:spLocks noChangeShapeType="1"/>
            </p:cNvSpPr>
            <p:nvPr/>
          </p:nvSpPr>
          <p:spPr bwMode="ltGray">
            <a:xfrm>
              <a:off x="5520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  <p:sp>
          <p:nvSpPr>
            <p:cNvPr id="64" name="Line 55"/>
            <p:cNvSpPr>
              <a:spLocks noChangeShapeType="1"/>
            </p:cNvSpPr>
            <p:nvPr/>
          </p:nvSpPr>
          <p:spPr bwMode="ltGray">
            <a:xfrm>
              <a:off x="5712" y="0"/>
              <a:ext cx="0" cy="4319"/>
            </a:xfrm>
            <a:prstGeom prst="line">
              <a:avLst/>
            </a:prstGeom>
            <a:noFill/>
            <a:ln w="3175" cap="sq">
              <a:solidFill>
                <a:srgbClr val="E8E8E8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1662"/>
            </a:p>
          </p:txBody>
        </p:sp>
      </p:grp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186" y="6580584"/>
            <a:ext cx="310264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 b="1" i="0">
                <a:solidFill>
                  <a:schemeClr val="tx1"/>
                </a:solidFill>
                <a:latin typeface="ManiezzoSlides" pitchFamily="2" charset="0"/>
                <a:ea typeface="Microsoft YaHei" panose="020B0503020204020204" pitchFamily="34" charset="-122"/>
              </a:defRPr>
            </a:lvl1pPr>
          </a:lstStyle>
          <a:p>
            <a:pPr eaLnBrk="1" hangingPunct="1">
              <a:defRPr/>
            </a:pPr>
            <a:r>
              <a:rPr lang="it-IT"/>
              <a:t>Vittorio Maniezzo - University of Bologna </a:t>
            </a:r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56706" y="6588890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5">
                <a:solidFill>
                  <a:schemeClr val="tx1"/>
                </a:solidFill>
              </a:defRPr>
            </a:lvl1pPr>
          </a:lstStyle>
          <a:p>
            <a:pPr eaLnBrk="1" hangingPunct="1">
              <a:defRPr/>
            </a:pPr>
            <a:fld id="{476DEB1C-3253-4C07-8F02-456B7B2AD41D}" type="slidenum">
              <a:rPr lang="it-IT" smtClean="0"/>
              <a:pPr eaLnBrk="1" hangingPunct="1">
                <a:defRPr/>
              </a:pPr>
              <a:t>‹#›</a:t>
            </a:fld>
            <a:endParaRPr lang="it-I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8908" y="1173916"/>
            <a:ext cx="8546175" cy="52593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8768" y="37280"/>
            <a:ext cx="8791195" cy="7667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197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</p:sldLayoutIdLst>
  <p:hf hdr="0" dt="0"/>
  <p:txStyles>
    <p:titleStyle>
      <a:lvl1pPr algn="l" defTabSz="844083" rtl="0" eaLnBrk="1" latinLnBrk="0" hangingPunct="1">
        <a:spcBef>
          <a:spcPct val="0"/>
        </a:spcBef>
        <a:buNone/>
        <a:defRPr sz="3323" kern="1200">
          <a:solidFill>
            <a:srgbClr val="002060"/>
          </a:solidFill>
          <a:latin typeface="AAchalk" pitchFamily="2" charset="0"/>
          <a:ea typeface="+mj-ea"/>
          <a:cs typeface="+mj-cs"/>
        </a:defRPr>
      </a:lvl1pPr>
    </p:titleStyle>
    <p:bodyStyle>
      <a:lvl1pPr marL="0" indent="0" algn="l" defTabSz="844083" rtl="0" eaLnBrk="1" latinLnBrk="0" hangingPunct="1">
        <a:lnSpc>
          <a:spcPct val="100000"/>
        </a:lnSpc>
        <a:spcBef>
          <a:spcPts val="1662"/>
        </a:spcBef>
        <a:buClrTx/>
        <a:buFont typeface="Arial" panose="020B0604020202020204" pitchFamily="34" charset="0"/>
        <a:buNone/>
        <a:defRPr sz="2585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06450" indent="-227902" algn="l" defTabSz="844083" rtl="0" eaLnBrk="1" latinLnBrk="0" hangingPunct="1">
        <a:lnSpc>
          <a:spcPct val="100000"/>
        </a:lnSpc>
        <a:spcBef>
          <a:spcPts val="738"/>
        </a:spcBef>
        <a:buClrTx/>
        <a:buFont typeface="Arial" panose="020B0604020202020204" pitchFamily="34" charset="0"/>
        <a:buChar char="•"/>
        <a:defRPr sz="2215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784997" indent="-227902" algn="l" defTabSz="844083" rtl="0" eaLnBrk="1" latinLnBrk="0" hangingPunct="1">
        <a:lnSpc>
          <a:spcPct val="100000"/>
        </a:lnSpc>
        <a:spcBef>
          <a:spcPts val="738"/>
        </a:spcBef>
        <a:buClrTx/>
        <a:buFont typeface="Arial" panose="020B0604020202020204" pitchFamily="34" charset="0"/>
        <a:buChar char="•"/>
        <a:defRPr sz="1846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063544" indent="-227902" algn="l" defTabSz="844083" rtl="0" eaLnBrk="1" latinLnBrk="0" hangingPunct="1">
        <a:lnSpc>
          <a:spcPct val="100000"/>
        </a:lnSpc>
        <a:spcBef>
          <a:spcPts val="738"/>
        </a:spcBef>
        <a:buClrTx/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342091" indent="-227902" algn="l" defTabSz="844083" rtl="0" eaLnBrk="1" latinLnBrk="0" hangingPunct="1">
        <a:lnSpc>
          <a:spcPct val="100000"/>
        </a:lnSpc>
        <a:spcBef>
          <a:spcPts val="738"/>
        </a:spcBef>
        <a:buClrTx/>
        <a:buFont typeface="Arial" panose="020B0604020202020204" pitchFamily="34" charset="0"/>
        <a:buChar char="•"/>
        <a:defRPr sz="1662" kern="1200">
          <a:solidFill>
            <a:schemeClr val="tx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620639" indent="-227902" algn="l" defTabSz="844083" rtl="0" eaLnBrk="1" latinLnBrk="0" hangingPunct="1">
        <a:lnSpc>
          <a:spcPct val="90000"/>
        </a:lnSpc>
        <a:spcBef>
          <a:spcPts val="738"/>
        </a:spcBef>
        <a:buClr>
          <a:schemeClr val="accent5"/>
        </a:buClr>
        <a:buFont typeface="Wingdings" panose="05000000000000000000" pitchFamily="2" charset="2"/>
        <a:buChar char="§"/>
        <a:defRPr sz="1477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899186" indent="-227902" algn="l" defTabSz="844083" rtl="0" eaLnBrk="1" latinLnBrk="0" hangingPunct="1">
        <a:lnSpc>
          <a:spcPct val="90000"/>
        </a:lnSpc>
        <a:spcBef>
          <a:spcPts val="738"/>
        </a:spcBef>
        <a:buClr>
          <a:schemeClr val="accent5"/>
        </a:buClr>
        <a:buFont typeface="Wingdings" panose="05000000000000000000" pitchFamily="2" charset="2"/>
        <a:buChar char="§"/>
        <a:defRPr sz="147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77733" indent="-227902" algn="l" defTabSz="844083" rtl="0" eaLnBrk="1" latinLnBrk="0" hangingPunct="1">
        <a:lnSpc>
          <a:spcPct val="90000"/>
        </a:lnSpc>
        <a:spcBef>
          <a:spcPts val="738"/>
        </a:spcBef>
        <a:buClr>
          <a:schemeClr val="accent5"/>
        </a:buClr>
        <a:buFont typeface="Wingdings" panose="05000000000000000000" pitchFamily="2" charset="2"/>
        <a:buChar char="§"/>
        <a:defRPr sz="1477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456280" indent="-227902" algn="l" defTabSz="844083" rtl="0" eaLnBrk="1" latinLnBrk="0" hangingPunct="1">
        <a:lnSpc>
          <a:spcPct val="90000"/>
        </a:lnSpc>
        <a:spcBef>
          <a:spcPts val="738"/>
        </a:spcBef>
        <a:buClr>
          <a:schemeClr val="accent5"/>
        </a:buClr>
        <a:buFont typeface="Wingdings" panose="05000000000000000000" pitchFamily="2" charset="2"/>
        <a:buChar char="§"/>
        <a:defRPr sz="1477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E9AEB7D-37B2-2B36-9DAD-91ED247EA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418" y="557784"/>
            <a:ext cx="8283982" cy="3452307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/>
              <a:t>Bootstrap-Enhanced Distributionally Robust Scheduling of Loading Yards</a:t>
            </a:r>
            <a:endParaRPr lang="en-US" sz="4000" dirty="0">
              <a:solidFill>
                <a:srgbClr val="0070C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298ADB6-C24C-444C-3A3E-15DED53637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52928" y="5909187"/>
            <a:ext cx="6250141" cy="905763"/>
          </a:xfrm>
        </p:spPr>
        <p:txBody>
          <a:bodyPr>
            <a:noAutofit/>
          </a:bodyPr>
          <a:lstStyle/>
          <a:p>
            <a:pPr algn="r" eaLnBrk="1" hangingPunct="1"/>
            <a:r>
              <a:rPr lang="it-IT" altLang="en-US" sz="2800" b="1" dirty="0">
                <a:latin typeface="ManiezzoSlides" pitchFamily="2" charset="0"/>
              </a:rPr>
              <a:t>Vittorio Maniezzo, University of Bologna</a:t>
            </a:r>
            <a:br>
              <a:rPr lang="it-IT" altLang="en-US" sz="2800" b="1" dirty="0">
                <a:latin typeface="ManiezzoSlides" pitchFamily="2" charset="0"/>
              </a:rPr>
            </a:br>
            <a:r>
              <a:rPr lang="it-IT" altLang="en-US" sz="2800" b="1" dirty="0">
                <a:latin typeface="ManiezzoSlides" pitchFamily="2" charset="0"/>
              </a:rPr>
              <a:t>Livio </a:t>
            </a:r>
            <a:r>
              <a:rPr lang="it-IT" altLang="en-US" sz="2800" b="1" dirty="0" err="1">
                <a:latin typeface="ManiezzoSlides" pitchFamily="2" charset="0"/>
              </a:rPr>
              <a:t>Fenga</a:t>
            </a:r>
            <a:r>
              <a:rPr lang="it-IT" altLang="en-US" sz="2800" b="1" dirty="0">
                <a:latin typeface="ManiezzoSlides" pitchFamily="2" charset="0"/>
              </a:rPr>
              <a:t>, University of Exeter</a:t>
            </a:r>
          </a:p>
        </p:txBody>
      </p:sp>
    </p:spTree>
    <p:extLst>
      <p:ext uri="{BB962C8B-B14F-4D97-AF65-F5344CB8AC3E}">
        <p14:creationId xmlns:p14="http://schemas.microsoft.com/office/powerpoint/2010/main" val="1349857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007394-1084-BF6F-A9B7-4A08B0F7A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844" y="1940685"/>
            <a:ext cx="7045790" cy="3594729"/>
          </a:xfrm>
        </p:spPr>
        <p:txBody>
          <a:bodyPr>
            <a:normAutofit/>
          </a:bodyPr>
          <a:lstStyle/>
          <a:p>
            <a:pPr marL="514350" indent="-514350">
              <a:buAutoNum type="arabicParenR"/>
            </a:pPr>
            <a:r>
              <a:rPr lang="it-IT" sz="3200" dirty="0"/>
              <a:t>The </a:t>
            </a:r>
            <a:r>
              <a:rPr lang="it-IT" sz="3200" dirty="0">
                <a:solidFill>
                  <a:srgbClr val="C00000"/>
                </a:solidFill>
              </a:rPr>
              <a:t>theory</a:t>
            </a:r>
            <a:r>
              <a:rPr lang="it-IT" sz="3200" dirty="0"/>
              <a:t> </a:t>
            </a:r>
            <a:r>
              <a:rPr lang="it-IT" sz="3200" dirty="0" err="1"/>
              <a:t>behind</a:t>
            </a:r>
            <a:r>
              <a:rPr lang="it-IT" sz="3200" dirty="0"/>
              <a:t> BESO (</a:t>
            </a:r>
            <a:r>
              <a:rPr lang="it-IT" sz="3200" dirty="0">
                <a:solidFill>
                  <a:srgbClr val="C00000"/>
                </a:solidFill>
              </a:rPr>
              <a:t>B</a:t>
            </a:r>
            <a:r>
              <a:rPr lang="it-IT" sz="3200" dirty="0"/>
              <a:t>ootstrap </a:t>
            </a:r>
            <a:r>
              <a:rPr lang="it-IT" sz="3200" dirty="0" err="1">
                <a:solidFill>
                  <a:srgbClr val="C00000"/>
                </a:solidFill>
              </a:rPr>
              <a:t>E</a:t>
            </a:r>
            <a:r>
              <a:rPr lang="it-IT" sz="3200" dirty="0" err="1"/>
              <a:t>nhanced</a:t>
            </a:r>
            <a:r>
              <a:rPr lang="it-IT" sz="3200" dirty="0"/>
              <a:t> </a:t>
            </a:r>
            <a:r>
              <a:rPr lang="it-IT" sz="3200" dirty="0">
                <a:solidFill>
                  <a:srgbClr val="C00000"/>
                </a:solidFill>
              </a:rPr>
              <a:t>S</a:t>
            </a:r>
            <a:r>
              <a:rPr lang="it-IT" sz="3200" dirty="0"/>
              <a:t>cenario </a:t>
            </a:r>
            <a:r>
              <a:rPr lang="it-IT" sz="3200" dirty="0" err="1">
                <a:solidFill>
                  <a:srgbClr val="C00000"/>
                </a:solidFill>
              </a:rPr>
              <a:t>O</a:t>
            </a:r>
            <a:r>
              <a:rPr lang="it-IT" sz="3200" dirty="0" err="1"/>
              <a:t>ptimization</a:t>
            </a:r>
            <a:r>
              <a:rPr lang="it-IT" sz="3200" dirty="0"/>
              <a:t>)</a:t>
            </a: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it-IT" sz="3200" dirty="0"/>
              <a:t>The </a:t>
            </a:r>
            <a:r>
              <a:rPr lang="it-IT" sz="3200" dirty="0" err="1"/>
              <a:t>triggering</a:t>
            </a:r>
            <a:r>
              <a:rPr lang="it-IT" sz="3200" dirty="0"/>
              <a:t> use case: </a:t>
            </a:r>
            <a:r>
              <a:rPr lang="it-IT" sz="3200" dirty="0">
                <a:solidFill>
                  <a:srgbClr val="C00000"/>
                </a:solidFill>
              </a:rPr>
              <a:t>city </a:t>
            </a:r>
            <a:r>
              <a:rPr lang="it-IT" sz="3200" dirty="0" err="1">
                <a:solidFill>
                  <a:srgbClr val="C00000"/>
                </a:solidFill>
              </a:rPr>
              <a:t>logistics</a:t>
            </a:r>
            <a:endParaRPr lang="it-IT" sz="3200" dirty="0">
              <a:solidFill>
                <a:srgbClr val="C00000"/>
              </a:solidFill>
            </a:endParaRPr>
          </a:p>
          <a:p>
            <a:pPr marL="514350" indent="-514350">
              <a:lnSpc>
                <a:spcPct val="150000"/>
              </a:lnSpc>
              <a:buAutoNum type="arabicParenR"/>
            </a:pPr>
            <a:r>
              <a:rPr lang="it-IT" sz="3200" dirty="0"/>
              <a:t>The scheduling use case: </a:t>
            </a:r>
            <a:r>
              <a:rPr lang="it-IT" sz="3200" dirty="0">
                <a:solidFill>
                  <a:srgbClr val="C00000"/>
                </a:solidFill>
              </a:rPr>
              <a:t>loading yards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E61FF-A48B-3CC7-674B-14191996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BBEDF-173C-E5C8-DF08-9D01A69215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A77E3B-8CF1-F616-B549-9FBA0309F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72902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0126CD0-0F1B-478E-7F9B-06F1979AEE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9542" y="1214842"/>
            <a:ext cx="3483495" cy="3563636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B0E51CE-27A2-6633-74B6-9143988D0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First </a:t>
            </a:r>
            <a:r>
              <a:rPr lang="it-IT" dirty="0" err="1"/>
              <a:t>problem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61671-13D8-D261-8D60-A66FF1E1A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EB88C-D1C2-6213-1C9A-73456ED45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</a:t>
            </a:fld>
            <a:endParaRPr lang="it-IT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3D0567-66EC-E53F-7623-9294D6E711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2086" y="931635"/>
            <a:ext cx="3761320" cy="38254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446776-D964-1763-59BC-1DD94DBCC7F7}"/>
              </a:ext>
            </a:extLst>
          </p:cNvPr>
          <p:cNvSpPr txBox="1"/>
          <p:nvPr/>
        </p:nvSpPr>
        <p:spPr>
          <a:xfrm>
            <a:off x="506940" y="5011965"/>
            <a:ext cx="8563022" cy="1547210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52 retailer stores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t-IT" sz="2400" dirty="0"/>
              <a:t>4 </a:t>
            </a:r>
            <a:r>
              <a:rPr lang="it-IT" sz="2400" dirty="0" err="1"/>
              <a:t>DCs</a:t>
            </a:r>
            <a:r>
              <a:rPr lang="it-IT" sz="2400" dirty="0"/>
              <a:t>: one big, one </a:t>
            </a:r>
            <a:r>
              <a:rPr lang="it-IT" sz="2400" dirty="0" err="1"/>
              <a:t>smaller</a:t>
            </a:r>
            <a:r>
              <a:rPr lang="it-IT" sz="2400" dirty="0"/>
              <a:t>, 2 </a:t>
            </a:r>
            <a:r>
              <a:rPr lang="it-IT" sz="2400" dirty="0" err="1"/>
              <a:t>satellites</a:t>
            </a:r>
            <a:r>
              <a:rPr lang="it-IT" sz="2400" dirty="0"/>
              <a:t> close to city center</a:t>
            </a:r>
          </a:p>
          <a:p>
            <a:pPr>
              <a:spcBef>
                <a:spcPts val="1800"/>
              </a:spcBef>
            </a:pPr>
            <a:r>
              <a:rPr lang="it-IT" sz="2400" dirty="0" err="1"/>
              <a:t>Allocation</a:t>
            </a:r>
            <a:r>
              <a:rPr lang="it-IT" sz="2400" dirty="0"/>
              <a:t> for Christmas season! Preliminary </a:t>
            </a:r>
            <a:r>
              <a:rPr lang="it-IT" sz="2400" dirty="0" err="1"/>
              <a:t>analysis</a:t>
            </a:r>
            <a:r>
              <a:rPr lang="it-IT" sz="2400" dirty="0"/>
              <a:t> </a:t>
            </a:r>
            <a:r>
              <a:rPr lang="it-IT" sz="2400" dirty="0" err="1"/>
              <a:t>during</a:t>
            </a:r>
            <a:r>
              <a:rPr lang="it-IT" sz="2400" dirty="0"/>
              <a:t> </a:t>
            </a:r>
            <a:r>
              <a:rPr lang="it-IT" sz="2400" dirty="0" err="1"/>
              <a:t>summer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7699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1051356-9730-A997-72E2-D0063FE6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Second </a:t>
            </a:r>
            <a:r>
              <a:rPr lang="it-IT" dirty="0" err="1"/>
              <a:t>problem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292A2-880F-8C00-6377-5A677F00E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B7EB85-5A3C-9379-CC79-C2D704881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</a:t>
            </a:fld>
            <a:endParaRPr lang="it-IT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DDFDCA-7DDC-91BE-6248-DC70520D991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77647" y="902220"/>
            <a:ext cx="7122456" cy="533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380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84408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C3F6CA1-EAE3-494D-AB27-F9985206B41F}" type="slidenum">
              <a:rPr lang="it-IT">
                <a:solidFill>
                  <a:prstClr val="black"/>
                </a:solidFill>
                <a:latin typeface="Arial" charset="0"/>
              </a:rPr>
              <a:pPr defTabSz="844083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it-IT" dirty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844083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it-IT">
                <a:solidFill>
                  <a:prstClr val="black"/>
                </a:solidFill>
              </a:rPr>
              <a:t>Vittorio Maniezzo – Università di Bologna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1477108" y="2566226"/>
            <a:ext cx="5978769" cy="1728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844083" eaLnBrk="0" fontAlgn="base" hangingPunct="0">
              <a:lnSpc>
                <a:spcPts val="11077"/>
              </a:lnSpc>
              <a:spcBef>
                <a:spcPct val="0"/>
              </a:spcBef>
              <a:spcAft>
                <a:spcPct val="0"/>
              </a:spcAft>
            </a:pPr>
            <a:r>
              <a:rPr lang="it-IT" sz="14770" dirty="0">
                <a:solidFill>
                  <a:prstClr val="black"/>
                </a:solidFill>
                <a:latin typeface="Palace Script MT" pitchFamily="66" charset="0"/>
              </a:rPr>
              <a:t>The theory</a:t>
            </a:r>
          </a:p>
        </p:txBody>
      </p:sp>
    </p:spTree>
    <p:extLst>
      <p:ext uri="{BB962C8B-B14F-4D97-AF65-F5344CB8AC3E}">
        <p14:creationId xmlns:p14="http://schemas.microsoft.com/office/powerpoint/2010/main" val="1965023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59A0C8-A15E-4972-A669-625C250E55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Decisions often </a:t>
                </a:r>
                <a:r>
                  <a:rPr lang="en-US" dirty="0">
                    <a:solidFill>
                      <a:srgbClr val="C00000"/>
                    </a:solidFill>
                  </a:rPr>
                  <a:t>precede the observation </a:t>
                </a:r>
                <a:r>
                  <a:rPr lang="en-US" dirty="0"/>
                  <a:t>of uncertain quantities.</a:t>
                </a:r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Stochastic programming </a:t>
                </a:r>
                <a:r>
                  <a:rPr lang="en-US" dirty="0"/>
                  <a:t>describes uncertainty through a probability distribution </a:t>
                </a:r>
                <a:r>
                  <a:rPr lang="en-US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Two-stage setting: the </a:t>
                </a:r>
                <a:r>
                  <a:rPr lang="en-US" dirty="0">
                    <a:solidFill>
                      <a:srgbClr val="C00000"/>
                    </a:solidFill>
                  </a:rPr>
                  <a:t>first-stage decision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dirty="0"/>
                  <a:t> precedes the realization of uncertain parameters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ξ</a:t>
                </a:r>
                <a:r>
                  <a:rPr lang="en-US" dirty="0"/>
                  <a:t>; the </a:t>
                </a:r>
                <a:r>
                  <a:rPr lang="en-US" dirty="0">
                    <a:solidFill>
                      <a:srgbClr val="C00000"/>
                    </a:solidFill>
                  </a:rPr>
                  <a:t>recourse decision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n-US" dirty="0"/>
                  <a:t> adapts to it.</a:t>
                </a:r>
              </a:p>
              <a:p>
                <a:r>
                  <a:rPr lang="en-US" dirty="0"/>
                  <a:t>A common objective is to </a:t>
                </a:r>
                <a:r>
                  <a:rPr lang="en-US" dirty="0">
                    <a:solidFill>
                      <a:srgbClr val="C00000"/>
                    </a:solidFill>
                  </a:rPr>
                  <a:t>minimize expected total cost</a:t>
                </a:r>
                <a:r>
                  <a:rPr lang="en-US" dirty="0"/>
                  <a:t>:  first-stage cost plus expected recourse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ts val="3000"/>
                  </a:spcBef>
                </a:pPr>
                <a:r>
                  <a:rPr lang="en-US" dirty="0">
                    <a:solidFill>
                      <a:srgbClr val="C00000"/>
                    </a:solidFill>
                  </a:rPr>
                  <a:t>Sample Average Approximation 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C00000"/>
                    </a:solidFill>
                  </a:rPr>
                  <a:t>SAA</a:t>
                </a:r>
                <a:r>
                  <a:rPr lang="en-US" dirty="0"/>
                  <a:t>): </a:t>
                </a:r>
              </a:p>
              <a:p>
                <a:pPr>
                  <a:spcBef>
                    <a:spcPts val="0"/>
                  </a:spcBef>
                  <a:tabLst>
                    <a:tab pos="2057400" algn="l"/>
                  </a:tabLst>
                </a:pPr>
                <a:r>
                  <a:rPr lang="en-US" dirty="0"/>
                  <a:t>expectations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	sample averages, </a:t>
                </a:r>
              </a:p>
              <a:p>
                <a:pPr>
                  <a:spcBef>
                    <a:spcPts val="0"/>
                  </a:spcBef>
                  <a:tabLst>
                    <a:tab pos="2057400" algn="l"/>
                  </a:tabLst>
                </a:pP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         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	empirical distribution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</a:p>
              <a:p>
                <a:pPr>
                  <a:spcBef>
                    <a:spcPts val="0"/>
                  </a:spcBef>
                  <a:tabLst>
                    <a:tab pos="2057400" algn="l"/>
                  </a:tabLst>
                </a:pP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n</a:t>
                </a:r>
                <a:r>
                  <a:rPr lang="en-US" dirty="0"/>
                  <a:t> sampled </a:t>
                </a:r>
                <a:r>
                  <a:rPr lang="en-US" dirty="0">
                    <a:solidFill>
                      <a:srgbClr val="C00000"/>
                    </a:solidFill>
                  </a:rPr>
                  <a:t>scenarios</a:t>
                </a:r>
                <a:r>
                  <a:rPr lang="en-US" dirty="0"/>
                  <a:t>, probability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1/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</a:p>
              <a:p>
                <a:r>
                  <a:rPr lang="en-US" dirty="0"/>
                  <a:t>Standard SAA can </a:t>
                </a:r>
                <a:r>
                  <a:rPr lang="en-US" dirty="0">
                    <a:solidFill>
                      <a:srgbClr val="C00000"/>
                    </a:solidFill>
                  </a:rPr>
                  <a:t>disappoint</a:t>
                </a:r>
                <a:r>
                  <a:rPr lang="en-US" dirty="0"/>
                  <a:t> out of sample, especially if 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US" dirty="0"/>
                  <a:t> is small.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A59A0C8-A15E-4972-A669-625C250E55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2204" r="-9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4355123-A758-404D-B760-F29FB205C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80" y="41307"/>
            <a:ext cx="8395926" cy="766769"/>
          </a:xfrm>
        </p:spPr>
        <p:txBody>
          <a:bodyPr>
            <a:noAutofit/>
          </a:bodyPr>
          <a:lstStyle/>
          <a:p>
            <a:r>
              <a:rPr lang="en-US" sz="3200" dirty="0"/>
              <a:t>Prequel: Stochastic </a:t>
            </a:r>
            <a:r>
              <a:rPr lang="en-US" sz="3200" dirty="0" err="1"/>
              <a:t>progr</a:t>
            </a:r>
            <a:r>
              <a:rPr lang="en-US" sz="3200" dirty="0"/>
              <a:t>. and SAA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5464D-5354-4979-860B-901B5A4BF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48F37E-0911-4B30-9750-9A199A9E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6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0921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72958A-9E82-48D9-96BB-EAE8B7B51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/>
                <a:r>
                  <a:rPr lang="en-US" sz="2400" dirty="0"/>
                  <a:t>Uncertain </a:t>
                </a:r>
                <a:r>
                  <a:rPr lang="en-US" sz="2400" dirty="0">
                    <a:solidFill>
                      <a:schemeClr val="tx1"/>
                    </a:solidFill>
                  </a:rPr>
                  <a:t>parameters 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belong </a:t>
                </a:r>
                <a:r>
                  <a:rPr lang="en-US" sz="2400" dirty="0"/>
                  <a:t>to an </a:t>
                </a:r>
                <a:r>
                  <a:rPr lang="en-US" sz="2400" dirty="0">
                    <a:solidFill>
                      <a:srgbClr val="C00000"/>
                    </a:solidFill>
                  </a:rPr>
                  <a:t>uncertainty set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sz="2400" dirty="0"/>
                  <a:t>, specifying the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realizations</a:t>
                </a:r>
                <a:r>
                  <a:rPr lang="en-US" sz="2400" dirty="0"/>
                  <a:t> against which protection is required.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400" dirty="0">
                    <a:solidFill>
                      <a:srgbClr val="C00000"/>
                    </a:solidFill>
                  </a:rPr>
                  <a:t>No probability distribution </a:t>
                </a:r>
                <a:r>
                  <a:rPr lang="en-US" sz="2400" dirty="0"/>
                  <a:t>over these realizations is specified.</a:t>
                </a:r>
              </a:p>
              <a:p>
                <a:pPr lvl="0">
                  <a:spcBef>
                    <a:spcPts val="1200"/>
                  </a:spcBef>
                </a:pPr>
                <a:r>
                  <a:rPr lang="en-US" sz="2400" dirty="0"/>
                  <a:t>Decisions </a:t>
                </a:r>
                <a:r>
                  <a:rPr lang="en-US" sz="2400" dirty="0">
                    <a:solidFill>
                      <a:srgbClr val="C00000"/>
                    </a:solidFill>
                  </a:rPr>
                  <a:t>minimize worst-case cost </a:t>
                </a:r>
                <a:r>
                  <a:rPr lang="en-US" sz="2400" dirty="0"/>
                  <a:t>while remaining feasible for every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lim>
                          </m:limLow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&amp;</m:t>
                          </m:r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𝒰</m:t>
                              </m:r>
                            </m:lim>
                          </m:limLow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sepChr m:val=",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  <m:e>
                          <m:r>
                            <m:rPr>
                              <m:nor/>
                            </m:rPr>
                            <a:rPr lang="en-US" sz="2400" i="0"/>
                            <m:t>subject</m:t>
                          </m:r>
                          <m:r>
                            <m:rPr>
                              <m:nor/>
                            </m:rPr>
                            <a:rPr lang="en-US" sz="2400" i="0"/>
                            <m:t> </m:t>
                          </m:r>
                          <m:r>
                            <m:rPr>
                              <m:nor/>
                            </m:rPr>
                            <a:rPr lang="en-US" sz="2400" i="0"/>
                            <m:t>to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 &amp;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sepChr m:val=",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≤0&amp;&amp;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𝒰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eqArr>
                    </m:oMath>
                  </m:oMathPara>
                </a14:m>
                <a:endParaRPr lang="en-US" sz="2400" b="0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→ worst-case objective and feasibility across the uncertainty set.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Enlarging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sz="2400" dirty="0"/>
                  <a:t>strengthens protection but increases the optimal cost: the uncertainty set controls the degree of conservatism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72958A-9E82-48D9-96BB-EAE8B7B51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9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D08D39-03C4-4852-9685-D91F4A00E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Prequel: Robust optimization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109DF-1AF7-4CD1-9420-D83A8A9225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467FB-39D5-43BA-B7C5-14C6D22BF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3657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B501FB-0A8F-4BC5-AF81-95D1A9E644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07" y="1173916"/>
                <a:ext cx="8546175" cy="5684084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DRO: </a:t>
                </a:r>
                <a:r>
                  <a:rPr lang="en-US" dirty="0">
                    <a:solidFill>
                      <a:srgbClr val="C00000"/>
                    </a:solidFill>
                  </a:rPr>
                  <a:t>uncertainty about the probability distribution </a:t>
                </a:r>
                <a:r>
                  <a:rPr lang="en-US" dirty="0"/>
                  <a:t>itself, not just the random parameters.</a:t>
                </a:r>
              </a:p>
              <a:p>
                <a:pPr>
                  <a:spcBef>
                    <a:spcPts val="0"/>
                  </a:spcBef>
                </a:pPr>
                <a:r>
                  <a:rPr lang="en-US" dirty="0"/>
                  <a:t>An </a:t>
                </a:r>
                <a:r>
                  <a:rPr lang="en-US" dirty="0">
                    <a:solidFill>
                      <a:srgbClr val="C00000"/>
                    </a:solidFill>
                  </a:rPr>
                  <a:t>ambiguity set 𝒫 </a:t>
                </a:r>
                <a:r>
                  <a:rPr lang="en-US" dirty="0"/>
                  <a:t>is the set of plausible distributions.</a:t>
                </a:r>
              </a:p>
              <a:p>
                <a:pPr>
                  <a:tabLst>
                    <a:tab pos="2630488" algn="l"/>
                  </a:tabLst>
                </a:pPr>
                <a:r>
                  <a:rPr lang="en-US" dirty="0"/>
                  <a:t>DRO </a:t>
                </a:r>
                <a:r>
                  <a:rPr lang="en-US" dirty="0">
                    <a:solidFill>
                      <a:srgbClr val="C00000"/>
                    </a:solidFill>
                  </a:rPr>
                  <a:t>minimizes the worst-case expected cost </a:t>
                </a:r>
                <a:r>
                  <a:rPr lang="en-US" dirty="0"/>
                  <a:t>over 𝒫.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𝑠𝑢𝑝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𝒫</m:t>
                        </m:r>
                      </m:sub>
                    </m:sSub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Two common ways to construct 𝒫: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moment-based: support restrictions and moment constraints;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discrepancy-based: all P within </a:t>
                </a:r>
                <a:r>
                  <a:rPr lang="en-US" dirty="0">
                    <a:solidFill>
                      <a:srgbClr val="C00000"/>
                    </a:solidFill>
                  </a:rPr>
                  <a:t>radius ε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measured by a Wasserstein distance or a φ-divergence.</a:t>
                </a:r>
              </a:p>
              <a:p>
                <a:r>
                  <a:rPr lang="en-US" dirty="0"/>
                  <a:t>DRO bridges the two prequels: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𝒫 =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{P}</a:t>
                </a:r>
                <a:r>
                  <a:rPr lang="en-US" dirty="0"/>
                  <a:t> → </a:t>
                </a:r>
                <a:r>
                  <a:rPr lang="en-US" i="1" dirty="0"/>
                  <a:t>stochastic programming </a:t>
                </a:r>
                <a:r>
                  <a:rPr lang="en-US" dirty="0"/>
                  <a:t>(no distributional uncertainty),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𝒫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} (ε=0) → </a:t>
                </a:r>
                <a:r>
                  <a:rPr lang="en-US" i="1" dirty="0"/>
                  <a:t>SAA</a:t>
                </a:r>
                <a:r>
                  <a:rPr lang="en-US" dirty="0"/>
                  <a:t> (empirical distribution is taken as the truth);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DRO</a:t>
                </a:r>
              </a:p>
              <a:p>
                <a:pPr marL="457200" indent="-4572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dirty="0"/>
                  <a:t>𝒫 = all distributions already supported on </a:t>
                </a:r>
                <a14:m>
                  <m:oMath xmlns:m="http://schemas.openxmlformats.org/officeDocument/2006/math">
                    <m:r>
                      <a:rPr lang="en-US" sz="28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</m:oMath>
                </a14:m>
                <a:r>
                  <a:rPr lang="en-US" dirty="0"/>
                  <a:t> → </a:t>
                </a:r>
                <a:r>
                  <a:rPr lang="en-US" i="1" dirty="0"/>
                  <a:t>robust optimization </a:t>
                </a:r>
                <a:r>
                  <a:rPr lang="en-US" dirty="0"/>
                  <a:t>(worst case over the support).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9B501FB-0A8F-4BC5-AF81-95D1A9E644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07" y="1173916"/>
                <a:ext cx="8546175" cy="5684084"/>
              </a:xfrm>
              <a:blipFill>
                <a:blip r:embed="rId2"/>
                <a:stretch>
                  <a:fillRect l="-927" t="-18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D0BCFFD-D031-4046-9471-10F5FFB9F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43750"/>
            <a:ext cx="8791195" cy="766769"/>
          </a:xfrm>
        </p:spPr>
        <p:txBody>
          <a:bodyPr>
            <a:noAutofit/>
          </a:bodyPr>
          <a:lstStyle/>
          <a:p>
            <a:r>
              <a:rPr lang="en-US" sz="3000" dirty="0"/>
              <a:t>Prequel: </a:t>
            </a:r>
            <a:r>
              <a:rPr lang="en-US" sz="3000" dirty="0" err="1"/>
              <a:t>Distributionally</a:t>
            </a:r>
            <a:r>
              <a:rPr lang="en-US" sz="3000" dirty="0"/>
              <a:t> robust optimization and ambiguity sets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6FF4A-6236-4F06-BF8C-287B1FCC5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98052A-C200-451A-9A11-2C626748E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0570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4C105C7-F790-4C5C-9664-9F64E9C48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Distributional ignorance</a:t>
            </a:r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361A4-E4F3-421E-8C6F-C54933267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AC033-305E-40A0-8201-27A55FA81C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9</a:t>
            </a:fld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3F688B4-336A-F66A-1505-97C77206BA14}"/>
                  </a:ext>
                </a:extLst>
              </p:cNvPr>
              <p:cNvSpPr/>
              <p:nvPr/>
            </p:nvSpPr>
            <p:spPr>
              <a:xfrm>
                <a:off x="929401" y="1458930"/>
                <a:ext cx="7272768" cy="4606740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571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it-IT" sz="2200" b="1" dirty="0">
                    <a:solidFill>
                      <a:schemeClr val="tx1"/>
                    </a:solidFill>
                  </a:rPr>
                  <a:t>Robust </a:t>
                </a:r>
                <a:r>
                  <a:rPr lang="it-IT" sz="2200" b="1" dirty="0" err="1">
                    <a:solidFill>
                      <a:schemeClr val="tx1"/>
                    </a:solidFill>
                  </a:rPr>
                  <a:t>optimization</a:t>
                </a:r>
                <a:r>
                  <a:rPr lang="it-IT" sz="22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</a:rPr>
                  <a:t>𝒫 = all distributions represented by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𝒰</m:t>
                    </m:r>
                  </m:oMath>
                </a14:m>
                <a:endParaRPr lang="it-IT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13F688B4-336A-F66A-1505-97C77206B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401" y="1458930"/>
                <a:ext cx="7272768" cy="460674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57150"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34E64EF-C30C-8710-2C25-3C37DA2D5D79}"/>
                  </a:ext>
                </a:extLst>
              </p:cNvPr>
              <p:cNvSpPr/>
              <p:nvPr/>
            </p:nvSpPr>
            <p:spPr>
              <a:xfrm>
                <a:off x="1309549" y="2178128"/>
                <a:ext cx="6380819" cy="3567766"/>
              </a:xfrm>
              <a:prstGeom prst="round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57150">
                <a:solidFill>
                  <a:schemeClr val="accent4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200" b="1" dirty="0">
                    <a:solidFill>
                      <a:schemeClr val="tx1"/>
                    </a:solidFill>
                  </a:rPr>
                  <a:t>DRO</a:t>
                </a:r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ysClr val="windowText" lastClr="000000"/>
                    </a:solidFill>
                  </a:rPr>
                  <a:t>𝒫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2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it-IT" sz="22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: </m:t>
                        </m:r>
                        <m:r>
                          <m:rPr>
                            <m:sty m:val="p"/>
                          </m:rPr>
                          <a:rPr lang="it-IT" sz="22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it-IT" sz="22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it-IT" sz="22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P</m:t>
                        </m:r>
                        <m:r>
                          <a:rPr lang="it-IT" sz="22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22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22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sz="22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a:rPr lang="it-IT" sz="22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it-IT" sz="22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200" dirty="0">
                    <a:solidFill>
                      <a:sysClr val="windowText" lastClr="000000"/>
                    </a:solidFill>
                  </a:rPr>
                  <a:t>}</a:t>
                </a:r>
                <a:endParaRPr lang="it-IT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434E64EF-C30C-8710-2C25-3C37DA2D5D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549" y="2178128"/>
                <a:ext cx="6380819" cy="3567766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57150">
                <a:solidFill>
                  <a:schemeClr val="accent4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02B7796F-D315-455C-2F0A-CA647F9042CB}"/>
                  </a:ext>
                </a:extLst>
              </p:cNvPr>
              <p:cNvSpPr/>
              <p:nvPr/>
            </p:nvSpPr>
            <p:spPr>
              <a:xfrm>
                <a:off x="1864355" y="2897326"/>
                <a:ext cx="5341852" cy="252879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57150">
                <a:solidFill>
                  <a:schemeClr val="accent1"/>
                </a:solidFill>
              </a:ln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en-US" sz="2200" b="1" dirty="0">
                    <a:solidFill>
                      <a:schemeClr val="tx1"/>
                    </a:solidFill>
                  </a:rPr>
                  <a:t>SA</a:t>
                </a:r>
                <a:r>
                  <a:rPr lang="en-US" sz="2200" b="1" dirty="0">
                    <a:solidFill>
                      <a:sysClr val="windowText" lastClr="000000"/>
                    </a:solidFill>
                  </a:rPr>
                  <a:t>A</a:t>
                </a:r>
                <a:r>
                  <a:rPr lang="en-US" sz="2200" dirty="0">
                    <a:solidFill>
                      <a:sysClr val="windowText" lastClr="000000"/>
                    </a:solidFill>
                  </a:rPr>
                  <a:t> 𝒫 =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sz="22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ysClr val="windowText" lastClr="000000"/>
                    </a:solidFill>
                  </a:rPr>
                  <a:t>} (ε=0) </a:t>
                </a:r>
                <a:endParaRPr lang="it-IT" sz="2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02B7796F-D315-455C-2F0A-CA647F9042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355" y="2897326"/>
                <a:ext cx="5341852" cy="252879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748B46-78FE-3BA2-D23C-37F86881AD1F}"/>
              </a:ext>
            </a:extLst>
          </p:cNvPr>
          <p:cNvSpPr/>
          <p:nvPr/>
        </p:nvSpPr>
        <p:spPr>
          <a:xfrm>
            <a:off x="2491073" y="3552210"/>
            <a:ext cx="4283287" cy="15217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5715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200" b="1" dirty="0">
                <a:solidFill>
                  <a:sysClr val="windowText" lastClr="000000"/>
                </a:solidFill>
              </a:rPr>
              <a:t>Stochastic programming </a:t>
            </a:r>
            <a:r>
              <a:rPr lang="en-US" sz="2200" dirty="0">
                <a:solidFill>
                  <a:sysClr val="windowText" lastClr="000000"/>
                </a:solidFill>
              </a:rPr>
              <a:t>𝒫 = </a:t>
            </a:r>
            <a:r>
              <a:rPr lang="en-US" sz="2200" dirty="0">
                <a:solidFill>
                  <a:sysClr val="windowText" lastClr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{P}</a:t>
            </a:r>
            <a:endParaRPr lang="it-IT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3AAD0A-E20A-5696-6F62-D7C4272A6CBD}"/>
              </a:ext>
            </a:extLst>
          </p:cNvPr>
          <p:cNvCxnSpPr>
            <a:cxnSpLocks/>
          </p:cNvCxnSpPr>
          <p:nvPr/>
        </p:nvCxnSpPr>
        <p:spPr>
          <a:xfrm flipV="1">
            <a:off x="534256" y="1458930"/>
            <a:ext cx="0" cy="4643919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3B017EF-4B42-4700-42F8-0564CDD4B98B}"/>
              </a:ext>
            </a:extLst>
          </p:cNvPr>
          <p:cNvSpPr txBox="1"/>
          <p:nvPr/>
        </p:nvSpPr>
        <p:spPr>
          <a:xfrm rot="16200000">
            <a:off x="-981059" y="3412457"/>
            <a:ext cx="2633798" cy="430887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spAutoFit/>
          </a:bodyPr>
          <a:lstStyle/>
          <a:p>
            <a:pPr algn="l"/>
            <a:r>
              <a:rPr lang="it-IT" sz="2200" dirty="0" err="1"/>
              <a:t>Increasing</a:t>
            </a:r>
            <a:r>
              <a:rPr lang="it-IT" sz="2200" dirty="0"/>
              <a:t> </a:t>
            </a:r>
            <a:r>
              <a:rPr lang="it-IT" sz="2200" dirty="0" err="1"/>
              <a:t>robustness</a:t>
            </a:r>
            <a:endParaRPr lang="it-IT" sz="2200" dirty="0"/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FB75F3-F9EF-9E2E-6D88-549361999189}"/>
              </a:ext>
            </a:extLst>
          </p:cNvPr>
          <p:cNvCxnSpPr>
            <a:cxnSpLocks/>
          </p:cNvCxnSpPr>
          <p:nvPr/>
        </p:nvCxnSpPr>
        <p:spPr>
          <a:xfrm>
            <a:off x="8556706" y="1309955"/>
            <a:ext cx="0" cy="4977829"/>
          </a:xfrm>
          <a:prstGeom prst="straightConnector1">
            <a:avLst/>
          </a:prstGeom>
          <a:ln w="349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C527223-24B8-F256-DAB5-3ADF827AD20B}"/>
              </a:ext>
            </a:extLst>
          </p:cNvPr>
          <p:cNvSpPr txBox="1"/>
          <p:nvPr/>
        </p:nvSpPr>
        <p:spPr>
          <a:xfrm rot="5400000">
            <a:off x="7297771" y="3482908"/>
            <a:ext cx="3010311" cy="430887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spAutoFit/>
          </a:bodyPr>
          <a:lstStyle/>
          <a:p>
            <a:pPr algn="l"/>
            <a:r>
              <a:rPr lang="it-IT" sz="2200" dirty="0" err="1"/>
              <a:t>Distributional</a:t>
            </a:r>
            <a:r>
              <a:rPr lang="it-IT" sz="2200" dirty="0"/>
              <a:t> knowledge</a:t>
            </a:r>
          </a:p>
        </p:txBody>
      </p:sp>
    </p:spTree>
    <p:extLst>
      <p:ext uri="{BB962C8B-B14F-4D97-AF65-F5344CB8AC3E}">
        <p14:creationId xmlns:p14="http://schemas.microsoft.com/office/powerpoint/2010/main" val="2435513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5AF1EE-9A17-4ED1-9EB4-0CE70270A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420804"/>
            <a:ext cx="8616493" cy="4248476"/>
          </a:xfrm>
        </p:spPr>
        <p:txBody>
          <a:bodyPr>
            <a:normAutofit/>
          </a:bodyPr>
          <a:lstStyle/>
          <a:p>
            <a:r>
              <a:rPr lang="en-US" sz="2400" dirty="0"/>
              <a:t>SPO uses predictions as inputs to an optimization model.</a:t>
            </a:r>
          </a:p>
          <a:p>
            <a:r>
              <a:rPr lang="en-US" sz="2400" dirty="0"/>
              <a:t>Conventional prediction models </a:t>
            </a:r>
            <a:r>
              <a:rPr lang="en-US" sz="2400" dirty="0">
                <a:solidFill>
                  <a:srgbClr val="C00000"/>
                </a:solidFill>
              </a:rPr>
              <a:t>minimize statistical forecast error</a:t>
            </a:r>
            <a:endParaRPr lang="en-US" sz="2400" dirty="0"/>
          </a:p>
          <a:p>
            <a:pPr algn="r">
              <a:spcBef>
                <a:spcPts val="0"/>
              </a:spcBef>
            </a:pPr>
            <a:r>
              <a:rPr lang="en-US" sz="2400" dirty="0"/>
              <a:t>→ small forecast errors do not necessarily imply good decisions.</a:t>
            </a:r>
          </a:p>
          <a:p>
            <a:r>
              <a:rPr lang="en-US" sz="2400" dirty="0"/>
              <a:t>SPO uses a tractable </a:t>
            </a:r>
            <a:r>
              <a:rPr lang="en-US" sz="2400" dirty="0">
                <a:solidFill>
                  <a:srgbClr val="C00000"/>
                </a:solidFill>
              </a:rPr>
              <a:t>surrogate loss to train predictions</a:t>
            </a:r>
            <a:r>
              <a:rPr lang="en-US" sz="2400" dirty="0"/>
              <a:t> according to their decision consequences (</a:t>
            </a:r>
            <a:r>
              <a:rPr lang="en-US" sz="2400" i="1" dirty="0" err="1"/>
              <a:t>Elmachtoub</a:t>
            </a:r>
            <a:r>
              <a:rPr lang="en-US" sz="2400" i="1" dirty="0"/>
              <a:t>, Grigas, 2017</a:t>
            </a:r>
            <a:r>
              <a:rPr lang="en-US" sz="2400" dirty="0"/>
              <a:t>).</a:t>
            </a:r>
          </a:p>
          <a:p>
            <a:r>
              <a:rPr lang="en-US" sz="2400" dirty="0"/>
              <a:t>Decision awareness enters through the predictor’s training objective: it </a:t>
            </a:r>
            <a:r>
              <a:rPr lang="en-US" sz="2400" dirty="0">
                <a:solidFill>
                  <a:srgbClr val="C00000"/>
                </a:solidFill>
              </a:rPr>
              <a:t>does not optimize over an ambiguity set </a:t>
            </a:r>
            <a:r>
              <a:rPr lang="en-US" sz="2400" dirty="0"/>
              <a:t>of distributions.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FC9CD1-39FD-43C9-A98B-911D0AD78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Smart Predict-then-Optimize (SPO)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65E942-CED0-41AF-8B28-63461A3F7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86AA0F-6EF2-4B30-9606-42EF5EBF5F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397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A9BBBB-AE7E-4A4A-BAC9-F2A90D2DA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The BESO framework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integrates forecasting and optimization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through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bidirectional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 coupling: 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the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n-lt"/>
              </a:rPr>
              <a:t>forecasting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 component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embeds optimization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-relevant structure (without modifying the forecasting loss function),</a:t>
            </a:r>
          </a:p>
          <a:p>
            <a:pPr marL="342900" indent="-34290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the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n-lt"/>
              </a:rPr>
              <a:t>optimization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 component is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built on forecast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outputs and their uncertainty characterization.</a:t>
            </a:r>
          </a:p>
          <a:p>
            <a:pPr algn="l"/>
            <a:r>
              <a:rPr lang="en-US" sz="2400" dirty="0">
                <a:solidFill>
                  <a:srgbClr val="000000"/>
                </a:solidFill>
                <a:latin typeface="+mn-lt"/>
              </a:rPr>
              <a:t>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ppropriate when innovation noise and random shocks do not dominate forecast errors: </a:t>
            </a:r>
          </a:p>
          <a:p>
            <a:pPr algn="l">
              <a:spcBef>
                <a:spcPts val="0"/>
              </a:spcBef>
            </a:pPr>
            <a:r>
              <a:rPr lang="en-US" sz="2400" dirty="0">
                <a:solidFill>
                  <a:srgbClr val="000000"/>
                </a:solidFill>
                <a:latin typeface="+mn-lt"/>
              </a:rPr>
              <a:t>→ t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he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forecasts used by the optimizer may be inaccurate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but are usable if their errors are not systematically biased. 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The two components can be integrated at different levels, resulting in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two models: BESO-SAA and BESO-DRO</a:t>
            </a:r>
            <a:endParaRPr lang="en-US" sz="24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20547-2DE3-4BBD-BF35-06DA076B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BESO, generalities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6A7992-E6BD-43A7-B5BE-486788142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21DF5-40A0-4F32-BB4C-4C3100538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55634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F281A3F-3C97-4C1D-8713-5E9CB1516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875" y="1000180"/>
            <a:ext cx="8845093" cy="5588710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200" dirty="0"/>
              <a:t>Three widely used families of forecasting methods are: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rgbClr val="C00000"/>
                </a:solidFill>
              </a:rPr>
              <a:t>Statistical models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specify explicit structures for temporal dependence and uncertainty.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Examples include ARIMA/SARIMA, ETS, and structural state-space models.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Their assumptions about dynamics and errors depend on the model.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rgbClr val="C00000"/>
                </a:solidFill>
              </a:rPr>
              <a:t>Neural models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learn flexible, potentially nonlinear relationships within a chosen architecture.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Examples include MLPs, LSTMs, GRUs, temporal CNNs, and Transformers.</a:t>
            </a:r>
          </a:p>
          <a:p>
            <a:pPr>
              <a:spcBef>
                <a:spcPts val="600"/>
              </a:spcBef>
            </a:pPr>
            <a:r>
              <a:rPr lang="en-US" sz="2200" b="1" dirty="0">
                <a:solidFill>
                  <a:srgbClr val="C00000"/>
                </a:solidFill>
              </a:rPr>
              <a:t>Tree-based ensembles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combine decision trees using lagged observations and derived features.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Examples include Random Forests and gradient boosting methods such as </a:t>
            </a:r>
            <a:r>
              <a:rPr lang="en-US" sz="2200" dirty="0" err="1"/>
              <a:t>XGBoost</a:t>
            </a:r>
            <a:r>
              <a:rPr lang="en-US" sz="2200" dirty="0"/>
              <a:t> and </a:t>
            </a:r>
            <a:r>
              <a:rPr lang="en-US" sz="2200" dirty="0" err="1"/>
              <a:t>LightGBM</a:t>
            </a:r>
            <a:r>
              <a:rPr lang="en-US" sz="22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200" b="1" dirty="0"/>
              <a:t>No approach consistently outperforms all others. We can use any of them.</a:t>
            </a:r>
            <a:endParaRPr lang="en-US" sz="2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A5DEEE-7D13-48F3-B371-6C1D0C36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Univariate time series forecasting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2BE902-6A4A-4E6D-9690-05584D54A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AFADAE-947F-49E8-ACB4-97DD91B308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1134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0F4A01-B99A-4756-A4EE-D5FAB4A7F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26432"/>
            <a:ext cx="8546175" cy="5562458"/>
          </a:xfrm>
        </p:spPr>
        <p:txBody>
          <a:bodyPr>
            <a:no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Data-driven distribution estimation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is useful when stationarity or known distributional forms cannot be assumed.</a:t>
            </a:r>
          </a:p>
          <a:p>
            <a:pPr algn="l"/>
            <a:r>
              <a:rPr lang="en-US" sz="2400" dirty="0">
                <a:solidFill>
                  <a:srgbClr val="000000"/>
                </a:solidFill>
                <a:latin typeface="+mn-lt"/>
              </a:rPr>
              <a:t>It is w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ell suited to complex, noisy, or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data-limited real-world settings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Bootstrap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 (</a:t>
            </a:r>
            <a:r>
              <a:rPr lang="en-US" sz="2400" b="0" i="1" u="none" strike="noStrike" baseline="0" dirty="0" err="1">
                <a:solidFill>
                  <a:srgbClr val="000000"/>
                </a:solidFill>
                <a:latin typeface="+mn-lt"/>
              </a:rPr>
              <a:t>Efron</a:t>
            </a:r>
            <a:r>
              <a:rPr lang="en-US" sz="2400" b="0" i="1" u="none" strike="noStrike" baseline="0" dirty="0">
                <a:solidFill>
                  <a:srgbClr val="000000"/>
                </a:solidFill>
                <a:latin typeface="+mn-lt"/>
              </a:rPr>
              <a:t>, 1979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):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n-lt"/>
              </a:rPr>
              <a:t>generates empirical distributions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by repeatedly sampling from the data with replacement.</a:t>
            </a:r>
          </a:p>
          <a:p>
            <a:pPr algn="l"/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MEB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 (</a:t>
            </a:r>
            <a:r>
              <a:rPr lang="en-US" sz="2400" b="0" i="1" u="none" strike="noStrike" baseline="0" dirty="0">
                <a:solidFill>
                  <a:srgbClr val="000000"/>
                </a:solidFill>
                <a:latin typeface="+mn-lt"/>
              </a:rPr>
              <a:t>Vinod, 2004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): </a:t>
            </a:r>
            <a:r>
              <a:rPr lang="en-US" sz="2400" b="1" i="0" u="none" strike="noStrike" baseline="0" dirty="0">
                <a:solidFill>
                  <a:srgbClr val="000000"/>
                </a:solidFill>
                <a:latin typeface="+mn-lt"/>
              </a:rPr>
              <a:t>produces bootstrap replicates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that preserve time-series dependence and maximizes an information entropy function defined over the resampled data.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We use a predictive model fitted to each MEB replicate, one forecast trajectory per replicate.</a:t>
            </a: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The set of trajectories forms the </a:t>
            </a:r>
            <a:r>
              <a:rPr lang="en-US" sz="2400" b="0" i="0" u="none" strike="noStrike" baseline="0" dirty="0">
                <a:solidFill>
                  <a:srgbClr val="C00000"/>
                </a:solidFill>
                <a:latin typeface="+mn-lt"/>
              </a:rPr>
              <a:t>scenario pool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+mn-lt"/>
              </a:rPr>
              <a:t>.</a:t>
            </a:r>
            <a:endParaRPr lang="en-US" sz="2400" dirty="0">
              <a:latin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D9A083-CFF4-4530-BA89-2573051E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Resampling, bootstrapping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E48CA6-96EC-4FE0-95F7-7F9901FAB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905E57-1A67-4E1A-BC81-0AF0A346D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3731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1C6C74-2F5A-4BD2-A2E7-1E2A91EE8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954460"/>
            <a:ext cx="8471467" cy="865196"/>
          </a:xfrm>
        </p:spPr>
        <p:txBody>
          <a:bodyPr>
            <a:normAutofit/>
          </a:bodyPr>
          <a:lstStyle/>
          <a:p>
            <a:r>
              <a:rPr lang="en-US" sz="2400" dirty="0"/>
              <a:t>Economics-related time series can often be effectively decomposed using STL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638FB1-ED62-4625-865F-D06016D5F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Prewhitening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F0937-F769-4F6E-8580-CBBCA4D25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1836D5-1DDA-427B-8458-42079267F7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14</a:t>
            </a:fld>
            <a:endParaRPr lang="it-IT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14F6936-617F-4265-A226-E04C2919F950}"/>
              </a:ext>
            </a:extLst>
          </p:cNvPr>
          <p:cNvGraphicFramePr>
            <a:graphicFrameLocks/>
          </p:cNvGraphicFramePr>
          <p:nvPr/>
        </p:nvGraphicFramePr>
        <p:xfrm>
          <a:off x="710565" y="1747564"/>
          <a:ext cx="3632835" cy="26654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59D514D4-2DBB-41FB-9AD7-62DE94011550}"/>
              </a:ext>
            </a:extLst>
          </p:cNvPr>
          <p:cNvGraphicFramePr>
            <a:graphicFrameLocks/>
          </p:cNvGraphicFramePr>
          <p:nvPr/>
        </p:nvGraphicFramePr>
        <p:xfrm>
          <a:off x="4765803" y="1747564"/>
          <a:ext cx="3759071" cy="2540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4E2309E-D802-4D6E-8335-D3CFBCC3F768}"/>
              </a:ext>
            </a:extLst>
          </p:cNvPr>
          <p:cNvGraphicFramePr>
            <a:graphicFrameLocks/>
          </p:cNvGraphicFramePr>
          <p:nvPr/>
        </p:nvGraphicFramePr>
        <p:xfrm>
          <a:off x="4773168" y="4389342"/>
          <a:ext cx="3783538" cy="2270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A42D1C7-B668-42A5-82F9-3F90EC885BFC}"/>
              </a:ext>
            </a:extLst>
          </p:cNvPr>
          <p:cNvSpPr txBox="1"/>
          <p:nvPr/>
        </p:nvSpPr>
        <p:spPr>
          <a:xfrm>
            <a:off x="2022604" y="5449824"/>
            <a:ext cx="2651760" cy="539496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pPr algn="l"/>
            <a:r>
              <a:rPr lang="en-US" sz="2400" dirty="0"/>
              <a:t>(almost) white noise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F9D577B-C269-4CD9-95DF-EE1814141D1C}"/>
              </a:ext>
            </a:extLst>
          </p:cNvPr>
          <p:cNvSpPr/>
          <p:nvPr/>
        </p:nvSpPr>
        <p:spPr>
          <a:xfrm>
            <a:off x="4343400" y="3018050"/>
            <a:ext cx="411658" cy="41095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98DDE43-5D64-48BC-A221-6CB6A0A6D20B}"/>
              </a:ext>
            </a:extLst>
          </p:cNvPr>
          <p:cNvSpPr/>
          <p:nvPr/>
        </p:nvSpPr>
        <p:spPr>
          <a:xfrm rot="5400000">
            <a:off x="6471424" y="4030516"/>
            <a:ext cx="411658" cy="41095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458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A8FF44D-8BCC-46EB-B005-E0626A2CE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283644"/>
            <a:ext cx="8387893" cy="4275908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sz="2400" dirty="0"/>
              <a:t>The </a:t>
            </a:r>
            <a:r>
              <a:rPr lang="en-US" sz="2400" dirty="0" err="1"/>
              <a:t>prewhitened</a:t>
            </a:r>
            <a:r>
              <a:rPr lang="en-US" sz="2400" dirty="0"/>
              <a:t> series only retains </a:t>
            </a:r>
            <a:r>
              <a:rPr lang="en-US" sz="2400" dirty="0">
                <a:solidFill>
                  <a:srgbClr val="C00000"/>
                </a:solidFill>
              </a:rPr>
              <a:t>residuals unexplained </a:t>
            </a:r>
            <a:r>
              <a:rPr lang="en-US" sz="2400" dirty="0"/>
              <a:t>by STL (i.e. </a:t>
            </a:r>
            <a:r>
              <a:rPr lang="en-US" sz="2400" i="1" dirty="0"/>
              <a:t>innovation noise and random shock</a:t>
            </a:r>
            <a:r>
              <a:rPr lang="en-US" sz="2400" dirty="0"/>
              <a:t>).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The observed residuals are </a:t>
            </a:r>
            <a:r>
              <a:rPr lang="en-US" sz="2400" dirty="0">
                <a:solidFill>
                  <a:srgbClr val="C00000"/>
                </a:solidFill>
              </a:rPr>
              <a:t>realizations of a random variable </a:t>
            </a:r>
            <a:r>
              <a:rPr lang="en-US" sz="2400" dirty="0"/>
              <a:t>whose distribution can be identified. (</a:t>
            </a:r>
            <a:r>
              <a:rPr lang="en-US" sz="2400" i="1" dirty="0"/>
              <a:t>hopefully normally distributed</a:t>
            </a:r>
            <a:r>
              <a:rPr lang="en-US" sz="2400" dirty="0"/>
              <a:t>).</a:t>
            </a:r>
          </a:p>
          <a:p>
            <a:pPr>
              <a:spcBef>
                <a:spcPts val="2400"/>
              </a:spcBef>
            </a:pPr>
            <a:r>
              <a:rPr lang="en-US" sz="2400" dirty="0"/>
              <a:t>Using the distribution of the residual series, we can </a:t>
            </a:r>
            <a:r>
              <a:rPr lang="en-US" sz="2400" dirty="0">
                <a:solidFill>
                  <a:srgbClr val="C00000"/>
                </a:solidFill>
              </a:rPr>
              <a:t>generate alternative samples </a:t>
            </a:r>
            <a:r>
              <a:rPr lang="en-US" sz="2400" dirty="0"/>
              <a:t>that are compatible with the overall model, i.e. </a:t>
            </a:r>
            <a:r>
              <a:rPr lang="en-US" sz="2400" b="1" dirty="0"/>
              <a:t>samples that could have occurred</a:t>
            </a:r>
            <a:r>
              <a:rPr lang="en-US" sz="24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DFAADB-A2D1-4F6E-B2CA-0AE368DA8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Recoloring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B5A2F7-FEB4-4ED8-B65B-2310458C36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7D396-F414-401F-BB0F-255D0A94B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82966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5879DB-4DE7-4174-8C19-2CB9A0440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07" y="1173916"/>
                <a:ext cx="8546175" cy="325178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We fit an AR(p) model on each series </a:t>
                </a:r>
              </a:p>
              <a:p>
                <a:r>
                  <a:rPr lang="en-US" sz="2400" dirty="0"/>
                  <a:t>We extracted </a:t>
                </a:r>
                <a:r>
                  <a:rPr lang="en-US" sz="2400" dirty="0">
                    <a:solidFill>
                      <a:srgbClr val="C00000"/>
                    </a:solidFill>
                  </a:rPr>
                  <a:t>residuals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, which were </a:t>
                </a:r>
                <a:r>
                  <a:rPr lang="en-US" sz="2400" i="1" dirty="0"/>
                  <a:t>sufficiently (?)</a:t>
                </a:r>
                <a:r>
                  <a:rPr lang="en-US" sz="2400" dirty="0"/>
                  <a:t> stationary</a:t>
                </a:r>
              </a:p>
              <a:p>
                <a:r>
                  <a:rPr lang="en-US" sz="2400" dirty="0"/>
                  <a:t>We resampled the residuals 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 and simulated new series as: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  <a:p>
                <a:r>
                  <a:rPr lang="en-US" sz="2400" dirty="0"/>
                  <a:t>We bootstrapped the residual series and reconstructed alternative series.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5879DB-4DE7-4174-8C19-2CB9A0440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07" y="1173916"/>
                <a:ext cx="8546175" cy="3251780"/>
              </a:xfrm>
              <a:blipFill>
                <a:blip r:embed="rId2"/>
                <a:stretch>
                  <a:fillRect l="-1070" t="-15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A06050C-9BA7-4D38-BC68-FED697FE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Bootstrapping, how we did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1C44BB-771E-4337-84BA-119A3BF88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E24EB-6EDE-4EDA-86C8-1F7EC53C7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16</a:t>
            </a:fld>
            <a:endParaRPr lang="it-IT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9D8429-2C95-4DB5-BF22-7A0B314FEC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25329" y="3770837"/>
            <a:ext cx="3900494" cy="303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961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E3F04-1E51-4F83-9E00-1E1B45309B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6166" y="1173916"/>
                <a:ext cx="8873795" cy="5414974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n-lt"/>
                  </a:rPr>
                  <a:t>The bootstrapped trajectories define probability distributions.</a:t>
                </a:r>
              </a:p>
              <a:p>
                <a:pPr algn="l">
                  <a:spcBef>
                    <a:spcPts val="1200"/>
                  </a:spcBef>
                </a:pPr>
                <a:r>
                  <a:rPr lang="en-US" sz="2400" b="0" i="0" u="none" strike="noStrike" baseline="0" dirty="0">
                    <a:latin typeface="+mn-lt"/>
                  </a:rPr>
                  <a:t>They are assigned </a:t>
                </a: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probability weights </a:t>
                </a:r>
                <a:r>
                  <a:rPr lang="en-US" sz="2400" b="0" i="0" u="none" strike="noStrike" baseline="0" dirty="0">
                    <a:latin typeface="+mn-lt"/>
                  </a:rPr>
                  <a:t>whose values are </a:t>
                </a:r>
                <a:r>
                  <a:rPr lang="en-US" sz="2400" b="1" i="0" u="none" strike="noStrike" baseline="0" dirty="0">
                    <a:latin typeface="+mn-lt"/>
                  </a:rPr>
                  <a:t>influenced by the downstream optimization function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0" i="0" u="none" strike="noStrike" baseline="0" dirty="0">
                    <a:latin typeface="+mn-lt"/>
                  </a:rPr>
                  <a:t>Given a set of MEB-generated trajectories (scenarios) and associated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, BESO defines </a:t>
                </a: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scenario weights</a:t>
                </a:r>
                <a:r>
                  <a:rPr lang="en-US" sz="2400" b="0" i="0" u="none" strike="noStrike" baseline="0" dirty="0">
                    <a:latin typeface="+mn-lt"/>
                  </a:rPr>
                  <a:t>,</a:t>
                </a:r>
              </a:p>
              <a:p>
                <a:pPr>
                  <a:spcBef>
                    <a:spcPts val="600"/>
                  </a:spcBef>
                  <a:tabLst>
                    <a:tab pos="3373438" algn="l"/>
                  </a:tabLst>
                </a:pPr>
                <a:r>
                  <a:rPr lang="it-IT" sz="2400" dirty="0"/>
                  <a:t> 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bSup>
                    <m:r>
                      <a:rPr lang="it-IT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it-IT" sz="2400" b="0" i="0" u="none" strike="noStrike" baseline="0" smtClean="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𝜇</m:t>
                        </m:r>
                        <m:sSub>
                          <m:sSubPr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it-IT" sz="2400" b="0" i="0" u="none" strike="noStrike" baseline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sSub>
                              <m:sSubPr>
                                <m:ctrlP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  <m:sSub>
                              <m:sSubPr>
                                <m:ctrlP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den>
                    </m:f>
                  </m:oMath>
                </a14:m>
                <a:endParaRPr lang="en-US" sz="2400" b="0" i="0" u="none" strike="noStrike" baseline="0" dirty="0">
                  <a:latin typeface="SFRM1000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The features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 are problem-dependent</a:t>
                </a:r>
                <a:r>
                  <a:rPr lang="en-US" sz="2400" dirty="0">
                    <a:solidFill>
                      <a:srgbClr val="000000"/>
                    </a:solidFill>
                    <a:latin typeface="+mn-lt"/>
                  </a:rPr>
                  <a:t> and </a:t>
                </a:r>
                <a:r>
                  <a:rPr lang="en-US" sz="2400" dirty="0">
                    <a:solidFill>
                      <a:srgbClr val="000000"/>
                    </a:solidFill>
                  </a:rPr>
                  <a:t>are computed </a:t>
                </a:r>
                <a:r>
                  <a:rPr lang="en-US" sz="2400" b="1" dirty="0">
                    <a:solidFill>
                      <a:srgbClr val="000000"/>
                    </a:solidFill>
                  </a:rPr>
                  <a:t>before</a:t>
                </a:r>
                <a:r>
                  <a:rPr lang="en-US" sz="2400" dirty="0">
                    <a:solidFill>
                      <a:srgbClr val="000000"/>
                    </a:solidFill>
                  </a:rPr>
                  <a:t> the final optimization,</a:t>
                </a:r>
                <a:endParaRPr lang="en-US" sz="2400" b="0" i="0" u="none" strike="noStrike" baseline="0" dirty="0">
                  <a:solidFill>
                    <a:srgbClr val="000000"/>
                  </a:solidFill>
                  <a:latin typeface="+mn-lt"/>
                </a:endParaRP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+mn-lt"/>
                  </a:rPr>
                  <a:t> are computed directly from instance data, </a:t>
                </a: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+mn-lt"/>
                  </a:rPr>
                  <a:t> approximate the contribution to the final cost of scenario s. </a:t>
                </a:r>
                <a:endParaRPr lang="en-US" sz="2400" b="0" i="0" u="none" strike="noStrike" baseline="0" dirty="0">
                  <a:solidFill>
                    <a:srgbClr val="000000"/>
                  </a:solidFill>
                  <a:latin typeface="+mn-lt"/>
                </a:endParaRPr>
              </a:p>
              <a:p>
                <a:pPr algn="l">
                  <a:spcBef>
                    <a:spcPts val="1200"/>
                  </a:spcBef>
                </a:pPr>
                <a:r>
                  <a:rPr lang="en-US" sz="2400" dirty="0">
                    <a:latin typeface="+mn-lt"/>
                  </a:rPr>
                  <a:t>T</a:t>
                </a:r>
                <a:r>
                  <a:rPr lang="en-US" sz="2400" b="0" i="0" u="none" strike="noStrike" baseline="0" dirty="0">
                    <a:latin typeface="+mn-lt"/>
                  </a:rPr>
                  <a:t>he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b="0" i="1" u="none" strike="noStrike" baseline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b="0" i="1" u="none" strike="noStrike" baseline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it-IT" sz="24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𝑂𝐴</m:t>
                            </m:r>
                          </m:sup>
                        </m:sSubSup>
                        <m:sSub>
                          <m:sSubPr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sSup>
                              <m:sSupPr>
                                <m:ctrlP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it-IT" sz="24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p>
                          </m:sub>
                        </m:sSub>
                      </m:e>
                    </m:nary>
                  </m:oMath>
                </a14:m>
                <a:r>
                  <a:rPr lang="en-US" sz="2400" b="0" i="0" u="none" strike="noStrike" baseline="0" dirty="0">
                    <a:latin typeface="SFRM1000"/>
                  </a:rPr>
                  <a:t> </a:t>
                </a:r>
                <a:r>
                  <a:rPr lang="en-US" sz="2400" b="0" i="0" u="none" strike="noStrike" baseline="0" dirty="0">
                    <a:latin typeface="+mn-lt"/>
                  </a:rPr>
                  <a:t>is a </a:t>
                </a: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cost-aware reference distribution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2BE3F04-1E51-4F83-9E00-1E1B45309B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166" y="1173916"/>
                <a:ext cx="8873795" cy="5414974"/>
              </a:xfrm>
              <a:blipFill>
                <a:blip r:embed="rId2"/>
                <a:stretch>
                  <a:fillRect l="-1030" t="-901" b="-94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E90657B-2BAD-459F-838A-D7D6A2C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tilting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3CC0A-8B24-4ABC-9C07-C9615FD5B6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8A35C-38D6-407B-9FA2-368463429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90427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794DF9-48CB-4C6A-BA1B-81499EA6DA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07" y="1075595"/>
                <a:ext cx="8546175" cy="5423527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n-lt"/>
                  </a:rPr>
                  <a:t>The set of bootstrap trajectories admits two distinct interpretations. </a:t>
                </a:r>
              </a:p>
              <a:p>
                <a:pPr marL="342900" indent="-342900" algn="l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n-lt"/>
                  </a:rPr>
                  <a:t>a</a:t>
                </a:r>
                <a:r>
                  <a:rPr lang="en-US" sz="2400" b="0" i="0" u="none" strike="noStrike" baseline="0" dirty="0">
                    <a:latin typeface="+mn-lt"/>
                  </a:rPr>
                  <a:t> </a:t>
                </a: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scenario-based formulation </a:t>
                </a:r>
                <a:r>
                  <a:rPr lang="en-US" sz="2400" b="0" i="0" u="none" strike="noStrike" baseline="0" dirty="0">
                    <a:latin typeface="+mn-lt"/>
                  </a:rPr>
                  <a:t>corresponds to SAA optimization under the cost-aware reference distribution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bSup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</a:t>
                </a:r>
              </a:p>
              <a:p>
                <a:pPr marL="342900" indent="-342900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en-US" sz="2400" b="0" i="0" u="none" strike="noStrike" baseline="0" dirty="0">
                    <a:latin typeface="+mn-lt"/>
                  </a:rPr>
                  <a:t>a </a:t>
                </a: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worst-case formulation over the ambiguity set </a:t>
                </a:r>
                <a:r>
                  <a:rPr lang="en-US" sz="2400" dirty="0">
                    <a:latin typeface="+mn-lt"/>
                  </a:rPr>
                  <a:t>induced by the predictive distributions </a:t>
                </a:r>
                <a:r>
                  <a:rPr lang="en-US" sz="2400" b="0" i="0" u="none" strike="noStrike" baseline="0" dirty="0">
                    <a:latin typeface="+mn-lt"/>
                  </a:rPr>
                  <a:t>provides the DRO extension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2400" b="0" i="0" u="none" strike="noStrike" baseline="0" dirty="0" err="1">
                    <a:latin typeface="+mn-lt"/>
                  </a:rPr>
                  <a:t>Notationally</a:t>
                </a:r>
                <a:r>
                  <a:rPr lang="en-US" sz="2400" b="0" i="0" u="none" strike="noStrike" baseline="0" dirty="0">
                    <a:latin typeface="+mn-lt"/>
                  </a:rPr>
                  <a:t>, </a:t>
                </a:r>
              </a:p>
              <a:p>
                <a:pPr marL="342900" indent="-34290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denote the first-stage decision </a:t>
                </a:r>
              </a:p>
              <a:p>
                <a:pPr marL="342900" indent="-34290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it-IT" sz="2400" b="0" i="0" u="none" strike="noStrike" baseline="0" smtClean="0"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represent the uncertain problem parameters. 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b="0" i="0" u="none" strike="noStrike" baseline="0" dirty="0">
                    <a:latin typeface="+mn-lt"/>
                  </a:rPr>
                  <a:t>the total cost is </a:t>
                </a:r>
                <a14:m>
                  <m:oMath xmlns:m="http://schemas.openxmlformats.org/officeDocument/2006/math"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with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the first-stage cost and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𝜉</m:t>
                    </m:r>
                    <m:r>
                      <a:rPr lang="it-IT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the recourse cost. 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it-IT" sz="2400" i="1">
                        <a:latin typeface="Cambria Math" panose="02040503050406030204" pitchFamily="18" charset="0"/>
                      </a:rPr>
                      <m:t>, …, </m:t>
                    </m:r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it-IT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it-IT" sz="2400"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lang="en-US" sz="2400" dirty="0">
                    <a:latin typeface="+mn-lt"/>
                  </a:rPr>
                  <a:t> denote the generated model-based scenarios.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b="0" i="0" u="none" strike="noStrike" baseline="0" dirty="0">
                    <a:latin typeface="+mn-lt"/>
                  </a:rPr>
                  <a:t>Expected costs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, </a:t>
                </a:r>
              </a:p>
              <a:p>
                <a:pPr marL="342900" indent="-342900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+mn-lt"/>
                  </a:rPr>
                  <a:t>S</a:t>
                </a:r>
                <a:r>
                  <a:rPr lang="en-US" sz="2400" b="0" i="0" u="none" strike="noStrike" baseline="0" dirty="0">
                    <a:latin typeface="+mn-lt"/>
                  </a:rPr>
                  <a:t>cenario costs are </a:t>
                </a:r>
                <a14:m>
                  <m:oMath xmlns:m="http://schemas.openxmlformats.org/officeDocument/2006/math"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.</a:t>
                </a: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6794DF9-48CB-4C6A-BA1B-81499EA6DA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07" y="1075595"/>
                <a:ext cx="8546175" cy="5423527"/>
              </a:xfrm>
              <a:blipFill>
                <a:blip r:embed="rId2"/>
                <a:stretch>
                  <a:fillRect l="-1070" t="-899" r="-9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A319191-C7BE-4124-A0D4-14745790D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prescriptive component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F87744-93BA-4251-96AC-18E37D853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1EF454-0CC0-4407-B6A5-9251973DA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39742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86D0F0-6A59-4A14-BFA6-2D00ECB7D6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l"/>
                <a:r>
                  <a:rPr lang="en-US" sz="2200" b="0" i="0" u="none" strike="noStrike" baseline="0" dirty="0">
                    <a:latin typeface="+mn-lt"/>
                  </a:rPr>
                  <a:t>In the first interpretation, the </a:t>
                </a:r>
                <a:r>
                  <a:rPr lang="en-US" sz="22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trajectories are regarded as alternative realizations of a single predictive distribution</a:t>
                </a:r>
                <a:r>
                  <a:rPr lang="en-US" sz="2200" b="0" i="0" u="none" strike="noStrike" baseline="0" dirty="0">
                    <a:latin typeface="+mn-lt"/>
                  </a:rPr>
                  <a:t>. </a:t>
                </a:r>
              </a:p>
              <a:p>
                <a:pPr algn="l">
                  <a:spcBef>
                    <a:spcPts val="1200"/>
                  </a:spcBef>
                </a:pPr>
                <a:r>
                  <a:rPr lang="en-US" sz="2200" b="0" i="0" u="none" strike="noStrike" baseline="0" dirty="0">
                    <a:latin typeface="+mn-lt"/>
                  </a:rPr>
                  <a:t>Given </a:t>
                </a:r>
                <a:r>
                  <a:rPr lang="en-US" sz="22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n</a:t>
                </a:r>
                <a:r>
                  <a:rPr lang="en-US" sz="2200" b="0" i="0" u="none" strike="noStrike" baseline="0" dirty="0">
                    <a:latin typeface="+mn-lt"/>
                  </a:rPr>
                  <a:t> trajectories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2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200" b="0" i="1" u="none" strike="noStrike" baseline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it-IT" sz="22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it-IT" sz="2200" b="0" i="1" u="none" strike="noStrike" baseline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200" b="0" i="1" u="none" strike="noStrike" baseline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sz="2200" b="0" i="1" u="none" strike="noStrike" baseline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sz="2200" b="0" i="1" u="none" strike="noStrike" baseline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200" b="0" i="0" u="none" strike="noStrike" baseline="0" dirty="0">
                    <a:latin typeface="+mn-lt"/>
                  </a:rPr>
                  <a:t>, assigning objective-aware probability to each of them yields the </a:t>
                </a:r>
                <a:r>
                  <a:rPr lang="en-US" sz="22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empirical distribution</a:t>
                </a: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22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it-IT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b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it-IT" sz="2200" i="1">
                              <a:latin typeface="Cambria Math" panose="02040503050406030204" pitchFamily="18" charset="0"/>
                            </a:rPr>
                            <m:t>𝑂𝐴</m:t>
                          </m:r>
                        </m:sup>
                      </m:sSubSup>
                      <m:r>
                        <a:rPr lang="it-IT" sz="2200" b="0" i="1" u="none" strike="noStrike" baseline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it-IT" sz="22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200" b="0" i="1" u="none" strike="noStrike" baseline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it-IT" sz="22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2200" b="0" i="1" u="none" strike="noStrike" baseline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2200" b="0" i="1" u="none" strike="noStrike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it-IT" sz="2200" b="0" i="1" u="none" strike="noStrike" baseline="0" smtClean="0">
                                  <a:latin typeface="Cambria Math" panose="02040503050406030204" pitchFamily="18" charset="0"/>
                                </a:rPr>
                                <m:t>𝑂𝐴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sz="22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200" b="0" i="1" u="none" strike="noStrike" baseline="0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it-IT" sz="2200" b="0" i="1" u="none" strike="noStrike" baseline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2200" b="0" i="1" u="none" strike="noStrike" baseline="0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it-IT" sz="2200" b="0" i="1" u="none" strike="noStrike" baseline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p>
                              </m:sSup>
                            </m:sub>
                          </m:sSub>
                        </m:e>
                      </m:nary>
                      <m:r>
                        <a:rPr lang="it-IT" sz="2200" b="0" i="1" u="none" strike="noStrike" baseline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200" b="0" i="0" u="none" strike="noStrike" baseline="0" dirty="0">
                  <a:latin typeface="SFRM1000"/>
                </a:endParaRPr>
              </a:p>
              <a:p>
                <a:pPr algn="l">
                  <a:spcBef>
                    <a:spcPts val="1200"/>
                  </a:spcBef>
                </a:pPr>
                <a:r>
                  <a:rPr lang="en-US" sz="2200" b="0" i="0" u="none" strike="noStrike" baseline="0" dirty="0">
                    <a:latin typeface="+mn-lt"/>
                  </a:rPr>
                  <a:t>The </a:t>
                </a:r>
                <a:r>
                  <a:rPr lang="en-US" sz="22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expected downstream cost </a:t>
                </a:r>
                <a:r>
                  <a:rPr lang="en-US" sz="2200" b="0" i="0" u="none" strike="noStrike" baseline="0" dirty="0">
                    <a:latin typeface="+mn-lt"/>
                  </a:rPr>
                  <a:t>is approximated by its </a:t>
                </a:r>
                <a:r>
                  <a:rPr lang="en-US" sz="22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weighted average </a:t>
                </a:r>
                <a:r>
                  <a:rPr lang="en-US" sz="2200" b="0" i="0" u="none" strike="noStrike" baseline="0" dirty="0">
                    <a:latin typeface="+mn-lt"/>
                  </a:rPr>
                  <a:t>over the bootstrap trajectories, leading to a </a:t>
                </a:r>
                <a:r>
                  <a:rPr lang="en-US" sz="2200" b="1" i="0" u="none" strike="noStrike" baseline="0" dirty="0">
                    <a:latin typeface="+mn-lt"/>
                  </a:rPr>
                  <a:t>weighted sample average approximation</a:t>
                </a:r>
                <a:r>
                  <a:rPr lang="en-US" sz="2200" b="0" i="0" u="none" strike="noStrike" baseline="0" dirty="0">
                    <a:latin typeface="+mn-lt"/>
                  </a:rPr>
                  <a:t> (SAA) variant model.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200" dirty="0">
                    <a:latin typeface="+mn-lt"/>
                  </a:rPr>
                  <a:t>The first-stage decision </a:t>
                </a:r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x</a:t>
                </a:r>
                <a:r>
                  <a:rPr lang="en-US" sz="2200" dirty="0">
                    <a:latin typeface="+mn-lt"/>
                  </a:rPr>
                  <a:t> is common to all scenarios, while recourse decisions are scenario-specific.</a:t>
                </a:r>
              </a:p>
              <a:p>
                <a:pPr algn="l">
                  <a:spcBef>
                    <a:spcPts val="1200"/>
                  </a:spcBef>
                </a:pPr>
                <a:r>
                  <a:rPr lang="en-US" sz="2200" b="0" i="0" u="none" strike="noStrike" baseline="0" dirty="0">
                    <a:latin typeface="+mn-lt"/>
                  </a:rPr>
                  <a:t>The bootstrap procedure represents uncertainty within </a:t>
                </a:r>
                <a:r>
                  <a:rPr lang="en-US" sz="22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one estimated predictive distribution</a:t>
                </a:r>
                <a:r>
                  <a:rPr lang="en-US" sz="2200" b="0" i="0" u="none" strike="noStrike" baseline="0" dirty="0">
                    <a:latin typeface="+mn-lt"/>
                  </a:rPr>
                  <a:t>.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86D0F0-6A59-4A14-BFA6-2D00ECB7D6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7" t="-812" b="-127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DC881E5-F70F-41F4-95B8-E7D5F402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BESO-SAA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C65032-FDB8-40D4-8D7D-414ADE4C6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59E86-521E-4AA2-B7AF-3E87B61779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19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30055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43ADC0-6694-44C5-9F55-364864A66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07" y="1059615"/>
                <a:ext cx="8546175" cy="5259392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sz="1800" b="0" i="0" u="none" strike="noStrike" baseline="0" dirty="0">
                    <a:latin typeface="+mn-lt"/>
                  </a:rPr>
                  <a:t>A second interpretation takes the </a:t>
                </a:r>
                <a:r>
                  <a:rPr lang="en-US" sz="18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expectation within </a:t>
                </a:r>
                <a:r>
                  <a:rPr lang="en-US" sz="1800" b="0" i="0" u="none" strike="noStrike" baseline="0" dirty="0">
                    <a:latin typeface="+mn-lt"/>
                  </a:rPr>
                  <a:t>each bootstrap distribution, and the </a:t>
                </a:r>
                <a:r>
                  <a:rPr lang="en-US" sz="18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worst case across </a:t>
                </a:r>
                <a:r>
                  <a:rPr lang="en-US" sz="1800" b="0" i="0" u="none" strike="noStrike" baseline="0" dirty="0">
                    <a:latin typeface="+mn-lt"/>
                  </a:rPr>
                  <a:t>bootstrap distributions.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1800" b="0" i="0" u="none" strike="noStrike" baseline="0" dirty="0">
                    <a:latin typeface="+mn-lt"/>
                  </a:rPr>
                  <a:t>We repeatedly resample </a:t>
                </a:r>
                <a:r>
                  <a:rPr lang="en-US" sz="1800" b="0" i="1" u="none" strike="noStrike" baseline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sz="1800" b="0" i="0" u="none" strike="noStrike" baseline="0" dirty="0">
                    <a:latin typeface="+mn-lt"/>
                  </a:rPr>
                  <a:t> trajectories from </a:t>
                </a:r>
                <a:r>
                  <a:rPr lang="en-US" sz="1800" b="0" i="1" u="none" strike="noStrike" baseline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1800" b="0" i="0" u="none" strike="noStrike" baseline="0" dirty="0">
                    <a:latin typeface="+mn-lt"/>
                  </a:rPr>
                  <a:t> according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1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bSup>
                  </m:oMath>
                </a14:m>
                <a:r>
                  <a:rPr lang="en-US" sz="1800" b="0" i="0" u="none" strike="noStrike" baseline="0" dirty="0">
                    <a:latin typeface="+mn-lt"/>
                  </a:rPr>
                  <a:t>, each set of </a:t>
                </a:r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sz="1800" b="0" i="0" u="none" strike="noStrike" baseline="0" dirty="0">
                    <a:latin typeface="+mn-lt"/>
                  </a:rPr>
                  <a:t> is interpreted as </a:t>
                </a:r>
                <a:r>
                  <a:rPr lang="en-US" sz="18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a set of realizations of a different distribution</a:t>
                </a:r>
                <a:r>
                  <a:rPr lang="en-US" sz="1800" b="0" i="0" u="none" strike="noStrike" baseline="0" dirty="0">
                    <a:latin typeface="+mn-lt"/>
                  </a:rPr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1800" b="0" i="0" u="none" strike="noStrike" baseline="0" dirty="0">
                    <a:latin typeface="+mn-lt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</a:rPr>
                          <m:t>𝑘𝑠</m:t>
                        </m:r>
                      </m:sub>
                    </m:sSub>
                  </m:oMath>
                </a14:m>
                <a:r>
                  <a:rPr lang="en-US" sz="1800" b="0" i="0" u="none" strike="noStrike" baseline="0" dirty="0">
                    <a:latin typeface="+mn-lt"/>
                  </a:rPr>
                  <a:t> is the number of times series </a:t>
                </a:r>
                <a:r>
                  <a:rPr lang="en-US" sz="1800" b="0" i="1" u="none" strike="noStrike" baseline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1800" b="0" i="0" u="none" strike="noStrike" baseline="0" dirty="0">
                    <a:latin typeface="+mn-lt"/>
                  </a:rPr>
                  <a:t> appears in resample </a:t>
                </a:r>
                <a:r>
                  <a:rPr lang="en-US" sz="1800" b="0" i="1" u="none" strike="noStrike" baseline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n-US" sz="1800" b="0" i="0" u="none" strike="noStrike" baseline="0" dirty="0">
                    <a:latin typeface="+mn-lt"/>
                  </a:rPr>
                  <a:t>, upon defining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𝑘𝑠</m:t>
                        </m:r>
                      </m:sub>
                    </m:sSub>
                    <m:r>
                      <a:rPr lang="en-US" sz="1800" b="0" i="1" u="none" strike="noStrike" baseline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1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𝑘𝑠</m:t>
                            </m:r>
                          </m:sub>
                        </m:sSub>
                      </m:num>
                      <m:den>
                        <m:r>
                          <a:rPr lang="en-US" sz="18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lang="en-US" sz="1800" b="0" i="0" u="none" strike="noStrike" baseline="0" dirty="0">
                    <a:latin typeface="+mn-lt"/>
                  </a:rPr>
                  <a:t> as the relative frequency of the series in resample </a:t>
                </a:r>
                <a:r>
                  <a:rPr lang="en-US" sz="1800" b="0" i="1" u="none" strike="noStrike" baseline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n-US" sz="1800" b="0" i="0" u="none" strike="noStrike" baseline="0" dirty="0">
                    <a:latin typeface="+mn-lt"/>
                  </a:rPr>
                  <a:t>, we can define </a:t>
                </a:r>
                <a:r>
                  <a:rPr lang="en-US" sz="18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a collection of empirical distributions</a:t>
                </a:r>
              </a:p>
              <a:p>
                <a:pPr algn="ctr">
                  <a:spcBef>
                    <a:spcPts val="12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18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it-IT" sz="1800" b="0" i="1" u="none" strike="noStrike" baseline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800" b="0" i="1" u="none" strike="noStrike" baseline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p>
                        <m:r>
                          <a:rPr lang="it-IT" sz="1800" b="0" i="1" u="none" strike="noStrike" baseline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it-IT" sz="1800" b="0" i="1" u="none" strike="noStrike" baseline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it-IT" sz="18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18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18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u="none" strike="noStrike" baseline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1800" b="0" i="1" u="none" strike="noStrike" baseline="0" smtClean="0">
                                <a:latin typeface="Cambria Math" panose="02040503050406030204" pitchFamily="18" charset="0"/>
                              </a:rPr>
                              <m:t>𝑘𝑠</m:t>
                            </m:r>
                          </m:sub>
                        </m:sSub>
                        <m:sSub>
                          <m:sSubPr>
                            <m:ctrlPr>
                              <a:rPr lang="it-IT" sz="18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 u="none" strike="noStrike" baseline="0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sSup>
                              <m:sSupPr>
                                <m:ctrlPr>
                                  <a:rPr lang="it-IT" sz="1800" b="0" i="1" u="none" strike="noStrike" baseline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18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p>
                                <m:r>
                                  <a:rPr lang="it-IT" sz="1800" b="0" i="1" u="none" strike="noStrike" baseline="0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p>
                          </m:sub>
                        </m:sSub>
                      </m:e>
                    </m:nary>
                  </m:oMath>
                </a14:m>
                <a:r>
                  <a:rPr lang="en-US" sz="1800" b="0" i="0" u="none" strike="noStrike" baseline="0" dirty="0">
                    <a:latin typeface="SFRM1000"/>
                  </a:rPr>
                  <a:t>	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800" b="0" i="0" u="none" strike="noStrike" baseline="0" dirty="0">
                  <a:latin typeface="SFRM1000"/>
                </a:endParaRPr>
              </a:p>
              <a:p>
                <a:pPr>
                  <a:spcBef>
                    <a:spcPts val="1200"/>
                  </a:spcBef>
                </a:pPr>
                <a:r>
                  <a:rPr lang="en-US" sz="1800" b="0" i="0" u="none" strike="noStrike" baseline="0" dirty="0">
                    <a:latin typeface="+mn-lt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180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dirty="0">
                            <a:latin typeface="Cambria Math" panose="02040503050406030204" pitchFamily="18" charset="0"/>
                          </a:rPr>
                          <m:t>1,…,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</a:t>
                </a:r>
                <a:r>
                  <a:rPr lang="en-US" sz="1800" b="0" i="0" u="none" strike="noStrike" baseline="0" dirty="0">
                    <a:latin typeface="+mn-lt"/>
                  </a:rPr>
                  <a:t> being the number of resampled empirical distributions.</a:t>
                </a:r>
              </a:p>
              <a:p>
                <a:pPr algn="l">
                  <a:spcBef>
                    <a:spcPts val="1200"/>
                  </a:spcBef>
                </a:pPr>
                <a:r>
                  <a:rPr lang="en-US" sz="1800" b="0" i="0" u="none" strike="noStrike" baseline="0" dirty="0">
                    <a:latin typeface="+mn-lt"/>
                  </a:rPr>
                  <a:t>These distributions are then treated as alternative plausible descriptions of the underlying uncertain process and used to construct a related </a:t>
                </a:r>
                <a:r>
                  <a:rPr lang="en-US" sz="18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ambiguity set </a:t>
                </a:r>
                <a:r>
                  <a:rPr lang="en-US" sz="1800" b="0" i="0" u="none" strike="noStrike" baseline="0" dirty="0">
                    <a:latin typeface="+mn-lt"/>
                  </a:rPr>
                  <a:t>as </a:t>
                </a:r>
              </a:p>
              <a:p>
                <a:pPr algn="l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u="none" strike="noStrike" baseline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u="none" strike="noStrike" baseline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𝒰</m:t>
                          </m:r>
                        </m:e>
                        <m:sub>
                          <m:r>
                            <a:rPr lang="it-IT" sz="1800" b="0" i="1" u="none" strike="noStrike" baseline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𝑚𝑑</m:t>
                          </m:r>
                        </m:sub>
                      </m:sSub>
                      <m:r>
                        <a:rPr lang="it-IT" sz="1800" b="0" i="1" u="none" strike="noStrike" baseline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sz="1800" b="0" i="1" u="none" strike="noStrike" baseline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𝑐𝑜𝑛𝑣</m:t>
                      </m:r>
                      <m:r>
                        <a:rPr lang="it-IT" sz="1800" b="0" i="1" u="none" strike="noStrike" baseline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sSup>
                        <m:sSupPr>
                          <m:ctrlPr>
                            <a:rPr lang="it-IT" sz="1800" b="0" i="1" u="none" strike="noStrike" baseline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it-IT" sz="1800" b="0" i="1" u="none" strike="noStrike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800" b="0" i="1" u="none" strike="noStrike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p>
                          <m:r>
                            <a:rPr lang="it-IT" sz="1800" b="0" i="1" u="none" strike="noStrike" baseline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it-IT" sz="1800" b="0" i="1" u="none" strike="noStrike" baseline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…, </m:t>
                      </m:r>
                      <m:sSup>
                        <m:sSupPr>
                          <m:ctrlPr>
                            <a:rPr lang="it-IT" sz="1800" b="0" i="1" u="none" strike="noStrike" baseline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it-IT" sz="1800" b="0" i="1" u="none" strike="noStrike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800" b="0" i="1" u="none" strike="noStrike" baseline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</m:acc>
                        </m:e>
                        <m:sup>
                          <m:r>
                            <a:rPr lang="it-IT" sz="1800" b="0" i="1" u="none" strike="noStrike" baseline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it-IT" sz="1800" b="0" i="1" u="none" strike="noStrike" baseline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1800" b="0" i="0" u="none" strike="noStrike" baseline="0" dirty="0">
                  <a:latin typeface="SFRM1000"/>
                </a:endParaRPr>
              </a:p>
              <a:p>
                <a:pPr algn="l">
                  <a:spcBef>
                    <a:spcPts val="1200"/>
                  </a:spcBef>
                </a:pPr>
                <a:r>
                  <a:rPr lang="en-US" sz="1800" b="0" i="0" u="none" strike="noStrike" baseline="0" dirty="0">
                    <a:latin typeface="+mn-lt"/>
                  </a:rPr>
                  <a:t>The resulting formulation minimizes cost under the worst-case distribution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𝒰</m:t>
                        </m:r>
                      </m:e>
                      <m:sub>
                        <m:r>
                          <a:rPr lang="it-IT" sz="18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𝑚𝑑</m:t>
                        </m:r>
                      </m:sub>
                    </m:sSub>
                  </m:oMath>
                </a14:m>
                <a:r>
                  <a:rPr lang="en-US" sz="1800" b="0" i="0" u="none" strike="noStrike" baseline="0" dirty="0">
                    <a:latin typeface="+mn-lt"/>
                  </a:rPr>
                  <a:t>, </a:t>
                </a:r>
              </a:p>
              <a:p>
                <a:pPr algn="l">
                  <a:spcBef>
                    <a:spcPts val="1200"/>
                  </a:spcBef>
                </a:pPr>
                <a:r>
                  <a:rPr lang="en-US" sz="1800" b="0" i="0" u="none" strike="noStrike" baseline="0" dirty="0">
                    <a:latin typeface="+mn-lt"/>
                  </a:rPr>
                  <a:t>This model is distributionally robust with respect to </a:t>
                </a:r>
                <a:r>
                  <a:rPr lang="en-US" sz="1800" b="0" i="0" u="none" strike="noStrike" baseline="0" dirty="0" err="1">
                    <a:latin typeface="+mn-lt"/>
                  </a:rPr>
                  <a:t>reweightings</a:t>
                </a:r>
                <a:r>
                  <a:rPr lang="en-US" sz="1800" b="0" i="0" u="none" strike="noStrike" baseline="0" dirty="0">
                    <a:latin typeface="+mn-lt"/>
                  </a:rPr>
                  <a:t> of the scenario pool.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443ADC0-6694-44C5-9F55-364864A66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07" y="1059615"/>
                <a:ext cx="8546175" cy="5259392"/>
              </a:xfrm>
              <a:blipFill>
                <a:blip r:embed="rId2"/>
                <a:stretch>
                  <a:fillRect l="-571" t="-695" r="-32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4932C68-B64E-47A9-B640-E259FC65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BESO-DRO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DF1649-B089-4E9B-83C3-E3CEC13E2C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6007E3-8015-432C-B24E-837AB38EC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52655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E65605-DBEA-4AFE-850C-CBAC49715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07" y="1173916"/>
                <a:ext cx="8546175" cy="5414974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b="0" i="0" u="none" strike="noStrike" baseline="0" dirty="0">
                    <a:latin typeface="+mn-lt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</m:d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𝑘𝑠</m:t>
                            </m:r>
                          </m:sub>
                        </m:s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 denote the expected optimized cost associated with bootstrap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. </a:t>
                </a:r>
              </a:p>
              <a:p>
                <a:r>
                  <a:rPr lang="en-US" sz="2400" b="0" i="0" u="none" strike="noStrike" baseline="0" dirty="0">
                    <a:latin typeface="+mn-lt"/>
                  </a:rPr>
                  <a:t>Because expectation is linear in </a:t>
                </a:r>
                <a:r>
                  <a:rPr lang="en-US" sz="2400" b="0" i="1" u="none" strike="noStrike" baseline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P</a:t>
                </a:r>
                <a:r>
                  <a:rPr lang="en-US" sz="2400" b="0" i="0" u="none" strike="noStrike" baseline="0" dirty="0">
                    <a:latin typeface="+mn-lt"/>
                  </a:rPr>
                  <a:t>, the supremum over the convex hull </a:t>
                </a: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occurs at an extreme point</a:t>
                </a:r>
                <a:r>
                  <a:rPr lang="en-US" sz="2400" b="0" i="0" u="none" strike="noStrike" baseline="0" dirty="0">
                    <a:latin typeface="+mn-lt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. </a:t>
                </a:r>
              </a:p>
              <a:p>
                <a:r>
                  <a:rPr lang="en-US" sz="2400" b="0" i="0" u="none" strike="noStrike" baseline="0" dirty="0">
                    <a:latin typeface="+mn-lt"/>
                  </a:rPr>
                  <a:t>Therefore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𝑠𝑢𝑝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>
                      <m:sSubPr>
                        <m:ctrlPr>
                          <a:rPr lang="en-US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</m:d>
                      </m:e>
                    </m:d>
                    <m:r>
                      <a:rPr lang="it-IT" sz="2400" b="0" i="1" u="none" strike="noStrike" baseline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𝑘𝑠</m:t>
                            </m:r>
                          </m:sub>
                        </m:s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</m:e>
                          <m:sup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2400" b="0" i="0" u="none" strike="noStrike" baseline="0" dirty="0">
                    <a:latin typeface="SFRM1000"/>
                  </a:rPr>
                  <a:t> </a:t>
                </a:r>
                <a:endParaRPr lang="en-US" sz="2400" b="0" i="0" u="none" strike="noStrike" baseline="0" dirty="0">
                  <a:latin typeface="+mn-lt"/>
                </a:endParaRPr>
              </a:p>
              <a:p>
                <a:pPr algn="l"/>
                <a:r>
                  <a:rPr lang="en-US" sz="2400" b="0" i="0" u="none" strike="noStrike" baseline="0" dirty="0">
                    <a:latin typeface="+mn-lt"/>
                  </a:rPr>
                  <a:t>The </a:t>
                </a: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</a:rPr>
                  <a:t>DRO objective </a:t>
                </a:r>
                <a:r>
                  <a:rPr lang="en-US" sz="2400" b="0" i="0" u="none" strike="noStrike" baseline="0" dirty="0">
                    <a:latin typeface="+mn-lt"/>
                  </a:rPr>
                  <a:t>becomes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u="none" strike="noStrike" baseline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2400" b="0" i="1" u="none" strike="noStrike" baseline="0" smtClean="0">
                                  <a:latin typeface="Cambria Math" panose="02040503050406030204" pitchFamily="18" charset="0"/>
                                </a:rPr>
                                <m:t>𝑘𝑠</m:t>
                              </m:r>
                            </m:sub>
                          </m:sSub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it-IT" sz="2400" b="0" i="1" u="none" strike="noStrike" baseline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b="0" i="1" u="none" strike="noStrike" baseline="0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it-IT" sz="2400" b="0" i="1" u="none" strike="noStrike" baseline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a:rPr lang="it-IT" sz="2400" b="0" i="1" u="none" strike="noStrike" baseline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400" b="0" i="0" u="none" strike="noStrike" baseline="0" dirty="0">
                  <a:latin typeface="SFRM1000"/>
                </a:endParaRPr>
              </a:p>
              <a:p>
                <a:pPr algn="l">
                  <a:spcBef>
                    <a:spcPts val="3600"/>
                  </a:spcBef>
                </a:pPr>
                <a:r>
                  <a:rPr lang="en-US" sz="2400" b="0" i="0" u="none" strike="noStrike" baseline="0" dirty="0">
                    <a:latin typeface="+mn-lt"/>
                  </a:rPr>
                  <a:t>Where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𝑘𝑠</m:t>
                        </m:r>
                      </m:sub>
                    </m:sSub>
                  </m:oMath>
                </a14:m>
                <a:r>
                  <a:rPr lang="en-US" sz="2400" b="0" i="0" u="none" strike="noStrike" baseline="0" dirty="0">
                    <a:latin typeface="CMMI7"/>
                  </a:rPr>
                  <a:t> </a:t>
                </a:r>
                <a:r>
                  <a:rPr lang="en-US" sz="2400" b="0" i="0" u="none" strike="noStrike" baseline="0" dirty="0">
                    <a:latin typeface="+mn-lt"/>
                  </a:rPr>
                  <a:t>are computed before the final optimization and passed to a solver as fixed numerical coefficients.</a:t>
                </a:r>
              </a:p>
              <a:p>
                <a:pPr algn="l">
                  <a:spcBef>
                    <a:spcPts val="2400"/>
                  </a:spcBef>
                </a:pPr>
                <a:r>
                  <a:rPr lang="en-US" sz="2400" dirty="0">
                    <a:solidFill>
                      <a:srgbClr val="C00000"/>
                    </a:solidFill>
                    <a:latin typeface="+mn-lt"/>
                  </a:rPr>
                  <a:t>Increasing </a:t>
                </a:r>
                <a:r>
                  <a:rPr lang="en-US" sz="2400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d</a:t>
                </a:r>
                <a:r>
                  <a:rPr lang="en-US" sz="2400" dirty="0">
                    <a:latin typeface="+mn-lt"/>
                  </a:rPr>
                  <a:t>: reduce distributional spread, BESO-DRO </a:t>
                </a:r>
                <a:r>
                  <a:rPr lang="en-US" sz="2400" dirty="0">
                    <a:latin typeface="+mn-lt"/>
                    <a:sym typeface="Symbol" panose="05050102010706020507" pitchFamily="18" charset="2"/>
                  </a:rPr>
                  <a:t> BESO-SAA</a:t>
                </a:r>
              </a:p>
              <a:p>
                <a:pPr algn="l">
                  <a:spcBef>
                    <a:spcPts val="1200"/>
                  </a:spcBef>
                </a:pPr>
                <a:r>
                  <a:rPr lang="en-US" sz="2400" b="0" i="0" u="none" strike="noStrike" baseline="0" dirty="0">
                    <a:solidFill>
                      <a:srgbClr val="C00000"/>
                    </a:solidFill>
                    <a:latin typeface="+mn-lt"/>
                    <a:sym typeface="Symbol" panose="05050102010706020507" pitchFamily="18" charset="2"/>
                  </a:rPr>
                  <a:t>Increasing </a:t>
                </a:r>
                <a:r>
                  <a:rPr lang="en-US" sz="2400" i="1" dirty="0">
                    <a:solidFill>
                      <a:srgbClr val="C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m</a:t>
                </a:r>
                <a:r>
                  <a:rPr lang="en-US" sz="2400" b="0" i="0" u="none" strike="noStrike" baseline="0" dirty="0">
                    <a:latin typeface="+mn-lt"/>
                    <a:sym typeface="Symbol" panose="05050102010706020507" pitchFamily="18" charset="2"/>
                  </a:rPr>
                  <a:t>: enlarges ambiguity set, </a:t>
                </a:r>
                <a:r>
                  <a:rPr lang="en-US" sz="2400" dirty="0">
                    <a:latin typeface="+mn-lt"/>
                  </a:rPr>
                  <a:t>BESO-DRO </a:t>
                </a:r>
                <a:r>
                  <a:rPr lang="en-US" sz="2400" dirty="0">
                    <a:latin typeface="+mn-lt"/>
                    <a:sym typeface="Symbol" panose="05050102010706020507" pitchFamily="18" charset="2"/>
                  </a:rPr>
                  <a:t> robust optimization</a:t>
                </a:r>
                <a:endParaRPr lang="en-US" sz="2400" b="0" i="0" u="none" strike="noStrike" baseline="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E65605-DBEA-4AFE-850C-CBAC49715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07" y="1173916"/>
                <a:ext cx="8546175" cy="5414974"/>
              </a:xfrm>
              <a:blipFill>
                <a:blip r:embed="rId2"/>
                <a:stretch>
                  <a:fillRect l="-927" t="-1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0A1527E-14FD-4F97-BF05-2EAC163F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BESO-DRO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C94DFF-67EF-4BED-8EBF-738D8ACA6A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259FE-FB57-4038-B301-C7A958B97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40448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87E364-2D21-4674-8EC6-60F5E5151B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latin typeface="+mn-lt"/>
                  </a:rPr>
                  <a:t>The construction procedure for BESO-DRO is:</a:t>
                </a:r>
              </a:p>
              <a:p>
                <a:pPr marL="284163" indent="-284163" algn="l"/>
                <a:r>
                  <a:rPr lang="en-US" sz="2400" b="0" i="0" u="none" strike="noStrike" baseline="0" dirty="0">
                    <a:latin typeface="+mn-lt"/>
                  </a:rPr>
                  <a:t>1. Retain </a:t>
                </a:r>
                <a:r>
                  <a:rPr lang="en-US" sz="2400" b="0" i="1" u="none" strike="noStrike" baseline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</a:t>
                </a:r>
                <a:r>
                  <a:rPr lang="en-US" sz="2400" b="0" i="0" u="none" strike="noStrike" baseline="0" dirty="0">
                    <a:latin typeface="+mn-lt"/>
                  </a:rPr>
                  <a:t> trajectories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>
                    <a:latin typeface="SFRM1000"/>
                  </a:rPr>
                  <a:t>, </a:t>
                </a:r>
                <a:r>
                  <a:rPr lang="en-US" sz="24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 ∈ S</a:t>
                </a:r>
                <a:r>
                  <a:rPr lang="en-US" sz="2400" b="0" i="0" u="none" strike="noStrike" baseline="0" dirty="0">
                    <a:latin typeface="SFRM1000"/>
                  </a:rPr>
                  <a:t>.</a:t>
                </a:r>
              </a:p>
              <a:p>
                <a:pPr marL="284163" indent="-284163" algn="l"/>
                <a:r>
                  <a:rPr lang="en-US" sz="2400" b="0" i="0" u="none" strike="noStrike" baseline="0" dirty="0">
                    <a:latin typeface="+mn-lt"/>
                  </a:rPr>
                  <a:t>2. Compute their cost-aware base probabilities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bSup>
                  </m:oMath>
                </a14:m>
                <a:r>
                  <a:rPr lang="en-US" sz="2400" b="0" i="0" u="none" strike="noStrike" baseline="0" dirty="0">
                    <a:latin typeface="SFRM1000"/>
                  </a:rPr>
                  <a:t>.</a:t>
                </a:r>
              </a:p>
              <a:p>
                <a:pPr marL="284163" indent="-284163" algn="l"/>
                <a:r>
                  <a:rPr lang="en-US" sz="2400" b="0" i="0" u="none" strike="noStrike" baseline="0" dirty="0">
                    <a:latin typeface="+mn-lt"/>
                  </a:rPr>
                  <a:t>3. For each resampled distribution </a:t>
                </a:r>
                <a:r>
                  <a:rPr lang="en-US" sz="24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k</a:t>
                </a:r>
                <a:r>
                  <a:rPr lang="en-US" sz="2400" b="0" i="0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∈ K</a:t>
                </a:r>
                <a:r>
                  <a:rPr lang="en-US" sz="2400" b="0" i="0" u="none" strike="noStrike" baseline="0" dirty="0">
                    <a:latin typeface="+mn-lt"/>
                  </a:rPr>
                  <a:t>, draw </a:t>
                </a:r>
                <a:r>
                  <a:rPr lang="en-US" sz="2400" b="0" i="1" u="none" strike="noStrike" baseline="0" dirty="0">
                    <a:latin typeface="Cambria" panose="02040503050406030204" pitchFamily="18" charset="0"/>
                    <a:ea typeface="Cambria" panose="02040503050406030204" pitchFamily="18" charset="0"/>
                  </a:rPr>
                  <a:t>d</a:t>
                </a:r>
                <a:r>
                  <a:rPr lang="en-US" sz="2400" b="0" i="0" u="none" strike="noStrike" baseline="0" dirty="0">
                    <a:latin typeface="+mn-lt"/>
                  </a:rPr>
                  <a:t> trajectories with replacement according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bSup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.</a:t>
                </a:r>
              </a:p>
              <a:p>
                <a:pPr marL="284163" indent="-284163" algn="l"/>
                <a:r>
                  <a:rPr lang="en-US" sz="2400" b="0" i="0" u="none" strike="noStrike" baseline="0" dirty="0">
                    <a:latin typeface="+mn-lt"/>
                  </a:rPr>
                  <a:t>4. Treat that resample as an empirical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b="0" i="1" u="none" strike="noStrike" baseline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e>
                      <m:sup>
                        <m:r>
                          <a:rPr lang="it-IT" sz="2400" b="0" i="1" u="none" strike="noStrike" baseline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2400" b="0" i="0" u="none" strike="noStrike" baseline="0" dirty="0">
                    <a:latin typeface="+mn-lt"/>
                  </a:rPr>
                  <a:t>.</a:t>
                </a:r>
              </a:p>
              <a:p>
                <a:pPr marL="284163" indent="-284163" algn="l"/>
                <a:r>
                  <a:rPr lang="en-US" sz="2400" b="0" i="0" u="none" strike="noStrike" baseline="0" dirty="0">
                    <a:latin typeface="+mn-lt"/>
                  </a:rPr>
                  <a:t>5. Define the ambiguity set as the convex hull of these distributions.</a:t>
                </a:r>
                <a:endParaRPr lang="en-US" sz="2400" dirty="0">
                  <a:latin typeface="+mn-lt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587E364-2D21-4674-8EC6-60F5E5151B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9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F7F7805-414E-462F-ACBE-5173E2FB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BESO-DRO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299B2-54BF-48B8-98C8-C68C1AED0B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E2D0E-4443-4601-861C-3F638E05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735995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71FE867-CE6F-4ACC-9720-ED9F5A41F5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1. Deterministic (baseline): </a:t>
                </a:r>
              </a:p>
              <a:p>
                <a:pPr algn="l">
                  <a:tabLst>
                    <a:tab pos="4173538" algn="ctr"/>
                  </a:tabLst>
                </a:pPr>
                <a:r>
                  <a:rPr lang="en-US" sz="2400" b="0" u="none" strike="noStrike" baseline="0" dirty="0">
                    <a:solidFill>
                      <a:srgbClr val="000000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𝑚𝑖𝑛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it-IT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it-IT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4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  <m: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acc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4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</m:acc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 the bagged bootstrap forecast</a:t>
                </a:r>
              </a:p>
              <a:p>
                <a:pPr algn="l"/>
                <a:r>
                  <a:rPr lang="fi-FI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2. BESO-SAA, weighted SAA variant: 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𝑂𝐴</m:t>
                              </m:r>
                            </m:sup>
                          </m:sSubSup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i-FI" sz="2400" b="0" i="0" u="none" strike="noStrike" baseline="0" dirty="0">
                  <a:solidFill>
                    <a:srgbClr val="000000"/>
                  </a:solidFill>
                  <a:latin typeface="+mn-lt"/>
                </a:endParaRPr>
              </a:p>
              <a:p>
                <a:pPr algn="l"/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3. BESO-DRO: 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e>
                        <m:sub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sSub>
                        <m:sSubPr>
                          <m:ctrlP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e>
                        <m:sub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nary>
                        <m:naryPr>
                          <m:chr m:val="∑"/>
                          <m:supHide m:val="on"/>
                          <m:ctrlP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𝑘𝑠</m:t>
                              </m:r>
                            </m:sub>
                          </m:sSub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p>
                              <m:r>
                                <a:rPr lang="it-IT" sz="2400" b="0" i="1" u="none" strike="noStrike" baseline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p>
                          </m:sSup>
                          <m:r>
                            <a:rPr lang="it-IT" sz="2400" b="0" i="1" u="none" strike="noStrike" baseline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71FE867-CE6F-4ACC-9720-ED9F5A41F5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8C8F858-7875-4C1E-AF29-99A2334F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BESO decision models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8ADDC1-93D4-4DAC-90BB-B8A02773C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67A27-FB09-4631-AD7F-D536262457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624008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440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3F6CA1-EAE3-494D-AB27-F9985206B41F}" type="slidenum">
              <a:rPr kumimoji="0" lang="it-IT" sz="101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8440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it-IT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8440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iezzoSlides" pitchFamily="2" charset="0"/>
                <a:ea typeface="Microsoft YaHei" panose="020B0503020204020204" pitchFamily="34" charset="-122"/>
                <a:cs typeface="+mn-cs"/>
              </a:rPr>
              <a:t>Vittorio Maniezzo – Università di Bologna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1110859" y="1288033"/>
            <a:ext cx="7079598" cy="384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844083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4770" dirty="0">
                <a:solidFill>
                  <a:prstClr val="black"/>
                </a:solidFill>
                <a:latin typeface="Palace Script MT" pitchFamily="66" charset="0"/>
              </a:rPr>
              <a:t>u</a:t>
            </a:r>
            <a:r>
              <a:rPr kumimoji="0" lang="it-IT" sz="147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ce Script MT" pitchFamily="66" charset="0"/>
                <a:ea typeface="+mn-ea"/>
                <a:cs typeface="+mn-cs"/>
              </a:rPr>
              <a:t>se case </a:t>
            </a:r>
            <a:r>
              <a:rPr kumimoji="0" lang="it-IT" sz="1477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ce Script MT" pitchFamily="66" charset="0"/>
                <a:ea typeface="+mn-ea"/>
                <a:cs typeface="+mn-cs"/>
              </a:rPr>
              <a:t>1:</a:t>
            </a:r>
          </a:p>
          <a:p>
            <a:pPr marL="0" marR="0" lvl="0" indent="0" algn="ctr" defTabSz="844083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4770" dirty="0">
                <a:solidFill>
                  <a:prstClr val="black"/>
                </a:solidFill>
                <a:latin typeface="Palace Script MT" pitchFamily="66" charset="0"/>
              </a:rPr>
              <a:t>City </a:t>
            </a:r>
            <a:r>
              <a:rPr lang="it-IT" sz="14770" dirty="0" err="1">
                <a:solidFill>
                  <a:prstClr val="black"/>
                </a:solidFill>
                <a:latin typeface="Palace Script MT" pitchFamily="66" charset="0"/>
              </a:rPr>
              <a:t>Logistics</a:t>
            </a:r>
            <a:endParaRPr kumimoji="0" lang="it-IT" sz="14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lace Script MT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836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D8FC25-1931-1E5E-990D-CA89422BD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12" y="1072434"/>
            <a:ext cx="8546175" cy="5259392"/>
          </a:xfrm>
        </p:spPr>
        <p:txBody>
          <a:bodyPr>
            <a:noAutofit/>
          </a:bodyPr>
          <a:lstStyle/>
          <a:p>
            <a:r>
              <a:rPr lang="en-US" sz="2200" dirty="0">
                <a:solidFill>
                  <a:schemeClr val="accent2"/>
                </a:solidFill>
              </a:rPr>
              <a:t>Large-scale organized distribution </a:t>
            </a:r>
            <a:r>
              <a:rPr lang="en-US" sz="2200" dirty="0"/>
              <a:t>is often structured according to a </a:t>
            </a:r>
            <a:r>
              <a:rPr lang="en-US" sz="2200" dirty="0">
                <a:solidFill>
                  <a:schemeClr val="accent2"/>
                </a:solidFill>
              </a:rPr>
              <a:t>two-echelon </a:t>
            </a:r>
            <a:r>
              <a:rPr lang="en-US" sz="2200" dirty="0"/>
              <a:t>model, in which </a:t>
            </a:r>
            <a:r>
              <a:rPr lang="en-US" sz="2200" dirty="0">
                <a:solidFill>
                  <a:schemeClr val="accent2"/>
                </a:solidFill>
              </a:rPr>
              <a:t>distribution centers </a:t>
            </a:r>
            <a:r>
              <a:rPr lang="en-US" sz="2200" dirty="0"/>
              <a:t>(DCs) are used to store and forward goods to replenish the inventories of the </a:t>
            </a:r>
            <a:r>
              <a:rPr lang="en-US" sz="2200" dirty="0">
                <a:solidFill>
                  <a:schemeClr val="accent2"/>
                </a:solidFill>
              </a:rPr>
              <a:t>final retailer's stores</a:t>
            </a:r>
            <a:r>
              <a:rPr lang="en-US" sz="2200" dirty="0"/>
              <a:t>.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Stores are typically </a:t>
            </a:r>
            <a:r>
              <a:rPr lang="en-US" sz="2200" dirty="0">
                <a:solidFill>
                  <a:schemeClr val="accent2"/>
                </a:solidFill>
              </a:rPr>
              <a:t>uniquely allocated </a:t>
            </a:r>
            <a:r>
              <a:rPr lang="en-US" sz="2200" dirty="0"/>
              <a:t>to DCs for products of the same line, and predictive </a:t>
            </a:r>
            <a:r>
              <a:rPr lang="en-US" sz="2200" dirty="0">
                <a:solidFill>
                  <a:schemeClr val="accent2"/>
                </a:solidFill>
              </a:rPr>
              <a:t>knowledge of future demand </a:t>
            </a:r>
            <a:r>
              <a:rPr lang="en-US" sz="2200" dirty="0"/>
              <a:t>is essential to optimize the distribution process. </a:t>
            </a:r>
          </a:p>
          <a:p>
            <a:pPr>
              <a:spcBef>
                <a:spcPts val="1200"/>
              </a:spcBef>
            </a:pPr>
            <a:r>
              <a:rPr lang="en-US" sz="2200" dirty="0"/>
              <a:t>In the </a:t>
            </a:r>
            <a:r>
              <a:rPr lang="en-US" sz="2200" dirty="0">
                <a:solidFill>
                  <a:schemeClr val="accent2"/>
                </a:solidFill>
              </a:rPr>
              <a:t>real-world case </a:t>
            </a:r>
            <a:r>
              <a:rPr lang="en-US" sz="2200" dirty="0"/>
              <a:t>study: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city retailer store </a:t>
            </a:r>
            <a:r>
              <a:rPr lang="en-US" sz="2200" dirty="0">
                <a:solidFill>
                  <a:schemeClr val="accent2"/>
                </a:solidFill>
              </a:rPr>
              <a:t>demands were predicted </a:t>
            </a:r>
            <a:r>
              <a:rPr lang="en-US" sz="2200" dirty="0"/>
              <a:t>based on individual sales time series and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/>
              <a:t>used to </a:t>
            </a:r>
            <a:r>
              <a:rPr lang="en-US" sz="2200" dirty="0">
                <a:solidFill>
                  <a:schemeClr val="accent2"/>
                </a:solidFill>
              </a:rPr>
              <a:t>optimize the allocation of stores </a:t>
            </a:r>
            <a:r>
              <a:rPr lang="en-US" sz="2200" dirty="0"/>
              <a:t>to DCs in a tactical planning context.</a:t>
            </a:r>
          </a:p>
          <a:p>
            <a:pPr>
              <a:spcBef>
                <a:spcPts val="600"/>
              </a:spcBef>
            </a:pPr>
            <a:r>
              <a:rPr lang="en-US" sz="2200" dirty="0"/>
              <a:t>Our problem required </a:t>
            </a:r>
            <a:r>
              <a:rPr lang="en-US" sz="2200" b="1" i="1" dirty="0">
                <a:solidFill>
                  <a:schemeClr val="accent2"/>
                </a:solidFill>
              </a:rPr>
              <a:t>dimensioning</a:t>
            </a:r>
            <a:r>
              <a:rPr lang="en-US" sz="2200" dirty="0">
                <a:solidFill>
                  <a:schemeClr val="accent2"/>
                </a:solidFill>
              </a:rPr>
              <a:t> multiple DCs </a:t>
            </a:r>
            <a:r>
              <a:rPr lang="en-US" sz="2200" dirty="0"/>
              <a:t>and </a:t>
            </a:r>
            <a:r>
              <a:rPr lang="en-US" sz="2200" dirty="0">
                <a:solidFill>
                  <a:schemeClr val="accent2"/>
                </a:solidFill>
              </a:rPr>
              <a:t>assigning stores</a:t>
            </a:r>
            <a:r>
              <a:rPr lang="en-US" sz="2200" dirty="0"/>
              <a:t> to them to meet </a:t>
            </a:r>
            <a:r>
              <a:rPr lang="en-US" sz="2200" dirty="0">
                <a:solidFill>
                  <a:schemeClr val="accent2"/>
                </a:solidFill>
              </a:rPr>
              <a:t>expected demand </a:t>
            </a:r>
            <a:r>
              <a:rPr lang="en-US" sz="2200" dirty="0"/>
              <a:t>during a critical period.</a:t>
            </a:r>
            <a:endParaRPr lang="it-IT" sz="220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C5398A1-5698-7E29-73AD-823E6AC5D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case study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AED9A1-62D9-AEA4-A356-4502CB5D9E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6B575-A6BA-D800-E032-B14334E804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25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74853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83F86-A46A-4536-ABCE-853D29FAD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26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B9036EB-2DC9-4B74-9A20-A90796869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Toward a formulation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B89389-3428-4908-9BE0-23F58A7DE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2B98C8A-3BF6-47A2-B3B9-7FA15F39B6BC}"/>
              </a:ext>
            </a:extLst>
          </p:cNvPr>
          <p:cNvSpPr/>
          <p:nvPr/>
        </p:nvSpPr>
        <p:spPr>
          <a:xfrm>
            <a:off x="2011680" y="2542032"/>
            <a:ext cx="429768" cy="448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i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endParaRPr lang="en-US" i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A1B69A-A49D-4A92-8AD9-6A13E8235E81}"/>
              </a:ext>
            </a:extLst>
          </p:cNvPr>
          <p:cNvSpPr/>
          <p:nvPr/>
        </p:nvSpPr>
        <p:spPr>
          <a:xfrm>
            <a:off x="5421124" y="4312920"/>
            <a:ext cx="429768" cy="448056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6F8C743-2E2B-4EE3-91DE-D049A2418395}"/>
              </a:ext>
            </a:extLst>
          </p:cNvPr>
          <p:cNvCxnSpPr>
            <a:stCxn id="7" idx="2"/>
            <a:endCxn id="6" idx="6"/>
          </p:cNvCxnSpPr>
          <p:nvPr/>
        </p:nvCxnSpPr>
        <p:spPr>
          <a:xfrm flipH="1" flipV="1">
            <a:off x="2441448" y="2766060"/>
            <a:ext cx="2979676" cy="17708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2A84C6D-D5FD-478B-8DB2-B8676B97D4E0}"/>
              </a:ext>
            </a:extLst>
          </p:cNvPr>
          <p:cNvSpPr txBox="1"/>
          <p:nvPr/>
        </p:nvSpPr>
        <p:spPr>
          <a:xfrm>
            <a:off x="3670048" y="3107886"/>
            <a:ext cx="3502152" cy="448056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pPr algn="l"/>
            <a:r>
              <a:rPr lang="en-US" sz="2000" dirty="0"/>
              <a:t>if 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en-US" sz="2000" dirty="0"/>
              <a:t> is serviced from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000" dirty="0"/>
              <a:t>, then </a:t>
            </a:r>
            <a:r>
              <a:rPr lang="en-US" sz="2000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en-US" sz="2000" i="1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ij</a:t>
            </a:r>
            <a:r>
              <a:rPr lang="en-US" sz="2000" i="1" dirty="0">
                <a:latin typeface="Cambria" panose="02040503050406030204" pitchFamily="18" charset="0"/>
                <a:ea typeface="Cambria" panose="02040503050406030204" pitchFamily="18" charset="0"/>
              </a:rPr>
              <a:t>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A90013-B7E8-44DB-A78A-BC9E92598082}"/>
              </a:ext>
            </a:extLst>
          </p:cNvPr>
          <p:cNvSpPr txBox="1"/>
          <p:nvPr/>
        </p:nvSpPr>
        <p:spPr>
          <a:xfrm>
            <a:off x="845820" y="1270635"/>
            <a:ext cx="2674620" cy="1047369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pPr algn="ctr"/>
            <a:r>
              <a:rPr lang="en-US" sz="2000" dirty="0">
                <a:latin typeface="Aptos Light" panose="020B0004020202020204" pitchFamily="34" charset="0"/>
              </a:rPr>
              <a:t>Server </a:t>
            </a:r>
            <a:r>
              <a:rPr lang="en-US" sz="2000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endParaRPr lang="en-US" sz="2000" dirty="0">
              <a:solidFill>
                <a:srgbClr val="C00000"/>
              </a:solidFill>
              <a:latin typeface="Aptos Light" panose="020B0004020202020204" pitchFamily="34" charset="0"/>
            </a:endParaRPr>
          </a:p>
          <a:p>
            <a:pPr algn="ctr"/>
            <a:r>
              <a:rPr lang="en-US" sz="2000" dirty="0">
                <a:latin typeface="Aptos Light" panose="020B0004020202020204" pitchFamily="34" charset="0"/>
              </a:rPr>
              <a:t>Capacity </a:t>
            </a:r>
            <a:r>
              <a:rPr lang="en-US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  <a:r>
              <a:rPr lang="en-US" sz="2000" i="1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</a:p>
          <a:p>
            <a:pPr algn="ctr"/>
            <a:r>
              <a:rPr lang="en-US" sz="2000" dirty="0">
                <a:latin typeface="Aptos Light" panose="020B0004020202020204" pitchFamily="34" charset="0"/>
              </a:rPr>
              <a:t>Unitary storage cost </a:t>
            </a:r>
            <a:r>
              <a:rPr lang="en-US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</a:t>
            </a:r>
            <a:r>
              <a:rPr lang="en-US" sz="2000" i="1" baseline="-250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4C906C-0A05-4451-A1E0-7A09F8AF712B}"/>
              </a:ext>
            </a:extLst>
          </p:cNvPr>
          <p:cNvSpPr txBox="1"/>
          <p:nvPr/>
        </p:nvSpPr>
        <p:spPr>
          <a:xfrm>
            <a:off x="4950208" y="4536948"/>
            <a:ext cx="3306824" cy="1424940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pPr algn="ctr"/>
            <a:r>
              <a:rPr lang="en-US" sz="2000" dirty="0">
                <a:latin typeface="Aptos Light" panose="020B0004020202020204" pitchFamily="34" charset="0"/>
              </a:rPr>
              <a:t>Client </a:t>
            </a:r>
            <a:r>
              <a:rPr lang="en-US" sz="20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endParaRPr lang="en-US" sz="2000" dirty="0">
              <a:solidFill>
                <a:srgbClr val="C00000"/>
              </a:solidFill>
              <a:latin typeface="Aptos Light" panose="020B0004020202020204" pitchFamily="34" charset="0"/>
            </a:endParaRPr>
          </a:p>
          <a:p>
            <a:pPr algn="ctr"/>
            <a:r>
              <a:rPr lang="en-US" sz="2000" dirty="0">
                <a:latin typeface="Aptos Light" panose="020B0004020202020204" pitchFamily="34" charset="0"/>
              </a:rPr>
              <a:t>Total request </a:t>
            </a:r>
            <a:r>
              <a:rPr lang="en-US" sz="2000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</a:t>
            </a:r>
            <a:r>
              <a:rPr lang="en-US" sz="2000" i="1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endParaRPr lang="en-US" sz="2000" i="1" baseline="-250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latin typeface="Aptos Light" panose="020B0004020202020204" pitchFamily="34" charset="0"/>
              </a:rPr>
              <a:t>Amount serviced by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000" dirty="0">
                <a:latin typeface="Aptos Light" panose="020B0004020202020204" pitchFamily="34" charset="0"/>
              </a:rPr>
              <a:t> </a:t>
            </a:r>
            <a:r>
              <a:rPr lang="en-US" sz="2000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</a:t>
            </a:r>
            <a:r>
              <a:rPr lang="en-US" sz="2000" i="1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ij</a:t>
            </a:r>
            <a:endParaRPr lang="en-US" sz="2000" i="1" baseline="-250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ctr"/>
            <a:r>
              <a:rPr lang="en-US" sz="2000" dirty="0">
                <a:latin typeface="Aptos Light" panose="020B0004020202020204" pitchFamily="34" charset="0"/>
              </a:rPr>
              <a:t>Unitary allocation cost to </a:t>
            </a:r>
            <a:r>
              <a:rPr lang="en-US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en-US" sz="2000" dirty="0">
                <a:latin typeface="Aptos Light" panose="020B0004020202020204" pitchFamily="34" charset="0"/>
              </a:rPr>
              <a:t> </a:t>
            </a:r>
            <a:r>
              <a:rPr lang="en-US" sz="2000" i="1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en-US" sz="2000" i="1" baseline="-25000" dirty="0" err="1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ij</a:t>
            </a:r>
            <a:endParaRPr lang="en-US" sz="2000" i="1" baseline="-25000" dirty="0">
              <a:solidFill>
                <a:srgbClr val="C0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688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12" y="1173916"/>
                <a:ext cx="8546175" cy="5259392"/>
              </a:xfrm>
            </p:spPr>
            <p:txBody>
              <a:bodyPr>
                <a:normAutofit/>
              </a:bodyPr>
              <a:lstStyle/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z(D) = </a:t>
                </a: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it-IT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it-IT" sz="24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0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  <m:r>
                      <a:rPr lang="en-US" sz="2400" b="0" i="0" u="none" strike="noStrike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(3)</a:t>
                </a: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  <m:r>
                      <a:rPr lang="en-US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(4)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(5)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(6)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12" y="1173916"/>
                <a:ext cx="8546175" cy="5259392"/>
              </a:xfrm>
              <a:blipFill>
                <a:blip r:embed="rId2"/>
                <a:stretch>
                  <a:fillRect l="-1070" t="-7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it-IT" dirty="0" err="1"/>
              <a:t>Deterministic</a:t>
            </a:r>
            <a:r>
              <a:rPr lang="it-IT" dirty="0"/>
              <a:t> </a:t>
            </a:r>
            <a:r>
              <a:rPr lang="it-IT" dirty="0" err="1"/>
              <a:t>allocation</a:t>
            </a:r>
            <a:r>
              <a:rPr lang="it-IT" dirty="0"/>
              <a:t> (SAP)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27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57273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12" y="1173916"/>
                <a:ext cx="8546175" cy="5338202"/>
              </a:xfrm>
            </p:spPr>
            <p:txBody>
              <a:bodyPr>
                <a:normAutofit/>
              </a:bodyPr>
              <a:lstStyle/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z(H) = </a:t>
                </a: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it-IT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it-IT" sz="24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0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b="0" i="1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0" u="none" strike="noStrike" kern="12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ij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it-IT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latin typeface="Arial" panose="020B0604020202020204" pitchFamily="34" charset="0"/>
                  </a:rPr>
                  <a:t>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  <m:r>
                      <a:rPr lang="en-US" sz="2400" b="0" i="0" u="none" strike="noStrike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(3)</a:t>
                </a: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  <m:r>
                      <a:rPr lang="en-US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(4)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it-IT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it-IT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(5)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(6)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12" y="1173916"/>
                <a:ext cx="8546175" cy="5338202"/>
              </a:xfrm>
              <a:blipFill>
                <a:blip r:embed="rId2"/>
                <a:stretch>
                  <a:fillRect l="-1070" t="-7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it-IT" dirty="0" err="1"/>
              <a:t>Stochastic</a:t>
            </a:r>
            <a:r>
              <a:rPr lang="it-IT" dirty="0"/>
              <a:t> </a:t>
            </a:r>
            <a:r>
              <a:rPr lang="it-IT" dirty="0" err="1"/>
              <a:t>allocation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5242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56080D-904C-46F6-A75E-FD9D53A81D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For this use case, we considered no instance-specific tilting feature and defined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as costs of a simplified </a:t>
                </a:r>
                <a:r>
                  <a:rPr lang="en-US" sz="2400" dirty="0">
                    <a:solidFill>
                      <a:srgbClr val="C00000"/>
                    </a:solidFill>
                  </a:rPr>
                  <a:t>transportation problem </a:t>
                </a:r>
                <a:r>
                  <a:rPr lang="en-US" sz="2400" dirty="0"/>
                  <a:t>accounting for scenario demands and DC capacity constraints.</a:t>
                </a:r>
              </a:p>
              <a:p>
                <a:pPr fontAlgn="ctr">
                  <a:lnSpc>
                    <a:spcPct val="150000"/>
                  </a:lnSpc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z(s) = </a:t>
                </a: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Sup>
                          <m:sSubSup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b="1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it-IT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p>
                        </m:sSubSup>
                      </m:e>
                    </m:nary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J, s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it-IT" sz="24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p>
                        </m:sSubSup>
                      </m:e>
                    </m:nary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I, s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(3)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J, s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(7)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F56080D-904C-46F6-A75E-FD9D53A81D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9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F829B72-0EF4-44D8-BB83-2BFAC197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tilting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7C103-BEE1-4847-B219-2503C4653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D42710-6EE4-4295-A42A-765232D0C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29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64002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287C68-E67C-4F60-996C-60722B34E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Fit an AR(p) model on each MEB series, independently.</a:t>
                </a:r>
              </a:p>
              <a:p>
                <a:r>
                  <a:rPr lang="en-US" sz="2400" dirty="0">
                    <a:solidFill>
                      <a:srgbClr val="C00000"/>
                    </a:solidFill>
                  </a:rPr>
                  <a:t>Each model is used to generate a scenario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, specifically, a realization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US" sz="2400" dirty="0"/>
                  <a:t> of the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forecasted requests </a:t>
                </a:r>
                <a:r>
                  <a:rPr lang="en-US" sz="2400" dirty="0"/>
                  <a:t>of customer 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2400" dirty="0"/>
                  <a:t> according to scenario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All scenarios were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weighted </a:t>
                </a:r>
                <a:r>
                  <a:rPr lang="en-US" sz="2400" dirty="0">
                    <a:solidFill>
                      <a:schemeClr val="tx1"/>
                    </a:solidFill>
                  </a:rPr>
                  <a:t>by the corresponding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it-IT" sz="2400" b="0" i="1" u="none" strike="noStrike" baseline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𝑂𝐴</m:t>
                        </m:r>
                      </m:sup>
                    </m:sSubSup>
                  </m:oMath>
                </a14:m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The resulting SAA formulation is passed on to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MIP solver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The solution details the server </a:t>
                </a:r>
                <a:r>
                  <a:rPr lang="en-US" sz="2400" i="1" dirty="0" err="1">
                    <a:latin typeface="+mn-lt"/>
                  </a:rPr>
                  <a:t>i</a:t>
                </a:r>
                <a:r>
                  <a:rPr lang="en-US" sz="2400" dirty="0"/>
                  <a:t> that each client </a:t>
                </a:r>
                <a:r>
                  <a:rPr lang="en-US" sz="2400" i="1" dirty="0">
                    <a:latin typeface="+mn-lt"/>
                  </a:rPr>
                  <a:t>j</a:t>
                </a:r>
                <a:r>
                  <a:rPr lang="en-US" sz="2400" dirty="0"/>
                  <a:t> will be associated with, as well as the amount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it will request from the server.</a:t>
                </a:r>
              </a:p>
              <a:p>
                <a:r>
                  <a:rPr lang="en-US" sz="2400" dirty="0"/>
                  <a:t>It is therefore possible to estimate the actual capacity requested from each server.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287C68-E67C-4F60-996C-60722B34E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D87712D-703F-4615-B30A-AE3B2313D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91718"/>
            <a:ext cx="8791195" cy="766769"/>
          </a:xfrm>
        </p:spPr>
        <p:txBody>
          <a:bodyPr>
            <a:normAutofit/>
          </a:bodyPr>
          <a:lstStyle/>
          <a:p>
            <a:pPr marL="1487488" indent="-1487488">
              <a:lnSpc>
                <a:spcPts val="3400"/>
              </a:lnSpc>
            </a:pPr>
            <a:r>
              <a:rPr lang="en-US" dirty="0"/>
              <a:t>BESO-SAA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3F7CBB-54A3-4FAB-AFE5-219EAB317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7E620-B83C-44AF-B958-12960902B1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132603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482" y="1137040"/>
                <a:ext cx="8600926" cy="5184953"/>
              </a:xfrm>
            </p:spPr>
            <p:txBody>
              <a:bodyPr>
                <a:normAutofit fontScale="92500"/>
              </a:bodyPr>
              <a:lstStyle/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z(SAA) = </a:t>
                </a:r>
                <a:r>
                  <a:rPr lang="en-US" sz="2400" b="1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𝑂𝐴</m:t>
                            </m:r>
                          </m:sup>
                        </m:sSubSup>
                        <m:d>
                          <m:dPr>
                            <m:ctrlPr>
                              <a:rPr lang="it-IT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it-IT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it-IT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  <m:r>
                                  <a:rPr lang="it-IT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it-IT" sz="2400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it-IT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lang="it-IT" sz="2400" b="0" i="1" smtClean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𝑗𝑠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d>
                      </m:e>
                    </m:nary>
                  </m:oMath>
                </a14:m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(1)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b="1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it-IT" b="0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p>
                        </m:sSubSup>
                      </m:e>
                    </m:nary>
                    <m:r>
                      <a:rPr lang="it-I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𝑗𝑠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a:rPr lang="it-IT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J, s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en-US" sz="2400" b="0" i="1" u="none" strike="noStrike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0" u="none" strike="noStrike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u="none" strike="noStrike" kern="120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a:rPr lang="it-IT" sz="2400" b="0" i="0" u="none" strike="noStrike" kern="1200" smtClean="0">
                                <a:solidFill>
                                  <a:srgbClr val="FF000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p>
                        </m:sSubSup>
                      </m:e>
                    </m:nary>
                    <m:r>
                      <a:rPr lang="en-US" sz="2400" b="0" i="0" u="none" strike="noStrike" kern="12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s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(3)</a:t>
                </a: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0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u="none" strike="noStrike" kern="12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2400" b="0" i="1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0" u="none" strike="noStrike" kern="12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ij</m:t>
                            </m:r>
                          </m:sub>
                        </m:sSub>
                      </m:e>
                    </m:nary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(4)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b>
                      <m:sup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I,</a:t>
                </a:r>
                <a:r>
                  <a:rPr lang="en-US" sz="24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s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4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(5)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I,</a:t>
                </a:r>
                <a:r>
                  <a:rPr lang="en-US" sz="24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(6)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u="none" strike="noStrike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u="none" strike="noStrike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u="none" strike="noStrike" kern="120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  <m:sup>
                        <m:r>
                          <a:rPr lang="it-IT" sz="2400" b="0" i="1" u="none" strike="noStrike" kern="120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sup>
                    </m:sSubSup>
                    <m:r>
                      <a:rPr lang="en-US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 err="1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s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7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543800" algn="l"/>
                  </a:tabLst>
                </a:pPr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it-IT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𝑗𝑠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 	</a:t>
                </a:r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j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J, s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</a:t>
                </a:r>
                <a:r>
                  <a:rPr lang="en-US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(8)</a:t>
                </a:r>
                <a:endParaRPr lang="it-IT" dirty="0">
                  <a:latin typeface="Arial" panose="020B0604020202020204" pitchFamily="34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482" y="1137040"/>
                <a:ext cx="8600926" cy="5184953"/>
              </a:xfrm>
              <a:blipFill>
                <a:blip r:embed="rId2"/>
                <a:stretch>
                  <a:fillRect l="-921" t="-6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en-US" dirty="0"/>
              <a:t>BESO-SAA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60652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E38BB53-1EA1-412F-BBE4-BD945E6C33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l"/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The DRO model requires resampling among scenarios and moving the objective function</a:t>
                </a:r>
                <a:r>
                  <a:rPr lang="en-US" sz="2400" b="0" i="0" u="none" strike="noStrike" baseline="0" dirty="0">
                    <a:solidFill>
                      <a:srgbClr val="0000FF"/>
                    </a:solidFill>
                    <a:latin typeface="+mn-lt"/>
                  </a:rPr>
                  <a:t> 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+mn-lt"/>
                  </a:rPr>
                  <a:t>into constraints so to implement the min / max objective: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9263" algn="l"/>
                    <a:tab pos="6175375" algn="l"/>
                  </a:tabLst>
                </a:pPr>
                <a:r>
                  <a:rPr lang="en-US" sz="240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z(DRO) = 	</a:t>
                </a: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it-IT" sz="24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it-IT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	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(9)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6088" algn="l"/>
                    <a:tab pos="2003425" algn="l"/>
                    <a:tab pos="6345238" algn="l"/>
                  </a:tabLst>
                </a:pP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	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𝑘𝑠</m:t>
                            </m:r>
                          </m:sub>
                        </m:sSub>
                        <m:d>
                          <m:dPr>
                            <m:ctrlP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  <m:sup>
                                    <m: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sup>
                                </m:sSubSup>
                                <m: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it-IT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it-IT" sz="24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lang="it-IT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𝜖</m:t>
                                        </m:r>
                                      </m:e>
                                      <m:sub>
                                        <m:r>
                                          <a:rPr lang="it-IT" sz="2400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𝑗𝑠</m:t>
                                        </m:r>
                                      </m:sub>
                                    </m:sSub>
                                  </m:e>
                                </m:nary>
                              </m:e>
                            </m:nary>
                          </m:e>
                        </m:d>
                      </m:e>
                    </m:nary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k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K</a:t>
                </a:r>
                <a:r>
                  <a:rPr lang="en-US" sz="24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(10)</a:t>
                </a:r>
                <a:endParaRPr lang="en-US" sz="24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9263" algn="l"/>
                    <a:tab pos="6175375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 … (8)</a:t>
                </a:r>
              </a:p>
              <a:p>
                <a:pPr algn="l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E38BB53-1EA1-412F-BBE4-BD945E6C33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70" t="-92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700E5B0-1A09-42ED-B830-1892D395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BESO-DRO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DF3D9-AEB4-4573-A06D-5F58BEB0E1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63D0C5-DE47-48ED-A2F8-DCAA36CD9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678626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4EE236-424A-4239-BA22-9D2048E75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MEB bootstrap sets were aggregated (bagged) to obtain forecasts.</a:t>
            </a:r>
          </a:p>
          <a:p>
            <a:r>
              <a:rPr lang="en-US" dirty="0"/>
              <a:t>Besides MEB bagging we also considered alternative forecasts modules based on: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AR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Holt-Winters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SARIMA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Multilayer </a:t>
            </a:r>
            <a:r>
              <a:rPr lang="en-US" dirty="0" err="1"/>
              <a:t>perceptrons</a:t>
            </a:r>
            <a:endParaRPr lang="en-US" dirty="0"/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LSTM networks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Random forests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15D2CC-336C-4085-9492-B0D3CF53C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Tests, forecasts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DECC6-8D2D-4C53-80A7-CCD15FE36E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96CDC2-49FB-474A-90CA-F9B00D8011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2149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9F596C-3993-309B-C16F-9C0BA5783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18468"/>
            <a:ext cx="8546175" cy="49029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MEB based forecasting. Average rankings for different </a:t>
            </a:r>
            <a:r>
              <a:rPr lang="en-US" dirty="0" err="1"/>
              <a:t>boostset</a:t>
            </a:r>
            <a:r>
              <a:rPr lang="en-US" dirty="0"/>
              <a:t> sizes.</a:t>
            </a:r>
          </a:p>
          <a:p>
            <a:endParaRPr lang="en-US" dirty="0"/>
          </a:p>
          <a:p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E71628-30DF-2175-CCB1-FFF5F40E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Results, forecasts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6DC0A-2CB0-A862-E697-E630A40485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239EC-68A7-7A7A-B5C0-DC3C98E60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34</a:t>
            </a:fld>
            <a:endParaRPr lang="it-IT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AB47DEF-C84E-4092-B595-D18B9173F0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35AD79-FEA4-4F84-939C-4E05117C3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64" y="4391968"/>
            <a:ext cx="2972330" cy="22292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5F2B21-64B1-4651-9558-04869FCDA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323" y="4391968"/>
            <a:ext cx="2972330" cy="222924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A40BEFF-A927-47E4-9849-B351E661B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060905"/>
              </p:ext>
            </p:extLst>
          </p:nvPr>
        </p:nvGraphicFramePr>
        <p:xfrm>
          <a:off x="1701913" y="1429610"/>
          <a:ext cx="4806465" cy="2965030"/>
        </p:xfrm>
        <a:graphic>
          <a:graphicData uri="http://schemas.openxmlformats.org/drawingml/2006/table">
            <a:tbl>
              <a:tblPr firstRow="1" firstCol="1" bandRow="1"/>
              <a:tblGrid>
                <a:gridCol w="862408">
                  <a:extLst>
                    <a:ext uri="{9D8B030D-6E8A-4147-A177-3AD203B41FA5}">
                      <a16:colId xmlns:a16="http://schemas.microsoft.com/office/drawing/2014/main" val="1904472902"/>
                    </a:ext>
                  </a:extLst>
                </a:gridCol>
                <a:gridCol w="741177">
                  <a:extLst>
                    <a:ext uri="{9D8B030D-6E8A-4147-A177-3AD203B41FA5}">
                      <a16:colId xmlns:a16="http://schemas.microsoft.com/office/drawing/2014/main" val="1767733983"/>
                    </a:ext>
                  </a:extLst>
                </a:gridCol>
                <a:gridCol w="606418">
                  <a:extLst>
                    <a:ext uri="{9D8B030D-6E8A-4147-A177-3AD203B41FA5}">
                      <a16:colId xmlns:a16="http://schemas.microsoft.com/office/drawing/2014/main" val="746074613"/>
                    </a:ext>
                  </a:extLst>
                </a:gridCol>
                <a:gridCol w="729948">
                  <a:extLst>
                    <a:ext uri="{9D8B030D-6E8A-4147-A177-3AD203B41FA5}">
                      <a16:colId xmlns:a16="http://schemas.microsoft.com/office/drawing/2014/main" val="2960283564"/>
                    </a:ext>
                  </a:extLst>
                </a:gridCol>
                <a:gridCol w="586355">
                  <a:extLst>
                    <a:ext uri="{9D8B030D-6E8A-4147-A177-3AD203B41FA5}">
                      <a16:colId xmlns:a16="http://schemas.microsoft.com/office/drawing/2014/main" val="4284881309"/>
                    </a:ext>
                  </a:extLst>
                </a:gridCol>
                <a:gridCol w="651280">
                  <a:extLst>
                    <a:ext uri="{9D8B030D-6E8A-4147-A177-3AD203B41FA5}">
                      <a16:colId xmlns:a16="http://schemas.microsoft.com/office/drawing/2014/main" val="275417912"/>
                    </a:ext>
                  </a:extLst>
                </a:gridCol>
                <a:gridCol w="628879">
                  <a:extLst>
                    <a:ext uri="{9D8B030D-6E8A-4147-A177-3AD203B41FA5}">
                      <a16:colId xmlns:a16="http://schemas.microsoft.com/office/drawing/2014/main" val="4201101376"/>
                    </a:ext>
                  </a:extLst>
                </a:gridCol>
              </a:tblGrid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YW_AR_75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YW_AR_125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YW_AR_175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83062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MSE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1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bias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6034970"/>
                  </a:ext>
                </a:extLst>
              </a:tr>
              <a:tr h="3171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fcast_avg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2.67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3.83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2213798"/>
                  </a:ext>
                </a:extLst>
              </a:tr>
              <a:tr h="31716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fcast_50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3.04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3.19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2.50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0683802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yhw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5.42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6.06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5.88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94446825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yarima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5.73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6.04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0819121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ysvm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5.88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0.08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5.50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5.50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810126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ylstm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6.02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5.52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6.27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30659876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yar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6.06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6.54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6.79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6432425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ymlp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6.38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5.98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6.17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5988843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yrf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6.46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0.11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6.31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5.48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0.04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38129654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yxgb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7.33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0.12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7.29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0.07</a:t>
                      </a:r>
                      <a:endParaRPr lang="en-US" sz="120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6.50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0.05</a:t>
                      </a:r>
                      <a:endParaRPr lang="en-US" sz="1200" dirty="0">
                        <a:effectLst/>
                        <a:latin typeface="Aptos Light" panose="020B00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54112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9700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CF30E9-3DC7-3EA0-32CA-F2ADAED3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Results, forecasts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913267-F1C1-E815-B1AC-6F042FCBB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3360F6-BABC-ABDE-FB0F-7D110E978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35</a:t>
            </a:fld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AF7F87-2B3A-5157-5F27-3D4E450930F3}"/>
              </a:ext>
            </a:extLst>
          </p:cNvPr>
          <p:cNvSpPr txBox="1"/>
          <p:nvPr/>
        </p:nvSpPr>
        <p:spPr>
          <a:xfrm>
            <a:off x="1202359" y="972001"/>
            <a:ext cx="6238568" cy="914400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noAutofit/>
          </a:bodyPr>
          <a:lstStyle/>
          <a:p>
            <a:r>
              <a:rPr lang="it-IT" sz="2400" dirty="0"/>
              <a:t>Critical </a:t>
            </a:r>
            <a:r>
              <a:rPr lang="it-IT" sz="2400" dirty="0" err="1"/>
              <a:t>difference</a:t>
            </a:r>
            <a:r>
              <a:rPr lang="it-IT" sz="2400" dirty="0"/>
              <a:t> </a:t>
            </a:r>
            <a:r>
              <a:rPr lang="it-IT" sz="2400" dirty="0" err="1"/>
              <a:t>diagrams</a:t>
            </a:r>
            <a:r>
              <a:rPr lang="it-IT" sz="2400" dirty="0"/>
              <a:t> (</a:t>
            </a:r>
            <a:r>
              <a:rPr lang="it-IT" sz="2400" i="1" dirty="0" err="1"/>
              <a:t>Fawaz</a:t>
            </a:r>
            <a:r>
              <a:rPr lang="it-IT" sz="2400" i="1" dirty="0"/>
              <a:t> et al., 2019</a:t>
            </a:r>
            <a:r>
              <a:rPr lang="it-IT" sz="2400" dirty="0"/>
              <a:t>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272D35D-92BC-B3F0-55B3-F6F8689EBE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3748" y="1494483"/>
            <a:ext cx="8304762" cy="2438095"/>
          </a:xfr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C619C5-3B1D-B69D-5EA6-92C4678764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7771" y="4006938"/>
            <a:ext cx="8457143" cy="2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0939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77D1E3A-B58A-4312-90C6-7F77FBE7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Results, comparison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59E4C-63C1-40C7-8F5C-681822FAB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88ED5-F11D-4879-8EE8-AFB5718731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36</a:t>
            </a:fld>
            <a:endParaRPr lang="it-IT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967147-593B-47EB-8FAF-D5DF1EB28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173916"/>
            <a:ext cx="8546175" cy="947492"/>
          </a:xfrm>
        </p:spPr>
        <p:txBody>
          <a:bodyPr/>
          <a:lstStyle/>
          <a:p>
            <a:r>
              <a:rPr lang="en-US" dirty="0"/>
              <a:t>BESO vs. distribution-based, gaussian derived from confidence intervals of Holt-Winters ETS forecasts.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9C6B21-3200-4B8B-AE33-BFC4E4E10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978" y="2304613"/>
            <a:ext cx="8110728" cy="33794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CCC3BA-7872-9FD1-5AA9-08F6A3AC5A7E}"/>
              </a:ext>
            </a:extLst>
          </p:cNvPr>
          <p:cNvSpPr txBox="1"/>
          <p:nvPr/>
        </p:nvSpPr>
        <p:spPr>
          <a:xfrm>
            <a:off x="1745673" y="5867289"/>
            <a:ext cx="4999061" cy="461665"/>
          </a:xfrm>
          <a:prstGeom prst="rect">
            <a:avLst/>
          </a:prstGeom>
          <a:noFill/>
          <a:ln>
            <a:noFill/>
          </a:ln>
        </p:spPr>
        <p:txBody>
          <a:bodyPr wrap="none" rtlCol="0" anchor="t" anchorCtr="0">
            <a:spAutoFit/>
          </a:bodyPr>
          <a:lstStyle/>
          <a:p>
            <a:pPr algn="l"/>
            <a:r>
              <a:rPr lang="it-IT" sz="2400" dirty="0"/>
              <a:t>MEB: </a:t>
            </a:r>
            <a:r>
              <a:rPr lang="it-IT" sz="2400" dirty="0" err="1"/>
              <a:t>wider</a:t>
            </a:r>
            <a:r>
              <a:rPr lang="it-IT" sz="2400" dirty="0"/>
              <a:t> range and </a:t>
            </a:r>
            <a:r>
              <a:rPr lang="it-IT" sz="2400" dirty="0" err="1"/>
              <a:t>higher</a:t>
            </a:r>
            <a:r>
              <a:rPr lang="it-IT" sz="2400" dirty="0"/>
              <a:t> </a:t>
            </a:r>
            <a:r>
              <a:rPr lang="it-IT" sz="2400" dirty="0" err="1"/>
              <a:t>skewness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96577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1179C6-8DE9-937F-61D2-AA2D78DB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, </a:t>
            </a:r>
            <a:r>
              <a:rPr lang="it-IT" dirty="0" err="1"/>
              <a:t>optimization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665839-C3EC-B1E7-64EA-1D329B3E0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0736A9-2FA8-4BDE-37C7-680BE7EAD6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37</a:t>
            </a:fld>
            <a:endParaRPr lang="it-IT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33B046-D5C8-6B93-53A9-9A08694319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4342" y="1142996"/>
            <a:ext cx="9060874" cy="4530437"/>
          </a:xfr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6CD99E6-7579-493F-6FE6-691CA45775B7}"/>
              </a:ext>
            </a:extLst>
          </p:cNvPr>
          <p:cNvSpPr/>
          <p:nvPr/>
        </p:nvSpPr>
        <p:spPr>
          <a:xfrm>
            <a:off x="1766455" y="4810987"/>
            <a:ext cx="384463" cy="36368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CD97D-A3CA-1E72-66FA-5F807838792F}"/>
              </a:ext>
            </a:extLst>
          </p:cNvPr>
          <p:cNvSpPr txBox="1"/>
          <p:nvPr/>
        </p:nvSpPr>
        <p:spPr>
          <a:xfrm>
            <a:off x="883227" y="5666321"/>
            <a:ext cx="707620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algn="l"/>
            <a:r>
              <a:rPr lang="it-IT" sz="2400" dirty="0"/>
              <a:t>BESO: </a:t>
            </a:r>
            <a:r>
              <a:rPr lang="it-IT" sz="2400" dirty="0" err="1"/>
              <a:t>same</a:t>
            </a:r>
            <a:r>
              <a:rPr lang="it-IT" sz="2400" dirty="0"/>
              <a:t> </a:t>
            </a:r>
            <a:r>
              <a:rPr lang="it-IT" sz="2400" dirty="0" err="1"/>
              <a:t>solution</a:t>
            </a:r>
            <a:r>
              <a:rPr lang="it-IT" sz="2400" dirty="0"/>
              <a:t> </a:t>
            </a:r>
            <a:r>
              <a:rPr lang="it-IT" sz="2400" dirty="0" err="1"/>
              <a:t>than</a:t>
            </a:r>
            <a:r>
              <a:rPr lang="it-IT" sz="2400" dirty="0"/>
              <a:t> </a:t>
            </a:r>
            <a:r>
              <a:rPr lang="it-IT" sz="2400" dirty="0" err="1"/>
              <a:t>Wasserstein-based</a:t>
            </a:r>
            <a:r>
              <a:rPr lang="it-IT" sz="2400" dirty="0"/>
              <a:t>, </a:t>
            </a:r>
            <a:r>
              <a:rPr lang="it-IT" sz="2400" dirty="0" err="1"/>
              <a:t>formulation</a:t>
            </a:r>
            <a:r>
              <a:rPr lang="it-IT" sz="2400" dirty="0"/>
              <a:t> </a:t>
            </a:r>
            <a:r>
              <a:rPr lang="it-IT" sz="2400" dirty="0" err="1"/>
              <a:t>fairly</a:t>
            </a:r>
            <a:r>
              <a:rPr lang="it-IT" sz="2400" dirty="0"/>
              <a:t> </a:t>
            </a:r>
            <a:r>
              <a:rPr lang="it-IT" sz="2400" dirty="0" err="1"/>
              <a:t>simpler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389623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E9AD77-5EE7-F954-33B4-3A8F8A48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, </a:t>
            </a:r>
            <a:r>
              <a:rPr lang="it-IT" dirty="0" err="1"/>
              <a:t>optimization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EAB2B-6A02-ECDF-B23E-EABF39451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9B41E-08EB-587F-56AE-21B50991A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38</a:t>
            </a:fld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BEAE-9A63-435D-1BDA-9F8BBEF88057}"/>
              </a:ext>
            </a:extLst>
          </p:cNvPr>
          <p:cNvSpPr txBox="1"/>
          <p:nvPr/>
        </p:nvSpPr>
        <p:spPr>
          <a:xfrm>
            <a:off x="160429" y="5223616"/>
            <a:ext cx="8791195" cy="109260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sz="2000" dirty="0"/>
              <a:t>The cost is essentially stable in the cases of the 75 and 125 series sets but increases significantly in the case of the 175 </a:t>
            </a:r>
            <a:r>
              <a:rPr lang="en-US" sz="2000" dirty="0" err="1"/>
              <a:t>boostset</a:t>
            </a:r>
            <a:r>
              <a:rPr lang="en-US" sz="2000" dirty="0"/>
              <a:t>.</a:t>
            </a:r>
          </a:p>
          <a:p>
            <a:pPr algn="l">
              <a:spcBef>
                <a:spcPts val="600"/>
              </a:spcBef>
            </a:pPr>
            <a:r>
              <a:rPr lang="en-US" sz="2000" dirty="0"/>
              <a:t>This is due to some </a:t>
            </a:r>
            <a:r>
              <a:rPr lang="en-US" sz="2000" dirty="0">
                <a:solidFill>
                  <a:srgbClr val="C00000"/>
                </a:solidFill>
              </a:rPr>
              <a:t>extreme scenarios appearing in the forecasts</a:t>
            </a:r>
            <a:r>
              <a:rPr lang="en-US" sz="2000" dirty="0"/>
              <a:t>.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42E1027-42CB-4C32-8C2A-7DA09D031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8097" y="883274"/>
            <a:ext cx="7417576" cy="4340341"/>
          </a:xfrm>
        </p:spPr>
      </p:pic>
    </p:spTree>
    <p:extLst>
      <p:ext uri="{BB962C8B-B14F-4D97-AF65-F5344CB8AC3E}">
        <p14:creationId xmlns:p14="http://schemas.microsoft.com/office/powerpoint/2010/main" val="3109033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B4448-CAFD-B4E2-E62A-767CDB4D6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12" y="1007659"/>
            <a:ext cx="8546175" cy="5372359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400" dirty="0"/>
              <a:t>BESO leads </a:t>
            </a:r>
            <a:r>
              <a:rPr lang="en-US" sz="2400" dirty="0">
                <a:solidFill>
                  <a:srgbClr val="C00000"/>
                </a:solidFill>
              </a:rPr>
              <a:t>from forecasts to decisions </a:t>
            </a:r>
            <a:r>
              <a:rPr lang="en-US" sz="2400" dirty="0"/>
              <a:t>that account for forecast uncertainty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Bootstrapped forecasts generate </a:t>
            </a:r>
            <a:r>
              <a:rPr lang="en-US" sz="2400" dirty="0">
                <a:solidFill>
                  <a:srgbClr val="C00000"/>
                </a:solidFill>
              </a:rPr>
              <a:t>realistic future scenarios </a:t>
            </a:r>
            <a:r>
              <a:rPr lang="en-US" sz="2400" dirty="0"/>
              <a:t>directly from data, even from short, irregular histories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Scenarios are </a:t>
            </a:r>
            <a:r>
              <a:rPr lang="en-US" sz="2400" dirty="0">
                <a:solidFill>
                  <a:srgbClr val="C00000"/>
                </a:solidFill>
              </a:rPr>
              <a:t>weighted by their cost impact </a:t>
            </a:r>
            <a:r>
              <a:rPr lang="en-US" sz="2400" dirty="0"/>
              <a:t>and fed into stochastic (SAA) or robust (DRO) optimization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Every step is </a:t>
            </a:r>
            <a:r>
              <a:rPr lang="en-US" sz="2400" dirty="0">
                <a:solidFill>
                  <a:srgbClr val="C00000"/>
                </a:solidFill>
              </a:rPr>
              <a:t>transparent and explainable</a:t>
            </a:r>
            <a:r>
              <a:rPr lang="en-US" sz="2400" dirty="0"/>
              <a:t>: forecast, scenarios, weights, decision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Proof of concept: DC-to-warehouse allocation and capacity sizing, where BESO proved </a:t>
            </a:r>
            <a:r>
              <a:rPr lang="en-US" sz="2400" dirty="0">
                <a:solidFill>
                  <a:srgbClr val="C00000"/>
                </a:solidFill>
              </a:rPr>
              <a:t>competitive against the state of the art</a:t>
            </a:r>
            <a:r>
              <a:rPr lang="en-US" sz="2400" dirty="0"/>
              <a:t>.</a:t>
            </a:r>
          </a:p>
          <a:p>
            <a:pPr>
              <a:spcBef>
                <a:spcPts val="1200"/>
              </a:spcBef>
            </a:pPr>
            <a:r>
              <a:rPr lang="en-US" sz="2400" b="1" i="1" dirty="0"/>
              <a:t>Takeaway</a:t>
            </a:r>
            <a:r>
              <a:rPr lang="en-US" sz="2400" dirty="0"/>
              <a:t>: wherever decisions rest on uncertain forecasts, BESO turns that uncertainty into decisions that hold up.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DAED7-D714-269C-7743-94197EFF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Comments, 1</a:t>
            </a:r>
            <a:r>
              <a:rPr lang="en-US" baseline="30000" dirty="0"/>
              <a:t>st</a:t>
            </a:r>
            <a:r>
              <a:rPr lang="en-US" dirty="0"/>
              <a:t> use case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412EF-17C0-FCFB-E885-D4434F5F9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D00F7-5AC9-C4A4-D1C3-39483C059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39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56017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440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C3F6CA1-EAE3-494D-AB27-F9985206B41F}" type="slidenum">
              <a:rPr kumimoji="0" lang="it-IT" sz="101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8440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it-IT" sz="101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8440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8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niezzoSlides" pitchFamily="2" charset="0"/>
                <a:ea typeface="Microsoft YaHei" panose="020B0503020204020204" pitchFamily="34" charset="-122"/>
                <a:cs typeface="+mn-cs"/>
              </a:rPr>
              <a:t>Vittorio Maniezzo – Università di Bologna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1110859" y="1288033"/>
            <a:ext cx="7079598" cy="3842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844083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4770" dirty="0">
                <a:solidFill>
                  <a:prstClr val="black"/>
                </a:solidFill>
                <a:latin typeface="Palace Script MT" pitchFamily="66" charset="0"/>
              </a:rPr>
              <a:t>u</a:t>
            </a:r>
            <a:r>
              <a:rPr kumimoji="0" lang="it-IT" sz="1477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ce Script MT" pitchFamily="66" charset="0"/>
                <a:ea typeface="+mn-ea"/>
                <a:cs typeface="+mn-cs"/>
              </a:rPr>
              <a:t>se case </a:t>
            </a:r>
            <a:r>
              <a:rPr kumimoji="0" lang="it-IT" sz="1477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alace Script MT" pitchFamily="66" charset="0"/>
                <a:ea typeface="+mn-ea"/>
                <a:cs typeface="+mn-cs"/>
              </a:rPr>
              <a:t>2:</a:t>
            </a:r>
          </a:p>
          <a:p>
            <a:pPr marL="0" marR="0" lvl="0" indent="0" algn="ctr" defTabSz="844083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sz="14770" dirty="0">
                <a:solidFill>
                  <a:prstClr val="black"/>
                </a:solidFill>
                <a:latin typeface="Palace Script MT" pitchFamily="66" charset="0"/>
              </a:rPr>
              <a:t>Loading yards</a:t>
            </a:r>
            <a:endParaRPr kumimoji="0" lang="it-IT" sz="1477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alace Script MT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2361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FDA0B6-806F-4B81-95A3-684F0CB27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350563"/>
            <a:ext cx="8771055" cy="4603429"/>
          </a:xfrm>
        </p:spPr>
        <p:txBody>
          <a:bodyPr>
            <a:normAutofit/>
          </a:bodyPr>
          <a:lstStyle/>
          <a:p>
            <a:r>
              <a:rPr lang="en-US" sz="2400" dirty="0"/>
              <a:t>In this case study we use bootstrapping and scenarios (BESO-SAA) by: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Introducing a case study deriving from operation on </a:t>
            </a:r>
            <a:r>
              <a:rPr lang="en-US" sz="2400" dirty="0">
                <a:solidFill>
                  <a:srgbClr val="C00000"/>
                </a:solidFill>
              </a:rPr>
              <a:t>warehouse outbound </a:t>
            </a:r>
            <a:r>
              <a:rPr lang="en-US" sz="2400" dirty="0"/>
              <a:t>logistics.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Formulating the problem as a </a:t>
            </a:r>
            <a:r>
              <a:rPr lang="en-US" sz="2400" dirty="0">
                <a:solidFill>
                  <a:srgbClr val="C00000"/>
                </a:solidFill>
              </a:rPr>
              <a:t>stochastic optimization problem</a:t>
            </a:r>
            <a:r>
              <a:rPr lang="en-US" sz="2400" dirty="0"/>
              <a:t> in a prescriptive analytics context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Defining the </a:t>
            </a:r>
            <a:r>
              <a:rPr lang="en-US" sz="2400" dirty="0">
                <a:solidFill>
                  <a:srgbClr val="C00000"/>
                </a:solidFill>
              </a:rPr>
              <a:t>predictive module </a:t>
            </a:r>
            <a:r>
              <a:rPr lang="en-US" sz="2400" dirty="0"/>
              <a:t>on alternative forecasting techniques, including Maximum Entropy Bootstrap (with bagging)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Using the bootstrap set as a seed for scenario-based optimization (</a:t>
            </a:r>
            <a:r>
              <a:rPr lang="en-US" sz="2400" dirty="0">
                <a:solidFill>
                  <a:srgbClr val="C00000"/>
                </a:solidFill>
              </a:rPr>
              <a:t>BESO-SAA</a:t>
            </a:r>
            <a:r>
              <a:rPr lang="en-US" sz="2400" dirty="0"/>
              <a:t>, </a:t>
            </a:r>
            <a:r>
              <a:rPr lang="en-US" sz="2400" i="1" dirty="0"/>
              <a:t>no DRO here</a:t>
            </a:r>
            <a:r>
              <a:rPr lang="en-US" sz="2400" dirty="0"/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99E767-A90A-4392-A3CC-1E6B775F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Warehousing application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840E0A-900B-4723-8202-3D4A80E54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E9F00E-7A97-44CC-931E-6008B48F85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040952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02E13-606C-AD6D-BBF6-31225FAA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42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C14EFE-AEE1-0EEB-A0DD-1049E34DA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flows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F1007-7753-FF1A-BDF1-91E00845F9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C87DA0-395F-4FA8-9196-10B7259D6497}"/>
              </a:ext>
            </a:extLst>
          </p:cNvPr>
          <p:cNvSpPr/>
          <p:nvPr/>
        </p:nvSpPr>
        <p:spPr>
          <a:xfrm>
            <a:off x="6217922" y="3130033"/>
            <a:ext cx="1316736" cy="749014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Staging areas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B3F1E8-C0F3-4020-9606-C1C92490FC13}"/>
              </a:ext>
            </a:extLst>
          </p:cNvPr>
          <p:cNvSpPr/>
          <p:nvPr/>
        </p:nvSpPr>
        <p:spPr>
          <a:xfrm>
            <a:off x="2423161" y="1289719"/>
            <a:ext cx="1316736" cy="7667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Satellite storage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0959DE-3012-4BDA-9856-0FECAC87237C}"/>
              </a:ext>
            </a:extLst>
          </p:cNvPr>
          <p:cNvSpPr/>
          <p:nvPr/>
        </p:nvSpPr>
        <p:spPr>
          <a:xfrm>
            <a:off x="2423161" y="5047045"/>
            <a:ext cx="1316736" cy="76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X-dock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DD94CF-AC35-455F-B625-6B15C5343260}"/>
              </a:ext>
            </a:extLst>
          </p:cNvPr>
          <p:cNvSpPr/>
          <p:nvPr/>
        </p:nvSpPr>
        <p:spPr>
          <a:xfrm>
            <a:off x="2404875" y="3135744"/>
            <a:ext cx="1316736" cy="76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Production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398261-7912-485E-A875-001E3566C824}"/>
              </a:ext>
            </a:extLst>
          </p:cNvPr>
          <p:cNvSpPr/>
          <p:nvPr/>
        </p:nvSpPr>
        <p:spPr>
          <a:xfrm>
            <a:off x="676656" y="3129864"/>
            <a:ext cx="1316736" cy="7667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Line feed area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96A233-9230-4EF7-9CAF-FBB7BF214AC1}"/>
              </a:ext>
            </a:extLst>
          </p:cNvPr>
          <p:cNvSpPr/>
          <p:nvPr/>
        </p:nvSpPr>
        <p:spPr>
          <a:xfrm>
            <a:off x="4379979" y="4416552"/>
            <a:ext cx="1207008" cy="76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i="0" dirty="0">
                <a:solidFill>
                  <a:srgbClr val="2C2C36"/>
                </a:solidFill>
                <a:effectLst/>
              </a:rPr>
              <a:t>AS/RS area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0549E6-3DB7-4EB7-8C51-6B4B81B368E8}"/>
              </a:ext>
            </a:extLst>
          </p:cNvPr>
          <p:cNvSpPr/>
          <p:nvPr/>
        </p:nvSpPr>
        <p:spPr>
          <a:xfrm>
            <a:off x="4379979" y="3129864"/>
            <a:ext cx="1207008" cy="76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ts val="1800"/>
              </a:lnSpc>
            </a:pPr>
            <a:r>
              <a:rPr lang="en-US" b="1" i="0" dirty="0">
                <a:solidFill>
                  <a:srgbClr val="2C2C36"/>
                </a:solidFill>
                <a:effectLst/>
              </a:rPr>
              <a:t>Bulk storage area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599203-F5B2-47C8-BC4B-53F29814DD08}"/>
              </a:ext>
            </a:extLst>
          </p:cNvPr>
          <p:cNvSpPr/>
          <p:nvPr/>
        </p:nvSpPr>
        <p:spPr>
          <a:xfrm>
            <a:off x="4379979" y="1861548"/>
            <a:ext cx="1207008" cy="7667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i="0" dirty="0">
                <a:solidFill>
                  <a:srgbClr val="2C2C36"/>
                </a:solidFill>
                <a:effectLst/>
              </a:rPr>
              <a:t>Fast-pick area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7BE994-171A-4718-BD7E-D274F1B9C8FB}"/>
              </a:ext>
            </a:extLst>
          </p:cNvPr>
          <p:cNvSpPr/>
          <p:nvPr/>
        </p:nvSpPr>
        <p:spPr>
          <a:xfrm>
            <a:off x="8065008" y="3130034"/>
            <a:ext cx="978410" cy="74901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i="0" dirty="0">
                <a:solidFill>
                  <a:srgbClr val="2C2C36"/>
                </a:solidFill>
                <a:effectLst/>
              </a:rPr>
              <a:t>Loading bays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3E48BD4-9181-4781-8473-863332CDD30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56616" y="1673104"/>
            <a:ext cx="206654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A27991-FF17-448A-A405-10B5D6204306}"/>
              </a:ext>
            </a:extLst>
          </p:cNvPr>
          <p:cNvCxnSpPr>
            <a:endCxn id="10" idx="1"/>
          </p:cNvCxnSpPr>
          <p:nvPr/>
        </p:nvCxnSpPr>
        <p:spPr>
          <a:xfrm>
            <a:off x="356616" y="3513248"/>
            <a:ext cx="32004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76051C-7B5D-4790-B4D3-B34FB0E0A0E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56616" y="5430430"/>
            <a:ext cx="2066545" cy="28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F379C2B-1D85-467F-B248-B25CC4B85695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1993392" y="3513249"/>
            <a:ext cx="411483" cy="58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72DB5AE-9E3B-4BDB-8DD4-321DF63046D8}"/>
              </a:ext>
            </a:extLst>
          </p:cNvPr>
          <p:cNvCxnSpPr>
            <a:cxnSpLocks/>
            <a:stCxn id="6" idx="3"/>
            <a:endCxn id="14" idx="1"/>
          </p:cNvCxnSpPr>
          <p:nvPr/>
        </p:nvCxnSpPr>
        <p:spPr>
          <a:xfrm>
            <a:off x="7534658" y="3504540"/>
            <a:ext cx="53035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3CF82A-992A-461A-B474-08204B28B3E9}"/>
              </a:ext>
            </a:extLst>
          </p:cNvPr>
          <p:cNvCxnSpPr>
            <a:stCxn id="12" idx="3"/>
            <a:endCxn id="6" idx="1"/>
          </p:cNvCxnSpPr>
          <p:nvPr/>
        </p:nvCxnSpPr>
        <p:spPr>
          <a:xfrm flipV="1">
            <a:off x="5586987" y="3504540"/>
            <a:ext cx="630935" cy="8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BED3A25-B369-43D5-AEBE-BF58BCA5BE55}"/>
              </a:ext>
            </a:extLst>
          </p:cNvPr>
          <p:cNvCxnSpPr>
            <a:stCxn id="9" idx="3"/>
            <a:endCxn id="12" idx="1"/>
          </p:cNvCxnSpPr>
          <p:nvPr/>
        </p:nvCxnSpPr>
        <p:spPr>
          <a:xfrm flipV="1">
            <a:off x="3721611" y="3513249"/>
            <a:ext cx="658368" cy="588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702D2A63-9981-4984-89E8-F03B0B458333}"/>
              </a:ext>
            </a:extLst>
          </p:cNvPr>
          <p:cNvSpPr/>
          <p:nvPr/>
        </p:nvSpPr>
        <p:spPr>
          <a:xfrm>
            <a:off x="3749039" y="3895344"/>
            <a:ext cx="3195829" cy="1570500"/>
          </a:xfrm>
          <a:custGeom>
            <a:avLst/>
            <a:gdLst>
              <a:gd name="connsiteX0" fmla="*/ 0 w 3389424"/>
              <a:gd name="connsiteY0" fmla="*/ 1563624 h 1619936"/>
              <a:gd name="connsiteX1" fmla="*/ 2304288 w 3389424"/>
              <a:gd name="connsiteY1" fmla="*/ 1563624 h 1619936"/>
              <a:gd name="connsiteX2" fmla="*/ 3227832 w 3389424"/>
              <a:gd name="connsiteY2" fmla="*/ 978408 h 1619936"/>
              <a:gd name="connsiteX3" fmla="*/ 3383280 w 3389424"/>
              <a:gd name="connsiteY3" fmla="*/ 0 h 1619936"/>
              <a:gd name="connsiteX0" fmla="*/ 0 w 3389424"/>
              <a:gd name="connsiteY0" fmla="*/ 1563624 h 1590554"/>
              <a:gd name="connsiteX1" fmla="*/ 2333341 w 3389424"/>
              <a:gd name="connsiteY1" fmla="*/ 1499616 h 1590554"/>
              <a:gd name="connsiteX2" fmla="*/ 3227832 w 3389424"/>
              <a:gd name="connsiteY2" fmla="*/ 978408 h 1590554"/>
              <a:gd name="connsiteX3" fmla="*/ 3383280 w 3389424"/>
              <a:gd name="connsiteY3" fmla="*/ 0 h 1590554"/>
              <a:gd name="connsiteX0" fmla="*/ 0 w 3390947"/>
              <a:gd name="connsiteY0" fmla="*/ 1563624 h 1590554"/>
              <a:gd name="connsiteX1" fmla="*/ 2333341 w 3390947"/>
              <a:gd name="connsiteY1" fmla="*/ 1499616 h 1590554"/>
              <a:gd name="connsiteX2" fmla="*/ 3227832 w 3390947"/>
              <a:gd name="connsiteY2" fmla="*/ 978408 h 1590554"/>
              <a:gd name="connsiteX3" fmla="*/ 3383280 w 3390947"/>
              <a:gd name="connsiteY3" fmla="*/ 0 h 1590554"/>
              <a:gd name="connsiteX0" fmla="*/ 0 w 3390947"/>
              <a:gd name="connsiteY0" fmla="*/ 1563624 h 1570500"/>
              <a:gd name="connsiteX1" fmla="*/ 2333341 w 3390947"/>
              <a:gd name="connsiteY1" fmla="*/ 1499616 h 1570500"/>
              <a:gd name="connsiteX2" fmla="*/ 3227832 w 3390947"/>
              <a:gd name="connsiteY2" fmla="*/ 978408 h 1570500"/>
              <a:gd name="connsiteX3" fmla="*/ 3383280 w 3390947"/>
              <a:gd name="connsiteY3" fmla="*/ 0 h 1570500"/>
              <a:gd name="connsiteX0" fmla="*/ 0 w 3386741"/>
              <a:gd name="connsiteY0" fmla="*/ 1563624 h 1570500"/>
              <a:gd name="connsiteX1" fmla="*/ 2333341 w 3386741"/>
              <a:gd name="connsiteY1" fmla="*/ 1499616 h 1570500"/>
              <a:gd name="connsiteX2" fmla="*/ 3227832 w 3386741"/>
              <a:gd name="connsiteY2" fmla="*/ 978408 h 1570500"/>
              <a:gd name="connsiteX3" fmla="*/ 3383280 w 3386741"/>
              <a:gd name="connsiteY3" fmla="*/ 0 h 1570500"/>
              <a:gd name="connsiteX0" fmla="*/ 0 w 3390947"/>
              <a:gd name="connsiteY0" fmla="*/ 1563624 h 1570500"/>
              <a:gd name="connsiteX1" fmla="*/ 2333341 w 3390947"/>
              <a:gd name="connsiteY1" fmla="*/ 1499616 h 1570500"/>
              <a:gd name="connsiteX2" fmla="*/ 3227832 w 3390947"/>
              <a:gd name="connsiteY2" fmla="*/ 978408 h 1570500"/>
              <a:gd name="connsiteX3" fmla="*/ 3383280 w 3390947"/>
              <a:gd name="connsiteY3" fmla="*/ 0 h 1570500"/>
              <a:gd name="connsiteX0" fmla="*/ 0 w 3388185"/>
              <a:gd name="connsiteY0" fmla="*/ 1563624 h 1570500"/>
              <a:gd name="connsiteX1" fmla="*/ 2333341 w 3388185"/>
              <a:gd name="connsiteY1" fmla="*/ 1499616 h 1570500"/>
              <a:gd name="connsiteX2" fmla="*/ 3227832 w 3388185"/>
              <a:gd name="connsiteY2" fmla="*/ 978408 h 1570500"/>
              <a:gd name="connsiteX3" fmla="*/ 3383280 w 3388185"/>
              <a:gd name="connsiteY3" fmla="*/ 0 h 1570500"/>
              <a:gd name="connsiteX0" fmla="*/ 0 w 3384583"/>
              <a:gd name="connsiteY0" fmla="*/ 1563624 h 1570500"/>
              <a:gd name="connsiteX1" fmla="*/ 2333341 w 3384583"/>
              <a:gd name="connsiteY1" fmla="*/ 1499616 h 1570500"/>
              <a:gd name="connsiteX2" fmla="*/ 3227832 w 3384583"/>
              <a:gd name="connsiteY2" fmla="*/ 978408 h 1570500"/>
              <a:gd name="connsiteX3" fmla="*/ 3383280 w 3384583"/>
              <a:gd name="connsiteY3" fmla="*/ 0 h 157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84583" h="1570500">
                <a:moveTo>
                  <a:pt x="0" y="1563624"/>
                </a:moveTo>
                <a:cubicBezTo>
                  <a:pt x="960630" y="1566672"/>
                  <a:pt x="1795369" y="1597152"/>
                  <a:pt x="2333341" y="1499616"/>
                </a:cubicBezTo>
                <a:cubicBezTo>
                  <a:pt x="2871313" y="1402080"/>
                  <a:pt x="3048000" y="1239012"/>
                  <a:pt x="3227832" y="978408"/>
                </a:cubicBezTo>
                <a:cubicBezTo>
                  <a:pt x="3320508" y="790956"/>
                  <a:pt x="3395472" y="660654"/>
                  <a:pt x="3383280" y="0"/>
                </a:cubicBezTo>
              </a:path>
            </a:pathLst>
          </a:custGeom>
          <a:noFill/>
          <a:ln>
            <a:solidFill>
              <a:schemeClr val="tx1"/>
            </a:solidFill>
            <a:tailEnd type="triangle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6285746-C370-4A06-8C94-81AFE0ADA944}"/>
              </a:ext>
            </a:extLst>
          </p:cNvPr>
          <p:cNvCxnSpPr>
            <a:stCxn id="7" idx="3"/>
            <a:endCxn id="13" idx="1"/>
          </p:cNvCxnSpPr>
          <p:nvPr/>
        </p:nvCxnSpPr>
        <p:spPr>
          <a:xfrm>
            <a:off x="3739897" y="1673104"/>
            <a:ext cx="640082" cy="5718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660F959-2982-4D43-81E3-8087E53FD3E4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739897" y="1673104"/>
            <a:ext cx="640082" cy="16803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1417BFB-1498-45B4-AE56-7025BAFBFC0A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3721611" y="2410602"/>
            <a:ext cx="658368" cy="11085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DCCC07E-D06B-4790-BBC1-BE52821AB134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3721611" y="3519129"/>
            <a:ext cx="658368" cy="128080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58F0E8-416D-4F8A-A080-81BFB5D0429F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5586987" y="2244933"/>
            <a:ext cx="630935" cy="11085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130E29F-C86A-4CB7-8691-77CE64B3DBC3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5586987" y="3691410"/>
            <a:ext cx="630935" cy="11085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6186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2A2C4C7-190E-9FDC-7400-E0AF08F9D0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DADED5"/>
              </a:clrFrom>
              <a:clrTo>
                <a:srgbClr val="DADED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83860" y="804048"/>
            <a:ext cx="7629236" cy="5836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2C94CA3-8EDA-E13C-A909-CEAF51D6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warehouse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DAD29-1D2D-0869-DAFE-60FEA35C5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AF2C34-6063-C4B5-84CB-9E46E54B80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43</a:t>
            </a:fld>
            <a:endParaRPr lang="it-IT" dirty="0"/>
          </a:p>
        </p:txBody>
      </p:sp>
      <p:sp>
        <p:nvSpPr>
          <p:cNvPr id="2" name="Call-out: Line 1">
            <a:extLst>
              <a:ext uri="{FF2B5EF4-FFF2-40B4-BE49-F238E27FC236}">
                <a16:creationId xmlns:a16="http://schemas.microsoft.com/office/drawing/2014/main" id="{808C9FF0-6DD1-5FC3-06BE-C996765E82BF}"/>
              </a:ext>
            </a:extLst>
          </p:cNvPr>
          <p:cNvSpPr/>
          <p:nvPr/>
        </p:nvSpPr>
        <p:spPr>
          <a:xfrm>
            <a:off x="180272" y="3200401"/>
            <a:ext cx="926578" cy="633845"/>
          </a:xfrm>
          <a:prstGeom prst="borderCallout1">
            <a:avLst>
              <a:gd name="adj1" fmla="val -15676"/>
              <a:gd name="adj2" fmla="val 76896"/>
              <a:gd name="adj3" fmla="val -297336"/>
              <a:gd name="adj4" fmla="val 173617"/>
            </a:avLst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dirty="0" err="1">
                <a:solidFill>
                  <a:schemeClr val="tx1"/>
                </a:solidFill>
              </a:rPr>
              <a:t>Staging</a:t>
            </a:r>
            <a:r>
              <a:rPr lang="it-IT" dirty="0">
                <a:solidFill>
                  <a:schemeClr val="tx1"/>
                </a:solidFill>
              </a:rPr>
              <a:t> </a:t>
            </a:r>
            <a:r>
              <a:rPr lang="it-IT" dirty="0" err="1">
                <a:solidFill>
                  <a:schemeClr val="tx1"/>
                </a:solidFill>
              </a:rPr>
              <a:t>areas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8F5A254-E382-9C9B-5F34-E2D86B553E82}"/>
              </a:ext>
            </a:extLst>
          </p:cNvPr>
          <p:cNvCxnSpPr/>
          <p:nvPr/>
        </p:nvCxnSpPr>
        <p:spPr>
          <a:xfrm>
            <a:off x="883227" y="3927764"/>
            <a:ext cx="800100" cy="197427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748333-B3A1-ED58-DCCC-E150CA0E8091}"/>
              </a:ext>
            </a:extLst>
          </p:cNvPr>
          <p:cNvCxnSpPr>
            <a:cxnSpLocks/>
          </p:cNvCxnSpPr>
          <p:nvPr/>
        </p:nvCxnSpPr>
        <p:spPr>
          <a:xfrm>
            <a:off x="1126994" y="3927764"/>
            <a:ext cx="556333" cy="789709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14FE614-B749-33BB-F828-B6337EB902C6}"/>
              </a:ext>
            </a:extLst>
          </p:cNvPr>
          <p:cNvCxnSpPr>
            <a:cxnSpLocks/>
          </p:cNvCxnSpPr>
          <p:nvPr/>
        </p:nvCxnSpPr>
        <p:spPr>
          <a:xfrm flipV="1">
            <a:off x="1205345" y="2667158"/>
            <a:ext cx="477982" cy="630303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ll-out: Line 17">
            <a:extLst>
              <a:ext uri="{FF2B5EF4-FFF2-40B4-BE49-F238E27FC236}">
                <a16:creationId xmlns:a16="http://schemas.microsoft.com/office/drawing/2014/main" id="{BBD647DF-EDDF-EFEA-A8CF-039437D3EE6C}"/>
              </a:ext>
            </a:extLst>
          </p:cNvPr>
          <p:cNvSpPr/>
          <p:nvPr/>
        </p:nvSpPr>
        <p:spPr>
          <a:xfrm>
            <a:off x="6983054" y="5982394"/>
            <a:ext cx="1573652" cy="443034"/>
          </a:xfrm>
          <a:prstGeom prst="borderCallout1">
            <a:avLst>
              <a:gd name="adj1" fmla="val 55327"/>
              <a:gd name="adj2" fmla="val -3853"/>
              <a:gd name="adj3" fmla="val 37944"/>
              <a:gd name="adj4" fmla="val -269194"/>
            </a:avLst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Fast-pick area</a:t>
            </a:r>
          </a:p>
        </p:txBody>
      </p:sp>
      <p:sp>
        <p:nvSpPr>
          <p:cNvPr id="19" name="Call-out: Line 18">
            <a:extLst>
              <a:ext uri="{FF2B5EF4-FFF2-40B4-BE49-F238E27FC236}">
                <a16:creationId xmlns:a16="http://schemas.microsoft.com/office/drawing/2014/main" id="{E677C74F-18F2-D785-004C-74FE519CD770}"/>
              </a:ext>
            </a:extLst>
          </p:cNvPr>
          <p:cNvSpPr/>
          <p:nvPr/>
        </p:nvSpPr>
        <p:spPr>
          <a:xfrm>
            <a:off x="6818587" y="3543300"/>
            <a:ext cx="1198419" cy="443034"/>
          </a:xfrm>
          <a:prstGeom prst="borderCallout1">
            <a:avLst>
              <a:gd name="adj1" fmla="val 55327"/>
              <a:gd name="adj2" fmla="val -3853"/>
              <a:gd name="adj3" fmla="val -182075"/>
              <a:gd name="adj4" fmla="val -333589"/>
            </a:avLst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Pallet bays</a:t>
            </a:r>
          </a:p>
        </p:txBody>
      </p:sp>
      <p:sp>
        <p:nvSpPr>
          <p:cNvPr id="20" name="Call-out: Line 19">
            <a:extLst>
              <a:ext uri="{FF2B5EF4-FFF2-40B4-BE49-F238E27FC236}">
                <a16:creationId xmlns:a16="http://schemas.microsoft.com/office/drawing/2014/main" id="{9CCC8FCE-8C39-C0E1-FB19-8BA44BB11051}"/>
              </a:ext>
            </a:extLst>
          </p:cNvPr>
          <p:cNvSpPr/>
          <p:nvPr/>
        </p:nvSpPr>
        <p:spPr>
          <a:xfrm>
            <a:off x="7624987" y="1144536"/>
            <a:ext cx="1198419" cy="576579"/>
          </a:xfrm>
          <a:prstGeom prst="borderCallout1">
            <a:avLst>
              <a:gd name="adj1" fmla="val 55327"/>
              <a:gd name="adj2" fmla="val -3853"/>
              <a:gd name="adj3" fmla="val 33357"/>
              <a:gd name="adj4" fmla="val -263358"/>
            </a:avLst>
          </a:prstGeom>
          <a:noFill/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Inbound areas</a:t>
            </a:r>
          </a:p>
        </p:txBody>
      </p:sp>
      <p:sp>
        <p:nvSpPr>
          <p:cNvPr id="23" name="Call-out: Line 22">
            <a:extLst>
              <a:ext uri="{FF2B5EF4-FFF2-40B4-BE49-F238E27FC236}">
                <a16:creationId xmlns:a16="http://schemas.microsoft.com/office/drawing/2014/main" id="{D80BAC60-29A1-1553-B7B8-7C153F53A44D}"/>
              </a:ext>
            </a:extLst>
          </p:cNvPr>
          <p:cNvSpPr/>
          <p:nvPr/>
        </p:nvSpPr>
        <p:spPr>
          <a:xfrm>
            <a:off x="6697306" y="2210162"/>
            <a:ext cx="1855361" cy="832140"/>
          </a:xfrm>
          <a:prstGeom prst="borderCallout1">
            <a:avLst>
              <a:gd name="adj1" fmla="val 55327"/>
              <a:gd name="adj2" fmla="val -3853"/>
              <a:gd name="adj3" fmla="val -51050"/>
              <a:gd name="adj4" fmla="val -22258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Automated Storage and Retrieval System</a:t>
            </a:r>
          </a:p>
        </p:txBody>
      </p:sp>
    </p:spTree>
    <p:extLst>
      <p:ext uri="{BB962C8B-B14F-4D97-AF65-F5344CB8AC3E}">
        <p14:creationId xmlns:p14="http://schemas.microsoft.com/office/powerpoint/2010/main" val="22032771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724104A-7FA2-399E-8DA0-67740FBB8B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432257"/>
            <a:ext cx="8547100" cy="445025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21C55BF-7AF9-632F-8CE8-0390D4F64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Staging</a:t>
            </a:r>
            <a:r>
              <a:rPr lang="it-IT" dirty="0"/>
              <a:t> area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36AB19-977A-2BC7-AF1C-AE16BB3871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F67D3-63B3-D1AD-E54D-8CC3C9A41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44</a:t>
            </a:fld>
            <a:endParaRPr lang="it-I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79C8DA-1BFD-601C-74F7-73D9D351A9C6}"/>
              </a:ext>
            </a:extLst>
          </p:cNvPr>
          <p:cNvSpPr txBox="1"/>
          <p:nvPr/>
        </p:nvSpPr>
        <p:spPr>
          <a:xfrm>
            <a:off x="6502921" y="6109864"/>
            <a:ext cx="2443651" cy="400854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noAutofit/>
          </a:bodyPr>
          <a:lstStyle/>
          <a:p>
            <a:r>
              <a:rPr lang="it-IT" sz="2000" i="1" dirty="0"/>
              <a:t>(Image from the web)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789330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52556-6D38-7D2A-86AA-DEDB14BD0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038749"/>
            <a:ext cx="8546175" cy="1381025"/>
          </a:xfrm>
        </p:spPr>
        <p:txBody>
          <a:bodyPr>
            <a:normAutofit/>
          </a:bodyPr>
          <a:lstStyle/>
          <a:p>
            <a:r>
              <a:rPr lang="en-US" sz="2400" dirty="0"/>
              <a:t>The problem was to determine if and when the current infrastructure would </a:t>
            </a:r>
            <a:r>
              <a:rPr lang="en-US" sz="2400" dirty="0">
                <a:solidFill>
                  <a:srgbClr val="C00000"/>
                </a:solidFill>
              </a:rPr>
              <a:t>become insufficient </a:t>
            </a:r>
            <a:r>
              <a:rPr lang="en-US" sz="2400" dirty="0"/>
              <a:t>to accommodate all outbound requests.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051356-9730-A997-72E2-D0063FE62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Daily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outbound</a:t>
            </a:r>
            <a:r>
              <a:rPr lang="it-IT" dirty="0"/>
              <a:t> </a:t>
            </a:r>
            <a:r>
              <a:rPr lang="it-IT" dirty="0" err="1"/>
              <a:t>SKUs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292A2-880F-8C00-6377-5A677F00E1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B7EB85-5A3C-9379-CC79-C2D704881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45</a:t>
            </a:fld>
            <a:endParaRPr lang="it-IT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DDFDCA-7DDC-91BE-6248-DC70520D991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7015" y="1739595"/>
            <a:ext cx="5584776" cy="4184034"/>
          </a:xfrm>
          <a:prstGeom prst="rect">
            <a:avLst/>
          </a:prstGeom>
        </p:spPr>
      </p:pic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D9749FFF-7120-C370-EFC2-2895C2308767}"/>
              </a:ext>
            </a:extLst>
          </p:cNvPr>
          <p:cNvSpPr txBox="1">
            <a:spLocks/>
          </p:cNvSpPr>
          <p:nvPr/>
        </p:nvSpPr>
        <p:spPr>
          <a:xfrm>
            <a:off x="212768" y="5860112"/>
            <a:ext cx="8546175" cy="7049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ClrTx/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548640" indent="-24688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2pPr>
            <a:lvl3pPr marL="850392" indent="-24688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3pPr>
            <a:lvl4pPr marL="1152144" indent="-24688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4pPr>
            <a:lvl5pPr marL="1453896" indent="-246888" algn="l" defTabSz="914400" rtl="0" eaLnBrk="1" latinLnBrk="0" hangingPunct="1">
              <a:lnSpc>
                <a:spcPct val="100000"/>
              </a:lnSpc>
              <a:spcBef>
                <a:spcPts val="800"/>
              </a:spcBef>
              <a:buClrTx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5pPr>
            <a:lvl6pPr marL="1755648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59152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60904" indent="-246888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5"/>
              </a:buClr>
              <a:buFont typeface="Wingdings" panose="05000000000000000000" pitchFamily="2" charset="2"/>
              <a:buChar char="§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 series was available reporting the </a:t>
            </a:r>
            <a:r>
              <a:rPr lang="en-US" sz="2400" dirty="0">
                <a:solidFill>
                  <a:srgbClr val="C00000"/>
                </a:solidFill>
              </a:rPr>
              <a:t>number of SKU </a:t>
            </a:r>
            <a:r>
              <a:rPr lang="en-US" sz="2400" dirty="0"/>
              <a:t>(</a:t>
            </a:r>
            <a:r>
              <a:rPr lang="en-US" sz="2400" i="1" dirty="0"/>
              <a:t>pallets, HU</a:t>
            </a:r>
            <a:r>
              <a:rPr lang="en-US" sz="2400" dirty="0"/>
              <a:t>) and corresponding </a:t>
            </a:r>
            <a:r>
              <a:rPr lang="en-US" sz="2400" dirty="0">
                <a:solidFill>
                  <a:srgbClr val="C00000"/>
                </a:solidFill>
              </a:rPr>
              <a:t>daily shipments </a:t>
            </a:r>
            <a:r>
              <a:rPr lang="en-US" sz="2400" dirty="0"/>
              <a:t>(</a:t>
            </a:r>
            <a:r>
              <a:rPr lang="en-US" sz="2400" i="1" dirty="0"/>
              <a:t>trucks</a:t>
            </a:r>
            <a:r>
              <a:rPr lang="en-US" sz="2400" dirty="0"/>
              <a:t>) serviced at the warehouse.</a:t>
            </a:r>
          </a:p>
        </p:txBody>
      </p:sp>
    </p:spTree>
    <p:extLst>
      <p:ext uri="{BB962C8B-B14F-4D97-AF65-F5344CB8AC3E}">
        <p14:creationId xmlns:p14="http://schemas.microsoft.com/office/powerpoint/2010/main" val="34664065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3818AE-7F05-4365-A4ED-ADB84CB1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one has a hammer 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A839A6-7B35-4515-B41A-199BA4B38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BE539-242F-4EEA-98A6-C56F0BA1A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46</a:t>
            </a:fld>
            <a:endParaRPr lang="it-IT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2913EF6-4E65-488D-A278-FDC9E42622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450" y="1398985"/>
            <a:ext cx="8547100" cy="4807743"/>
          </a:xfrm>
        </p:spPr>
      </p:pic>
    </p:spTree>
    <p:extLst>
      <p:ext uri="{BB962C8B-B14F-4D97-AF65-F5344CB8AC3E}">
        <p14:creationId xmlns:p14="http://schemas.microsoft.com/office/powerpoint/2010/main" val="2956595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0ADE32-EAEF-BA98-C8E5-4C0A5A394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967729"/>
            <a:ext cx="8546175" cy="766770"/>
          </a:xfrm>
        </p:spPr>
        <p:txBody>
          <a:bodyPr>
            <a:normAutofit/>
          </a:bodyPr>
          <a:lstStyle/>
          <a:p>
            <a:r>
              <a:rPr lang="it-IT" sz="2400" dirty="0" err="1"/>
              <a:t>Separating</a:t>
            </a:r>
            <a:r>
              <a:rPr lang="it-IT" sz="2400" dirty="0"/>
              <a:t> the </a:t>
            </a:r>
            <a:r>
              <a:rPr lang="it-IT" sz="2400" dirty="0" err="1"/>
              <a:t>outbound</a:t>
            </a:r>
            <a:r>
              <a:rPr lang="it-IT" sz="2400" dirty="0"/>
              <a:t> </a:t>
            </a:r>
            <a:r>
              <a:rPr lang="it-IT" sz="2400" dirty="0" err="1"/>
              <a:t>requests</a:t>
            </a:r>
            <a:r>
              <a:rPr lang="it-IT" sz="2400" dirty="0"/>
              <a:t> for </a:t>
            </a:r>
            <a:r>
              <a:rPr lang="it-IT" sz="2400" dirty="0" err="1"/>
              <a:t>each</a:t>
            </a:r>
            <a:r>
              <a:rPr lang="it-IT" sz="2400" dirty="0"/>
              <a:t> day of the week.</a:t>
            </a:r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D91D7E-FB88-758E-31BF-676D1F933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Daily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outbound</a:t>
            </a:r>
            <a:r>
              <a:rPr lang="it-IT" dirty="0"/>
              <a:t> </a:t>
            </a:r>
            <a:r>
              <a:rPr lang="it-IT" dirty="0" err="1"/>
              <a:t>SKUs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5B16A4-DD1F-A50C-AED4-209DF3A3E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7D13E9-E442-98E2-CF00-CBDBAF5940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47</a:t>
            </a:fld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1FEAEC-C741-4ED3-9409-4E35A333F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07" y="4072376"/>
            <a:ext cx="2175450" cy="21754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74B2D0-33B8-4E5B-9BF1-7D2876E5E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11" y="1482073"/>
            <a:ext cx="2278046" cy="22780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4CA5C2E-E62E-49AF-A900-6726A809B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1462" y="4072375"/>
            <a:ext cx="2175451" cy="21754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41049BF-6D71-4DEC-BA5D-5B2FD85B77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185" y="4072375"/>
            <a:ext cx="2175451" cy="217545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EADFD46-7D85-4D63-8C20-DB09663DFE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2063" y="1505764"/>
            <a:ext cx="2254355" cy="225435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D1D3025-5FF7-47ED-A1AF-62ACB50666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1462" y="1482073"/>
            <a:ext cx="2278046" cy="227804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36040CE-A70A-4FE3-AEB9-1BBD8FE296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0577" y="1505763"/>
            <a:ext cx="2230665" cy="223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274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666B5E-EC71-4F2C-60A3-A6C12D206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noProof="0" dirty="0"/>
              <a:t>Inputs available: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noProof="0" dirty="0"/>
              <a:t>The number of </a:t>
            </a:r>
            <a:r>
              <a:rPr lang="en-US" sz="2400" dirty="0">
                <a:solidFill>
                  <a:schemeClr val="accent2"/>
                </a:solidFill>
              </a:rPr>
              <a:t>daily SKUs and corresponding trucks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noProof="0" dirty="0"/>
              <a:t>A customer (shipment) profile: </a:t>
            </a:r>
            <a:r>
              <a:rPr lang="en-US" sz="2400" noProof="0" dirty="0">
                <a:solidFill>
                  <a:schemeClr val="accent2"/>
                </a:solidFill>
              </a:rPr>
              <a:t>≈ 25 categories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noProof="0" dirty="0"/>
              <a:t>Request (load) distribution per category</a:t>
            </a:r>
          </a:p>
          <a:p>
            <a:pPr marL="457200" indent="-4572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Distribution of pallets flowing </a:t>
            </a:r>
            <a:r>
              <a:rPr lang="en-US" sz="2400" dirty="0">
                <a:solidFill>
                  <a:schemeClr val="accent2"/>
                </a:solidFill>
              </a:rPr>
              <a:t>from each WH area to staging areas </a:t>
            </a:r>
            <a:r>
              <a:rPr lang="en-US" sz="2400" dirty="0"/>
              <a:t>for each category (mostly stable percentages)</a:t>
            </a:r>
            <a:endParaRPr lang="en-US" sz="2400" noProof="0" dirty="0"/>
          </a:p>
          <a:p>
            <a:r>
              <a:rPr lang="en-US" sz="2400" b="1" noProof="0" dirty="0"/>
              <a:t>Shipment forecast procedure </a:t>
            </a:r>
          </a:p>
          <a:p>
            <a:pPr>
              <a:spcBef>
                <a:spcPts val="0"/>
              </a:spcBef>
            </a:pPr>
            <a:r>
              <a:rPr lang="en-US" sz="2400" i="1" noProof="0" dirty="0"/>
              <a:t># provides the set of shipments to serve and their load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Forecast</a:t>
            </a:r>
            <a:r>
              <a:rPr lang="en-US" sz="2400" dirty="0"/>
              <a:t> total Monday shipments per category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Estimate</a:t>
            </a:r>
            <a:r>
              <a:rPr lang="en-US" sz="2400" dirty="0"/>
              <a:t> each shipment’s request from its category request distribution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noProof="0" dirty="0">
                <a:solidFill>
                  <a:srgbClr val="C00000"/>
                </a:solidFill>
              </a:rPr>
              <a:t>Split</a:t>
            </a:r>
            <a:r>
              <a:rPr lang="en-US" sz="2400" noProof="0" dirty="0"/>
              <a:t> requests across WH areas of origin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solidFill>
                  <a:srgbClr val="C00000"/>
                </a:solidFill>
              </a:rPr>
              <a:t>Compute</a:t>
            </a:r>
            <a:r>
              <a:rPr lang="en-US" sz="2400" dirty="0"/>
              <a:t> pickup/loading time for each shipment/area pair</a:t>
            </a:r>
            <a:endParaRPr lang="en-US" sz="2400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84E542-8714-7CB6-5894-86900D15F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From global to </a:t>
            </a:r>
            <a:r>
              <a:rPr lang="it-IT" dirty="0" err="1"/>
              <a:t>detailed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6C8A69-C202-3664-90F9-FCFA67F340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D27ACB-09AA-E473-4624-CFB97FAB8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204175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13" y="1173916"/>
                <a:ext cx="8257794" cy="5259392"/>
              </a:xfrm>
            </p:spPr>
            <p:txBody>
              <a:bodyPr>
                <a:normAutofit/>
              </a:bodyPr>
              <a:lstStyle/>
              <a:p>
                <a:pPr fontAlgn="ctr">
                  <a:lnSpc>
                    <a:spcPct val="11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it-IT" sz="2400" dirty="0" err="1">
                    <a:ea typeface="Cambria Math" panose="02040503050406030204" pitchFamily="18" charset="0"/>
                  </a:rPr>
                  <a:t>Minimize</a:t>
                </a:r>
                <a:r>
                  <a:rPr lang="it-IT" sz="2400" dirty="0">
                    <a:ea typeface="Cambria Math" panose="02040503050406030204" pitchFamily="18" charset="0"/>
                  </a:rPr>
                  <a:t> the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number</a:t>
                </a:r>
                <a:r>
                  <a:rPr lang="it-IT" sz="2400" dirty="0">
                    <a:ea typeface="Cambria Math" panose="02040503050406030204" pitchFamily="18" charset="0"/>
                  </a:rPr>
                  <a:t> of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unserviced</a:t>
                </a:r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shipments</a:t>
                </a:r>
                <a:r>
                  <a:rPr lang="it-IT" sz="2400" dirty="0">
                    <a:ea typeface="Cambria Math" panose="02040503050406030204" pitchFamily="18" charset="0"/>
                  </a:rPr>
                  <a:t>: </a:t>
                </a:r>
              </a:p>
              <a:p>
                <a:pPr fontAlgn="ctr">
                  <a:lnSpc>
                    <a:spcPct val="11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177088" algn="l"/>
                  </a:tabLst>
                </a:pPr>
                <a:r>
                  <a:rPr lang="it-IT" sz="2400" dirty="0" err="1">
                    <a:ea typeface="Cambria Math" panose="02040503050406030204" pitchFamily="18" charset="0"/>
                  </a:rPr>
                  <a:t>It</a:t>
                </a:r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is</a:t>
                </a:r>
                <a:r>
                  <a:rPr lang="it-IT" sz="2400" dirty="0">
                    <a:ea typeface="Cambria Math" panose="02040503050406030204" pitchFamily="18" charset="0"/>
                  </a:rPr>
                  <a:t> a GAP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if</a:t>
                </a:r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:r>
                  <a:rPr lang="it-IT" sz="2400" i="1" dirty="0" err="1">
                    <a:solidFill>
                      <a:schemeClr val="accent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</a:t>
                </a:r>
                <a:r>
                  <a:rPr lang="it-IT" sz="2400" i="1" baseline="-25000" dirty="0" err="1">
                    <a:solidFill>
                      <a:schemeClr val="accent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ij</a:t>
                </a:r>
                <a:r>
                  <a:rPr lang="it-IT" sz="2400" dirty="0">
                    <a:ea typeface="Cambria Math" panose="02040503050406030204" pitchFamily="18" charset="0"/>
                  </a:rPr>
                  <a:t>, multiple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knapsack</a:t>
                </a:r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if</a:t>
                </a:r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:r>
                  <a:rPr lang="it-IT" sz="2400" i="1" dirty="0">
                    <a:solidFill>
                      <a:schemeClr val="accent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p</a:t>
                </a:r>
                <a:r>
                  <a:rPr lang="it-IT" sz="2400" i="1" baseline="-25000" dirty="0">
                    <a:solidFill>
                      <a:schemeClr val="accent2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endParaRPr lang="it-IT" sz="2400" b="0" i="0" u="none" strike="noStrike" kern="1200" dirty="0">
                  <a:solidFill>
                    <a:schemeClr val="accent2"/>
                  </a:solidFill>
                  <a:effectLst/>
                  <a:ea typeface="Cambria Math" panose="02040503050406030204" pitchFamily="18" charset="0"/>
                </a:endParaRP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685800" algn="l"/>
                    <a:tab pos="5024438" algn="l"/>
                    <a:tab pos="7177088" algn="l"/>
                  </a:tabLst>
                </a:pPr>
                <a:r>
                  <a:rPr lang="it-IT" sz="2400" b="0" i="1" u="none" strike="noStrike" kern="12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	</a:t>
                </a:r>
                <a:r>
                  <a:rPr lang="it-IT" sz="2400" b="0" i="0" u="none" strike="noStrike" kern="1200" dirty="0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jobs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(</a:t>
                </a:r>
                <a:r>
                  <a:rPr lang="it-IT" sz="2400" b="0" i="0" u="none" strike="noStrike" kern="1200" dirty="0" err="1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shipments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, index </a:t>
                </a:r>
                <a:r>
                  <a:rPr lang="it-IT" sz="2400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j,k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)</a:t>
                </a: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685800" algn="l"/>
                    <a:tab pos="5024438" algn="l"/>
                    <a:tab pos="7177088" algn="l"/>
                  </a:tabLst>
                </a:pPr>
                <a:r>
                  <a:rPr lang="it-IT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it-IT" sz="2400" dirty="0">
                    <a:ea typeface="Cambria Math" panose="02040503050406030204" pitchFamily="18" charset="0"/>
                  </a:rPr>
                  <a:t> 	</a:t>
                </a:r>
                <a:r>
                  <a:rPr lang="it-IT" sz="2400" dirty="0">
                    <a:solidFill>
                      <a:srgbClr val="0070C0"/>
                    </a:solidFill>
                    <a:ea typeface="Cambria Math" panose="02040503050406030204" pitchFamily="18" charset="0"/>
                  </a:rPr>
                  <a:t>machines</a:t>
                </a:r>
                <a:r>
                  <a:rPr lang="it-IT" sz="2400" dirty="0">
                    <a:ea typeface="Cambria Math" panose="02040503050406030204" pitchFamily="18" charset="0"/>
                  </a:rPr>
                  <a:t> (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staging</a:t>
                </a:r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:r>
                  <a:rPr lang="it-IT" sz="2400" dirty="0" err="1">
                    <a:ea typeface="Cambria Math" panose="02040503050406030204" pitchFamily="18" charset="0"/>
                  </a:rPr>
                  <a:t>areas</a:t>
                </a:r>
                <a:r>
                  <a:rPr lang="it-IT" sz="2400" dirty="0">
                    <a:ea typeface="Cambria Math" panose="02040503050406030204" pitchFamily="18" charset="0"/>
                  </a:rPr>
                  <a:t>, index </a:t>
                </a:r>
                <a:r>
                  <a:rPr lang="it-IT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it-IT" sz="2400" dirty="0">
                    <a:ea typeface="Cambria Math" panose="02040503050406030204" pitchFamily="18" charset="0"/>
                  </a:rPr>
                  <a:t>)</a:t>
                </a: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685800" algn="l"/>
                    <a:tab pos="5024438" algn="l"/>
                    <a:tab pos="7177088" algn="l"/>
                  </a:tabLst>
                </a:pPr>
                <a:r>
                  <a:rPr lang="it-IT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p</a:t>
                </a:r>
                <a:r>
                  <a:rPr lang="it-IT" i="1" baseline="-250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ij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	</a:t>
                </a:r>
                <a:r>
                  <a:rPr lang="it-IT" sz="2400" b="0" i="0" u="none" strike="noStrike" dirty="0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processing time 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of job </a:t>
                </a:r>
                <a:r>
                  <a:rPr lang="it-IT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on machine </a:t>
                </a:r>
                <a:r>
                  <a:rPr lang="it-IT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</a:p>
              <a:p>
                <a:pPr marL="0" rtl="0" eaLnBrk="1" fontAlgn="ctr" latinLnBrk="0" hangingPunct="1">
                  <a:lnSpc>
                    <a:spcPts val="22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685800" algn="l"/>
                    <a:tab pos="5024438" algn="l"/>
                    <a:tab pos="7177088" algn="l"/>
                  </a:tabLst>
                </a:pPr>
                <a:r>
                  <a:rPr lang="it-IT" sz="2400" i="1" dirty="0">
                    <a:latin typeface="+mn-lt"/>
                    <a:ea typeface="Cambria" panose="02040503050406030204" pitchFamily="18" charset="0"/>
                  </a:rPr>
                  <a:t>	</a:t>
                </a:r>
                <a:r>
                  <a:rPr lang="it-IT" sz="2400" dirty="0">
                    <a:latin typeface="+mn-lt"/>
                    <a:ea typeface="Cambria" panose="02040503050406030204" pitchFamily="18" charset="0"/>
                  </a:rPr>
                  <a:t>(</a:t>
                </a:r>
                <a:r>
                  <a:rPr lang="it-IT" sz="2400" i="1" dirty="0">
                    <a:latin typeface="+mn-lt"/>
                    <a:ea typeface="Cambria" panose="02040503050406030204" pitchFamily="18" charset="0"/>
                  </a:rPr>
                  <a:t>pickup + load</a:t>
                </a:r>
                <a:r>
                  <a:rPr lang="it-IT" sz="2400" dirty="0">
                    <a:latin typeface="+mn-lt"/>
                    <a:ea typeface="Cambria" panose="02040503050406030204" pitchFamily="18" charset="0"/>
                  </a:rPr>
                  <a:t>)</a:t>
                </a:r>
                <a:endParaRPr lang="it-IT" sz="2400" i="1" dirty="0">
                  <a:latin typeface="+mn-lt"/>
                  <a:ea typeface="Cambria" panose="02040503050406030204" pitchFamily="18" charset="0"/>
                </a:endParaRP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2400"/>
                  </a:spcBef>
                  <a:spcAft>
                    <a:spcPts val="0"/>
                  </a:spcAft>
                  <a:tabLst>
                    <a:tab pos="685800" algn="l"/>
                    <a:tab pos="5024438" algn="l"/>
                    <a:tab pos="7177088" algn="l"/>
                  </a:tabLst>
                </a:pPr>
                <a:r>
                  <a:rPr lang="it-IT" sz="2400" b="0" i="1" u="none" strike="noStrike" dirty="0" err="1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Variables</a:t>
                </a:r>
                <a:endParaRPr lang="it-IT" sz="2400" b="0" i="1" u="none" strike="noStrike" dirty="0">
                  <a:solidFill>
                    <a:schemeClr val="tx1"/>
                  </a:solidFill>
                  <a:effectLst/>
                  <a:ea typeface="Cambria Math" panose="02040503050406030204" pitchFamily="18" charset="0"/>
                </a:endParaRP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685800" algn="l"/>
                    <a:tab pos="5024438" algn="l"/>
                    <a:tab pos="7177088" algn="l"/>
                  </a:tabLst>
                </a:pPr>
                <a:r>
                  <a:rPr lang="it-IT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x</a:t>
                </a:r>
                <a:r>
                  <a:rPr lang="it-IT" i="1" baseline="-25000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ij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	job </a:t>
                </a:r>
                <a:r>
                  <a:rPr lang="it-IT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:r>
                  <a:rPr lang="it-IT" sz="2400" b="0" i="0" u="none" strike="noStrike" dirty="0" err="1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assigned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to machine </a:t>
                </a:r>
                <a:r>
                  <a:rPr lang="it-IT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</a:p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685800" algn="l"/>
                    <a:tab pos="5024438" algn="l"/>
                    <a:tab pos="7177088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i="1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	job </a:t>
                </a:r>
                <a:r>
                  <a:rPr lang="it-IT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:r>
                  <a:rPr lang="it-IT" sz="2400" b="0" i="0" u="none" strike="noStrike" dirty="0" err="1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not</a:t>
                </a:r>
                <a:r>
                  <a:rPr lang="it-IT" sz="2400" b="0" i="0" u="none" strike="noStrike" dirty="0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:r>
                  <a:rPr lang="it-IT" sz="2400" b="0" i="0" u="none" strike="noStrike" dirty="0" err="1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assigned</a:t>
                </a:r>
                <a:r>
                  <a:rPr lang="it-IT" sz="2400" b="0" i="0" u="none" strike="noStrike" dirty="0">
                    <a:solidFill>
                      <a:srgbClr val="0070C0"/>
                    </a:solidFill>
                    <a:effectLst/>
                    <a:ea typeface="Cambria Math" panose="02040503050406030204" pitchFamily="18" charset="0"/>
                  </a:rPr>
                  <a:t> </a:t>
                </a:r>
                <a:r>
                  <a:rPr lang="it-IT" sz="2400" b="0" i="0" u="none" strike="noStrike" dirty="0" err="1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any</a:t>
                </a:r>
                <a:r>
                  <a:rPr lang="it-IT" sz="2400" b="0" i="0" u="none" strike="noStrike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 machine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13" y="1173916"/>
                <a:ext cx="8257794" cy="5259392"/>
              </a:xfrm>
              <a:blipFill>
                <a:blip r:embed="rId2"/>
                <a:stretch>
                  <a:fillRect l="-1476" t="-232" b="-162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it-IT" dirty="0" err="1"/>
              <a:t>Deterministic</a:t>
            </a:r>
            <a:r>
              <a:rPr lang="it-IT" dirty="0"/>
              <a:t> scheduling: F1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49</a:t>
            </a:fld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D8C14F-F127-179E-1CB5-577D99D9D333}"/>
              </a:ext>
            </a:extLst>
          </p:cNvPr>
          <p:cNvSpPr txBox="1"/>
          <p:nvPr/>
        </p:nvSpPr>
        <p:spPr>
          <a:xfrm rot="18691570">
            <a:off x="4738253" y="3397828"/>
            <a:ext cx="462395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 anchorCtr="0">
            <a:spAutoFit/>
          </a:bodyPr>
          <a:lstStyle/>
          <a:p>
            <a:r>
              <a:rPr lang="it-IT" sz="2400" dirty="0"/>
              <a:t>Standard scheduling nomenclature: </a:t>
            </a:r>
          </a:p>
          <a:p>
            <a:r>
              <a:rPr lang="it-IT" sz="2400" i="1" dirty="0"/>
              <a:t>jobs</a:t>
            </a:r>
            <a:r>
              <a:rPr lang="it-IT" sz="2400" dirty="0"/>
              <a:t> = </a:t>
            </a:r>
            <a:r>
              <a:rPr lang="it-IT" sz="2400" dirty="0" err="1"/>
              <a:t>shipments</a:t>
            </a:r>
            <a:r>
              <a:rPr lang="it-IT" sz="2400" dirty="0"/>
              <a:t>,</a:t>
            </a:r>
          </a:p>
          <a:p>
            <a:r>
              <a:rPr lang="it-IT" sz="2400" i="1" dirty="0"/>
              <a:t>machines</a:t>
            </a:r>
            <a:r>
              <a:rPr lang="it-IT" sz="2400" dirty="0"/>
              <a:t> = </a:t>
            </a:r>
            <a:r>
              <a:rPr lang="it-IT" sz="2400" dirty="0" err="1"/>
              <a:t>staging</a:t>
            </a:r>
            <a:r>
              <a:rPr lang="it-IT" sz="2400" dirty="0"/>
              <a:t> </a:t>
            </a:r>
            <a:r>
              <a:rPr lang="it-IT" sz="2400" dirty="0" err="1"/>
              <a:t>areas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1164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12" y="2273974"/>
                <a:ext cx="8546175" cy="2824343"/>
              </a:xfrm>
            </p:spPr>
            <p:txBody>
              <a:bodyPr>
                <a:normAutofit/>
              </a:bodyPr>
              <a:lstStyle/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z(F1</a:t>
                </a:r>
                <a:r>
                  <a:rPr lang="en-US" sz="240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 = </a:t>
                </a: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(3)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(4)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12" y="2273974"/>
                <a:ext cx="8546175" cy="2824343"/>
              </a:xfrm>
              <a:blipFill>
                <a:blip r:embed="rId2"/>
                <a:stretch>
                  <a:fillRect l="-1070" t="-14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it-IT" dirty="0" err="1"/>
              <a:t>Deterministic</a:t>
            </a:r>
            <a:r>
              <a:rPr lang="it-IT" dirty="0"/>
              <a:t> scheduling F1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50</a:t>
            </a:fld>
            <a:endParaRPr lang="it-IT" dirty="0"/>
          </a:p>
        </p:txBody>
      </p:sp>
      <p:sp>
        <p:nvSpPr>
          <p:cNvPr id="6" name="Call-out: Line 5">
            <a:extLst>
              <a:ext uri="{FF2B5EF4-FFF2-40B4-BE49-F238E27FC236}">
                <a16:creationId xmlns:a16="http://schemas.microsoft.com/office/drawing/2014/main" id="{1F89F789-8724-8914-D182-1CD924F9A4A6}"/>
              </a:ext>
            </a:extLst>
          </p:cNvPr>
          <p:cNvSpPr/>
          <p:nvPr/>
        </p:nvSpPr>
        <p:spPr>
          <a:xfrm>
            <a:off x="4141694" y="1150081"/>
            <a:ext cx="3612777" cy="657204"/>
          </a:xfrm>
          <a:prstGeom prst="borderCallout1">
            <a:avLst>
              <a:gd name="adj1" fmla="val 66064"/>
              <a:gd name="adj2" fmla="val -3867"/>
              <a:gd name="adj3" fmla="val 210918"/>
              <a:gd name="adj4" fmla="val -31186"/>
            </a:avLst>
          </a:prstGeom>
          <a:noFill/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sz="2000" dirty="0">
                <a:solidFill>
                  <a:srgbClr val="0070C0"/>
                </a:solidFill>
              </a:rPr>
              <a:t>Just </a:t>
            </a:r>
            <a:r>
              <a:rPr lang="it-IT" sz="2000" dirty="0" err="1">
                <a:solidFill>
                  <a:srgbClr val="0070C0"/>
                </a:solidFill>
              </a:rPr>
              <a:t>minimize</a:t>
            </a:r>
            <a:r>
              <a:rPr lang="it-IT" sz="2000" dirty="0">
                <a:solidFill>
                  <a:srgbClr val="0070C0"/>
                </a:solidFill>
              </a:rPr>
              <a:t> the </a:t>
            </a:r>
            <a:r>
              <a:rPr lang="it-IT" sz="2000" dirty="0" err="1">
                <a:solidFill>
                  <a:srgbClr val="0070C0"/>
                </a:solidFill>
              </a:rPr>
              <a:t>number</a:t>
            </a:r>
            <a:r>
              <a:rPr lang="it-IT" sz="2000" dirty="0">
                <a:solidFill>
                  <a:srgbClr val="0070C0"/>
                </a:solidFill>
              </a:rPr>
              <a:t> of </a:t>
            </a:r>
            <a:r>
              <a:rPr lang="it-IT" sz="2000" dirty="0" err="1">
                <a:solidFill>
                  <a:srgbClr val="0070C0"/>
                </a:solidFill>
              </a:rPr>
              <a:t>unsupported</a:t>
            </a:r>
            <a:r>
              <a:rPr lang="it-IT" sz="2000" dirty="0">
                <a:solidFill>
                  <a:srgbClr val="0070C0"/>
                </a:solidFill>
              </a:rPr>
              <a:t> </a:t>
            </a:r>
            <a:r>
              <a:rPr lang="it-IT" sz="2000" dirty="0" err="1">
                <a:solidFill>
                  <a:srgbClr val="0070C0"/>
                </a:solidFill>
              </a:rPr>
              <a:t>shipments</a:t>
            </a:r>
            <a:r>
              <a:rPr lang="it-IT" sz="2000" dirty="0">
                <a:solidFill>
                  <a:srgbClr val="0070C0"/>
                </a:solidFill>
              </a:rPr>
              <a:t> (trucks)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0C78DD-3873-5F64-96AB-648024039977}"/>
              </a:ext>
            </a:extLst>
          </p:cNvPr>
          <p:cNvSpPr txBox="1"/>
          <p:nvPr/>
        </p:nvSpPr>
        <p:spPr>
          <a:xfrm>
            <a:off x="298912" y="5098317"/>
            <a:ext cx="823548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r>
              <a:rPr lang="en-US" sz="2400" dirty="0"/>
              <a:t>Maximize the number of on-time jobs on unrelated machines with a common due date. No sequencing decisions are needed</a:t>
            </a:r>
          </a:p>
        </p:txBody>
      </p:sp>
    </p:spTree>
    <p:extLst>
      <p:ext uri="{BB962C8B-B14F-4D97-AF65-F5344CB8AC3E}">
        <p14:creationId xmlns:p14="http://schemas.microsoft.com/office/powerpoint/2010/main" val="9695713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51</a:t>
            </a:fld>
            <a:endParaRPr lang="it-IT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Stochastic</a:t>
            </a:r>
            <a:r>
              <a:rPr lang="it-IT" dirty="0"/>
              <a:t> scheduling, F1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D1E8BDC-8072-E365-45C8-2008633588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8912" y="1846272"/>
                <a:ext cx="8546175" cy="2842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buClrTx/>
                  <a:buFont typeface="Arial" panose="020B0604020202020204" pitchFamily="34" charset="0"/>
                  <a:buNone/>
                  <a:defRPr sz="2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1pPr>
                <a:lvl2pPr marL="548640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2pPr>
                <a:lvl3pPr marL="850392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3pPr>
                <a:lvl4pPr marL="1152144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4pPr>
                <a:lvl5pPr marL="1453896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z(F1) =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sz="240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(3)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(4)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D1E8BDC-8072-E365-45C8-20086335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12" y="1846272"/>
                <a:ext cx="8546175" cy="2842272"/>
              </a:xfrm>
              <a:prstGeom prst="rect">
                <a:avLst/>
              </a:prstGeom>
              <a:blipFill>
                <a:blip r:embed="rId2"/>
                <a:stretch>
                  <a:fillRect l="-1070" t="-139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all-out: Line 1">
            <a:extLst>
              <a:ext uri="{FF2B5EF4-FFF2-40B4-BE49-F238E27FC236}">
                <a16:creationId xmlns:a16="http://schemas.microsoft.com/office/drawing/2014/main" id="{D9B376AB-E7DF-4C82-A76B-E2D9FDD98CAA}"/>
              </a:ext>
            </a:extLst>
          </p:cNvPr>
          <p:cNvSpPr/>
          <p:nvPr/>
        </p:nvSpPr>
        <p:spPr>
          <a:xfrm>
            <a:off x="3131834" y="5002306"/>
            <a:ext cx="1655319" cy="728463"/>
          </a:xfrm>
          <a:prstGeom prst="borderCallout1">
            <a:avLst>
              <a:gd name="adj1" fmla="val -7093"/>
              <a:gd name="adj2" fmla="val 21995"/>
              <a:gd name="adj3" fmla="val -176699"/>
              <a:gd name="adj4" fmla="val -8547"/>
            </a:avLst>
          </a:prstGeom>
          <a:noFill/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dirty="0" err="1">
                <a:solidFill>
                  <a:srgbClr val="0070C0"/>
                </a:solidFill>
              </a:rPr>
              <a:t>Uncertainty</a:t>
            </a:r>
            <a:r>
              <a:rPr lang="it-IT" dirty="0">
                <a:solidFill>
                  <a:srgbClr val="0070C0"/>
                </a:solidFill>
              </a:rPr>
              <a:t> on the load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47145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A286D6-0507-C00A-C4FB-69619416E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12" y="885651"/>
            <a:ext cx="8771050" cy="5721743"/>
          </a:xfrm>
        </p:spPr>
        <p:txBody>
          <a:bodyPr>
            <a:noAutofit/>
          </a:bodyPr>
          <a:lstStyle/>
          <a:p>
            <a:pPr marL="0" rtl="0" eaLnBrk="1" fontAlgn="ctr" latinLnBrk="0" hangingPunct="1">
              <a:spcBef>
                <a:spcPts val="0"/>
              </a:spcBef>
              <a:spcAft>
                <a:spcPts val="0"/>
              </a:spcAft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it-IT" sz="2000" b="0" i="0" u="none" strike="noStrike" kern="1200" dirty="0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 	</a:t>
            </a:r>
            <a:r>
              <a:rPr lang="it-IT" sz="2000" b="0" i="0" u="none" strike="noStrike" kern="1200" dirty="0">
                <a:solidFill>
                  <a:srgbClr val="0070C0"/>
                </a:solidFill>
                <a:effectLst/>
                <a:ea typeface="Cambria Math" panose="02040503050406030204" pitchFamily="18" charset="0"/>
              </a:rPr>
              <a:t>jobs</a:t>
            </a:r>
            <a:r>
              <a:rPr lang="it-IT" sz="2000" b="0" i="0" u="none" strike="noStrike" kern="1200" dirty="0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 (</a:t>
            </a:r>
            <a:r>
              <a:rPr lang="it-IT" sz="2000" b="0" i="0" u="none" strike="noStrike" kern="1200" dirty="0" err="1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shipments</a:t>
            </a:r>
            <a:r>
              <a:rPr lang="it-IT" sz="2000" b="0" i="0" u="none" strike="noStrike" kern="1200" dirty="0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, index </a:t>
            </a: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j,k</a:t>
            </a:r>
            <a:r>
              <a:rPr lang="it-IT" sz="2000" b="0" i="0" u="none" strike="noStrike" kern="1200" dirty="0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)</a:t>
            </a:r>
          </a:p>
          <a:p>
            <a:pPr marL="0" rtl="0" eaLnBrk="1" fontAlgn="ctr" latinLnBrk="0" hangingPunct="1">
              <a:spcBef>
                <a:spcPts val="600"/>
              </a:spcBef>
              <a:spcAft>
                <a:spcPts val="0"/>
              </a:spcAft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it-IT" sz="2000" dirty="0">
                <a:ea typeface="Cambria Math" panose="02040503050406030204" pitchFamily="18" charset="0"/>
              </a:rPr>
              <a:t> 	</a:t>
            </a:r>
            <a:r>
              <a:rPr lang="it-IT" sz="2000" dirty="0">
                <a:solidFill>
                  <a:srgbClr val="0070C0"/>
                </a:solidFill>
                <a:ea typeface="Cambria Math" panose="02040503050406030204" pitchFamily="18" charset="0"/>
              </a:rPr>
              <a:t>machines</a:t>
            </a:r>
            <a:r>
              <a:rPr lang="it-IT" sz="2000" dirty="0">
                <a:ea typeface="Cambria Math" panose="02040503050406030204" pitchFamily="18" charset="0"/>
              </a:rPr>
              <a:t> (</a:t>
            </a:r>
            <a:r>
              <a:rPr lang="it-IT" sz="2000" dirty="0" err="1">
                <a:ea typeface="Cambria Math" panose="02040503050406030204" pitchFamily="18" charset="0"/>
              </a:rPr>
              <a:t>areas</a:t>
            </a:r>
            <a:r>
              <a:rPr lang="it-IT" sz="2000" dirty="0">
                <a:ea typeface="Cambria Math" panose="02040503050406030204" pitchFamily="18" charset="0"/>
              </a:rPr>
              <a:t>, index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  <a:r>
              <a:rPr lang="it-IT" sz="2000" dirty="0">
                <a:ea typeface="Cambria Math" panose="02040503050406030204" pitchFamily="18" charset="0"/>
              </a:rPr>
              <a:t>)</a:t>
            </a:r>
          </a:p>
          <a:p>
            <a:pPr marL="0" rtl="0" eaLnBrk="1" fontAlgn="ctr" latinLnBrk="0" hangingPunct="1">
              <a:spcBef>
                <a:spcPts val="600"/>
              </a:spcBef>
              <a:spcAft>
                <a:spcPts val="0"/>
              </a:spcAft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p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ij</a:t>
            </a:r>
            <a:r>
              <a:rPr lang="it-IT" sz="2000" b="0" i="0" u="none" strike="noStrike" dirty="0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 	</a:t>
            </a:r>
            <a:r>
              <a:rPr lang="it-IT" sz="2000" b="0" i="0" u="none" strike="noStrike" dirty="0">
                <a:solidFill>
                  <a:srgbClr val="0070C0"/>
                </a:solidFill>
                <a:effectLst/>
                <a:ea typeface="Cambria Math" panose="02040503050406030204" pitchFamily="18" charset="0"/>
              </a:rPr>
              <a:t>processing time </a:t>
            </a:r>
            <a:r>
              <a:rPr lang="it-IT" sz="2000" b="0" i="0" u="none" strike="noStrike" dirty="0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of job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it-IT" sz="2000" b="0" i="0" u="none" strike="noStrike" dirty="0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 on machine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</a:p>
          <a:p>
            <a:pPr marL="0" rtl="0" eaLnBrk="1" fontAlgn="ctr" latinLnBrk="0" hangingPunct="1">
              <a:spcBef>
                <a:spcPts val="600"/>
              </a:spcBef>
              <a:spcAft>
                <a:spcPts val="0"/>
              </a:spcAft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r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it-IT" sz="2000" dirty="0">
                <a:ea typeface="Cambria Math" panose="02040503050406030204" pitchFamily="18" charset="0"/>
              </a:rPr>
              <a:t> 	</a:t>
            </a:r>
            <a:r>
              <a:rPr lang="it-IT" sz="2000" dirty="0">
                <a:solidFill>
                  <a:srgbClr val="0070C0"/>
                </a:solidFill>
                <a:ea typeface="Cambria Math" panose="02040503050406030204" pitchFamily="18" charset="0"/>
              </a:rPr>
              <a:t>release time </a:t>
            </a:r>
            <a:r>
              <a:rPr lang="it-IT" sz="2000" dirty="0">
                <a:ea typeface="Cambria Math" panose="02040503050406030204" pitchFamily="18" charset="0"/>
              </a:rPr>
              <a:t>of job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  <a:p>
            <a:pPr marL="0" rtl="0" eaLnBrk="1" fontAlgn="ctr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tabLst>
                <a:tab pos="804863" algn="l"/>
                <a:tab pos="5024438" algn="l"/>
                <a:tab pos="7177088" algn="l"/>
              </a:tabLst>
            </a:pPr>
            <a:r>
              <a:rPr lang="it-IT" sz="2000" b="0" i="1" u="none" strike="noStrike" dirty="0" err="1">
                <a:solidFill>
                  <a:schemeClr val="tx1"/>
                </a:solidFill>
                <a:effectLst/>
                <a:ea typeface="Cambria Math" panose="02040503050406030204" pitchFamily="18" charset="0"/>
              </a:rPr>
              <a:t>Variables</a:t>
            </a:r>
            <a:endParaRPr lang="it-IT" sz="2000" b="0" i="1" u="none" strike="noStrike" dirty="0">
              <a:solidFill>
                <a:schemeClr val="tx1"/>
              </a:solidFill>
              <a:effectLst/>
              <a:ea typeface="Cambria Math" panose="02040503050406030204" pitchFamily="18" charset="0"/>
            </a:endParaRPr>
          </a:p>
          <a:p>
            <a:pPr fontAlgn="ctr">
              <a:spcBef>
                <a:spcPts val="600"/>
              </a:spcBef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c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it-IT" sz="2000" dirty="0" err="1">
                <a:solidFill>
                  <a:srgbClr val="0070C0"/>
                </a:solidFill>
                <a:ea typeface="Cambria Math" panose="02040503050406030204" pitchFamily="18" charset="0"/>
              </a:rPr>
              <a:t>completion</a:t>
            </a:r>
            <a:r>
              <a:rPr lang="it-IT" sz="2000" dirty="0">
                <a:solidFill>
                  <a:srgbClr val="0070C0"/>
                </a:solidFill>
                <a:ea typeface="Cambria Math" panose="02040503050406030204" pitchFamily="18" charset="0"/>
              </a:rPr>
              <a:t> time </a:t>
            </a:r>
            <a:r>
              <a:rPr lang="it-IT" sz="2000" dirty="0">
                <a:ea typeface="Cambria Math" panose="02040503050406030204" pitchFamily="18" charset="0"/>
              </a:rPr>
              <a:t>of job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  <a:p>
            <a:pPr fontAlgn="ctr">
              <a:spcBef>
                <a:spcPts val="600"/>
              </a:spcBef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it-IT" sz="2000" dirty="0" err="1">
                <a:solidFill>
                  <a:srgbClr val="0070C0"/>
                </a:solidFill>
                <a:ea typeface="Cambria Math" panose="02040503050406030204" pitchFamily="18" charset="0"/>
              </a:rPr>
              <a:t>tardiness</a:t>
            </a:r>
            <a:r>
              <a:rPr lang="it-IT" sz="2000" dirty="0">
                <a:ea typeface="Cambria Math" panose="02040503050406030204" pitchFamily="18" charset="0"/>
              </a:rPr>
              <a:t> of job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  <a:p>
            <a:pPr fontAlgn="ctr">
              <a:spcBef>
                <a:spcPts val="600"/>
              </a:spcBef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s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it-IT" sz="2000" dirty="0">
                <a:solidFill>
                  <a:srgbClr val="0070C0"/>
                </a:solidFill>
                <a:ea typeface="Cambria Math" panose="02040503050406030204" pitchFamily="18" charset="0"/>
              </a:rPr>
              <a:t>start time </a:t>
            </a:r>
            <a:r>
              <a:rPr lang="it-IT" sz="2000" dirty="0">
                <a:ea typeface="Cambria Math" panose="02040503050406030204" pitchFamily="18" charset="0"/>
              </a:rPr>
              <a:t>of job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  <a:p>
            <a:pPr fontAlgn="ctr">
              <a:spcBef>
                <a:spcPts val="600"/>
              </a:spcBef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x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ij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it-IT" sz="2000" dirty="0">
                <a:ea typeface="Cambria Math" panose="02040503050406030204" pitchFamily="18" charset="0"/>
              </a:rPr>
              <a:t>job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 j </a:t>
            </a:r>
            <a:r>
              <a:rPr lang="it-IT" sz="2000" dirty="0" err="1">
                <a:solidFill>
                  <a:srgbClr val="0070C0"/>
                </a:solidFill>
                <a:ea typeface="Cambria Math" panose="02040503050406030204" pitchFamily="18" charset="0"/>
              </a:rPr>
              <a:t>assigned</a:t>
            </a:r>
            <a:r>
              <a:rPr lang="it-IT" sz="2000" dirty="0">
                <a:ea typeface="Cambria Math" panose="02040503050406030204" pitchFamily="18" charset="0"/>
              </a:rPr>
              <a:t> to machine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i</a:t>
            </a:r>
          </a:p>
          <a:p>
            <a:pPr fontAlgn="ctr">
              <a:spcBef>
                <a:spcPts val="600"/>
              </a:spcBef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z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jk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it-IT" sz="2000" dirty="0">
                <a:ea typeface="Cambria Math" panose="02040503050406030204" pitchFamily="18" charset="0"/>
              </a:rPr>
              <a:t>truck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k </a:t>
            </a:r>
            <a:r>
              <a:rPr lang="it-IT" sz="2000" dirty="0">
                <a:solidFill>
                  <a:srgbClr val="0070C0"/>
                </a:solidFill>
                <a:ea typeface="Cambria Math" panose="02040503050406030204" pitchFamily="18" charset="0"/>
              </a:rPr>
              <a:t>follows</a:t>
            </a:r>
            <a:r>
              <a:rPr lang="it-IT" sz="2000" dirty="0">
                <a:ea typeface="Cambria Math" panose="02040503050406030204" pitchFamily="18" charset="0"/>
              </a:rPr>
              <a:t> truck 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j</a:t>
            </a:r>
          </a:p>
          <a:p>
            <a:pPr fontAlgn="ctr">
              <a:spcBef>
                <a:spcPts val="600"/>
              </a:spcBef>
              <a:tabLst>
                <a:tab pos="804863" algn="l"/>
                <a:tab pos="5024438" algn="l"/>
                <a:tab pos="7177088" algn="l"/>
              </a:tabLst>
            </a:pPr>
            <a:r>
              <a:rPr lang="it-IT" sz="2000" i="1" dirty="0" err="1">
                <a:latin typeface="Cambria" panose="02040503050406030204" pitchFamily="18" charset="0"/>
                <a:ea typeface="Cambria" panose="02040503050406030204" pitchFamily="18" charset="0"/>
              </a:rPr>
              <a:t>t</a:t>
            </a:r>
            <a:r>
              <a:rPr lang="it-IT" i="1" baseline="-25000" dirty="0" err="1">
                <a:latin typeface="Cambria" panose="02040503050406030204" pitchFamily="18" charset="0"/>
                <a:ea typeface="Cambria" panose="02040503050406030204" pitchFamily="18" charset="0"/>
              </a:rPr>
              <a:t>max</a:t>
            </a:r>
            <a:r>
              <a:rPr lang="it-IT" sz="2000" i="1" dirty="0">
                <a:latin typeface="Cambria" panose="02040503050406030204" pitchFamily="18" charset="0"/>
                <a:ea typeface="Cambria" panose="02040503050406030204" pitchFamily="18" charset="0"/>
              </a:rPr>
              <a:t> 	</a:t>
            </a:r>
            <a:r>
              <a:rPr lang="it-IT" sz="2000" dirty="0">
                <a:solidFill>
                  <a:srgbClr val="0070C0"/>
                </a:solidFill>
                <a:ea typeface="Cambria Math" panose="02040503050406030204" pitchFamily="18" charset="0"/>
              </a:rPr>
              <a:t>scheduling </a:t>
            </a:r>
            <a:r>
              <a:rPr lang="it-IT" sz="2000" dirty="0" err="1">
                <a:solidFill>
                  <a:srgbClr val="0070C0"/>
                </a:solidFill>
                <a:ea typeface="Cambria Math" panose="02040503050406030204" pitchFamily="18" charset="0"/>
              </a:rPr>
              <a:t>horizon</a:t>
            </a:r>
            <a:endParaRPr lang="en-US" sz="2000" dirty="0">
              <a:solidFill>
                <a:srgbClr val="0070C0"/>
              </a:solidFill>
              <a:ea typeface="Cambria Math" panose="02040503050406030204" pitchFamily="18" charset="0"/>
            </a:endParaRPr>
          </a:p>
          <a:p>
            <a:pPr>
              <a:spcBef>
                <a:spcPts val="1200"/>
              </a:spcBef>
            </a:pPr>
            <a:r>
              <a:rPr lang="en-US" sz="2000" dirty="0">
                <a:solidFill>
                  <a:schemeClr val="tx1"/>
                </a:solidFill>
              </a:rPr>
              <a:t>An </a:t>
            </a:r>
            <a:r>
              <a:rPr lang="en-US" sz="2000" dirty="0">
                <a:solidFill>
                  <a:srgbClr val="C00000"/>
                </a:solidFill>
              </a:rPr>
              <a:t>unrelated-machine problem with a common due date</a:t>
            </a:r>
            <a:r>
              <a:rPr lang="en-US" sz="2000" dirty="0">
                <a:solidFill>
                  <a:schemeClr val="tx1"/>
                </a:solidFill>
              </a:rPr>
              <a:t>. With job-level overtime, sequencing matters, the model needs pairwise precedence variables. </a:t>
            </a:r>
          </a:p>
          <a:p>
            <a:pPr>
              <a:spcBef>
                <a:spcPts val="0"/>
              </a:spcBef>
            </a:pPr>
            <a:r>
              <a:rPr lang="en-US" sz="2000" dirty="0">
                <a:solidFill>
                  <a:schemeClr val="tx1"/>
                </a:solidFill>
              </a:rPr>
              <a:t>Jobs finishing before d cost nothing, the choice of jobs in the window [0, d] on each machine is a knapsack-like decision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it-IT" dirty="0" err="1"/>
              <a:t>Deterministic</a:t>
            </a:r>
            <a:r>
              <a:rPr lang="it-IT" dirty="0"/>
              <a:t> scheduling: F2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27899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12" y="1173916"/>
                <a:ext cx="8546175" cy="5259392"/>
              </a:xfrm>
            </p:spPr>
            <p:txBody>
              <a:bodyPr>
                <a:normAutofit fontScale="92500" lnSpcReduction="10000"/>
              </a:bodyPr>
              <a:lstStyle/>
              <a:p>
                <a:pPr marL="0" rtl="0" eaLnBrk="1" fontAlgn="ctr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z(F2) </a:t>
                </a:r>
                <a:r>
                  <a:rPr lang="en-US" sz="240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it-IT" sz="2400" b="0" i="1" u="none" strike="noStrike" kern="12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u="none" strike="noStrike" kern="12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it-IT" sz="2400" b="0" i="1" u="none" strike="noStrike" kern="1200" smtClean="0">
                                    <a:solidFill>
                                      <a:srgbClr val="00B05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	(3)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it-IT" sz="2400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+</a:t>
                </a:r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j&lt;k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(4)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(3−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j≠k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(5)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 	</a:t>
                </a:r>
                <a:r>
                  <a:rPr lang="it-IT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(6)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B050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 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(7)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(*)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(8)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u="none" strike="noStrike" kern="12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sz="2400" b="0" i="1" u="none" strike="noStrike" kern="1200" smtClean="0">
                                <a:solidFill>
                                  <a:srgbClr val="00B050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it-IT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sz="2400" b="0" i="1" u="none" strike="noStrike" kern="12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b="0" i="1" u="none" strike="noStrike" kern="1200" smtClean="0">
                            <a:solidFill>
                              <a:srgbClr val="00B05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2400" b="0" i="1" u="none" strike="noStrike" kern="120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sz="2400" b="0" i="0" u="none" strike="noStrike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	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b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baseline="-25000" dirty="0">
                    <a:latin typeface="Arial" panose="020B0604020202020204" pitchFamily="34" charset="0"/>
                  </a:rPr>
                  <a:t>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(9)</a:t>
                </a:r>
                <a:endParaRPr lang="en-US" sz="24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12" y="1173916"/>
                <a:ext cx="8546175" cy="5259392"/>
              </a:xfrm>
              <a:blipFill>
                <a:blip r:embed="rId2"/>
                <a:stretch>
                  <a:fillRect l="-927" t="-7541" b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it-IT" dirty="0" err="1"/>
              <a:t>Deterministic</a:t>
            </a:r>
            <a:r>
              <a:rPr lang="it-IT" dirty="0"/>
              <a:t> scheduling F2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53</a:t>
            </a:fld>
            <a:endParaRPr lang="it-IT" dirty="0"/>
          </a:p>
        </p:txBody>
      </p:sp>
      <p:sp>
        <p:nvSpPr>
          <p:cNvPr id="6" name="Call-out: Line 5">
            <a:extLst>
              <a:ext uri="{FF2B5EF4-FFF2-40B4-BE49-F238E27FC236}">
                <a16:creationId xmlns:a16="http://schemas.microsoft.com/office/drawing/2014/main" id="{548F0DBE-8F01-8BE0-7038-CDB9E65A919E}"/>
              </a:ext>
            </a:extLst>
          </p:cNvPr>
          <p:cNvSpPr/>
          <p:nvPr/>
        </p:nvSpPr>
        <p:spPr>
          <a:xfrm>
            <a:off x="4168589" y="1026640"/>
            <a:ext cx="3074894" cy="766769"/>
          </a:xfrm>
          <a:prstGeom prst="borderCallout1">
            <a:avLst>
              <a:gd name="adj1" fmla="val 27961"/>
              <a:gd name="adj2" fmla="val -1826"/>
              <a:gd name="adj3" fmla="val 62696"/>
              <a:gd name="adj4" fmla="val -40193"/>
            </a:avLst>
          </a:prstGeom>
          <a:noFill/>
          <a:ln>
            <a:solidFill>
              <a:srgbClr val="0070C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it-IT" sz="2000" dirty="0" err="1">
                <a:solidFill>
                  <a:srgbClr val="0070C0"/>
                </a:solidFill>
              </a:rPr>
              <a:t>Minimize</a:t>
            </a:r>
            <a:r>
              <a:rPr lang="it-IT" sz="2000" dirty="0">
                <a:solidFill>
                  <a:srgbClr val="0070C0"/>
                </a:solidFill>
              </a:rPr>
              <a:t> the </a:t>
            </a:r>
            <a:r>
              <a:rPr lang="it-IT" sz="2000" dirty="0" err="1">
                <a:solidFill>
                  <a:srgbClr val="0070C0"/>
                </a:solidFill>
              </a:rPr>
              <a:t>weighted</a:t>
            </a:r>
            <a:r>
              <a:rPr lang="it-IT" sz="2000" dirty="0">
                <a:solidFill>
                  <a:srgbClr val="0070C0"/>
                </a:solidFill>
              </a:rPr>
              <a:t> </a:t>
            </a:r>
            <a:r>
              <a:rPr lang="it-IT" sz="2000" dirty="0" err="1">
                <a:solidFill>
                  <a:srgbClr val="0070C0"/>
                </a:solidFill>
              </a:rPr>
              <a:t>total</a:t>
            </a:r>
            <a:r>
              <a:rPr lang="it-IT" sz="2000" dirty="0">
                <a:solidFill>
                  <a:srgbClr val="0070C0"/>
                </a:solidFill>
              </a:rPr>
              <a:t> </a:t>
            </a:r>
            <a:r>
              <a:rPr lang="it-IT" sz="2000" dirty="0" err="1">
                <a:solidFill>
                  <a:srgbClr val="0070C0"/>
                </a:solidFill>
              </a:rPr>
              <a:t>tardiness</a:t>
            </a:r>
            <a:r>
              <a:rPr lang="it-IT" sz="2000" dirty="0">
                <a:solidFill>
                  <a:srgbClr val="0070C0"/>
                </a:solidFill>
              </a:rPr>
              <a:t> of the </a:t>
            </a:r>
            <a:r>
              <a:rPr lang="it-IT" sz="2000" dirty="0" err="1">
                <a:solidFill>
                  <a:srgbClr val="0070C0"/>
                </a:solidFill>
              </a:rPr>
              <a:t>shipments</a:t>
            </a:r>
            <a:endParaRPr lang="en-US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73595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3040" y="979728"/>
                <a:ext cx="8876922" cy="5617721"/>
              </a:xfrm>
            </p:spPr>
            <p:txBody>
              <a:bodyPr>
                <a:noAutofit/>
              </a:bodyPr>
              <a:lstStyle/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z(S2) </a:t>
                </a:r>
                <a:r>
                  <a:rPr lang="en-US" sz="220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US" sz="22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</a:t>
                </a:r>
                <a:r>
                  <a:rPr lang="en-US" sz="22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it-IT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it-IT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2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</a:t>
                </a:r>
                <a:r>
                  <a:rPr lang="en-US" sz="22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 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&lt;k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(3)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+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it-IT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0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0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 j&lt;k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it-IT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(4)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it-IT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(3−</m:t>
                    </m:r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2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2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j≠k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 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</a:t>
                </a:r>
                <a:r>
                  <a:rPr lang="en-US" sz="22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(5)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sSub>
                          <m:sSubPr>
                            <m:ctrlPr>
                              <a:rPr lang="it-IT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(6)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(7)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0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0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it-IT" sz="2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(*)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u="none" strike="noStrike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 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it-IT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8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it-IT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0,  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 	 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(9)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040" y="979728"/>
                <a:ext cx="8876922" cy="5617721"/>
              </a:xfrm>
              <a:blipFill>
                <a:blip r:embed="rId2"/>
                <a:stretch>
                  <a:fillRect l="-893" t="-640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it-IT" dirty="0" err="1"/>
              <a:t>Stochastic</a:t>
            </a:r>
            <a:r>
              <a:rPr lang="it-IT" dirty="0"/>
              <a:t> scheduling</a:t>
            </a:r>
            <a:r>
              <a:rPr lang="en-US" dirty="0"/>
              <a:t> F2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54</a:t>
            </a:fld>
            <a:endParaRPr lang="it-IT" dirty="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393C3CBE-AD03-4894-8333-C63F59CB3C56}"/>
              </a:ext>
            </a:extLst>
          </p:cNvPr>
          <p:cNvSpPr/>
          <p:nvPr/>
        </p:nvSpPr>
        <p:spPr>
          <a:xfrm>
            <a:off x="74039" y="2880852"/>
            <a:ext cx="1679458" cy="946336"/>
          </a:xfrm>
          <a:prstGeom prst="borderCallout1">
            <a:avLst>
              <a:gd name="adj1" fmla="val -4821"/>
              <a:gd name="adj2" fmla="val 64753"/>
              <a:gd name="adj3" fmla="val -89945"/>
              <a:gd name="adj4" fmla="val 152821"/>
            </a:avLst>
          </a:prstGeom>
          <a:noFill/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Same first-stage decisions across all scenarios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7AF894F-BB7F-4D38-84CE-59D80BF77073}"/>
              </a:ext>
            </a:extLst>
          </p:cNvPr>
          <p:cNvCxnSpPr>
            <a:cxnSpLocks/>
          </p:cNvCxnSpPr>
          <p:nvPr/>
        </p:nvCxnSpPr>
        <p:spPr>
          <a:xfrm flipV="1">
            <a:off x="1317523" y="2605548"/>
            <a:ext cx="717754" cy="206477"/>
          </a:xfrm>
          <a:prstGeom prst="line">
            <a:avLst/>
          </a:prstGeom>
          <a:ln w="19050">
            <a:solidFill>
              <a:srgbClr val="00B0F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4225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3040" y="930568"/>
                <a:ext cx="8876922" cy="5693514"/>
              </a:xfrm>
            </p:spPr>
            <p:txBody>
              <a:bodyPr>
                <a:noAutofit/>
              </a:bodyPr>
              <a:lstStyle/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z(S2) </a:t>
                </a:r>
                <a:r>
                  <a:rPr lang="en-US" sz="220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US" sz="22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</a:t>
                </a:r>
                <a:r>
                  <a:rPr lang="en-US" sz="22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it-IT" sz="22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l-GR" sz="2200" b="0" i="1" u="none" strike="noStrike" kern="12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it-IT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b>
                        </m:sSub>
                        <m:d>
                          <m:dPr>
                            <m:ctrlPr>
                              <a:rPr lang="it-IT" sz="2200" b="0" i="1" u="none" strike="noStrike" kern="12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it-IT" sz="22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it-IT" sz="2200" b="0" i="1" u="none" strike="noStrike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/>
                              <m:e>
                                <m:sSubSup>
                                  <m:sSubSupPr>
                                    <m:ctrlPr>
                                      <a:rPr lang="it-IT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sSub>
                                      <m:sSubPr>
                                        <m:ctrlPr>
                                          <a:rPr lang="it-IT" sz="22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2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it-IT" sz="2200" b="0" i="1" smtClean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it-IT" sz="22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it-IT" sz="22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it-IT" sz="22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  <m:sup>
                                    <m:r>
                                      <a:rPr lang="it-IT" sz="22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</m:e>
                    </m:nary>
                  </m:oMath>
                </a14:m>
                <a:r>
                  <a:rPr lang="en-US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200" b="0" i="0" u="none" strike="noStrike" dirty="0"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</a:t>
                </a:r>
                <a:r>
                  <a:rPr lang="en-US" sz="22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b="0" i="1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 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&lt;k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(3)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+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it-IT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 j&lt;k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it-IT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(4)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it-IT" sz="220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(3−</m:t>
                    </m:r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2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:r>
                  <a:rPr lang="en-US" sz="2200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j≠k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</a:t>
                </a:r>
                <a:r>
                  <a:rPr lang="en-US" sz="2200" b="0" i="0" u="none" strike="noStrike" kern="1200" baseline="-250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(5)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u="none" strike="noStrike" kern="1200" dirty="0">
                    <a:solidFill>
                      <a:schemeClr val="tx1"/>
                    </a:solidFill>
                    <a:effectLst/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it-IT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2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it-IT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it-IT" sz="2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bSup>
                        <m:sSub>
                          <m:sSubPr>
                            <m:ctrlPr>
                              <a:rPr lang="it-IT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	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l-GR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(6)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it-IT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(7)</a:t>
                </a:r>
                <a:endParaRPr lang="en-US" sz="2200" dirty="0">
                  <a:solidFill>
                    <a:schemeClr val="tx1"/>
                  </a:solidFill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00" dirty="0">
                    <a:latin typeface="Arial" panose="020B0604020202020204" pitchFamily="34" charset="0"/>
                  </a:rPr>
                  <a:t>	</a:t>
                </a:r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,</a:t>
                </a:r>
                <a:r>
                  <a:rPr lang="en-US" sz="22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2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  <m:r>
                      <a:rPr lang="el-GR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baseline="-25000" dirty="0">
                    <a:latin typeface="Arial" panose="020B0604020202020204" pitchFamily="34" charset="0"/>
                  </a:rPr>
                  <a:t>	</a:t>
                </a:r>
                <a:r>
                  <a:rPr lang="it-IT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(*)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b="0" u="none" strike="noStrike" kern="1200" dirty="0"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𝑗𝑘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 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j,k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Arial" panose="020B0604020202020204" pitchFamily="34" charset="0"/>
                  </a:rPr>
                  <a:t> 	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it-IT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8</a:t>
                </a:r>
                <a:r>
                  <a:rPr lang="it-IT" sz="2200" b="0" i="0" u="none" strike="noStrike" kern="1200" dirty="0">
                    <a:solidFill>
                      <a:schemeClr val="tx1"/>
                    </a:solidFill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17675" algn="l"/>
                    <a:tab pos="5024438" algn="l"/>
                    <a:tab pos="7945438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it-IT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20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it-IT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0,  </m:t>
                    </m:r>
                    <m:sSubSup>
                      <m:sSubSupPr>
                        <m:ctrlP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it-IT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it-IT" sz="22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0070C0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	 </a:t>
                </a:r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J ,</a:t>
                </a:r>
                <a:r>
                  <a:rPr lang="en-US" sz="2200" baseline="-250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US" sz="2200" i="1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Arial" panose="020B0604020202020204" pitchFamily="34" charset="0"/>
                    <a:ea typeface="Cambria Math" panose="02040503050406030204" pitchFamily="18" charset="0"/>
                  </a:rPr>
                  <a:t> </a:t>
                </a:r>
                <a:r>
                  <a:rPr lang="en-US" sz="22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:r>
                  <a:rPr lang="it-IT" sz="22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(9)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A286D6-0507-C00A-C4FB-69619416EB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3040" y="930568"/>
                <a:ext cx="8876922" cy="5693514"/>
              </a:xfrm>
              <a:blipFill>
                <a:blip r:embed="rId2"/>
                <a:stretch>
                  <a:fillRect l="-893" t="-5782" b="-1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96A4349-66F5-6CE3-AFE4-E6CD7F87A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767" y="27446"/>
            <a:ext cx="8791195" cy="766769"/>
          </a:xfrm>
        </p:spPr>
        <p:txBody>
          <a:bodyPr/>
          <a:lstStyle/>
          <a:p>
            <a:r>
              <a:rPr lang="en-US" dirty="0"/>
              <a:t>BESO-SAA F2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1227D-CD72-1F39-4841-05299173B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BC097-C49A-3EF3-F0C3-7737496C4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55</a:t>
            </a:fld>
            <a:endParaRPr lang="it-IT" dirty="0"/>
          </a:p>
        </p:txBody>
      </p:sp>
      <p:sp>
        <p:nvSpPr>
          <p:cNvPr id="6" name="Callout: Line 5">
            <a:extLst>
              <a:ext uri="{FF2B5EF4-FFF2-40B4-BE49-F238E27FC236}">
                <a16:creationId xmlns:a16="http://schemas.microsoft.com/office/drawing/2014/main" id="{D066AED8-8CCC-4DA7-B604-860438E290E2}"/>
              </a:ext>
            </a:extLst>
          </p:cNvPr>
          <p:cNvSpPr/>
          <p:nvPr/>
        </p:nvSpPr>
        <p:spPr>
          <a:xfrm>
            <a:off x="5093208" y="930488"/>
            <a:ext cx="2203704" cy="435728"/>
          </a:xfrm>
          <a:prstGeom prst="borderCallout1">
            <a:avLst>
              <a:gd name="adj1" fmla="val 106890"/>
              <a:gd name="adj2" fmla="val 31502"/>
              <a:gd name="adj3" fmla="val 701263"/>
              <a:gd name="adj4" fmla="val -50551"/>
            </a:avLst>
          </a:prstGeom>
          <a:noFill/>
          <a:ln>
            <a:solidFill>
              <a:srgbClr val="00B0F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>
                <a:solidFill>
                  <a:srgbClr val="00B0F0"/>
                </a:solidFill>
              </a:rPr>
              <a:t>We forecast these</a:t>
            </a:r>
          </a:p>
        </p:txBody>
      </p:sp>
    </p:spTree>
    <p:extLst>
      <p:ext uri="{BB962C8B-B14F-4D97-AF65-F5344CB8AC3E}">
        <p14:creationId xmlns:p14="http://schemas.microsoft.com/office/powerpoint/2010/main" val="5141160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5879DB-4DE7-4174-8C19-2CB9A0440F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8907" y="1007175"/>
                <a:ext cx="8546175" cy="3251780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We fit an AR(p) model on the </a:t>
                </a:r>
                <a:r>
                  <a:rPr lang="en-US" sz="2400" dirty="0" err="1"/>
                  <a:t>prewhitened</a:t>
                </a:r>
                <a:r>
                  <a:rPr lang="en-US" sz="2400" dirty="0"/>
                  <a:t> Mondays series (the most demanding) for each customer category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We extracted the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residuals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of the model. 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We resampled the residuals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400" dirty="0"/>
                  <a:t>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 and simulated new series as:</a:t>
                </a:r>
              </a:p>
              <a:p>
                <a:pPr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 …+</m:t>
                      </m:r>
                      <m:sSub>
                        <m:sSub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it-IT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it-IT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it-IT" sz="2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2400" dirty="0"/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We bootstrapped the residual series and reconstructed request series.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5879DB-4DE7-4174-8C19-2CB9A0440F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8907" y="1007175"/>
                <a:ext cx="8546175" cy="3251780"/>
              </a:xfrm>
              <a:blipFill>
                <a:blip r:embed="rId2"/>
                <a:stretch>
                  <a:fillRect l="-1070" t="-1498" b="-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A06050C-9BA7-4D38-BC68-FED697FE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1C44BB-771E-4337-84BA-119A3BF880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E24EB-6EDE-4EDA-86C8-1F7EC53C72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56</a:t>
            </a:fld>
            <a:endParaRPr lang="it-IT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C9EF28-5FC7-D763-B99C-949182E35A7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22622" y="3682957"/>
            <a:ext cx="5580264" cy="31515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67920-02DD-460F-9BD7-8748E053757A}"/>
                  </a:ext>
                </a:extLst>
              </p:cNvPr>
              <p:cNvSpPr txBox="1"/>
              <p:nvPr/>
            </p:nvSpPr>
            <p:spPr>
              <a:xfrm>
                <a:off x="298907" y="4363763"/>
                <a:ext cx="2448233" cy="1230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 anchor="t" anchorCtr="0">
                <a:spAutoFit/>
              </a:bodyPr>
              <a:lstStyle/>
              <a:p>
                <a:pPr algn="l"/>
                <a:r>
                  <a:rPr lang="en-US" sz="2400" dirty="0"/>
                  <a:t>Bagging applied to get demands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it-IT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400" dirty="0"/>
                  <a:t> in formulation F1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67920-02DD-460F-9BD7-8748E0537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07" y="4363763"/>
                <a:ext cx="2448233" cy="1230080"/>
              </a:xfrm>
              <a:prstGeom prst="rect">
                <a:avLst/>
              </a:prstGeom>
              <a:blipFill>
                <a:blip r:embed="rId4"/>
                <a:stretch>
                  <a:fillRect l="-3731" t="-3960" r="-6468" b="-1039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473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A3C9AC-A4A8-45AD-B72F-209241F39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173916"/>
            <a:ext cx="8546175" cy="1120704"/>
          </a:xfrm>
        </p:spPr>
        <p:txBody>
          <a:bodyPr>
            <a:normAutofit/>
          </a:bodyPr>
          <a:lstStyle/>
          <a:p>
            <a:r>
              <a:rPr lang="en-US" sz="2400" dirty="0"/>
              <a:t>For each scenario we optimized a </a:t>
            </a:r>
            <a:r>
              <a:rPr lang="en-US" sz="2400" dirty="0">
                <a:solidFill>
                  <a:srgbClr val="C00000"/>
                </a:solidFill>
              </a:rPr>
              <a:t>F1 GAP-like instance </a:t>
            </a:r>
            <a:r>
              <a:rPr lang="en-US" sz="2400" dirty="0"/>
              <a:t>with predefined costs for unserved customers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DF30C2-7761-4D9B-9E37-FD52672D3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tilting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977924-D505-4E90-911E-69326B970A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3AD30C-C484-483B-8E57-A00A96309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57</a:t>
            </a:fld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C50387A-F7DD-4A2D-A3F0-7CCF9CEBD1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98912" y="2273974"/>
                <a:ext cx="8546175" cy="282434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buClrTx/>
                  <a:buFont typeface="Arial" panose="020B0604020202020204" pitchFamily="34" charset="0"/>
                  <a:buNone/>
                  <a:defRPr sz="2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1pPr>
                <a:lvl2pPr marL="548640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2pPr>
                <a:lvl3pPr marL="850392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3pPr>
                <a:lvl4pPr marL="1152144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4pPr>
                <a:lvl5pPr marL="1453896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z(F1) =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 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it-IT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it-IT" sz="240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𝜉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	(1)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subject to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4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it-IT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(2)</a:t>
                </a: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sz="240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it-IT" sz="2400" i="1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it-IT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sup>
                        </m:sSubSup>
                        <m:sSub>
                          <m:sSubPr>
                            <m:ctrlP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r>
                      <a:rPr lang="it-IT" sz="240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it-IT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	(3)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pPr fontAlgn="ctr">
                  <a:lnSpc>
                    <a:spcPct val="150000"/>
                  </a:lnSpc>
                  <a:spcBef>
                    <a:spcPts val="0"/>
                  </a:spcBef>
                  <a:tabLst>
                    <a:tab pos="1789113" algn="l"/>
                    <a:tab pos="5024438" algn="l"/>
                    <a:tab pos="7600950" algn="l"/>
                  </a:tabLst>
                </a:pPr>
                <a:r>
                  <a:rPr lang="en-US" sz="2400" dirty="0">
                    <a:latin typeface="Arial" panose="020B0604020202020204" pitchFamily="34" charset="0"/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ij</m:t>
                        </m:r>
                      </m:sub>
                    </m:sSub>
                    <m:r>
                      <a:rPr lang="it-IT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it-IT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400" dirty="0">
                    <a:latin typeface="Arial" panose="020B0604020202020204" pitchFamily="34" charset="0"/>
                  </a:rPr>
                  <a:t> 	</a:t>
                </a:r>
                <a:r>
                  <a:rPr lang="en-US" sz="24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 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sym typeface="Symbol" panose="05050102010706020507" pitchFamily="18" charset="2"/>
                  </a:rPr>
                  <a:t> </a:t>
                </a:r>
                <a:r>
                  <a:rPr lang="en-US" sz="24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	(4)</a:t>
                </a:r>
                <a:r>
                  <a:rPr lang="en-US" sz="2400" baseline="-25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400" dirty="0">
                  <a:latin typeface="Arial" panose="020B0604020202020204" pitchFamily="34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3C50387A-F7DD-4A2D-A3F0-7CCF9CEBD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12" y="2273974"/>
                <a:ext cx="8546175" cy="2824343"/>
              </a:xfrm>
              <a:prstGeom prst="rect">
                <a:avLst/>
              </a:prstGeom>
              <a:blipFill>
                <a:blip r:embed="rId2"/>
                <a:stretch>
                  <a:fillRect l="-1070" t="-140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A8868FF7-FE47-4644-903E-5289793143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1608" y="5123732"/>
                <a:ext cx="8466783" cy="11207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800"/>
                  </a:spcBef>
                  <a:buClrTx/>
                  <a:buFont typeface="Arial" panose="020B0604020202020204" pitchFamily="34" charset="0"/>
                  <a:buNone/>
                  <a:defRPr sz="2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1pPr>
                <a:lvl2pPr marL="548640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2pPr>
                <a:lvl3pPr marL="850392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3pPr>
                <a:lvl4pPr marL="1152144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4pPr>
                <a:lvl5pPr marL="1453896" indent="-246888" algn="l" defTabSz="914400" rtl="0" eaLnBrk="1" latinLnBrk="0" hangingPunct="1">
                  <a:lnSpc>
                    <a:spcPct val="100000"/>
                  </a:lnSpc>
                  <a:spcBef>
                    <a:spcPts val="800"/>
                  </a:spcBef>
                  <a:buClrTx/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Calibri Light" panose="020F0302020204030204" pitchFamily="34" charset="0"/>
                    <a:ea typeface="+mn-ea"/>
                    <a:cs typeface="Calibri Light" panose="020F0302020204030204" pitchFamily="34" charset="0"/>
                  </a:defRPr>
                </a:lvl5pPr>
                <a:lvl6pPr marL="1755648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057400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359152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660904" indent="-246888" algn="l" defTabSz="914400" rtl="0" eaLnBrk="1" latinLnBrk="0" hangingPunct="1">
                  <a:lnSpc>
                    <a:spcPct val="90000"/>
                  </a:lnSpc>
                  <a:spcBef>
                    <a:spcPts val="800"/>
                  </a:spcBef>
                  <a:buClr>
                    <a:schemeClr val="accent5"/>
                  </a:buClr>
                  <a:buFont typeface="Wingdings" panose="05000000000000000000" pitchFamily="2" charset="2"/>
                  <a:buChar char="§"/>
                  <a:defRPr sz="16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The problem is NP-hard but very fast to solve with our dimensions.</a:t>
                </a:r>
              </a:p>
              <a:p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z(F1) </a:t>
                </a:r>
                <a:r>
                  <a:rPr lang="en-US" sz="2400" dirty="0"/>
                  <a:t>was then used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sz="2400" dirty="0"/>
                  <a:t> for scenario </a:t>
                </a:r>
                <a:r>
                  <a:rPr lang="en-US" sz="2400" dirty="0">
                    <a:sym typeface="Symbol" panose="05050102010706020507" pitchFamily="18" charset="2"/>
                  </a:rPr>
                  <a:t></a:t>
                </a:r>
                <a:endParaRPr lang="en-US" sz="2400" dirty="0"/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A8868FF7-FE47-4644-903E-528979314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608" y="5123732"/>
                <a:ext cx="8466783" cy="1120704"/>
              </a:xfrm>
              <a:prstGeom prst="rect">
                <a:avLst/>
              </a:prstGeom>
              <a:blipFill>
                <a:blip r:embed="rId3"/>
                <a:stretch>
                  <a:fillRect l="-1080" t="-4372" b="-7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02821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497692-6A0C-48FC-874E-C7078D42A7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0423" y="947998"/>
                <a:ext cx="8749539" cy="5549622"/>
              </a:xfrm>
            </p:spPr>
            <p:txBody>
              <a:bodyPr>
                <a:normAutofit fontScale="92500" lnSpcReduction="10000"/>
              </a:bodyPr>
              <a:lstStyle/>
              <a:p>
                <a:pPr rtl="0">
                  <a:spcBef>
                    <a:spcPts val="0"/>
                  </a:spcBef>
                </a:pPr>
                <a:r>
                  <a:rPr lang="en-US" sz="2200" dirty="0">
                    <a:solidFill>
                      <a:srgbClr val="C00000"/>
                    </a:solidFill>
                  </a:rPr>
                  <a:t>For comparison</a:t>
                </a:r>
                <a:r>
                  <a:rPr lang="en-US" sz="2200" dirty="0"/>
                  <a:t>, SAA based on formulation S3. Same load forecasts, no release time.</a:t>
                </a:r>
              </a:p>
              <a:p>
                <a:pPr rtl="0">
                  <a:spcBef>
                    <a:spcPts val="0"/>
                  </a:spcBef>
                </a:pPr>
                <a:r>
                  <a:rPr lang="el-GR" sz="2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Ω</a:t>
                </a:r>
                <a:r>
                  <a:rPr lang="el-GR" sz="2200" dirty="0"/>
                  <a:t> </a:t>
                </a:r>
                <a:r>
                  <a:rPr lang="en-US" sz="2200" dirty="0"/>
                  <a:t>is a set of </a:t>
                </a:r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</a:t>
                </a:r>
                <a:r>
                  <a:rPr lang="en-US" sz="2200" dirty="0"/>
                  <a:t> scenarios, with realizations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</m:oMath>
                </a14:m>
                <a:r>
                  <a:rPr lang="el-GR" sz="2200" dirty="0"/>
                  <a:t>. </a:t>
                </a:r>
                <a:endParaRPr lang="it-IT" sz="2200" dirty="0"/>
              </a:p>
              <a:p>
                <a:pPr rtl="0"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it-IT" sz="2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200" dirty="0"/>
                  <a:t> if job </a:t>
                </a:r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j</a:t>
                </a:r>
                <a:r>
                  <a:rPr lang="en-US" sz="2200" dirty="0"/>
                  <a:t> is in position </a:t>
                </a:r>
                <a:r>
                  <a:rPr lang="en-US" sz="22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k</a:t>
                </a:r>
                <a:r>
                  <a:rPr lang="en-US" sz="2200" dirty="0"/>
                  <a:t> on machine </a:t>
                </a:r>
                <a:r>
                  <a:rPr lang="en-US" sz="2200" i="1" dirty="0" err="1">
                    <a:latin typeface="Cambria" panose="02040503050406030204" pitchFamily="18" charset="0"/>
                    <a:ea typeface="Cambria" panose="02040503050406030204" pitchFamily="18" charset="0"/>
                  </a:rPr>
                  <a:t>i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it-IT" sz="22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22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it-IT" sz="2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pPr>
                  <a:spcBef>
                    <a:spcPts val="0"/>
                  </a:spcBef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  <m:sup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</m:oMath>
                </a14:m>
                <a:r>
                  <a:rPr lang="en-US" sz="2200" dirty="0"/>
                  <a:t>, completion time of position k,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</m:oMath>
                </a14:m>
                <a:r>
                  <a:rPr lang="en-US" sz="2200" dirty="0"/>
                  <a:t> tardiness of job j in scenario ω .</a:t>
                </a:r>
              </a:p>
              <a:p>
                <a:pPr>
                  <a:tabLst>
                    <a:tab pos="1430338" algn="l"/>
                    <a:tab pos="5776913" algn="l"/>
                  </a:tabLst>
                </a:pPr>
                <a:r>
                  <a:rPr lang="en-US" sz="20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z</a:t>
                </a: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(F3)</a:t>
                </a:r>
                <a:r>
                  <a:rPr lang="en-US" sz="20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min</a:t>
                </a:r>
                <a:r>
                  <a:rPr lang="en-US" sz="2400" dirty="0"/>
                  <a:t>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/>
                          <m:e>
                            <m:sSubSup>
                              <m:sSubSupPr>
                                <m:ctrlPr>
                                  <a:rPr lang="it-IT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sSub>
                                  <m:sSubPr>
                                    <m:ctrlPr>
                                      <a:rPr lang="it-IT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4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it-IT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it-IT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sup>
                            </m:sSubSup>
                          </m:e>
                        </m:nary>
                      </m:e>
                    </m:nary>
                  </m:oMath>
                </a14:m>
                <a:endParaRPr lang="el-GR" sz="2400" dirty="0"/>
              </a:p>
              <a:p>
                <a:pPr rtl="0">
                  <a:spcBef>
                    <a:spcPts val="600"/>
                  </a:spcBef>
                  <a:tabLst>
                    <a:tab pos="1430338" algn="l"/>
                    <a:tab pos="5776913" algn="l"/>
                  </a:tabLst>
                </a:pPr>
                <a:r>
                  <a:rPr lang="en-US" sz="2000" i="1" dirty="0">
                    <a:latin typeface="Cambria" panose="02040503050406030204" pitchFamily="18" charset="0"/>
                    <a:ea typeface="Cambria" panose="02040503050406030204" pitchFamily="18" charset="0"/>
                  </a:rPr>
                  <a:t>subject to</a:t>
                </a:r>
              </a:p>
              <a:p>
                <a:pPr rtl="0">
                  <a:lnSpc>
                    <a:spcPct val="110000"/>
                  </a:lnSpc>
                  <a:spcBef>
                    <a:spcPts val="600"/>
                  </a:spcBef>
                  <a:tabLst>
                    <a:tab pos="1430338" algn="l"/>
                    <a:tab pos="5776913" algn="l"/>
                  </a:tabLst>
                </a:pPr>
                <a:r>
                  <a:rPr lang="it-IT" sz="2400" dirty="0"/>
                  <a:t>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it-IT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9"/>
                              </m:r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it-IT" sz="2400" b="0" i="1" smtClean="0">
                                    <a:latin typeface="Cambria Math" panose="02040503050406030204" pitchFamily="18" charset="0"/>
                                  </a:rPr>
                                  <m:t>𝑖𝑗𝑘</m:t>
                                </m:r>
                              </m:sub>
                            </m:s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sz="2400" dirty="0"/>
                  <a:t> 	</a:t>
                </a:r>
                <a14:m>
                  <m:oMath xmlns:m="http://schemas.openxmlformats.org/officeDocument/2006/math"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tabLst>
                    <a:tab pos="1430338" algn="l"/>
                    <a:tab pos="5776913" algn="l"/>
                  </a:tabLst>
                </a:pPr>
                <a:r>
                  <a:rPr lang="it-IT" sz="2400" dirty="0"/>
                  <a:t>  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i="1">
                                <a:latin typeface="Cambria Math" panose="02040503050406030204" pitchFamily="18" charset="0"/>
                              </a:rPr>
                              <m:t>𝑖𝑗𝑘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≤1</m:t>
                        </m:r>
                      </m:e>
                    </m:nary>
                  </m:oMath>
                </a14:m>
                <a:r>
                  <a:rPr lang="en-US" sz="2400" dirty="0"/>
                  <a:t> 	</a:t>
                </a:r>
                <a14:m>
                  <m:oMath xmlns:m="http://schemas.openxmlformats.org/officeDocument/2006/math">
                    <m:r>
                      <a:rPr lang="it-IT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tabLst>
                    <a:tab pos="1430338" algn="l"/>
                    <a:tab pos="5776913" algn="l"/>
                  </a:tabLst>
                </a:pPr>
                <a:r>
                  <a:rPr lang="it-IT" sz="2400" dirty="0"/>
                  <a:t>	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𝑖𝑗𝑘</m:t>
                            </m:r>
                          </m:sub>
                        </m:sSub>
                      </m:e>
                    </m:nary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≥</m:t>
                    </m:r>
                    <m:nary>
                      <m:naryPr>
                        <m:chr m:val="∑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𝑖𝑗𝑘</m:t>
                            </m:r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400" dirty="0"/>
                  <a:t> 	</a:t>
                </a:r>
                <a14:m>
                  <m:oMath xmlns:m="http://schemas.openxmlformats.org/officeDocument/2006/math">
                    <m:r>
                      <a:rPr lang="it-IT" sz="2400" b="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(no gaps)</a:t>
                </a:r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tabLst>
                    <a:tab pos="1430338" algn="l"/>
                    <a:tab pos="5776913" algn="l"/>
                  </a:tabLst>
                </a:pPr>
                <a:r>
                  <a:rPr lang="it-IT" sz="2400" dirty="0"/>
                  <a:t> 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it-IT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it-IT" sz="2400" i="1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bSup>
                      </m:e>
                    </m:nary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</m:oMath>
                </a14:m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it-IT" sz="2400" b="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(</m:t>
                    </m:r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it-IT" sz="2400" dirty="0"/>
                  <a:t> </a:t>
                </a:r>
                <a:endParaRPr lang="el-GR" sz="2400" dirty="0"/>
              </a:p>
              <a:p>
                <a:pPr>
                  <a:lnSpc>
                    <a:spcPct val="110000"/>
                  </a:lnSpc>
                  <a:spcBef>
                    <a:spcPts val="600"/>
                  </a:spcBef>
                  <a:tabLst>
                    <a:tab pos="1430338" algn="l"/>
                    <a:tab pos="5776913" algn="l"/>
                  </a:tabLst>
                </a:pPr>
                <a:r>
                  <a:rPr lang="it-IT" sz="2400" dirty="0"/>
                  <a:t> 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≥</m:t>
                    </m:r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it-IT" sz="240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(1−</m:t>
                    </m:r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it-IT" sz="2400" b="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400" b="0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lang="el-GR" sz="2400" dirty="0"/>
              </a:p>
              <a:p>
                <a:pPr rtl="0">
                  <a:lnSpc>
                    <a:spcPct val="110000"/>
                  </a:lnSpc>
                  <a:spcBef>
                    <a:spcPts val="600"/>
                  </a:spcBef>
                  <a:tabLst>
                    <a:tab pos="1430338" algn="l"/>
                    <a:tab pos="5776913" algn="l"/>
                  </a:tabLst>
                </a:pPr>
                <a:r>
                  <a:rPr lang="it-IT" sz="2400" dirty="0"/>
                  <a:t>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𝑖𝑗𝑘</m:t>
                        </m:r>
                      </m:sub>
                    </m:sSub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, </m:t>
                    </m:r>
                    <m:sSubSup>
                      <m:sSubSupPr>
                        <m:ctrlPr>
                          <a:rPr lang="it-IT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sSubSup>
                          <m:sSubSupPr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sup>
                        </m:sSub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sup>
                    </m:sSubSup>
                    <m:r>
                      <a:rPr lang="it-IT" sz="24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sz="2400" dirty="0"/>
              </a:p>
              <a:p>
                <a:pPr rtl="0">
                  <a:tabLst>
                    <a:tab pos="1430338" algn="l"/>
                    <a:tab pos="5776913" algn="l"/>
                  </a:tabLst>
                </a:pPr>
                <a:r>
                  <a:rPr lang="en-US" sz="2200" dirty="0">
                    <a:solidFill>
                      <a:srgbClr val="C00000"/>
                    </a:solidFill>
                  </a:rPr>
                  <a:t>Smaller but looser</a:t>
                </a:r>
                <a:r>
                  <a:rPr lang="en-US" sz="2200" dirty="0"/>
                  <a:t>. It was just used for validation on a limited number of test cases.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8497692-6A0C-48FC-874E-C7078D42A7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0423" y="947998"/>
                <a:ext cx="8749539" cy="5549622"/>
              </a:xfrm>
              <a:blipFill>
                <a:blip r:embed="rId2"/>
                <a:stretch>
                  <a:fillRect l="-767" t="-1209" r="-488" b="-1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2219F0E-A8E4-4149-8CF9-553E743FB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Closer to the literature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3E777-7B13-4C09-8CC3-6C6DA368B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F5CB7-2CA8-41D9-A84C-B17037E6C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58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439185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E9AD77-5EE7-F954-33B4-3A8F8A48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Optimization</a:t>
            </a:r>
            <a:r>
              <a:rPr lang="it-IT" dirty="0"/>
              <a:t>, </a:t>
            </a:r>
            <a:r>
              <a:rPr lang="it-IT" dirty="0" err="1"/>
              <a:t>details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EAB2B-6A02-ECDF-B23E-EABF39451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9B41E-08EB-587F-56AE-21B50991A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59</a:t>
            </a:fld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05BEAE-9A63-435D-1BDA-9F8BBEF88057}"/>
              </a:ext>
            </a:extLst>
          </p:cNvPr>
          <p:cNvSpPr txBox="1"/>
          <p:nvPr/>
        </p:nvSpPr>
        <p:spPr>
          <a:xfrm>
            <a:off x="278767" y="1111245"/>
            <a:ext cx="8389889" cy="492442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algn="l">
              <a:spcBef>
                <a:spcPts val="1200"/>
              </a:spcBef>
            </a:pPr>
            <a:r>
              <a:rPr lang="en-US" sz="2400" dirty="0"/>
              <a:t>Use case with 33 staging areas, no limit on forklift number, loading times computed on the actual warehouse corridors graph.</a:t>
            </a:r>
          </a:p>
          <a:p>
            <a:pPr algn="l">
              <a:spcBef>
                <a:spcPts val="1200"/>
              </a:spcBef>
            </a:pPr>
            <a:r>
              <a:rPr lang="en-US" sz="2400" dirty="0"/>
              <a:t>Forklift allowed to load only one pallet at a time. Travel speed the average of actual travel speeds. </a:t>
            </a:r>
          </a:p>
          <a:p>
            <a:pPr algn="l">
              <a:spcBef>
                <a:spcPts val="1200"/>
              </a:spcBef>
            </a:pPr>
            <a:r>
              <a:rPr lang="en-US" sz="2400" dirty="0"/>
              <a:t>Pickup locations defined according with ABC policy within each area.</a:t>
            </a:r>
          </a:p>
          <a:p>
            <a:pPr algn="l">
              <a:spcBef>
                <a:spcPts val="1200"/>
              </a:spcBef>
            </a:pPr>
            <a:r>
              <a:rPr lang="en-US" sz="2400" dirty="0"/>
              <a:t>Bootstrap on the Monday series of customer categories, tests on 75 and 125 bootstraps.</a:t>
            </a:r>
          </a:p>
          <a:p>
            <a:pPr algn="l">
              <a:spcBef>
                <a:spcPts val="1200"/>
              </a:spcBef>
            </a:pPr>
            <a:r>
              <a:rPr lang="en-US" sz="2400" dirty="0"/>
              <a:t>Implementation in C++, linking </a:t>
            </a:r>
            <a:r>
              <a:rPr lang="en-US" sz="2400" dirty="0" err="1"/>
              <a:t>Cplex</a:t>
            </a:r>
            <a:r>
              <a:rPr lang="en-US" sz="2400" dirty="0"/>
              <a:t> 22.11, max 600 sec CPU time.</a:t>
            </a:r>
          </a:p>
          <a:p>
            <a:pPr algn="l">
              <a:spcBef>
                <a:spcPts val="1200"/>
              </a:spcBef>
            </a:pPr>
            <a:r>
              <a:rPr lang="en-US" sz="2400" dirty="0"/>
              <a:t>What-if analysis with data projected 6 months ahead (point forecasts).</a:t>
            </a:r>
          </a:p>
        </p:txBody>
      </p:sp>
    </p:spTree>
    <p:extLst>
      <p:ext uri="{BB962C8B-B14F-4D97-AF65-F5344CB8AC3E}">
        <p14:creationId xmlns:p14="http://schemas.microsoft.com/office/powerpoint/2010/main" val="33943365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9223E5-2581-4C4A-BA63-295750ECA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07" y="1173916"/>
            <a:ext cx="8546175" cy="5406668"/>
          </a:xfrm>
        </p:spPr>
        <p:txBody>
          <a:bodyPr>
            <a:normAutofit/>
          </a:bodyPr>
          <a:lstStyle/>
          <a:p>
            <a:pPr algn="l">
              <a:spcBef>
                <a:spcPts val="1200"/>
              </a:spcBef>
            </a:pPr>
            <a:r>
              <a:rPr lang="en-US" sz="2400" dirty="0"/>
              <a:t>We generated 75 and 125 bootstrapped series.</a:t>
            </a:r>
          </a:p>
          <a:p>
            <a:pPr algn="l">
              <a:spcBef>
                <a:spcPts val="1200"/>
              </a:spcBef>
            </a:pPr>
            <a:r>
              <a:rPr lang="en-US" sz="2400" dirty="0"/>
              <a:t>The cost increases significantly in the case of the 125 </a:t>
            </a:r>
            <a:r>
              <a:rPr lang="en-US" sz="2400" dirty="0" err="1"/>
              <a:t>boostset</a:t>
            </a:r>
            <a:r>
              <a:rPr lang="en-US" sz="2400" dirty="0"/>
              <a:t>.</a:t>
            </a:r>
          </a:p>
          <a:p>
            <a:pPr marL="228600" indent="-2286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 the case of the 75 </a:t>
            </a:r>
            <a:r>
              <a:rPr lang="en-US" sz="2400" dirty="0" err="1"/>
              <a:t>boostset</a:t>
            </a:r>
            <a:r>
              <a:rPr lang="en-US" sz="2400" dirty="0"/>
              <a:t> 3 scenarios were deemed exceeding the future infrastructure. </a:t>
            </a:r>
          </a:p>
          <a:p>
            <a:pPr marL="228600" indent="-2286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in the case of the 125 </a:t>
            </a:r>
            <a:r>
              <a:rPr lang="en-US" sz="2400" dirty="0" err="1"/>
              <a:t>boostset</a:t>
            </a:r>
            <a:r>
              <a:rPr lang="en-US" sz="2400" dirty="0"/>
              <a:t> 18 scenarios were deemed exceeding the future infrastructure.</a:t>
            </a:r>
          </a:p>
          <a:p>
            <a:pPr marL="228600" indent="-2286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Solution was heuristic after 600 seconds, optimal guaranteed  after 3600 (0% gap from previous incumbent).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it-IT" sz="2400" dirty="0"/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9B886C-4B46-4637-8CC6-F99B12781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Results</a:t>
            </a:r>
            <a:r>
              <a:rPr lang="it-IT" dirty="0"/>
              <a:t>, </a:t>
            </a:r>
            <a:r>
              <a:rPr lang="it-IT" dirty="0" err="1"/>
              <a:t>optimization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40E81E-D546-4A52-B389-4D454B299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BCC76-2A74-4F84-9E43-0E48F5D0E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60</a:t>
            </a:fld>
            <a:endParaRPr lang="it-I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EE004-8CC5-9A44-4C5F-A9B3A23589C2}"/>
              </a:ext>
            </a:extLst>
          </p:cNvPr>
          <p:cNvSpPr txBox="1"/>
          <p:nvPr/>
        </p:nvSpPr>
        <p:spPr>
          <a:xfrm>
            <a:off x="363681" y="5330536"/>
            <a:ext cx="812569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it-IT" sz="2400" dirty="0"/>
              <a:t>High </a:t>
            </a:r>
            <a:r>
              <a:rPr lang="it-IT" sz="2400" dirty="0" err="1"/>
              <a:t>quality</a:t>
            </a:r>
            <a:r>
              <a:rPr lang="it-IT" sz="2400" dirty="0"/>
              <a:t> </a:t>
            </a:r>
            <a:r>
              <a:rPr lang="it-IT" sz="2400" dirty="0" err="1"/>
              <a:t>solution</a:t>
            </a:r>
            <a:r>
              <a:rPr lang="it-IT" sz="2400" dirty="0"/>
              <a:t> </a:t>
            </a:r>
            <a:r>
              <a:rPr lang="it-IT" sz="2400" dirty="0" err="1"/>
              <a:t>obtained</a:t>
            </a:r>
            <a:r>
              <a:rPr lang="it-IT" sz="2400" dirty="0"/>
              <a:t> in limited </a:t>
            </a:r>
            <a:r>
              <a:rPr lang="it-IT" sz="2400" dirty="0" err="1"/>
              <a:t>computation</a:t>
            </a:r>
            <a:r>
              <a:rPr lang="it-IT" sz="2400" dirty="0"/>
              <a:t> time.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it-IT" sz="2400" dirty="0"/>
              <a:t>The degree of </a:t>
            </a:r>
            <a:r>
              <a:rPr lang="it-IT" sz="2400" dirty="0" err="1"/>
              <a:t>robustness</a:t>
            </a:r>
            <a:r>
              <a:rPr lang="it-IT" sz="2400" dirty="0"/>
              <a:t> can be </a:t>
            </a:r>
            <a:r>
              <a:rPr lang="it-IT" sz="2400" dirty="0" err="1"/>
              <a:t>gauged</a:t>
            </a:r>
            <a:r>
              <a:rPr lang="it-IT" sz="2400" dirty="0"/>
              <a:t> </a:t>
            </a:r>
            <a:r>
              <a:rPr lang="it-IT" sz="2400" dirty="0" err="1"/>
              <a:t>using</a:t>
            </a:r>
            <a:r>
              <a:rPr lang="it-IT" sz="2400" dirty="0"/>
              <a:t> easy-to-</a:t>
            </a:r>
            <a:r>
              <a:rPr lang="it-IT" sz="2400" dirty="0" err="1"/>
              <a:t>understand</a:t>
            </a:r>
            <a:r>
              <a:rPr lang="it-IT" sz="2400" dirty="0"/>
              <a:t> </a:t>
            </a:r>
            <a:r>
              <a:rPr lang="it-IT" sz="2400" dirty="0" err="1"/>
              <a:t>parameters</a:t>
            </a:r>
            <a:r>
              <a:rPr lang="it-IT" sz="2400" dirty="0"/>
              <a:t>.</a:t>
            </a:r>
            <a:endParaRPr lang="en-US" sz="2400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7D8CFC4F-F261-3E0B-D24E-81DD42BEB290}"/>
              </a:ext>
            </a:extLst>
          </p:cNvPr>
          <p:cNvSpPr/>
          <p:nvPr/>
        </p:nvSpPr>
        <p:spPr>
          <a:xfrm>
            <a:off x="4021283" y="4904509"/>
            <a:ext cx="810491" cy="426027"/>
          </a:xfrm>
          <a:prstGeom prst="downArrow">
            <a:avLst/>
          </a:prstGeom>
          <a:noFill/>
          <a:ln w="38100">
            <a:solidFill>
              <a:srgbClr val="C00000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ln w="57150">
                <a:solidFill>
                  <a:srgbClr val="C00000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0298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4659330-3083-3C91-697D-DDCCFC2E7D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5F8EC"/>
              </a:clrFrom>
              <a:clrTo>
                <a:srgbClr val="F5F8EC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926" y="951263"/>
            <a:ext cx="8895220" cy="519220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0CE8511-6CD4-8B16-A6D5-B57D4FB0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result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05E7FD-647C-00C3-E15B-DD33F01D8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B06F4-E22A-9AEC-021D-8D3B88789C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61</a:t>
            </a:fld>
            <a:endParaRPr lang="it-IT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463196-26AA-46F0-D302-F3B7631C2F44}"/>
              </a:ext>
            </a:extLst>
          </p:cNvPr>
          <p:cNvSpPr txBox="1"/>
          <p:nvPr/>
        </p:nvSpPr>
        <p:spPr>
          <a:xfrm>
            <a:off x="966360" y="5756562"/>
            <a:ext cx="8161851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 anchor="t" anchorCtr="0">
            <a:spAutoFit/>
          </a:bodyPr>
          <a:lstStyle/>
          <a:p>
            <a:pPr algn="l"/>
            <a:r>
              <a:rPr lang="it-IT" sz="2400" dirty="0"/>
              <a:t>A </a:t>
            </a:r>
            <a:r>
              <a:rPr lang="it-IT" sz="2400" dirty="0" err="1"/>
              <a:t>usage</a:t>
            </a:r>
            <a:r>
              <a:rPr lang="it-IT" sz="2400" dirty="0"/>
              <a:t>-ready </a:t>
            </a:r>
            <a:r>
              <a:rPr lang="it-IT" sz="2400" dirty="0" err="1"/>
              <a:t>solution</a:t>
            </a:r>
            <a:r>
              <a:rPr lang="it-IT" sz="2400" dirty="0"/>
              <a:t>, </a:t>
            </a:r>
            <a:r>
              <a:rPr lang="it-IT" sz="2400" dirty="0" err="1"/>
              <a:t>robustness</a:t>
            </a:r>
            <a:r>
              <a:rPr lang="it-IT" sz="2400" dirty="0"/>
              <a:t> </a:t>
            </a:r>
            <a:r>
              <a:rPr lang="it-IT" sz="2400" dirty="0" err="1"/>
              <a:t>absorbed</a:t>
            </a:r>
            <a:r>
              <a:rPr lang="it-IT" sz="2400" dirty="0"/>
              <a:t> in the </a:t>
            </a:r>
            <a:r>
              <a:rPr lang="it-IT" sz="2400" dirty="0" err="1"/>
              <a:t>staging</a:t>
            </a:r>
            <a:r>
              <a:rPr lang="it-IT" sz="2400" dirty="0"/>
              <a:t> </a:t>
            </a:r>
            <a:r>
              <a:rPr lang="it-IT" sz="2400" dirty="0" err="1"/>
              <a:t>preparation</a:t>
            </a:r>
            <a:r>
              <a:rPr lang="it-IT" sz="2400" dirty="0"/>
              <a:t> times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57322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B4448-CAFD-B4E2-E62A-767CDB4D6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912" y="1138056"/>
            <a:ext cx="8546175" cy="5262744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en-US" sz="2400" dirty="0"/>
              <a:t>We applied the </a:t>
            </a:r>
            <a:r>
              <a:rPr lang="en-US" sz="2400" dirty="0">
                <a:solidFill>
                  <a:srgbClr val="C00000"/>
                </a:solidFill>
              </a:rPr>
              <a:t>BESO approach </a:t>
            </a:r>
            <a:r>
              <a:rPr lang="en-US" sz="2400" dirty="0"/>
              <a:t>to a real-world warehouse logistics case featuring:</a:t>
            </a:r>
          </a:p>
          <a:p>
            <a:pPr marL="290513" indent="-29051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empirical probability distribution </a:t>
            </a:r>
            <a:r>
              <a:rPr lang="en-US" sz="2400" dirty="0"/>
              <a:t>estimation enabled by bootstrapped forecasting</a:t>
            </a:r>
          </a:p>
          <a:p>
            <a:pPr marL="290513" indent="-29051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data-driven, cost-aware scenario generation </a:t>
            </a:r>
            <a:r>
              <a:rPr lang="en-US" sz="2400" dirty="0"/>
              <a:t>fed into stochastic SAA optimization</a:t>
            </a:r>
          </a:p>
          <a:p>
            <a:pPr marL="290513" indent="-29051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easy application to real-world contexts </a:t>
            </a:r>
            <a:r>
              <a:rPr lang="en-US" sz="2400" dirty="0"/>
              <a:t>even with nonstationary noisy historical data</a:t>
            </a:r>
          </a:p>
          <a:p>
            <a:pPr marL="290513" indent="-290513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managerial interest </a:t>
            </a:r>
            <a:r>
              <a:rPr lang="en-US" sz="2400" dirty="0"/>
              <a:t>also because of the </a:t>
            </a:r>
            <a:r>
              <a:rPr lang="en-US" sz="2400" dirty="0">
                <a:solidFill>
                  <a:srgbClr val="C00000"/>
                </a:solidFill>
              </a:rPr>
              <a:t>justified insights </a:t>
            </a:r>
            <a:r>
              <a:rPr lang="en-US" sz="2400" dirty="0"/>
              <a:t>it provides after easily described steps.</a:t>
            </a:r>
          </a:p>
          <a:p>
            <a:pPr>
              <a:spcBef>
                <a:spcPts val="1200"/>
              </a:spcBef>
            </a:pPr>
            <a:r>
              <a:rPr lang="en-US" sz="2400" b="1" i="1" dirty="0"/>
              <a:t>Takeaway</a:t>
            </a:r>
            <a:r>
              <a:rPr lang="en-US" sz="2400" dirty="0"/>
              <a:t>: wherever decisions rest on uncertain forecasts, BESO turns that uncertainty into decisions that hold up.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4DAED7-D714-269C-7743-94197EFF4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  <a:endParaRPr lang="it-IT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412EF-17C0-FCFB-E885-D4434F5F9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Vittorio Maniezzo - University of Bologna</a:t>
            </a:r>
            <a:endParaRPr lang="it-IT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BD00F7-5AC9-C4A4-D1C3-39483C059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476DEB1C-3253-4C07-8F02-456B7B2AD41D}" type="slidenum">
              <a:rPr lang="it-IT" smtClean="0"/>
              <a:pPr>
                <a:defRPr/>
              </a:pPr>
              <a:t>62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14409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Quadretti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noFill/>
        </a:ln>
      </a:spPr>
      <a:bodyPr wrap="none" rtlCol="0" anchor="t" anchorCtr="0">
        <a:spAutoFit/>
      </a:bodyPr>
      <a:lstStyle>
        <a:defPPr algn="l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meQuadretti" id="{19AB7872-5255-42EA-897B-4062C768F031}" vid="{57F8082C-57DB-4447-A402-D3E99C17B649}"/>
    </a:ext>
  </a:extLst>
</a:theme>
</file>

<file path=ppt/theme/theme2.xml><?xml version="1.0" encoding="utf-8"?>
<a:theme xmlns:a="http://schemas.openxmlformats.org/drawingml/2006/main" name="Rules design templat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1">
      <a:majorFont>
        <a:latin typeface="Arial Rounded MT Bold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0000"/>
                <a:satMod val="150000"/>
              </a:schemeClr>
            </a:gs>
            <a:gs pos="60000">
              <a:schemeClr val="phClr">
                <a:shade val="20000"/>
                <a:satMod val="25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/>
            </a:duotone>
          </a:blip>
          <a:stretch/>
        </a:blip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smtClean="0">
            <a:solidFill>
              <a:schemeClr val="tx1"/>
            </a:solidFill>
          </a:defRPr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t" anchorCtr="0">
        <a:noAutofit/>
      </a:bodyPr>
      <a:lstStyle>
        <a:defPPr algn="l">
          <a:defRPr sz="2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ules design template" id="{FF6A9B0F-C8B8-4CC7-884F-ED15A6D8506E}" vid="{22252C17-64FB-4EF8-9329-A5DD51CEEA5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ThemeQuadretti</Template>
  <TotalTime>4575</TotalTime>
  <Words>5148</Words>
  <Application>Microsoft Office PowerPoint</Application>
  <PresentationFormat>On-screen Show (4:3)</PresentationFormat>
  <Paragraphs>620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62</vt:i4>
      </vt:variant>
    </vt:vector>
  </HeadingPairs>
  <TitlesOfParts>
    <vt:vector size="77" baseType="lpstr">
      <vt:lpstr>AAchalk</vt:lpstr>
      <vt:lpstr>Aptos Light</vt:lpstr>
      <vt:lpstr>Arial</vt:lpstr>
      <vt:lpstr>Calibri</vt:lpstr>
      <vt:lpstr>Calibri Light</vt:lpstr>
      <vt:lpstr>Cambria</vt:lpstr>
      <vt:lpstr>Cambria Math</vt:lpstr>
      <vt:lpstr>CMMI7</vt:lpstr>
      <vt:lpstr>ManiezzoSlides</vt:lpstr>
      <vt:lpstr>Palace Script MT</vt:lpstr>
      <vt:lpstr>SFRM1000</vt:lpstr>
      <vt:lpstr>Times New Roman</vt:lpstr>
      <vt:lpstr>Wingdings</vt:lpstr>
      <vt:lpstr>ThemeQuadretti</vt:lpstr>
      <vt:lpstr>Rules design template</vt:lpstr>
      <vt:lpstr>Bootstrap-Enhanced Distributionally Robust Scheduling of Loading Yards</vt:lpstr>
      <vt:lpstr>Agenda</vt:lpstr>
      <vt:lpstr>First problem</vt:lpstr>
      <vt:lpstr>Second problem</vt:lpstr>
      <vt:lpstr>PowerPoint Presentation</vt:lpstr>
      <vt:lpstr>Prequel: Stochastic progr. and SAA</vt:lpstr>
      <vt:lpstr>Prequel: Robust optimization</vt:lpstr>
      <vt:lpstr>Prequel: Distributionally robust optimization and ambiguity sets</vt:lpstr>
      <vt:lpstr>Distributional ignorance</vt:lpstr>
      <vt:lpstr>Smart Predict-then-Optimize (SPO)</vt:lpstr>
      <vt:lpstr>BESO, generalities</vt:lpstr>
      <vt:lpstr>Univariate time series forecasting</vt:lpstr>
      <vt:lpstr>Resampling, bootstrapping</vt:lpstr>
      <vt:lpstr>Prewhitening</vt:lpstr>
      <vt:lpstr>Recoloring</vt:lpstr>
      <vt:lpstr>Bootstrapping, how we did it</vt:lpstr>
      <vt:lpstr>Entropy tilting</vt:lpstr>
      <vt:lpstr>The prescriptive component</vt:lpstr>
      <vt:lpstr>BESO-SAA</vt:lpstr>
      <vt:lpstr>BESO-DRO</vt:lpstr>
      <vt:lpstr>BESO-DRO</vt:lpstr>
      <vt:lpstr>BESO-DRO</vt:lpstr>
      <vt:lpstr>BESO decision models</vt:lpstr>
      <vt:lpstr>PowerPoint Presentation</vt:lpstr>
      <vt:lpstr>The first case study</vt:lpstr>
      <vt:lpstr>Toward a formulation</vt:lpstr>
      <vt:lpstr>Deterministic allocation (SAP)</vt:lpstr>
      <vt:lpstr>Stochastic allocation</vt:lpstr>
      <vt:lpstr>Entropy tilting</vt:lpstr>
      <vt:lpstr>BESO-SAA</vt:lpstr>
      <vt:lpstr>BESO-SAA</vt:lpstr>
      <vt:lpstr>BESO-DRO</vt:lpstr>
      <vt:lpstr>Tests, forecasts</vt:lpstr>
      <vt:lpstr>Results, forecasts</vt:lpstr>
      <vt:lpstr>Results, forecasts</vt:lpstr>
      <vt:lpstr>Results, comparison</vt:lpstr>
      <vt:lpstr>Results, optimization</vt:lpstr>
      <vt:lpstr>Results, optimization</vt:lpstr>
      <vt:lpstr>Comments, 1st use case</vt:lpstr>
      <vt:lpstr>PowerPoint Presentation</vt:lpstr>
      <vt:lpstr>Warehousing application</vt:lpstr>
      <vt:lpstr>Internal flows</vt:lpstr>
      <vt:lpstr>A warehouse</vt:lpstr>
      <vt:lpstr>Staging area</vt:lpstr>
      <vt:lpstr>Daily number of outbound SKUs</vt:lpstr>
      <vt:lpstr>If one has a hammer …</vt:lpstr>
      <vt:lpstr>Daily number of outbound SKUs</vt:lpstr>
      <vt:lpstr>From global to detailed</vt:lpstr>
      <vt:lpstr>Deterministic scheduling: F1</vt:lpstr>
      <vt:lpstr>Deterministic scheduling F1</vt:lpstr>
      <vt:lpstr>Stochastic scheduling, F1</vt:lpstr>
      <vt:lpstr>Deterministic scheduling: F2</vt:lpstr>
      <vt:lpstr>Deterministic scheduling F2</vt:lpstr>
      <vt:lpstr>Stochastic scheduling F2</vt:lpstr>
      <vt:lpstr>BESO-SAA F2</vt:lpstr>
      <vt:lpstr>bootstrapping</vt:lpstr>
      <vt:lpstr>Entropy tilting</vt:lpstr>
      <vt:lpstr>Closer to the literature</vt:lpstr>
      <vt:lpstr>Optimization, details</vt:lpstr>
      <vt:lpstr>Results, optimization</vt:lpstr>
      <vt:lpstr>A result</vt:lpstr>
      <vt:lpstr>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Vittorio Maniezzo</dc:creator>
  <cp:lastModifiedBy>Vittorio Maniezzo</cp:lastModifiedBy>
  <cp:revision>455</cp:revision>
  <cp:lastPrinted>2026-10-19T08:12:27Z</cp:lastPrinted>
  <dcterms:created xsi:type="dcterms:W3CDTF">2024-02-06T11:14:54Z</dcterms:created>
  <dcterms:modified xsi:type="dcterms:W3CDTF">2026-10-27T10:54:11Z</dcterms:modified>
</cp:coreProperties>
</file>